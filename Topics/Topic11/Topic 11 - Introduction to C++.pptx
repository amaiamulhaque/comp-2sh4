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0" r:id="rId3"/>
    <p:sldId id="297" r:id="rId4"/>
    <p:sldId id="499" r:id="rId5"/>
    <p:sldId id="480" r:id="rId6"/>
    <p:sldId id="482" r:id="rId7"/>
    <p:sldId id="483" r:id="rId8"/>
    <p:sldId id="484" r:id="rId9"/>
    <p:sldId id="485" r:id="rId10"/>
    <p:sldId id="486" r:id="rId11"/>
    <p:sldId id="488" r:id="rId12"/>
    <p:sldId id="487" r:id="rId13"/>
    <p:sldId id="494" r:id="rId14"/>
    <p:sldId id="495" r:id="rId15"/>
    <p:sldId id="496" r:id="rId16"/>
    <p:sldId id="497" r:id="rId17"/>
    <p:sldId id="498" r:id="rId18"/>
    <p:sldId id="377" r:id="rId19"/>
    <p:sldId id="31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F1F1F"/>
    <a:srgbClr val="A870D2"/>
    <a:srgbClr val="E9EBF5"/>
    <a:srgbClr val="FFDDDD"/>
    <a:srgbClr val="EBF1E9"/>
    <a:srgbClr val="FF7D7D"/>
    <a:srgbClr val="FFC000"/>
    <a:srgbClr val="E8D9F3"/>
    <a:srgbClr val="D1B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2907605" y="2611819"/>
            <a:ext cx="63768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C++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871506" y="1867574"/>
            <a:ext cx="4434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95C20-2FAF-FDFD-EBB3-575D5AAEAAB2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ACF36-6B11-4A9B-2E78-7E1BF45A5E89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Introduction to C++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Migrating from C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2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7597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C++?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Multiparadigm Programming Language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Derived from C, thriven into feature-rich programming language suite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Procedural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C++ is mostly identical to C when used as a procedural language</a:t>
            </a:r>
            <a:br>
              <a:rPr lang="en-CA" sz="1600" dirty="0"/>
            </a:b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Object Oriented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Recognizing the organizational needs in C, C++ deploys classes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From which encapsulation, inheritance, and polymorphism are constructed</a:t>
            </a:r>
            <a:br>
              <a:rPr lang="en-CA" sz="1600" dirty="0"/>
            </a:b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Generic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Template programming, programs that run during compilation</a:t>
            </a:r>
            <a:br>
              <a:rPr lang="en-CA" sz="1600" dirty="0"/>
            </a:b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Standard Template Library (STL)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Common idioms, containers, and algorithms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</a:t>
            </a:fld>
            <a:endParaRPr lang="en-CA" dirty="0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46D9BC0F-3442-CC6F-30F3-814EB7AAA282}"/>
              </a:ext>
            </a:extLst>
          </p:cNvPr>
          <p:cNvSpPr/>
          <p:nvPr/>
        </p:nvSpPr>
        <p:spPr>
          <a:xfrm>
            <a:off x="9100456" y="2086059"/>
            <a:ext cx="1716745" cy="1623792"/>
          </a:xfrm>
          <a:prstGeom prst="wedgeRectCallout">
            <a:avLst>
              <a:gd name="adj1" fmla="val -88053"/>
              <a:gd name="adj2" fmla="val 3475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We will cover </a:t>
            </a:r>
            <a:r>
              <a:rPr lang="en-CA" sz="1600" b="1" dirty="0">
                <a:solidFill>
                  <a:schemeClr val="tx1"/>
                </a:solidFill>
              </a:rPr>
              <a:t>Procedural</a:t>
            </a:r>
            <a:r>
              <a:rPr lang="en-CA" sz="1600" dirty="0">
                <a:solidFill>
                  <a:schemeClr val="tx1"/>
                </a:solidFill>
              </a:rPr>
              <a:t>, </a:t>
            </a:r>
            <a:r>
              <a:rPr lang="en-CA" sz="1600" b="1" dirty="0">
                <a:solidFill>
                  <a:schemeClr val="tx1"/>
                </a:solidFill>
              </a:rPr>
              <a:t>Object Oriented</a:t>
            </a:r>
            <a:r>
              <a:rPr lang="en-CA" sz="1600" dirty="0">
                <a:solidFill>
                  <a:schemeClr val="tx1"/>
                </a:solidFill>
              </a:rPr>
              <a:t>, and a bit of </a:t>
            </a:r>
            <a:r>
              <a:rPr lang="en-CA" sz="1600" b="1" dirty="0">
                <a:solidFill>
                  <a:schemeClr val="tx1"/>
                </a:solidFill>
              </a:rPr>
              <a:t>Generic</a:t>
            </a:r>
            <a:r>
              <a:rPr lang="en-CA" sz="1600" dirty="0">
                <a:solidFill>
                  <a:schemeClr val="tx1"/>
                </a:solidFill>
              </a:rPr>
              <a:t> (template)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22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How C++ Differs from C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635BE4-3A04-1C0E-530D-96418009CBC5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11-1] Similarities between C and C++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848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vs. C –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484200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chemeClr val="accent6"/>
                </a:solidFill>
              </a:rPr>
              <a:t>Recall!</a:t>
            </a:r>
            <a:r>
              <a:rPr lang="en-CA" sz="2200" dirty="0"/>
              <a:t> Functions are for…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Avoiding copy-and-paste coding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Improve maintainability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Code reusability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chemeClr val="accent6"/>
                </a:solidFill>
              </a:rPr>
              <a:t>Recall!</a:t>
            </a:r>
            <a:r>
              <a:rPr lang="en-CA" sz="2200" dirty="0"/>
              <a:t> Function Rules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Functions must be prototyped or defined before being invoked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Prototyped functions must be defined somewhere in the same source code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Prototype signature must match the function signature, except argument names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When modularizing, function prototypes are moved to header files, and function implementations are moved to source files.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8906" y="6359804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0A2361-877F-B723-8313-CDD7F806BFD0}"/>
              </a:ext>
            </a:extLst>
          </p:cNvPr>
          <p:cNvSpPr txBox="1"/>
          <p:nvPr/>
        </p:nvSpPr>
        <p:spPr>
          <a:xfrm>
            <a:off x="6029834" y="3408762"/>
            <a:ext cx="5146801" cy="221599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Definition / Implementation (Method)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raiseToPower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base,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exponent)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result = 1;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= 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 exponent;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result *= base;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result;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0F5985-4BE1-E269-E376-7CEEF948ADA0}"/>
              </a:ext>
            </a:extLst>
          </p:cNvPr>
          <p:cNvSpPr txBox="1"/>
          <p:nvPr/>
        </p:nvSpPr>
        <p:spPr>
          <a:xfrm>
            <a:off x="6029834" y="1608422"/>
            <a:ext cx="5146801" cy="1754326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Main function now looks much cleaner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“3 ^ 4 = ”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raiseToPower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(3, 4)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“6 ^ 5 = ”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raiseToPower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(6, 5)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“9 ^ 6 = ”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raiseToPower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(9, 6)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0A90B-1C9C-D865-5405-B3765791F8B3}"/>
              </a:ext>
            </a:extLst>
          </p:cNvPr>
          <p:cNvSpPr txBox="1"/>
          <p:nvPr/>
        </p:nvSpPr>
        <p:spPr>
          <a:xfrm>
            <a:off x="6029835" y="516857"/>
            <a:ext cx="5146801" cy="46166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&lt;iostream&gt;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std;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48253-51A8-C6AB-9D61-6FF0F9BFEE97}"/>
              </a:ext>
            </a:extLst>
          </p:cNvPr>
          <p:cNvSpPr txBox="1"/>
          <p:nvPr/>
        </p:nvSpPr>
        <p:spPr>
          <a:xfrm>
            <a:off x="6029835" y="1028789"/>
            <a:ext cx="5146801" cy="5232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prototype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raiseToPower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090101-AC66-B191-21BC-55907D573E52}"/>
              </a:ext>
            </a:extLst>
          </p:cNvPr>
          <p:cNvSpPr/>
          <p:nvPr/>
        </p:nvSpPr>
        <p:spPr>
          <a:xfrm>
            <a:off x="8767482" y="4967668"/>
            <a:ext cx="244501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L11Ex5a-Function.cpp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7DB4E0-9C5A-CD4F-AE96-FC4206EF512D}"/>
              </a:ext>
            </a:extLst>
          </p:cNvPr>
          <p:cNvSpPr/>
          <p:nvPr/>
        </p:nvSpPr>
        <p:spPr>
          <a:xfrm>
            <a:off x="8767482" y="5486838"/>
            <a:ext cx="244501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L11Ex5b-FuncMod.cpp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9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9" grpId="0" animBg="1"/>
      <p:bldP spid="5" grpId="0" animBg="1"/>
      <p:bldP spid="8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vs. C – Function Overloading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642877" y="1563637"/>
            <a:ext cx="535731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In C, function signatures must be unique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Even if the functions have the same algorithm, just different input and return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Namespace contamination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Invoker must be highly type-aware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91F3BC-BD56-7953-8E50-CC40F627D463}"/>
              </a:ext>
            </a:extLst>
          </p:cNvPr>
          <p:cNvSpPr txBox="1"/>
          <p:nvPr/>
        </p:nvSpPr>
        <p:spPr>
          <a:xfrm>
            <a:off x="1490544" y="3316359"/>
            <a:ext cx="3540693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printOnNewLine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(“Integer: %d\n”, x);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5C219-1890-F77A-6665-2D4DA98CFC70}"/>
              </a:ext>
            </a:extLst>
          </p:cNvPr>
          <p:cNvSpPr txBox="1"/>
          <p:nvPr/>
        </p:nvSpPr>
        <p:spPr>
          <a:xfrm>
            <a:off x="1490544" y="4562427"/>
            <a:ext cx="3540693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printOnNewLine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*x)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(“String: %s\n”, x);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053500-D4D7-08EB-0BB5-018399C3A788}"/>
              </a:ext>
            </a:extLst>
          </p:cNvPr>
          <p:cNvSpPr txBox="1"/>
          <p:nvPr/>
        </p:nvSpPr>
        <p:spPr>
          <a:xfrm>
            <a:off x="1530715" y="3356659"/>
            <a:ext cx="3153427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3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printOnNewLine_Int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x)</a:t>
            </a:r>
            <a:endParaRPr lang="en-CA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E2E614-9874-FD7D-5DDA-535FBCE4EFDA}"/>
              </a:ext>
            </a:extLst>
          </p:cNvPr>
          <p:cNvSpPr txBox="1"/>
          <p:nvPr/>
        </p:nvSpPr>
        <p:spPr>
          <a:xfrm>
            <a:off x="1530715" y="4614123"/>
            <a:ext cx="3472607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3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printOnNewLine_Str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*x)</a:t>
            </a:r>
            <a:endParaRPr lang="en-CA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EFBD4-AC75-FC03-EFE3-CDDD17691464}"/>
              </a:ext>
            </a:extLst>
          </p:cNvPr>
          <p:cNvSpPr txBox="1"/>
          <p:nvPr/>
        </p:nvSpPr>
        <p:spPr>
          <a:xfrm>
            <a:off x="6000188" y="1563637"/>
            <a:ext cx="568860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C++ supports </a:t>
            </a:r>
            <a:r>
              <a:rPr lang="en-CA" sz="2200" b="1" dirty="0">
                <a:solidFill>
                  <a:srgbClr val="0000FF"/>
                </a:solidFill>
              </a:rPr>
              <a:t>function overloading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Functions can have the same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Different input/return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Reduces namespace contamination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Invoker doesn’t need to manage data types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B8FA06-AE22-1470-4683-BBF80071990E}"/>
              </a:ext>
            </a:extLst>
          </p:cNvPr>
          <p:cNvSpPr txBox="1"/>
          <p:nvPr/>
        </p:nvSpPr>
        <p:spPr>
          <a:xfrm>
            <a:off x="6551374" y="3287758"/>
            <a:ext cx="3540693" cy="1015663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printOnNewLine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“Integer:” &lt;&lt; x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C909E-691B-B030-B097-AF99DADA7DAD}"/>
              </a:ext>
            </a:extLst>
          </p:cNvPr>
          <p:cNvSpPr txBox="1"/>
          <p:nvPr/>
        </p:nvSpPr>
        <p:spPr>
          <a:xfrm>
            <a:off x="6551374" y="4533826"/>
            <a:ext cx="3540693" cy="1015663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printOnNewLine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*x)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“String:” &lt;&lt; x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541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9" grpId="0" animBg="1"/>
      <p:bldP spid="10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vs. C – Function Overloading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EFBD4-AC75-FC03-EFE3-CDDD17691464}"/>
              </a:ext>
            </a:extLst>
          </p:cNvPr>
          <p:cNvSpPr txBox="1"/>
          <p:nvPr/>
        </p:nvSpPr>
        <p:spPr>
          <a:xfrm>
            <a:off x="835986" y="1563637"/>
            <a:ext cx="571538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C++ supports </a:t>
            </a:r>
            <a:r>
              <a:rPr lang="en-CA" sz="2200" b="1" dirty="0">
                <a:solidFill>
                  <a:srgbClr val="0000FF"/>
                </a:solidFill>
              </a:rPr>
              <a:t>function overloading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Functions can have the same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Different input/return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Reduces namespace contamination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Invoker doesn’t need to manage data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6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Furthermore, can have different number</a:t>
            </a:r>
            <a:br>
              <a:rPr lang="en-CA" b="1" dirty="0">
                <a:solidFill>
                  <a:schemeClr val="accent6"/>
                </a:solidFill>
              </a:rPr>
            </a:br>
            <a:r>
              <a:rPr lang="en-CA" b="1" dirty="0">
                <a:solidFill>
                  <a:schemeClr val="accent6"/>
                </a:solidFill>
              </a:rPr>
              <a:t>of input parameters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6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B8FA06-AE22-1470-4683-BBF80071990E}"/>
              </a:ext>
            </a:extLst>
          </p:cNvPr>
          <p:cNvSpPr txBox="1"/>
          <p:nvPr/>
        </p:nvSpPr>
        <p:spPr>
          <a:xfrm>
            <a:off x="6551374" y="1694088"/>
            <a:ext cx="3540693" cy="830997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printOnNewLine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“Integer:” &lt;&lt; x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C909E-691B-B030-B097-AF99DADA7DAD}"/>
              </a:ext>
            </a:extLst>
          </p:cNvPr>
          <p:cNvSpPr txBox="1"/>
          <p:nvPr/>
        </p:nvSpPr>
        <p:spPr>
          <a:xfrm>
            <a:off x="6551374" y="2755452"/>
            <a:ext cx="3540693" cy="830997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printOnNewLine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*x)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“String:” &lt;&lt; x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7120F-5FC2-4F7F-292A-F9DCDB98B501}"/>
              </a:ext>
            </a:extLst>
          </p:cNvPr>
          <p:cNvSpPr txBox="1"/>
          <p:nvPr/>
        </p:nvSpPr>
        <p:spPr>
          <a:xfrm>
            <a:off x="6551373" y="3816816"/>
            <a:ext cx="3540693" cy="1015663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printOnNewLine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“Two Integers: ” &lt;&lt; x  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&lt;&lt; “ and ” &lt;&lt; y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F36C4E2-63FE-A372-ABD0-B1A46CC57CC0}"/>
              </a:ext>
            </a:extLst>
          </p:cNvPr>
          <p:cNvSpPr/>
          <p:nvPr/>
        </p:nvSpPr>
        <p:spPr>
          <a:xfrm>
            <a:off x="8596480" y="5230980"/>
            <a:ext cx="21184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L11Ex6-FuncOL.cpp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C550436D-967C-1399-DF1A-31DA2E5B9AAC}"/>
              </a:ext>
            </a:extLst>
          </p:cNvPr>
          <p:cNvSpPr/>
          <p:nvPr/>
        </p:nvSpPr>
        <p:spPr>
          <a:xfrm>
            <a:off x="1541418" y="4168558"/>
            <a:ext cx="4284616" cy="1329799"/>
          </a:xfrm>
          <a:prstGeom prst="wedgeRectCallout">
            <a:avLst>
              <a:gd name="adj1" fmla="val 8064"/>
              <a:gd name="adj2" fmla="val -8063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rgbClr val="FF0000"/>
                </a:solidFill>
              </a:rPr>
              <a:t>Gotcha!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If two functions have identical signatures, except the </a:t>
            </a:r>
            <a:r>
              <a:rPr lang="en-US" b="1" dirty="0">
                <a:solidFill>
                  <a:schemeClr val="tx1"/>
                </a:solidFill>
              </a:rPr>
              <a:t>variable names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b="1" dirty="0">
                <a:solidFill>
                  <a:schemeClr val="tx1"/>
                </a:solidFill>
              </a:rPr>
              <a:t>return types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Function Overloading</a:t>
            </a:r>
            <a:r>
              <a:rPr lang="en-US" b="1" dirty="0">
                <a:solidFill>
                  <a:srgbClr val="FF0000"/>
                </a:solidFill>
              </a:rPr>
              <a:t> WILL FAIL!!</a:t>
            </a:r>
          </a:p>
        </p:txBody>
      </p:sp>
    </p:spTree>
    <p:extLst>
      <p:ext uri="{BB962C8B-B14F-4D97-AF65-F5344CB8AC3E}">
        <p14:creationId xmlns:p14="http://schemas.microsoft.com/office/powerpoint/2010/main" val="252732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8" grpId="0" animBg="1"/>
      <p:bldP spid="11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C++ Pass by Reference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650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Review - Parameter Passing in C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EFBD4-AC75-FC03-EFE3-CDDD17691464}"/>
              </a:ext>
            </a:extLst>
          </p:cNvPr>
          <p:cNvSpPr txBox="1"/>
          <p:nvPr/>
        </p:nvSpPr>
        <p:spPr>
          <a:xfrm>
            <a:off x="835985" y="1563637"/>
            <a:ext cx="1037651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Pass by Value </a:t>
            </a:r>
            <a:r>
              <a:rPr lang="en-CA" sz="2200" dirty="0"/>
              <a:t>– Make copies of input values onto the stack before entering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Changes to these copies of input values will NOT modify the genuine values in the caller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D4CE76-7CFB-CE51-C653-2AAA56F72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2590" y="2384854"/>
            <a:ext cx="8627604" cy="167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FC757F-1425-A410-7C84-1EAA7C1D7F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6482" y="4257021"/>
            <a:ext cx="8643347" cy="1422897"/>
          </a:xfrm>
          <a:prstGeom prst="rect">
            <a:avLst/>
          </a:prstGeom>
        </p:spPr>
      </p:pic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81DABEEF-B7DD-A7A5-1BAA-BDD8E4ACE6B5}"/>
              </a:ext>
            </a:extLst>
          </p:cNvPr>
          <p:cNvSpPr/>
          <p:nvPr/>
        </p:nvSpPr>
        <p:spPr>
          <a:xfrm>
            <a:off x="9964608" y="3624371"/>
            <a:ext cx="1761072" cy="436348"/>
          </a:xfrm>
          <a:prstGeom prst="wedgeRectCallout">
            <a:avLst>
              <a:gd name="adj1" fmla="val -49004"/>
              <a:gd name="adj2" fmla="val 10996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C++ is the same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01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2C705B2-AF8D-EAAC-3E24-5FB1FE91F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8776" y="2407234"/>
            <a:ext cx="7637838" cy="22525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Review - Parameter Passing in C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EFBD4-AC75-FC03-EFE3-CDDD17691464}"/>
              </a:ext>
            </a:extLst>
          </p:cNvPr>
          <p:cNvSpPr txBox="1"/>
          <p:nvPr/>
        </p:nvSpPr>
        <p:spPr>
          <a:xfrm>
            <a:off x="835985" y="1563637"/>
            <a:ext cx="105374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Pass by Reference (through Pointer)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Make copies of the memory addresses of the input variables onto the stack before entering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Pointers holding these addresses in the function can modify the genuine values in the caller through dereferencing the addresses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FDAD6C-2755-5E32-0B40-5C535B09EA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8776" y="4690204"/>
            <a:ext cx="7637838" cy="1262106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B88EDD06-BADB-8776-80CB-BDCF5D5ADADB}"/>
              </a:ext>
            </a:extLst>
          </p:cNvPr>
          <p:cNvSpPr/>
          <p:nvPr/>
        </p:nvSpPr>
        <p:spPr>
          <a:xfrm>
            <a:off x="8615400" y="3668179"/>
            <a:ext cx="2583821" cy="925751"/>
          </a:xfrm>
          <a:prstGeom prst="wedgeRectCallout">
            <a:avLst>
              <a:gd name="adj1" fmla="val -52664"/>
              <a:gd name="adj2" fmla="val 7664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C++ refers to this as</a:t>
            </a:r>
          </a:p>
          <a:p>
            <a:pPr algn="ctr"/>
            <a:r>
              <a:rPr lang="en-CA" sz="2400" b="1" dirty="0">
                <a:solidFill>
                  <a:srgbClr val="FF0000"/>
                </a:solidFill>
              </a:rPr>
              <a:t>Pass by Pointer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64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2C705B2-AF8D-EAAC-3E24-5FB1FE91F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0472" y="3498980"/>
            <a:ext cx="7409582" cy="21852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Pass by Pointer Mode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EFBD4-AC75-FC03-EFE3-CDDD17691464}"/>
              </a:ext>
            </a:extLst>
          </p:cNvPr>
          <p:cNvSpPr txBox="1"/>
          <p:nvPr/>
        </p:nvSpPr>
        <p:spPr>
          <a:xfrm>
            <a:off x="835985" y="1563637"/>
            <a:ext cx="1053740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strike="sngStrike" dirty="0"/>
              <a:t>Pass by Reference (through Pointer)</a:t>
            </a:r>
            <a:r>
              <a:rPr lang="en-CA" sz="2200" dirty="0"/>
              <a:t> – </a:t>
            </a:r>
            <a:r>
              <a:rPr lang="en-CA" sz="2200" b="1" dirty="0">
                <a:solidFill>
                  <a:srgbClr val="FF0000"/>
                </a:solidFill>
              </a:rPr>
              <a:t>Pass by Pointer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Make copies of the memory addresses of the input variables onto the stack before entering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Pointers holding these addresses in the function can modify the genuine values in the caller through dereferencing the addresses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Shortcomings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Complicated referencing and dereferencing operator setup =&gt; </a:t>
            </a:r>
            <a:r>
              <a:rPr lang="en-CA" sz="1600" b="1" dirty="0">
                <a:solidFill>
                  <a:srgbClr val="FF0000"/>
                </a:solidFill>
              </a:rPr>
              <a:t>confusing multi-level pointers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If </a:t>
            </a:r>
            <a:r>
              <a:rPr lang="en-CA" sz="1600" b="1" dirty="0">
                <a:solidFill>
                  <a:schemeClr val="accent1"/>
                </a:solidFill>
                <a:latin typeface="Courier"/>
              </a:rPr>
              <a:t>const</a:t>
            </a:r>
            <a:r>
              <a:rPr lang="en-CA" sz="1600" dirty="0"/>
              <a:t> qualifier not correctly placed, addresses in the pointer can be modified =&gt; </a:t>
            </a:r>
            <a:r>
              <a:rPr lang="en-CA" sz="1600" b="1" dirty="0">
                <a:solidFill>
                  <a:srgbClr val="FF0000"/>
                </a:solidFill>
              </a:rPr>
              <a:t>destroyed reference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D886DDA-9FAD-393A-61EE-0AD0E432379D}"/>
              </a:ext>
            </a:extLst>
          </p:cNvPr>
          <p:cNvSpPr/>
          <p:nvPr/>
        </p:nvSpPr>
        <p:spPr>
          <a:xfrm>
            <a:off x="8203475" y="4606834"/>
            <a:ext cx="2994654" cy="1284241"/>
          </a:xfrm>
          <a:prstGeom prst="wedgeRectCallout">
            <a:avLst>
              <a:gd name="adj1" fmla="val -62713"/>
              <a:gd name="adj2" fmla="val -8051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dirty="0">
                <a:solidFill>
                  <a:schemeClr val="tx1"/>
                </a:solidFill>
              </a:rPr>
              <a:t>In C++, only use </a:t>
            </a:r>
            <a:br>
              <a:rPr lang="en-CA" sz="1600" dirty="0">
                <a:solidFill>
                  <a:schemeClr val="tx1"/>
                </a:solidFill>
              </a:rPr>
            </a:br>
            <a:r>
              <a:rPr lang="en-CA" sz="1600" b="1" dirty="0">
                <a:solidFill>
                  <a:schemeClr val="tx1"/>
                </a:solidFill>
              </a:rPr>
              <a:t>Pass by Pointer mode</a:t>
            </a:r>
            <a:r>
              <a:rPr lang="en-CA" sz="1600" dirty="0">
                <a:solidFill>
                  <a:schemeClr val="tx1"/>
                </a:solidFill>
              </a:rPr>
              <a:t> if: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tx1"/>
                </a:solidFill>
              </a:rPr>
              <a:t>Pointer manipulation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tx1"/>
                </a:solidFill>
              </a:rPr>
              <a:t>Array/Struct passing required</a:t>
            </a:r>
          </a:p>
        </p:txBody>
      </p:sp>
    </p:spTree>
    <p:extLst>
      <p:ext uri="{BB962C8B-B14F-4D97-AF65-F5344CB8AC3E}">
        <p14:creationId xmlns:p14="http://schemas.microsoft.com/office/powerpoint/2010/main" val="281092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Pass by Reference Mode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EFBD4-AC75-FC03-EFE3-CDDD17691464}"/>
              </a:ext>
            </a:extLst>
          </p:cNvPr>
          <p:cNvSpPr txBox="1"/>
          <p:nvPr/>
        </p:nvSpPr>
        <p:spPr>
          <a:xfrm>
            <a:off x="835985" y="1563637"/>
            <a:ext cx="105374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Pass by Reference (C++ Implementation)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More intuitive and secure way of allowing direct access to genuine values from within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 input parameters in pass-by-reference mode, just append the reference/address operator </a:t>
            </a:r>
            <a:r>
              <a:rPr lang="en-CA" b="1" dirty="0">
                <a:solidFill>
                  <a:srgbClr val="FF0000"/>
                </a:solidFill>
              </a:rPr>
              <a:t>&amp;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compiler takes over and allows </a:t>
            </a:r>
            <a:r>
              <a:rPr lang="en-CA" dirty="0">
                <a:solidFill>
                  <a:srgbClr val="0070C0"/>
                </a:solidFill>
              </a:rPr>
              <a:t>x</a:t>
            </a:r>
            <a:r>
              <a:rPr lang="en-CA" dirty="0"/>
              <a:t> and </a:t>
            </a:r>
            <a:r>
              <a:rPr lang="en-CA" dirty="0">
                <a:solidFill>
                  <a:srgbClr val="0070C0"/>
                </a:solidFill>
              </a:rPr>
              <a:t>y</a:t>
            </a:r>
            <a:r>
              <a:rPr lang="en-CA" dirty="0"/>
              <a:t> to refer</a:t>
            </a:r>
            <a:r>
              <a:rPr lang="en-US" dirty="0"/>
              <a:t> to the same memory location as </a:t>
            </a:r>
            <a:r>
              <a:rPr lang="en-US" dirty="0">
                <a:solidFill>
                  <a:srgbClr val="0070C0"/>
                </a:solidFill>
              </a:rPr>
              <a:t>a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b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i.e. Aliasing – </a:t>
            </a:r>
            <a:r>
              <a:rPr lang="en-US" dirty="0">
                <a:solidFill>
                  <a:srgbClr val="0070C0"/>
                </a:solidFill>
              </a:rPr>
              <a:t>x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a</a:t>
            </a:r>
            <a:r>
              <a:rPr lang="en-US" dirty="0"/>
              <a:t> are two names to the same memory location, so are </a:t>
            </a:r>
            <a:r>
              <a:rPr lang="en-US" dirty="0">
                <a:solidFill>
                  <a:srgbClr val="0070C0"/>
                </a:solidFill>
              </a:rPr>
              <a:t>y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b</a:t>
            </a:r>
            <a:endParaRPr lang="en-CA" dirty="0">
              <a:solidFill>
                <a:srgbClr val="0070C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6D3F84-4A5E-9CC7-3B1E-CA915DE52237}"/>
              </a:ext>
            </a:extLst>
          </p:cNvPr>
          <p:cNvSpPr txBox="1"/>
          <p:nvPr/>
        </p:nvSpPr>
        <p:spPr>
          <a:xfrm>
            <a:off x="906978" y="3385010"/>
            <a:ext cx="2363092" cy="1523494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swap two vars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 a, b 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A72D25-A55B-5256-38AE-4D3C0C1DA99D}"/>
              </a:ext>
            </a:extLst>
          </p:cNvPr>
          <p:cNvSpPr/>
          <p:nvPr/>
        </p:nvSpPr>
        <p:spPr>
          <a:xfrm>
            <a:off x="4031959" y="4043107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4BE16B-88C1-DAC6-CB8C-6162A97C32DE}"/>
              </a:ext>
            </a:extLst>
          </p:cNvPr>
          <p:cNvSpPr/>
          <p:nvPr/>
        </p:nvSpPr>
        <p:spPr>
          <a:xfrm>
            <a:off x="4028911" y="4361119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8491C-7788-C975-040F-9383C7DDE0CE}"/>
              </a:ext>
            </a:extLst>
          </p:cNvPr>
          <p:cNvSpPr txBox="1"/>
          <p:nvPr/>
        </p:nvSpPr>
        <p:spPr>
          <a:xfrm>
            <a:off x="3587568" y="3448112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D3B439-4B2F-2149-91AD-A2F63A061985}"/>
              </a:ext>
            </a:extLst>
          </p:cNvPr>
          <p:cNvSpPr txBox="1"/>
          <p:nvPr/>
        </p:nvSpPr>
        <p:spPr>
          <a:xfrm>
            <a:off x="4648775" y="4160474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2FAE4-79B3-7B62-96F8-4CDC79989DC8}"/>
              </a:ext>
            </a:extLst>
          </p:cNvPr>
          <p:cNvSpPr txBox="1"/>
          <p:nvPr/>
        </p:nvSpPr>
        <p:spPr>
          <a:xfrm>
            <a:off x="4648775" y="3805998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91E1E-C8E0-BCD0-465E-2E064320BFE6}"/>
              </a:ext>
            </a:extLst>
          </p:cNvPr>
          <p:cNvSpPr txBox="1"/>
          <p:nvPr/>
        </p:nvSpPr>
        <p:spPr>
          <a:xfrm>
            <a:off x="3299254" y="4361762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7E4E0A-9B87-7E6C-097F-1D67AEFD36B3}"/>
              </a:ext>
            </a:extLst>
          </p:cNvPr>
          <p:cNvSpPr txBox="1"/>
          <p:nvPr/>
        </p:nvSpPr>
        <p:spPr>
          <a:xfrm>
            <a:off x="3305736" y="403750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9E3A08-986E-C0C8-B2B3-7888B2F223EF}"/>
              </a:ext>
            </a:extLst>
          </p:cNvPr>
          <p:cNvSpPr/>
          <p:nvPr/>
        </p:nvSpPr>
        <p:spPr>
          <a:xfrm>
            <a:off x="1962027" y="4296558"/>
            <a:ext cx="649976" cy="1911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A77FECB5-02E7-DC7A-8D3A-C5DBE9346E83}"/>
              </a:ext>
            </a:extLst>
          </p:cNvPr>
          <p:cNvSpPr/>
          <p:nvPr/>
        </p:nvSpPr>
        <p:spPr>
          <a:xfrm>
            <a:off x="1058327" y="5121924"/>
            <a:ext cx="1779345" cy="313668"/>
          </a:xfrm>
          <a:prstGeom prst="wedgeRectCallout">
            <a:avLst>
              <a:gd name="adj1" fmla="val 30268"/>
              <a:gd name="adj2" fmla="val -23621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variables as is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6BC140-7933-79B0-BAE3-E71D2BE047AF}"/>
              </a:ext>
            </a:extLst>
          </p:cNvPr>
          <p:cNvSpPr txBox="1"/>
          <p:nvPr/>
        </p:nvSpPr>
        <p:spPr>
          <a:xfrm>
            <a:off x="7976717" y="3429000"/>
            <a:ext cx="3235780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170979-72AF-D338-8953-CDFF7BC1A103}"/>
              </a:ext>
            </a:extLst>
          </p:cNvPr>
          <p:cNvSpPr txBox="1"/>
          <p:nvPr/>
        </p:nvSpPr>
        <p:spPr>
          <a:xfrm>
            <a:off x="5823188" y="3149121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0E849C-FB2E-E34E-883C-7E175E34B659}"/>
              </a:ext>
            </a:extLst>
          </p:cNvPr>
          <p:cNvSpPr txBox="1"/>
          <p:nvPr/>
        </p:nvSpPr>
        <p:spPr>
          <a:xfrm>
            <a:off x="6323762" y="4271075"/>
            <a:ext cx="646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E466F1-0281-DDC6-BAF9-9D3E9CD6216A}"/>
              </a:ext>
            </a:extLst>
          </p:cNvPr>
          <p:cNvSpPr txBox="1"/>
          <p:nvPr/>
        </p:nvSpPr>
        <p:spPr>
          <a:xfrm>
            <a:off x="6329780" y="3958605"/>
            <a:ext cx="55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DC1C1B70-80A3-0771-150C-EB9DF74DB415}"/>
              </a:ext>
            </a:extLst>
          </p:cNvPr>
          <p:cNvSpPr/>
          <p:nvPr/>
        </p:nvSpPr>
        <p:spPr>
          <a:xfrm flipH="1">
            <a:off x="4764409" y="4487723"/>
            <a:ext cx="1559352" cy="939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11C566B-34F9-1D02-9CB0-B975C2197955}"/>
              </a:ext>
            </a:extLst>
          </p:cNvPr>
          <p:cNvSpPr/>
          <p:nvPr/>
        </p:nvSpPr>
        <p:spPr>
          <a:xfrm>
            <a:off x="5949940" y="3505987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EE51E1-4F2B-A708-1D7F-5688AE0C2DCC}"/>
              </a:ext>
            </a:extLst>
          </p:cNvPr>
          <p:cNvSpPr txBox="1"/>
          <p:nvPr/>
        </p:nvSpPr>
        <p:spPr>
          <a:xfrm>
            <a:off x="7100337" y="3513724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30103C-6FE5-091E-7ACC-67B0C2E143B1}"/>
              </a:ext>
            </a:extLst>
          </p:cNvPr>
          <p:cNvSpPr txBox="1"/>
          <p:nvPr/>
        </p:nvSpPr>
        <p:spPr>
          <a:xfrm>
            <a:off x="5358251" y="3461999"/>
            <a:ext cx="672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temp</a:t>
            </a: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17CEE575-4ADB-1875-820D-61CBE0D57DF6}"/>
              </a:ext>
            </a:extLst>
          </p:cNvPr>
          <p:cNvSpPr/>
          <p:nvPr/>
        </p:nvSpPr>
        <p:spPr>
          <a:xfrm>
            <a:off x="4028910" y="5040272"/>
            <a:ext cx="5737849" cy="714310"/>
          </a:xfrm>
          <a:prstGeom prst="wedgeRectCallout">
            <a:avLst>
              <a:gd name="adj1" fmla="val -8928"/>
              <a:gd name="adj2" fmla="val -9908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C++ compiler literally treats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x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a</a:t>
            </a:r>
            <a:r>
              <a:rPr lang="en-US" sz="1400" dirty="0">
                <a:solidFill>
                  <a:schemeClr val="tx1"/>
                </a:solidFill>
              </a:rPr>
              <a:t> as two integer variable names referring to the same memory location of 0x5AE4 during compilation.</a:t>
            </a:r>
          </a:p>
          <a:p>
            <a:r>
              <a:rPr lang="en-US" sz="1400" dirty="0">
                <a:solidFill>
                  <a:schemeClr val="tx1"/>
                </a:solidFill>
              </a:rPr>
              <a:t>(Same for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y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b</a:t>
            </a:r>
            <a:r>
              <a:rPr lang="en-US" sz="1400" dirty="0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F1D6A2-306F-8E3F-B7B0-010A7C29D44A}"/>
              </a:ext>
            </a:extLst>
          </p:cNvPr>
          <p:cNvSpPr txBox="1"/>
          <p:nvPr/>
        </p:nvSpPr>
        <p:spPr>
          <a:xfrm>
            <a:off x="9339844" y="3370718"/>
            <a:ext cx="42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&amp;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552A57-EE97-7949-0272-44E4DBB13E85}"/>
              </a:ext>
            </a:extLst>
          </p:cNvPr>
          <p:cNvSpPr txBox="1"/>
          <p:nvPr/>
        </p:nvSpPr>
        <p:spPr>
          <a:xfrm>
            <a:off x="10176890" y="3366286"/>
            <a:ext cx="42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&amp;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4953C736-CD90-5B99-C92B-4FEDCE381C02}"/>
              </a:ext>
            </a:extLst>
          </p:cNvPr>
          <p:cNvSpPr/>
          <p:nvPr/>
        </p:nvSpPr>
        <p:spPr>
          <a:xfrm flipH="1">
            <a:off x="4793241" y="4153253"/>
            <a:ext cx="1559352" cy="939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6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/>
      <p:bldP spid="10" grpId="0"/>
      <p:bldP spid="11" grpId="0"/>
      <p:bldP spid="14" grpId="0"/>
      <p:bldP spid="17" grpId="0"/>
      <p:bldP spid="18" grpId="0" animBg="1"/>
      <p:bldP spid="19" grpId="0" animBg="1"/>
      <p:bldP spid="21" grpId="0"/>
      <p:bldP spid="24" grpId="0"/>
      <p:bldP spid="25" grpId="0"/>
      <p:bldP spid="31" grpId="0" animBg="1"/>
      <p:bldP spid="35" grpId="0" animBg="1"/>
      <p:bldP spid="36" grpId="0"/>
      <p:bldP spid="37" grpId="0"/>
      <p:bldP spid="38" grpId="0" animBg="1"/>
      <p:bldP spid="39" grpId="0"/>
      <p:bldP spid="40" grpId="0"/>
      <p:bldP spid="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Pass by Reference Mode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EFBD4-AC75-FC03-EFE3-CDDD17691464}"/>
              </a:ext>
            </a:extLst>
          </p:cNvPr>
          <p:cNvSpPr txBox="1"/>
          <p:nvPr/>
        </p:nvSpPr>
        <p:spPr>
          <a:xfrm>
            <a:off x="835985" y="1563637"/>
            <a:ext cx="105374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Pass by Reference (C++ Implementation)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More intuitive and secure way of allowing direct access to genuine values from within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 input parameters in pass-by-reference mode, just append the reference/address operator </a:t>
            </a:r>
            <a:r>
              <a:rPr lang="en-CA" b="1" dirty="0">
                <a:solidFill>
                  <a:srgbClr val="FF0000"/>
                </a:solidFill>
              </a:rPr>
              <a:t>&amp;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compiler takes over and allows </a:t>
            </a:r>
            <a:r>
              <a:rPr lang="en-CA" dirty="0">
                <a:solidFill>
                  <a:srgbClr val="0070C0"/>
                </a:solidFill>
              </a:rPr>
              <a:t>x</a:t>
            </a:r>
            <a:r>
              <a:rPr lang="en-CA" dirty="0"/>
              <a:t> and </a:t>
            </a:r>
            <a:r>
              <a:rPr lang="en-CA" dirty="0">
                <a:solidFill>
                  <a:srgbClr val="0070C0"/>
                </a:solidFill>
              </a:rPr>
              <a:t>y</a:t>
            </a:r>
            <a:r>
              <a:rPr lang="en-CA" dirty="0"/>
              <a:t> to refer</a:t>
            </a:r>
            <a:r>
              <a:rPr lang="en-US" dirty="0"/>
              <a:t> to the same memory location as </a:t>
            </a:r>
            <a:r>
              <a:rPr lang="en-US" dirty="0">
                <a:solidFill>
                  <a:srgbClr val="0070C0"/>
                </a:solidFill>
              </a:rPr>
              <a:t>a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b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i.e. Aliasing – </a:t>
            </a:r>
            <a:r>
              <a:rPr lang="en-US" dirty="0">
                <a:solidFill>
                  <a:srgbClr val="0070C0"/>
                </a:solidFill>
              </a:rPr>
              <a:t>x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a</a:t>
            </a:r>
            <a:r>
              <a:rPr lang="en-US" dirty="0"/>
              <a:t> are two names to the same memory location, so are </a:t>
            </a:r>
            <a:r>
              <a:rPr lang="en-US" dirty="0">
                <a:solidFill>
                  <a:srgbClr val="0070C0"/>
                </a:solidFill>
              </a:rPr>
              <a:t>y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b</a:t>
            </a:r>
            <a:endParaRPr lang="en-CA" dirty="0">
              <a:solidFill>
                <a:srgbClr val="0070C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6D3F84-4A5E-9CC7-3B1E-CA915DE52237}"/>
              </a:ext>
            </a:extLst>
          </p:cNvPr>
          <p:cNvSpPr txBox="1"/>
          <p:nvPr/>
        </p:nvSpPr>
        <p:spPr>
          <a:xfrm>
            <a:off x="906978" y="3385010"/>
            <a:ext cx="2363092" cy="1523494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swap two vars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 a, b 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A72D25-A55B-5256-38AE-4D3C0C1DA99D}"/>
              </a:ext>
            </a:extLst>
          </p:cNvPr>
          <p:cNvSpPr/>
          <p:nvPr/>
        </p:nvSpPr>
        <p:spPr>
          <a:xfrm>
            <a:off x="4031959" y="4043107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4BE16B-88C1-DAC6-CB8C-6162A97C32DE}"/>
              </a:ext>
            </a:extLst>
          </p:cNvPr>
          <p:cNvSpPr/>
          <p:nvPr/>
        </p:nvSpPr>
        <p:spPr>
          <a:xfrm>
            <a:off x="4028911" y="4361119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8491C-7788-C975-040F-9383C7DDE0CE}"/>
              </a:ext>
            </a:extLst>
          </p:cNvPr>
          <p:cNvSpPr txBox="1"/>
          <p:nvPr/>
        </p:nvSpPr>
        <p:spPr>
          <a:xfrm>
            <a:off x="3587568" y="3448112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D3B439-4B2F-2149-91AD-A2F63A061985}"/>
              </a:ext>
            </a:extLst>
          </p:cNvPr>
          <p:cNvSpPr txBox="1"/>
          <p:nvPr/>
        </p:nvSpPr>
        <p:spPr>
          <a:xfrm>
            <a:off x="4648775" y="4160474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2FAE4-79B3-7B62-96F8-4CDC79989DC8}"/>
              </a:ext>
            </a:extLst>
          </p:cNvPr>
          <p:cNvSpPr txBox="1"/>
          <p:nvPr/>
        </p:nvSpPr>
        <p:spPr>
          <a:xfrm>
            <a:off x="4648775" y="3805998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91E1E-C8E0-BCD0-465E-2E064320BFE6}"/>
              </a:ext>
            </a:extLst>
          </p:cNvPr>
          <p:cNvSpPr txBox="1"/>
          <p:nvPr/>
        </p:nvSpPr>
        <p:spPr>
          <a:xfrm>
            <a:off x="3299254" y="4361762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7E4E0A-9B87-7E6C-097F-1D67AEFD36B3}"/>
              </a:ext>
            </a:extLst>
          </p:cNvPr>
          <p:cNvSpPr txBox="1"/>
          <p:nvPr/>
        </p:nvSpPr>
        <p:spPr>
          <a:xfrm>
            <a:off x="3305736" y="403750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9E3A08-986E-C0C8-B2B3-7888B2F223EF}"/>
              </a:ext>
            </a:extLst>
          </p:cNvPr>
          <p:cNvSpPr/>
          <p:nvPr/>
        </p:nvSpPr>
        <p:spPr>
          <a:xfrm>
            <a:off x="1962027" y="4296558"/>
            <a:ext cx="649976" cy="1911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A77FECB5-02E7-DC7A-8D3A-C5DBE9346E83}"/>
              </a:ext>
            </a:extLst>
          </p:cNvPr>
          <p:cNvSpPr/>
          <p:nvPr/>
        </p:nvSpPr>
        <p:spPr>
          <a:xfrm>
            <a:off x="1058327" y="5121924"/>
            <a:ext cx="1779345" cy="313668"/>
          </a:xfrm>
          <a:prstGeom prst="wedgeRectCallout">
            <a:avLst>
              <a:gd name="adj1" fmla="val 30268"/>
              <a:gd name="adj2" fmla="val -23621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variables as is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6BC140-7933-79B0-BAE3-E71D2BE047AF}"/>
              </a:ext>
            </a:extLst>
          </p:cNvPr>
          <p:cNvSpPr txBox="1"/>
          <p:nvPr/>
        </p:nvSpPr>
        <p:spPr>
          <a:xfrm>
            <a:off x="7976717" y="3429000"/>
            <a:ext cx="3235780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temp = x;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temp = a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170979-72AF-D338-8953-CDFF7BC1A103}"/>
              </a:ext>
            </a:extLst>
          </p:cNvPr>
          <p:cNvSpPr txBox="1"/>
          <p:nvPr/>
        </p:nvSpPr>
        <p:spPr>
          <a:xfrm>
            <a:off x="5823188" y="3149121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0E849C-FB2E-E34E-883C-7E175E34B659}"/>
              </a:ext>
            </a:extLst>
          </p:cNvPr>
          <p:cNvSpPr txBox="1"/>
          <p:nvPr/>
        </p:nvSpPr>
        <p:spPr>
          <a:xfrm>
            <a:off x="6323762" y="4271075"/>
            <a:ext cx="646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E466F1-0281-DDC6-BAF9-9D3E9CD6216A}"/>
              </a:ext>
            </a:extLst>
          </p:cNvPr>
          <p:cNvSpPr txBox="1"/>
          <p:nvPr/>
        </p:nvSpPr>
        <p:spPr>
          <a:xfrm>
            <a:off x="6329780" y="3958605"/>
            <a:ext cx="55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DC1C1B70-80A3-0771-150C-EB9DF74DB415}"/>
              </a:ext>
            </a:extLst>
          </p:cNvPr>
          <p:cNvSpPr/>
          <p:nvPr/>
        </p:nvSpPr>
        <p:spPr>
          <a:xfrm flipH="1">
            <a:off x="4764409" y="4487723"/>
            <a:ext cx="1559352" cy="939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11C566B-34F9-1D02-9CB0-B975C2197955}"/>
              </a:ext>
            </a:extLst>
          </p:cNvPr>
          <p:cNvSpPr/>
          <p:nvPr/>
        </p:nvSpPr>
        <p:spPr>
          <a:xfrm>
            <a:off x="5949940" y="3505987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EE51E1-4F2B-A708-1D7F-5688AE0C2DCC}"/>
              </a:ext>
            </a:extLst>
          </p:cNvPr>
          <p:cNvSpPr txBox="1"/>
          <p:nvPr/>
        </p:nvSpPr>
        <p:spPr>
          <a:xfrm>
            <a:off x="7100337" y="3513724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30103C-6FE5-091E-7ACC-67B0C2E143B1}"/>
              </a:ext>
            </a:extLst>
          </p:cNvPr>
          <p:cNvSpPr txBox="1"/>
          <p:nvPr/>
        </p:nvSpPr>
        <p:spPr>
          <a:xfrm>
            <a:off x="5358251" y="3461999"/>
            <a:ext cx="672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temp</a:t>
            </a: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17CEE575-4ADB-1875-820D-61CBE0D57DF6}"/>
              </a:ext>
            </a:extLst>
          </p:cNvPr>
          <p:cNvSpPr/>
          <p:nvPr/>
        </p:nvSpPr>
        <p:spPr>
          <a:xfrm>
            <a:off x="4028910" y="5040272"/>
            <a:ext cx="5737849" cy="714310"/>
          </a:xfrm>
          <a:prstGeom prst="wedgeRectCallout">
            <a:avLst>
              <a:gd name="adj1" fmla="val -8928"/>
              <a:gd name="adj2" fmla="val -9908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C++ compiler literally treats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x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a</a:t>
            </a:r>
            <a:r>
              <a:rPr lang="en-US" sz="1400" dirty="0">
                <a:solidFill>
                  <a:schemeClr val="tx1"/>
                </a:solidFill>
              </a:rPr>
              <a:t> as two integer variable names referring to the same memory location of 0x5AE4 during compilation.</a:t>
            </a:r>
          </a:p>
          <a:p>
            <a:r>
              <a:rPr lang="en-US" sz="1400" dirty="0">
                <a:solidFill>
                  <a:schemeClr val="tx1"/>
                </a:solidFill>
              </a:rPr>
              <a:t>(Same for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y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b</a:t>
            </a:r>
            <a:r>
              <a:rPr lang="en-US" sz="1400" dirty="0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F1D6A2-306F-8E3F-B7B0-010A7C29D44A}"/>
              </a:ext>
            </a:extLst>
          </p:cNvPr>
          <p:cNvSpPr txBox="1"/>
          <p:nvPr/>
        </p:nvSpPr>
        <p:spPr>
          <a:xfrm>
            <a:off x="9339844" y="3370718"/>
            <a:ext cx="42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&amp;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552A57-EE97-7949-0272-44E4DBB13E85}"/>
              </a:ext>
            </a:extLst>
          </p:cNvPr>
          <p:cNvSpPr txBox="1"/>
          <p:nvPr/>
        </p:nvSpPr>
        <p:spPr>
          <a:xfrm>
            <a:off x="10176890" y="3366286"/>
            <a:ext cx="42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&amp;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4953C736-CD90-5B99-C92B-4FEDCE381C02}"/>
              </a:ext>
            </a:extLst>
          </p:cNvPr>
          <p:cNvSpPr/>
          <p:nvPr/>
        </p:nvSpPr>
        <p:spPr>
          <a:xfrm flipH="1">
            <a:off x="4793241" y="4153253"/>
            <a:ext cx="1559352" cy="939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7FC386-EAAE-869B-BBA9-3F2ABC463BDE}"/>
              </a:ext>
            </a:extLst>
          </p:cNvPr>
          <p:cNvSpPr txBox="1"/>
          <p:nvPr/>
        </p:nvSpPr>
        <p:spPr>
          <a:xfrm>
            <a:off x="4075972" y="4333697"/>
            <a:ext cx="55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091191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00116 L 0.17865 -0.1247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32" y="-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14" grpId="0"/>
      <p:bldP spid="24" grpId="0"/>
      <p:bldP spid="31" grpId="0" animBg="1"/>
      <p:bldP spid="15" grpId="0"/>
      <p:bldP spid="1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Pass by Reference Mode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EFBD4-AC75-FC03-EFE3-CDDD17691464}"/>
              </a:ext>
            </a:extLst>
          </p:cNvPr>
          <p:cNvSpPr txBox="1"/>
          <p:nvPr/>
        </p:nvSpPr>
        <p:spPr>
          <a:xfrm>
            <a:off x="835985" y="1563637"/>
            <a:ext cx="105374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Pass by Reference (C++ Implementation)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More intuitive and secure way of allowing direct access to genuine values from within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 input parameters in pass-by-reference mode, just append the reference/address operator </a:t>
            </a:r>
            <a:r>
              <a:rPr lang="en-CA" b="1" dirty="0">
                <a:solidFill>
                  <a:srgbClr val="FF0000"/>
                </a:solidFill>
              </a:rPr>
              <a:t>&amp;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compiler takes over and allows </a:t>
            </a:r>
            <a:r>
              <a:rPr lang="en-CA" dirty="0">
                <a:solidFill>
                  <a:srgbClr val="0070C0"/>
                </a:solidFill>
              </a:rPr>
              <a:t>x</a:t>
            </a:r>
            <a:r>
              <a:rPr lang="en-CA" dirty="0"/>
              <a:t> and </a:t>
            </a:r>
            <a:r>
              <a:rPr lang="en-CA" dirty="0">
                <a:solidFill>
                  <a:srgbClr val="0070C0"/>
                </a:solidFill>
              </a:rPr>
              <a:t>y</a:t>
            </a:r>
            <a:r>
              <a:rPr lang="en-CA" dirty="0"/>
              <a:t> to refer</a:t>
            </a:r>
            <a:r>
              <a:rPr lang="en-US" dirty="0"/>
              <a:t> to the same memory location as </a:t>
            </a:r>
            <a:r>
              <a:rPr lang="en-US" dirty="0">
                <a:solidFill>
                  <a:srgbClr val="0070C0"/>
                </a:solidFill>
              </a:rPr>
              <a:t>a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b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i.e. Aliasing – </a:t>
            </a:r>
            <a:r>
              <a:rPr lang="en-US" dirty="0">
                <a:solidFill>
                  <a:srgbClr val="0070C0"/>
                </a:solidFill>
              </a:rPr>
              <a:t>x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a</a:t>
            </a:r>
            <a:r>
              <a:rPr lang="en-US" dirty="0"/>
              <a:t> are two names to the same memory location, so are </a:t>
            </a:r>
            <a:r>
              <a:rPr lang="en-US" dirty="0">
                <a:solidFill>
                  <a:srgbClr val="0070C0"/>
                </a:solidFill>
              </a:rPr>
              <a:t>y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b</a:t>
            </a:r>
            <a:endParaRPr lang="en-CA" dirty="0">
              <a:solidFill>
                <a:srgbClr val="0070C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6D3F84-4A5E-9CC7-3B1E-CA915DE52237}"/>
              </a:ext>
            </a:extLst>
          </p:cNvPr>
          <p:cNvSpPr txBox="1"/>
          <p:nvPr/>
        </p:nvSpPr>
        <p:spPr>
          <a:xfrm>
            <a:off x="906978" y="3385010"/>
            <a:ext cx="2363092" cy="1523494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swap two vars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 a, b 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A72D25-A55B-5256-38AE-4D3C0C1DA99D}"/>
              </a:ext>
            </a:extLst>
          </p:cNvPr>
          <p:cNvSpPr/>
          <p:nvPr/>
        </p:nvSpPr>
        <p:spPr>
          <a:xfrm>
            <a:off x="4031959" y="4043107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4BE16B-88C1-DAC6-CB8C-6162A97C32DE}"/>
              </a:ext>
            </a:extLst>
          </p:cNvPr>
          <p:cNvSpPr/>
          <p:nvPr/>
        </p:nvSpPr>
        <p:spPr>
          <a:xfrm>
            <a:off x="4028911" y="4361119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8491C-7788-C975-040F-9383C7DDE0CE}"/>
              </a:ext>
            </a:extLst>
          </p:cNvPr>
          <p:cNvSpPr txBox="1"/>
          <p:nvPr/>
        </p:nvSpPr>
        <p:spPr>
          <a:xfrm>
            <a:off x="3587568" y="3448112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D3B439-4B2F-2149-91AD-A2F63A061985}"/>
              </a:ext>
            </a:extLst>
          </p:cNvPr>
          <p:cNvSpPr txBox="1"/>
          <p:nvPr/>
        </p:nvSpPr>
        <p:spPr>
          <a:xfrm>
            <a:off x="4648775" y="4160474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2FAE4-79B3-7B62-96F8-4CDC79989DC8}"/>
              </a:ext>
            </a:extLst>
          </p:cNvPr>
          <p:cNvSpPr txBox="1"/>
          <p:nvPr/>
        </p:nvSpPr>
        <p:spPr>
          <a:xfrm>
            <a:off x="4648775" y="3805998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91E1E-C8E0-BCD0-465E-2E064320BFE6}"/>
              </a:ext>
            </a:extLst>
          </p:cNvPr>
          <p:cNvSpPr txBox="1"/>
          <p:nvPr/>
        </p:nvSpPr>
        <p:spPr>
          <a:xfrm>
            <a:off x="3299254" y="4361762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7E4E0A-9B87-7E6C-097F-1D67AEFD36B3}"/>
              </a:ext>
            </a:extLst>
          </p:cNvPr>
          <p:cNvSpPr txBox="1"/>
          <p:nvPr/>
        </p:nvSpPr>
        <p:spPr>
          <a:xfrm>
            <a:off x="3305736" y="403750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9E3A08-986E-C0C8-B2B3-7888B2F223EF}"/>
              </a:ext>
            </a:extLst>
          </p:cNvPr>
          <p:cNvSpPr/>
          <p:nvPr/>
        </p:nvSpPr>
        <p:spPr>
          <a:xfrm>
            <a:off x="1962027" y="4296558"/>
            <a:ext cx="649976" cy="1911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A77FECB5-02E7-DC7A-8D3A-C5DBE9346E83}"/>
              </a:ext>
            </a:extLst>
          </p:cNvPr>
          <p:cNvSpPr/>
          <p:nvPr/>
        </p:nvSpPr>
        <p:spPr>
          <a:xfrm>
            <a:off x="1058327" y="5121924"/>
            <a:ext cx="1779345" cy="313668"/>
          </a:xfrm>
          <a:prstGeom prst="wedgeRectCallout">
            <a:avLst>
              <a:gd name="adj1" fmla="val 30268"/>
              <a:gd name="adj2" fmla="val -23621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variables as is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6BC140-7933-79B0-BAE3-E71D2BE047AF}"/>
              </a:ext>
            </a:extLst>
          </p:cNvPr>
          <p:cNvSpPr txBox="1"/>
          <p:nvPr/>
        </p:nvSpPr>
        <p:spPr>
          <a:xfrm>
            <a:off x="7976717" y="3429000"/>
            <a:ext cx="3235780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temp = x;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temp = a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 = y;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= b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170979-72AF-D338-8953-CDFF7BC1A103}"/>
              </a:ext>
            </a:extLst>
          </p:cNvPr>
          <p:cNvSpPr txBox="1"/>
          <p:nvPr/>
        </p:nvSpPr>
        <p:spPr>
          <a:xfrm>
            <a:off x="5823188" y="3149121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0E849C-FB2E-E34E-883C-7E175E34B659}"/>
              </a:ext>
            </a:extLst>
          </p:cNvPr>
          <p:cNvSpPr txBox="1"/>
          <p:nvPr/>
        </p:nvSpPr>
        <p:spPr>
          <a:xfrm>
            <a:off x="6323762" y="4271075"/>
            <a:ext cx="646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E466F1-0281-DDC6-BAF9-9D3E9CD6216A}"/>
              </a:ext>
            </a:extLst>
          </p:cNvPr>
          <p:cNvSpPr txBox="1"/>
          <p:nvPr/>
        </p:nvSpPr>
        <p:spPr>
          <a:xfrm>
            <a:off x="6329780" y="3958605"/>
            <a:ext cx="55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DC1C1B70-80A3-0771-150C-EB9DF74DB415}"/>
              </a:ext>
            </a:extLst>
          </p:cNvPr>
          <p:cNvSpPr/>
          <p:nvPr/>
        </p:nvSpPr>
        <p:spPr>
          <a:xfrm flipH="1">
            <a:off x="4764409" y="4487723"/>
            <a:ext cx="1559352" cy="939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11C566B-34F9-1D02-9CB0-B975C2197955}"/>
              </a:ext>
            </a:extLst>
          </p:cNvPr>
          <p:cNvSpPr/>
          <p:nvPr/>
        </p:nvSpPr>
        <p:spPr>
          <a:xfrm>
            <a:off x="5949940" y="3505987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EE51E1-4F2B-A708-1D7F-5688AE0C2DCC}"/>
              </a:ext>
            </a:extLst>
          </p:cNvPr>
          <p:cNvSpPr txBox="1"/>
          <p:nvPr/>
        </p:nvSpPr>
        <p:spPr>
          <a:xfrm>
            <a:off x="7100337" y="3513724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30103C-6FE5-091E-7ACC-67B0C2E143B1}"/>
              </a:ext>
            </a:extLst>
          </p:cNvPr>
          <p:cNvSpPr txBox="1"/>
          <p:nvPr/>
        </p:nvSpPr>
        <p:spPr>
          <a:xfrm>
            <a:off x="5358251" y="3461999"/>
            <a:ext cx="672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temp</a:t>
            </a: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17CEE575-4ADB-1875-820D-61CBE0D57DF6}"/>
              </a:ext>
            </a:extLst>
          </p:cNvPr>
          <p:cNvSpPr/>
          <p:nvPr/>
        </p:nvSpPr>
        <p:spPr>
          <a:xfrm>
            <a:off x="4028910" y="5040272"/>
            <a:ext cx="5737849" cy="714310"/>
          </a:xfrm>
          <a:prstGeom prst="wedgeRectCallout">
            <a:avLst>
              <a:gd name="adj1" fmla="val -8928"/>
              <a:gd name="adj2" fmla="val -9908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C++ compiler literally treats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x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a</a:t>
            </a:r>
            <a:r>
              <a:rPr lang="en-US" sz="1400" dirty="0">
                <a:solidFill>
                  <a:schemeClr val="tx1"/>
                </a:solidFill>
              </a:rPr>
              <a:t> as two integer variable names referring to the same memory location of 0x5AE4 during compilation.</a:t>
            </a:r>
          </a:p>
          <a:p>
            <a:r>
              <a:rPr lang="en-US" sz="1400" dirty="0">
                <a:solidFill>
                  <a:schemeClr val="tx1"/>
                </a:solidFill>
              </a:rPr>
              <a:t>(Same for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y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b</a:t>
            </a:r>
            <a:r>
              <a:rPr lang="en-US" sz="1400" dirty="0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F1D6A2-306F-8E3F-B7B0-010A7C29D44A}"/>
              </a:ext>
            </a:extLst>
          </p:cNvPr>
          <p:cNvSpPr txBox="1"/>
          <p:nvPr/>
        </p:nvSpPr>
        <p:spPr>
          <a:xfrm>
            <a:off x="9339844" y="3370718"/>
            <a:ext cx="42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&amp;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552A57-EE97-7949-0272-44E4DBB13E85}"/>
              </a:ext>
            </a:extLst>
          </p:cNvPr>
          <p:cNvSpPr txBox="1"/>
          <p:nvPr/>
        </p:nvSpPr>
        <p:spPr>
          <a:xfrm>
            <a:off x="10176890" y="3366286"/>
            <a:ext cx="42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&amp;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4953C736-CD90-5B99-C92B-4FEDCE381C02}"/>
              </a:ext>
            </a:extLst>
          </p:cNvPr>
          <p:cNvSpPr/>
          <p:nvPr/>
        </p:nvSpPr>
        <p:spPr>
          <a:xfrm flipH="1">
            <a:off x="4793241" y="4153253"/>
            <a:ext cx="1559352" cy="939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7FC386-EAAE-869B-BBA9-3F2ABC463BDE}"/>
              </a:ext>
            </a:extLst>
          </p:cNvPr>
          <p:cNvSpPr txBox="1"/>
          <p:nvPr/>
        </p:nvSpPr>
        <p:spPr>
          <a:xfrm>
            <a:off x="6237705" y="3471648"/>
            <a:ext cx="55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C534F6-5BEC-C52D-B5E6-BF7D92E6A004}"/>
              </a:ext>
            </a:extLst>
          </p:cNvPr>
          <p:cNvSpPr txBox="1"/>
          <p:nvPr/>
        </p:nvSpPr>
        <p:spPr>
          <a:xfrm>
            <a:off x="4091622" y="4012697"/>
            <a:ext cx="632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200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926C93-089F-62FB-FA25-763E4A5471FF}"/>
              </a:ext>
            </a:extLst>
          </p:cNvPr>
          <p:cNvSpPr txBox="1"/>
          <p:nvPr/>
        </p:nvSpPr>
        <p:spPr>
          <a:xfrm>
            <a:off x="4082622" y="4319598"/>
            <a:ext cx="55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5922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96296E-6 L -0.00117 0.04629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0" grpId="0"/>
      <p:bldP spid="11" grpId="0"/>
      <p:bldP spid="14" grpId="0"/>
      <p:bldP spid="17" grpId="0"/>
      <p:bldP spid="24" grpId="0"/>
      <p:bldP spid="25" grpId="0"/>
      <p:bldP spid="31" grpId="0" animBg="1"/>
      <p:bldP spid="41" grpId="0" animBg="1"/>
      <p:bldP spid="16" grpId="0"/>
      <p:bldP spid="16" grpId="1"/>
      <p:bldP spid="26" grpId="0"/>
      <p:bldP spid="26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Pass by Reference Mode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15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EFBD4-AC75-FC03-EFE3-CDDD17691464}"/>
              </a:ext>
            </a:extLst>
          </p:cNvPr>
          <p:cNvSpPr txBox="1"/>
          <p:nvPr/>
        </p:nvSpPr>
        <p:spPr>
          <a:xfrm>
            <a:off x="835985" y="1563637"/>
            <a:ext cx="105374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Pass by Reference (C++ Implementation)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More intuitive and secure way of allowing direct access to genuine values from within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 input parameters in pass-by-reference mode, just append the reference/address operator </a:t>
            </a:r>
            <a:r>
              <a:rPr lang="en-CA" b="1" dirty="0">
                <a:solidFill>
                  <a:srgbClr val="FF0000"/>
                </a:solidFill>
              </a:rPr>
              <a:t>&amp;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compiler takes over and allows </a:t>
            </a:r>
            <a:r>
              <a:rPr lang="en-CA" dirty="0">
                <a:solidFill>
                  <a:srgbClr val="0070C0"/>
                </a:solidFill>
              </a:rPr>
              <a:t>x</a:t>
            </a:r>
            <a:r>
              <a:rPr lang="en-CA" dirty="0"/>
              <a:t> and </a:t>
            </a:r>
            <a:r>
              <a:rPr lang="en-CA" dirty="0">
                <a:solidFill>
                  <a:srgbClr val="0070C0"/>
                </a:solidFill>
              </a:rPr>
              <a:t>y</a:t>
            </a:r>
            <a:r>
              <a:rPr lang="en-CA" dirty="0"/>
              <a:t> to refer</a:t>
            </a:r>
            <a:r>
              <a:rPr lang="en-US" dirty="0"/>
              <a:t> to the same memory location as </a:t>
            </a:r>
            <a:r>
              <a:rPr lang="en-US" dirty="0">
                <a:solidFill>
                  <a:srgbClr val="0070C0"/>
                </a:solidFill>
              </a:rPr>
              <a:t>a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b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i.e. Aliasing – </a:t>
            </a:r>
            <a:r>
              <a:rPr lang="en-US" dirty="0">
                <a:solidFill>
                  <a:srgbClr val="0070C0"/>
                </a:solidFill>
              </a:rPr>
              <a:t>x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a</a:t>
            </a:r>
            <a:r>
              <a:rPr lang="en-US" dirty="0"/>
              <a:t> are two names to the same memory location, so are </a:t>
            </a:r>
            <a:r>
              <a:rPr lang="en-US" dirty="0">
                <a:solidFill>
                  <a:srgbClr val="0070C0"/>
                </a:solidFill>
              </a:rPr>
              <a:t>y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b</a:t>
            </a:r>
            <a:endParaRPr lang="en-CA" dirty="0">
              <a:solidFill>
                <a:srgbClr val="0070C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6D3F84-4A5E-9CC7-3B1E-CA915DE52237}"/>
              </a:ext>
            </a:extLst>
          </p:cNvPr>
          <p:cNvSpPr txBox="1"/>
          <p:nvPr/>
        </p:nvSpPr>
        <p:spPr>
          <a:xfrm>
            <a:off x="906978" y="3385010"/>
            <a:ext cx="2363092" cy="1523494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swap two vars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 a, b 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A72D25-A55B-5256-38AE-4D3C0C1DA99D}"/>
              </a:ext>
            </a:extLst>
          </p:cNvPr>
          <p:cNvSpPr/>
          <p:nvPr/>
        </p:nvSpPr>
        <p:spPr>
          <a:xfrm>
            <a:off x="4031959" y="4043107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4BE16B-88C1-DAC6-CB8C-6162A97C32DE}"/>
              </a:ext>
            </a:extLst>
          </p:cNvPr>
          <p:cNvSpPr/>
          <p:nvPr/>
        </p:nvSpPr>
        <p:spPr>
          <a:xfrm>
            <a:off x="4028911" y="4361119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8491C-7788-C975-040F-9383C7DDE0CE}"/>
              </a:ext>
            </a:extLst>
          </p:cNvPr>
          <p:cNvSpPr txBox="1"/>
          <p:nvPr/>
        </p:nvSpPr>
        <p:spPr>
          <a:xfrm>
            <a:off x="3587568" y="3448112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D3B439-4B2F-2149-91AD-A2F63A061985}"/>
              </a:ext>
            </a:extLst>
          </p:cNvPr>
          <p:cNvSpPr txBox="1"/>
          <p:nvPr/>
        </p:nvSpPr>
        <p:spPr>
          <a:xfrm>
            <a:off x="4648775" y="4160474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2FAE4-79B3-7B62-96F8-4CDC79989DC8}"/>
              </a:ext>
            </a:extLst>
          </p:cNvPr>
          <p:cNvSpPr txBox="1"/>
          <p:nvPr/>
        </p:nvSpPr>
        <p:spPr>
          <a:xfrm>
            <a:off x="4648775" y="3805998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91E1E-C8E0-BCD0-465E-2E064320BFE6}"/>
              </a:ext>
            </a:extLst>
          </p:cNvPr>
          <p:cNvSpPr txBox="1"/>
          <p:nvPr/>
        </p:nvSpPr>
        <p:spPr>
          <a:xfrm>
            <a:off x="3299254" y="4361762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7E4E0A-9B87-7E6C-097F-1D67AEFD36B3}"/>
              </a:ext>
            </a:extLst>
          </p:cNvPr>
          <p:cNvSpPr txBox="1"/>
          <p:nvPr/>
        </p:nvSpPr>
        <p:spPr>
          <a:xfrm>
            <a:off x="3305736" y="403750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9E3A08-986E-C0C8-B2B3-7888B2F223EF}"/>
              </a:ext>
            </a:extLst>
          </p:cNvPr>
          <p:cNvSpPr/>
          <p:nvPr/>
        </p:nvSpPr>
        <p:spPr>
          <a:xfrm>
            <a:off x="1962027" y="4296558"/>
            <a:ext cx="649976" cy="1911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A77FECB5-02E7-DC7A-8D3A-C5DBE9346E83}"/>
              </a:ext>
            </a:extLst>
          </p:cNvPr>
          <p:cNvSpPr/>
          <p:nvPr/>
        </p:nvSpPr>
        <p:spPr>
          <a:xfrm>
            <a:off x="1058327" y="5121924"/>
            <a:ext cx="1779345" cy="313668"/>
          </a:xfrm>
          <a:prstGeom prst="wedgeRectCallout">
            <a:avLst>
              <a:gd name="adj1" fmla="val 30268"/>
              <a:gd name="adj2" fmla="val -23621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variables as is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6BC140-7933-79B0-BAE3-E71D2BE047AF}"/>
              </a:ext>
            </a:extLst>
          </p:cNvPr>
          <p:cNvSpPr txBox="1"/>
          <p:nvPr/>
        </p:nvSpPr>
        <p:spPr>
          <a:xfrm>
            <a:off x="7976717" y="3429000"/>
            <a:ext cx="3235780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temp = x;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temp = a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 = y;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= b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y = temp;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 = temp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170979-72AF-D338-8953-CDFF7BC1A103}"/>
              </a:ext>
            </a:extLst>
          </p:cNvPr>
          <p:cNvSpPr txBox="1"/>
          <p:nvPr/>
        </p:nvSpPr>
        <p:spPr>
          <a:xfrm>
            <a:off x="5823188" y="3149121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0E849C-FB2E-E34E-883C-7E175E34B659}"/>
              </a:ext>
            </a:extLst>
          </p:cNvPr>
          <p:cNvSpPr txBox="1"/>
          <p:nvPr/>
        </p:nvSpPr>
        <p:spPr>
          <a:xfrm>
            <a:off x="6323762" y="4271075"/>
            <a:ext cx="646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E466F1-0281-DDC6-BAF9-9D3E9CD6216A}"/>
              </a:ext>
            </a:extLst>
          </p:cNvPr>
          <p:cNvSpPr txBox="1"/>
          <p:nvPr/>
        </p:nvSpPr>
        <p:spPr>
          <a:xfrm>
            <a:off x="6329780" y="3958605"/>
            <a:ext cx="55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DC1C1B70-80A3-0771-150C-EB9DF74DB415}"/>
              </a:ext>
            </a:extLst>
          </p:cNvPr>
          <p:cNvSpPr/>
          <p:nvPr/>
        </p:nvSpPr>
        <p:spPr>
          <a:xfrm flipH="1">
            <a:off x="4764409" y="4487723"/>
            <a:ext cx="1559352" cy="939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11C566B-34F9-1D02-9CB0-B975C2197955}"/>
              </a:ext>
            </a:extLst>
          </p:cNvPr>
          <p:cNvSpPr/>
          <p:nvPr/>
        </p:nvSpPr>
        <p:spPr>
          <a:xfrm>
            <a:off x="5949940" y="3505987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EE51E1-4F2B-A708-1D7F-5688AE0C2DCC}"/>
              </a:ext>
            </a:extLst>
          </p:cNvPr>
          <p:cNvSpPr txBox="1"/>
          <p:nvPr/>
        </p:nvSpPr>
        <p:spPr>
          <a:xfrm>
            <a:off x="7100337" y="3513724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30103C-6FE5-091E-7ACC-67B0C2E143B1}"/>
              </a:ext>
            </a:extLst>
          </p:cNvPr>
          <p:cNvSpPr txBox="1"/>
          <p:nvPr/>
        </p:nvSpPr>
        <p:spPr>
          <a:xfrm>
            <a:off x="5358251" y="3461999"/>
            <a:ext cx="672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temp</a:t>
            </a: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17CEE575-4ADB-1875-820D-61CBE0D57DF6}"/>
              </a:ext>
            </a:extLst>
          </p:cNvPr>
          <p:cNvSpPr/>
          <p:nvPr/>
        </p:nvSpPr>
        <p:spPr>
          <a:xfrm>
            <a:off x="4028910" y="5040272"/>
            <a:ext cx="5737849" cy="714310"/>
          </a:xfrm>
          <a:prstGeom prst="wedgeRectCallout">
            <a:avLst>
              <a:gd name="adj1" fmla="val -8928"/>
              <a:gd name="adj2" fmla="val -9908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C++ compiler literally treats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x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a</a:t>
            </a:r>
            <a:r>
              <a:rPr lang="en-US" sz="1400" dirty="0">
                <a:solidFill>
                  <a:schemeClr val="tx1"/>
                </a:solidFill>
              </a:rPr>
              <a:t> as two integer variable names referring to the same memory location of 0x5AE4 during compilation.</a:t>
            </a:r>
          </a:p>
          <a:p>
            <a:r>
              <a:rPr lang="en-US" sz="1400" dirty="0">
                <a:solidFill>
                  <a:schemeClr val="tx1"/>
                </a:solidFill>
              </a:rPr>
              <a:t>(Same for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y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b</a:t>
            </a:r>
            <a:r>
              <a:rPr lang="en-US" sz="1400" dirty="0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F1D6A2-306F-8E3F-B7B0-010A7C29D44A}"/>
              </a:ext>
            </a:extLst>
          </p:cNvPr>
          <p:cNvSpPr txBox="1"/>
          <p:nvPr/>
        </p:nvSpPr>
        <p:spPr>
          <a:xfrm>
            <a:off x="9339844" y="3370718"/>
            <a:ext cx="42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&amp;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552A57-EE97-7949-0272-44E4DBB13E85}"/>
              </a:ext>
            </a:extLst>
          </p:cNvPr>
          <p:cNvSpPr txBox="1"/>
          <p:nvPr/>
        </p:nvSpPr>
        <p:spPr>
          <a:xfrm>
            <a:off x="10176890" y="3366286"/>
            <a:ext cx="42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&amp;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4953C736-CD90-5B99-C92B-4FEDCE381C02}"/>
              </a:ext>
            </a:extLst>
          </p:cNvPr>
          <p:cNvSpPr/>
          <p:nvPr/>
        </p:nvSpPr>
        <p:spPr>
          <a:xfrm flipH="1">
            <a:off x="4793241" y="4153253"/>
            <a:ext cx="1559352" cy="939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7FC386-EAAE-869B-BBA9-3F2ABC463BDE}"/>
              </a:ext>
            </a:extLst>
          </p:cNvPr>
          <p:cNvSpPr txBox="1"/>
          <p:nvPr/>
        </p:nvSpPr>
        <p:spPr>
          <a:xfrm>
            <a:off x="6237705" y="3471648"/>
            <a:ext cx="55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C534F6-5BEC-C52D-B5E6-BF7D92E6A004}"/>
              </a:ext>
            </a:extLst>
          </p:cNvPr>
          <p:cNvSpPr txBox="1"/>
          <p:nvPr/>
        </p:nvSpPr>
        <p:spPr>
          <a:xfrm>
            <a:off x="4089611" y="4015442"/>
            <a:ext cx="632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200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7937B3-FF28-DCFC-84F9-32E8A1F15417}"/>
              </a:ext>
            </a:extLst>
          </p:cNvPr>
          <p:cNvSpPr txBox="1"/>
          <p:nvPr/>
        </p:nvSpPr>
        <p:spPr>
          <a:xfrm>
            <a:off x="6237894" y="3471969"/>
            <a:ext cx="55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1188D8-445E-B07C-1470-BF0B6C9C39CE}"/>
              </a:ext>
            </a:extLst>
          </p:cNvPr>
          <p:cNvSpPr txBox="1"/>
          <p:nvPr/>
        </p:nvSpPr>
        <p:spPr>
          <a:xfrm>
            <a:off x="4065809" y="4025539"/>
            <a:ext cx="55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08226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1.85185E-6 L -0.17656 0.0794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28" y="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4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/>
      <p:bldP spid="17" grpId="0"/>
      <p:bldP spid="21" grpId="0"/>
      <p:bldP spid="24" grpId="0"/>
      <p:bldP spid="25" grpId="0"/>
      <p:bldP spid="25" grpId="1"/>
      <p:bldP spid="31" grpId="0" animBg="1"/>
      <p:bldP spid="35" grpId="0" animBg="1"/>
      <p:bldP spid="36" grpId="0"/>
      <p:bldP spid="37" grpId="0"/>
      <p:bldP spid="41" grpId="0" animBg="1"/>
      <p:bldP spid="41" grpId="1" animBg="1"/>
      <p:bldP spid="15" grpId="0"/>
      <p:bldP spid="16" grpId="0"/>
      <p:bldP spid="16" grpId="1"/>
      <p:bldP spid="9" grpId="0"/>
      <p:bldP spid="9" grpId="1"/>
      <p:bldP spid="9" grpId="2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Pass by Reference Mode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EFBD4-AC75-FC03-EFE3-CDDD17691464}"/>
              </a:ext>
            </a:extLst>
          </p:cNvPr>
          <p:cNvSpPr txBox="1"/>
          <p:nvPr/>
        </p:nvSpPr>
        <p:spPr>
          <a:xfrm>
            <a:off x="835985" y="1563637"/>
            <a:ext cx="1053740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Pass by Reference (C++ Implementation)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More intuitive and secure way of allowing direct access to genuine values from within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 input parameters in pass-by-reference mode, just append the reference/address operator </a:t>
            </a:r>
            <a:r>
              <a:rPr lang="en-CA" b="1" dirty="0">
                <a:solidFill>
                  <a:srgbClr val="FF0000"/>
                </a:solidFill>
              </a:rPr>
              <a:t>&amp;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Advantages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References are immutable – no accidental destruction of pointer address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Less stack memory consumed – no need for storing new addresses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(slightly) Faster execution time – no need to dereference addresses to access values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However, a bit more overhead on the C++ compiler to manage aliases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09074A8-4A1B-7ED6-669F-39EE62632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28073" y="4022535"/>
            <a:ext cx="7935854" cy="1956067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20E3A2A-5E21-EC22-5AE8-1FB894333924}"/>
              </a:ext>
            </a:extLst>
          </p:cNvPr>
          <p:cNvSpPr/>
          <p:nvPr/>
        </p:nvSpPr>
        <p:spPr>
          <a:xfrm>
            <a:off x="8462682" y="840083"/>
            <a:ext cx="2377734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L11Ex7-PassByR.cpp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46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Pass by Reference Mode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EFBD4-AC75-FC03-EFE3-CDDD17691464}"/>
              </a:ext>
            </a:extLst>
          </p:cNvPr>
          <p:cNvSpPr txBox="1"/>
          <p:nvPr/>
        </p:nvSpPr>
        <p:spPr>
          <a:xfrm>
            <a:off x="835986" y="1563637"/>
            <a:ext cx="5756726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Pass by Reference (C++ Implementation)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Another Example – Returning Multiple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 Pass by Reference mode, multiple return values can be directly written to the caller’s local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One of the ways to overcome the one-return-value limitation of functions.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Recall</a:t>
            </a:r>
            <a:r>
              <a:rPr lang="en-CA" dirty="0"/>
              <a:t> - What are the other ways?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20E3A2A-5E21-EC22-5AE8-1FB894333924}"/>
              </a:ext>
            </a:extLst>
          </p:cNvPr>
          <p:cNvSpPr/>
          <p:nvPr/>
        </p:nvSpPr>
        <p:spPr>
          <a:xfrm>
            <a:off x="8462682" y="840083"/>
            <a:ext cx="2377734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L11Ex8-PassByR2.cpp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07305C-811A-C3FA-AA58-09B575F38966}"/>
              </a:ext>
            </a:extLst>
          </p:cNvPr>
          <p:cNvSpPr txBox="1"/>
          <p:nvPr/>
        </p:nvSpPr>
        <p:spPr>
          <a:xfrm>
            <a:off x="6906452" y="2101830"/>
            <a:ext cx="3933964" cy="2169825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num = 14;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den = 4;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rem = 0;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quo =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divide(num, den, rem);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quo &lt;&lt; “ * ” &lt;&lt; den &lt;&lt; “ + ”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&lt;&lt; rem &lt;&lt; “ = ” &lt;&lt; num &lt;&lt;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1C9C6-28AA-0785-F2B7-889BA2415DBA}"/>
              </a:ext>
            </a:extLst>
          </p:cNvPr>
          <p:cNvSpPr txBox="1"/>
          <p:nvPr/>
        </p:nvSpPr>
        <p:spPr>
          <a:xfrm>
            <a:off x="4974822" y="4390394"/>
            <a:ext cx="5865594" cy="11387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divide(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numerator,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denominator,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remainder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remainder = numerator % denominator;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rem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numerator / denominator;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25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8922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C and C++ Similarities and Differences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Besides </a:t>
            </a:r>
            <a:r>
              <a:rPr lang="en-CA" dirty="0" err="1"/>
              <a:t>stdio</a:t>
            </a:r>
            <a:r>
              <a:rPr lang="en-CA" dirty="0"/>
              <a:t>, almost identical in syntax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compiler can (almost always) compile C source code without much trouble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supports reference notion and function overloading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However, C++ supports more than just procedural programming features that C offers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Object Oriented Programming in C++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Object Oriented Design Principles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Encapsulation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Inheritance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Polymorphism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Abstraction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Classes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UML Class Diagram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Class Structure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Class Access Control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OOD Procedures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Simple Object Design using C</a:t>
            </a:r>
            <a:r>
              <a:rPr lang="en-CA"/>
              <a:t>++ Classes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32706</TotalTime>
  <Words>2091</Words>
  <Application>Microsoft Office PowerPoint</Application>
  <PresentationFormat>Widescreen</PresentationFormat>
  <Paragraphs>359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Introduction to C++</vt:lpstr>
      <vt:lpstr>PowerPoint Presentation</vt:lpstr>
      <vt:lpstr>How C++ Differs from C</vt:lpstr>
      <vt:lpstr>PowerPoint Presentation</vt:lpstr>
      <vt:lpstr>PowerPoint Presentation</vt:lpstr>
      <vt:lpstr>PowerPoint Presentation</vt:lpstr>
      <vt:lpstr>C++ Pass by 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11 - Introduction to C++</dc:title>
  <dc:creator>Shahrukh Athar</dc:creator>
  <cp:lastModifiedBy>Shahrukh Athar</cp:lastModifiedBy>
  <cp:revision>502</cp:revision>
  <dcterms:created xsi:type="dcterms:W3CDTF">2018-10-02T00:35:18Z</dcterms:created>
  <dcterms:modified xsi:type="dcterms:W3CDTF">2024-11-07T03:58:21Z</dcterms:modified>
</cp:coreProperties>
</file>