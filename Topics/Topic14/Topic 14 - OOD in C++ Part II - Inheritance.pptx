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64" r:id="rId3"/>
    <p:sldId id="516" r:id="rId4"/>
    <p:sldId id="569" r:id="rId5"/>
    <p:sldId id="570" r:id="rId6"/>
    <p:sldId id="572" r:id="rId7"/>
    <p:sldId id="571" r:id="rId8"/>
    <p:sldId id="573" r:id="rId9"/>
    <p:sldId id="574" r:id="rId10"/>
    <p:sldId id="575" r:id="rId11"/>
    <p:sldId id="576" r:id="rId12"/>
    <p:sldId id="577" r:id="rId13"/>
    <p:sldId id="578" r:id="rId14"/>
    <p:sldId id="579" r:id="rId15"/>
    <p:sldId id="580" r:id="rId16"/>
    <p:sldId id="581" r:id="rId17"/>
    <p:sldId id="544" r:id="rId18"/>
    <p:sldId id="583" r:id="rId19"/>
    <p:sldId id="584" r:id="rId20"/>
    <p:sldId id="585" r:id="rId21"/>
    <p:sldId id="587" r:id="rId22"/>
    <p:sldId id="589" r:id="rId23"/>
    <p:sldId id="591" r:id="rId24"/>
    <p:sldId id="592" r:id="rId25"/>
    <p:sldId id="593" r:id="rId26"/>
    <p:sldId id="594" r:id="rId27"/>
    <p:sldId id="377" r:id="rId28"/>
    <p:sldId id="313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D7D"/>
    <a:srgbClr val="7F1F1F"/>
    <a:srgbClr val="FFDDDD"/>
    <a:srgbClr val="D1B3E7"/>
    <a:srgbClr val="E8D9F3"/>
    <a:srgbClr val="AF7CD6"/>
    <a:srgbClr val="A870D2"/>
    <a:srgbClr val="E9EBF5"/>
    <a:srgbClr val="EBF1E9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A49FD1-C801-49A5-8B3B-7E4466140B0B}" type="datetimeFigureOut">
              <a:rPr lang="en-US" smtClean="0"/>
              <a:t>11/22/2024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5F8C59-6400-4A47-9B68-202DC97D1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741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F0B6A-6EA8-48B1-890E-DBE9F55C93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041BC4-FC72-4C99-A6E3-D36F48E005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B7F54-454F-4230-BCD0-7E298954C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2024-11-22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61BE9-5CD9-4798-8B28-41A7B3B21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23F6D-6949-4755-9EB3-0B4CF3682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86534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C3B6A-6FB6-43A1-923B-948DA708E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2D120-9635-40F5-BD6A-8B18A091E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A2D18D-D540-45BC-92C8-5C043E6BE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2024-11-22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09A943-3396-4512-9E17-E9C48D404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3FB98-9712-4920-84AA-67299297C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87841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FC0B3-F2E8-4150-9C9F-249EA1EEB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B89AC4-4CCA-41C9-8CD3-FDA4F8BFD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67CB5-DCF0-4F91-A3A4-AC18FA8DC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2024-11-22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D0D37-7F5D-4DA2-928A-A46FC161A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35497-1021-4F40-B052-5FDB6EA00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81710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8113F-9A27-4454-9066-1D4816CBA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7B618-A31F-4B60-9C62-B8612EFF3C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596AB5-6DB6-442F-A300-81550E203D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BFC75A-6003-426C-9DB2-9B39A4B0D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2024-11-22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B4B50-F363-4912-A26C-0359D566C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216A83-7103-44F3-87B3-CEE5D964D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24262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81195-ACB2-4934-8F4E-F2958669E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758A89-F5A9-4F9B-A223-97C13BC231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16795C-363C-48DB-AD3D-2F9C61E1EB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E36750-9C96-4B01-9805-33AC964663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1DC454-D419-49C4-8D63-67A4795D95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43FABF-0142-467C-AE89-DE5CD45B0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2024-11-22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DB3F96-5224-4C13-AD6F-1105B1ADA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A5A20E-F42A-4D9D-B91C-6088C1DCA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70123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B7978-81C5-4AE1-8616-9BD6D82E9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3CD8A4-8B49-41C6-B266-DDCE9828A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2024-11-22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0EAF09-62CD-4D41-A12D-7A187B158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916380-B9B6-4A57-92A4-92928B666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68800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B50F4B-56DD-47FF-8723-5B8E812DB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2024-11-22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0A2383-5FD6-4CA9-B869-66F36C29F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04989-A74B-47B9-BBF3-7E03ED0AF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94822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FE9DE-5FE6-448D-8017-76CEB79B7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F5170-09A8-4802-948A-2FC134249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03ADFF-B73A-409D-B75B-F2CD7B6DDE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410021-EAD0-4B81-B79C-468DFF640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2024-11-22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38279-373B-4DD6-9B4D-8391BC7BD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87FDA3-5AFE-4A11-A0BE-334D33D89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06948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59788-A568-4DD7-ADA9-9ABF1663C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FC9A0F-20B9-4F4D-8494-51CC0F0F15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3D0EFE-BCFC-4795-81FA-C1868FB99C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A51377-1691-4253-8517-5C1042A92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2024-11-22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94FC9-DA1F-4922-BE56-216E722BA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32F70E-C891-4B2C-90E2-48DF1E698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83696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A1662-B2C5-4D3D-A91F-576556E37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D83262-9C38-48C2-92DD-DFF488E745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F95AE-11FE-461F-86AA-DD7226E11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2024-11-22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E4B16A-019A-4707-B5FE-6A7A4FAA5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9DE2A-7C3E-4387-BD36-F66C7D0C2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9342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34312D-85D8-4F4E-9225-EE35F67774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6A2784-F633-44EE-8524-4C659B6A1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F275D-A9E9-4573-A113-62A0D463E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2024-11-22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45AB9-9C02-4C46-A2F5-EA99128AA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DAC47-ACD1-475E-929F-BEA3913CD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40229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561F7F-5C44-431A-8DF8-3CE3DE3D3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51CD12-5D97-4A00-9D87-C774CAFD4A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F3DE7A-C95D-4242-B510-AF0B312622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7BFC9D-8A37-4207-9EED-DA2ABD1734E0}" type="datetimeFigureOut">
              <a:rPr lang="en-CA" smtClean="0"/>
              <a:t>2024-11-22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80F37-BB84-4C94-94FA-DF32380325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C9D4C-3C3D-49C6-9E5A-9FEE72A28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7099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B39D983-FBB4-420A-9D1B-9D486DEE0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4" y="0"/>
            <a:ext cx="3158763" cy="18707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12BEA56-DD51-434A-8A58-1499DABCDB67}"/>
              </a:ext>
            </a:extLst>
          </p:cNvPr>
          <p:cNvSpPr txBox="1"/>
          <p:nvPr/>
        </p:nvSpPr>
        <p:spPr>
          <a:xfrm>
            <a:off x="1215096" y="2611819"/>
            <a:ext cx="976190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60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 Oriented Design in C++</a:t>
            </a:r>
          </a:p>
          <a:p>
            <a:pPr algn="ctr"/>
            <a:r>
              <a:rPr lang="en-CA" sz="60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 II - Inheritance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32D380-33B6-48EC-8744-F89F20911832}"/>
              </a:ext>
            </a:extLst>
          </p:cNvPr>
          <p:cNvSpPr txBox="1"/>
          <p:nvPr/>
        </p:nvSpPr>
        <p:spPr>
          <a:xfrm>
            <a:off x="3871507" y="1867574"/>
            <a:ext cx="44342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32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COMPENG 2SH4 </a:t>
            </a:r>
            <a:r>
              <a:rPr lang="en-CA" sz="3200" b="1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Topic 14</a:t>
            </a:r>
            <a:endParaRPr lang="en-CA" sz="32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503D76-1B84-AC23-B4E9-A99FADB3F742}"/>
              </a:ext>
            </a:extLst>
          </p:cNvPr>
          <p:cNvSpPr txBox="1"/>
          <p:nvPr/>
        </p:nvSpPr>
        <p:spPr>
          <a:xfrm>
            <a:off x="4185188" y="5068547"/>
            <a:ext cx="38216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b="1" dirty="0"/>
              <a:t>Dr. Shahrukh Athar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87B439-2C0E-77A7-98FB-01839B8D3A22}"/>
              </a:ext>
            </a:extLst>
          </p:cNvPr>
          <p:cNvSpPr txBox="1"/>
          <p:nvPr/>
        </p:nvSpPr>
        <p:spPr>
          <a:xfrm>
            <a:off x="1388853" y="6596390"/>
            <a:ext cx="108031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Credit: The current version of these slides has been developed by Dr. Scott Chen (2SH4 F23 C02). I am using these slides with his permission and have made only slight modifications.</a:t>
            </a:r>
          </a:p>
        </p:txBody>
      </p:sp>
    </p:spTree>
    <p:extLst>
      <p:ext uri="{BB962C8B-B14F-4D97-AF65-F5344CB8AC3E}">
        <p14:creationId xmlns:p14="http://schemas.microsoft.com/office/powerpoint/2010/main" val="1957787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195630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Agenda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8" y="1563637"/>
            <a:ext cx="6543502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Rules of Inheritance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Inheritance Scope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Constructors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Member Function Override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CA" sz="2200" b="1" dirty="0"/>
              <a:t>Inheritance Example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Grand Example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pic>
        <p:nvPicPr>
          <p:cNvPr id="12" name="Graphic 11" descr="Three circles each containing concentric circles.">
            <a:extLst>
              <a:ext uri="{FF2B5EF4-FFF2-40B4-BE49-F238E27FC236}">
                <a16:creationId xmlns:a16="http://schemas.microsoft.com/office/drawing/2014/main" id="{A4D28325-1E70-41A7-BF16-E0919AFAD5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8020" y="776106"/>
            <a:ext cx="5305788" cy="5305788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58952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103798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OOD Principles – Inheritance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526687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 dirty="0"/>
              <a:t>Inheritance (Class Derivation)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Existing definition of a class can be easily and safely reused to derive the definition of another class</a:t>
            </a:r>
            <a:endParaRPr lang="en-CA" sz="2400" b="1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i.e. a subclass is derived from a superclass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 subclass can reuse the functionality and data of the previously created superclass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i.e. a subclass inherits all the data and functions from its superclass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dirty="0"/>
              <a:t>Provided these are not in private scope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Derived class only needs to add specializations or changes part of the existing functionality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1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1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 can also do this by nested library inclusion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…but lacking OOD-based syntax support from the C compiler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3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72723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 descr="One solid circle, one ring, and one circle filled with diagonal lines">
            <a:extLst>
              <a:ext uri="{FF2B5EF4-FFF2-40B4-BE49-F238E27FC236}">
                <a16:creationId xmlns:a16="http://schemas.microsoft.com/office/drawing/2014/main" id="{117B1E9F-05A5-4510-8587-80B34F83D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8254" y="747419"/>
            <a:ext cx="5363162" cy="536316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14B5F53-76BB-4185-819B-0CE94A358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Rules of Inheritance</a:t>
            </a:r>
            <a:endParaRPr lang="en-US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699E1B-6ADB-4F72-95A0-4AA7EB020B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1EE999-66AE-40DE-9FC3-57D08FF72800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1EEE44-5A53-4177-97CB-790B8F12F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EC33C07-FD0B-7C72-D522-CAB3EC517083}"/>
              </a:ext>
            </a:extLst>
          </p:cNvPr>
          <p:cNvSpPr txBox="1"/>
          <p:nvPr/>
        </p:nvSpPr>
        <p:spPr>
          <a:xfrm>
            <a:off x="831850" y="551471"/>
            <a:ext cx="526415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Watch Before Lecture:</a:t>
            </a:r>
          </a:p>
          <a:p>
            <a:r>
              <a:rPr lang="en-CA" sz="2000" b="1" dirty="0">
                <a:solidFill>
                  <a:srgbClr val="7F1F1F"/>
                </a:solidFill>
              </a:rPr>
              <a:t>[PLV 14-1] Inheritance</a:t>
            </a:r>
            <a:endParaRPr lang="en-US" sz="2000" b="1" dirty="0">
              <a:solidFill>
                <a:srgbClr val="7F1F1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3212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74056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altLang="zh-TW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Nomenclature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270773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Inheritance - </a:t>
            </a:r>
            <a:r>
              <a:rPr lang="en-CA" dirty="0"/>
              <a:t>a.k.a. Class </a:t>
            </a:r>
            <a:r>
              <a:rPr lang="en-CA" b="1" dirty="0">
                <a:solidFill>
                  <a:schemeClr val="accent6"/>
                </a:solidFill>
              </a:rPr>
              <a:t>Derivation</a:t>
            </a:r>
            <a:r>
              <a:rPr lang="en-CA" dirty="0"/>
              <a:t>, Class </a:t>
            </a:r>
            <a:r>
              <a:rPr lang="en-CA" b="1" dirty="0">
                <a:solidFill>
                  <a:schemeClr val="accent6"/>
                </a:solidFill>
              </a:rPr>
              <a:t>Extension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Class Relationships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1"/>
                </a:solidFill>
              </a:rPr>
              <a:t>Superclass</a:t>
            </a:r>
            <a:r>
              <a:rPr lang="en-CA" dirty="0"/>
              <a:t> / </a:t>
            </a:r>
            <a:r>
              <a:rPr lang="en-CA" b="1" dirty="0">
                <a:solidFill>
                  <a:schemeClr val="accent1"/>
                </a:solidFill>
              </a:rPr>
              <a:t>Base Class</a:t>
            </a:r>
            <a:r>
              <a:rPr lang="en-CA" b="1" dirty="0"/>
              <a:t> </a:t>
            </a:r>
            <a:r>
              <a:rPr lang="en-CA" dirty="0"/>
              <a:t>/ </a:t>
            </a:r>
            <a:r>
              <a:rPr lang="en-CA" b="1" dirty="0">
                <a:solidFill>
                  <a:schemeClr val="accent1"/>
                </a:solidFill>
              </a:rPr>
              <a:t>Parent Class</a:t>
            </a:r>
            <a:r>
              <a:rPr lang="en-CA" dirty="0"/>
              <a:t>	The Existing Class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2">
                    <a:lumMod val="75000"/>
                  </a:schemeClr>
                </a:solidFill>
              </a:rPr>
              <a:t>Subclass</a:t>
            </a:r>
            <a:r>
              <a:rPr lang="en-CA" dirty="0"/>
              <a:t> / </a:t>
            </a:r>
            <a:r>
              <a:rPr lang="en-CA" b="1" dirty="0">
                <a:solidFill>
                  <a:schemeClr val="accent2">
                    <a:lumMod val="75000"/>
                  </a:schemeClr>
                </a:solidFill>
              </a:rPr>
              <a:t>Child Class</a:t>
            </a:r>
            <a:r>
              <a:rPr lang="en-CA" dirty="0"/>
              <a:t>		Newly Derived Class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“</a:t>
            </a:r>
            <a:r>
              <a:rPr lang="en-CA" b="1" dirty="0">
                <a:solidFill>
                  <a:schemeClr val="accent2">
                    <a:lumMod val="75000"/>
                  </a:schemeClr>
                </a:solidFill>
              </a:rPr>
              <a:t>Subclass</a:t>
            </a:r>
            <a:r>
              <a:rPr lang="en-CA" dirty="0"/>
              <a:t> is </a:t>
            </a:r>
            <a:r>
              <a:rPr lang="en-CA" b="1" dirty="0">
                <a:solidFill>
                  <a:schemeClr val="accent6"/>
                </a:solidFill>
              </a:rPr>
              <a:t>derived</a:t>
            </a:r>
            <a:r>
              <a:rPr lang="en-CA" dirty="0"/>
              <a:t> / </a:t>
            </a:r>
            <a:r>
              <a:rPr lang="en-CA" b="1" dirty="0">
                <a:solidFill>
                  <a:schemeClr val="accent6"/>
                </a:solidFill>
              </a:rPr>
              <a:t>extended</a:t>
            </a:r>
            <a:r>
              <a:rPr lang="en-CA" dirty="0"/>
              <a:t> from its </a:t>
            </a:r>
            <a:r>
              <a:rPr lang="en-CA" b="1" dirty="0">
                <a:solidFill>
                  <a:schemeClr val="accent1"/>
                </a:solidFill>
              </a:rPr>
              <a:t>superclass</a:t>
            </a:r>
            <a:r>
              <a:rPr lang="en-CA" dirty="0"/>
              <a:t>”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Inherited Member Functions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rgbClr val="7030A0"/>
                </a:solidFill>
              </a:rPr>
              <a:t>Function Override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The implementation of an inherited </a:t>
            </a:r>
            <a:r>
              <a:rPr lang="en-CA" b="1" dirty="0">
                <a:solidFill>
                  <a:srgbClr val="7030A0"/>
                </a:solidFill>
              </a:rPr>
              <a:t>function</a:t>
            </a:r>
            <a:r>
              <a:rPr lang="en-CA" dirty="0"/>
              <a:t> </a:t>
            </a:r>
            <a:br>
              <a:rPr lang="en-CA" dirty="0"/>
            </a:br>
            <a:r>
              <a:rPr lang="en-CA" dirty="0"/>
              <a:t>can be </a:t>
            </a:r>
            <a:r>
              <a:rPr lang="en-CA" b="1" dirty="0">
                <a:solidFill>
                  <a:srgbClr val="7030A0"/>
                </a:solidFill>
              </a:rPr>
              <a:t>redefined</a:t>
            </a:r>
            <a:r>
              <a:rPr lang="en-CA" dirty="0"/>
              <a:t> in the </a:t>
            </a:r>
            <a:r>
              <a:rPr lang="en-CA" b="1" dirty="0">
                <a:solidFill>
                  <a:schemeClr val="accent2">
                    <a:lumMod val="75000"/>
                  </a:schemeClr>
                </a:solidFill>
              </a:rPr>
              <a:t>subclass</a:t>
            </a:r>
            <a:r>
              <a:rPr lang="en-CA" dirty="0"/>
              <a:t> to replace </a:t>
            </a:r>
            <a:br>
              <a:rPr lang="en-CA" dirty="0"/>
            </a:br>
            <a:r>
              <a:rPr lang="en-CA" dirty="0"/>
              <a:t>its default behaviour defined in the </a:t>
            </a:r>
            <a:r>
              <a:rPr lang="en-CA" b="1" dirty="0">
                <a:solidFill>
                  <a:schemeClr val="accent1"/>
                </a:solidFill>
              </a:rPr>
              <a:t>base class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5</a:t>
            </a:fld>
            <a:endParaRPr lang="en-CA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29761D-3753-B092-2136-8074C79D33B7}"/>
              </a:ext>
            </a:extLst>
          </p:cNvPr>
          <p:cNvSpPr/>
          <p:nvPr/>
        </p:nvSpPr>
        <p:spPr>
          <a:xfrm>
            <a:off x="8299848" y="1416378"/>
            <a:ext cx="1801038" cy="3321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BaseClass</a:t>
            </a:r>
            <a:endParaRPr lang="en-US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E166B0-CB24-F828-947E-29DB30633BDB}"/>
              </a:ext>
            </a:extLst>
          </p:cNvPr>
          <p:cNvSpPr/>
          <p:nvPr/>
        </p:nvSpPr>
        <p:spPr>
          <a:xfrm>
            <a:off x="8305293" y="1757468"/>
            <a:ext cx="1789508" cy="688457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+ a: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int</a:t>
            </a:r>
          </a:p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# b: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char</a:t>
            </a:r>
            <a:br>
              <a:rPr lang="en-CA" sz="1400" b="1" dirty="0">
                <a:solidFill>
                  <a:schemeClr val="accent1"/>
                </a:solidFill>
                <a:latin typeface="Courier"/>
              </a:rPr>
            </a:br>
            <a:r>
              <a:rPr lang="en-CA" sz="1400" b="1" dirty="0">
                <a:solidFill>
                  <a:schemeClr val="tx1"/>
                </a:solidFill>
                <a:latin typeface="Courier"/>
              </a:rPr>
              <a:t>- c: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float</a:t>
            </a:r>
            <a:endParaRPr lang="en-US" sz="14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779670-BC6A-5371-ADBD-A08EB51C18B5}"/>
              </a:ext>
            </a:extLst>
          </p:cNvPr>
          <p:cNvSpPr/>
          <p:nvPr/>
        </p:nvSpPr>
        <p:spPr>
          <a:xfrm>
            <a:off x="8300207" y="2443570"/>
            <a:ext cx="1789635" cy="775355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+ foo(…)</a:t>
            </a:r>
          </a:p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# fee(…)</a:t>
            </a:r>
          </a:p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- </a:t>
            </a:r>
            <a:r>
              <a:rPr lang="en-CA" sz="1400" b="1" dirty="0" err="1">
                <a:solidFill>
                  <a:schemeClr val="tx1"/>
                </a:solidFill>
                <a:latin typeface="Courier"/>
              </a:rPr>
              <a:t>faa</a:t>
            </a:r>
            <a:r>
              <a:rPr lang="en-CA" sz="1400" b="1" dirty="0">
                <a:solidFill>
                  <a:schemeClr val="tx1"/>
                </a:solidFill>
                <a:latin typeface="Courier"/>
              </a:rPr>
              <a:t>(…)</a:t>
            </a:r>
            <a:endParaRPr lang="en-US" sz="14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30B670-74A8-8BB7-8DED-0FF3FDDBEC61}"/>
              </a:ext>
            </a:extLst>
          </p:cNvPr>
          <p:cNvSpPr/>
          <p:nvPr/>
        </p:nvSpPr>
        <p:spPr>
          <a:xfrm>
            <a:off x="8482226" y="3769824"/>
            <a:ext cx="1379993" cy="332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SubClass</a:t>
            </a:r>
            <a:endParaRPr lang="en-US" b="1" dirty="0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5E1DC1ED-1393-4FE1-0F77-4FAC1982FDBD}"/>
              </a:ext>
            </a:extLst>
          </p:cNvPr>
          <p:cNvSpPr/>
          <p:nvPr/>
        </p:nvSpPr>
        <p:spPr>
          <a:xfrm>
            <a:off x="9312506" y="3227574"/>
            <a:ext cx="167880" cy="131567"/>
          </a:xfrm>
          <a:prstGeom prst="triangl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B4D144D-1DD4-8A8F-321B-843230D6396C}"/>
              </a:ext>
            </a:extLst>
          </p:cNvPr>
          <p:cNvCxnSpPr>
            <a:cxnSpLocks/>
          </p:cNvCxnSpPr>
          <p:nvPr/>
        </p:nvCxnSpPr>
        <p:spPr>
          <a:xfrm>
            <a:off x="9396446" y="3367850"/>
            <a:ext cx="5562" cy="414948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8DE33BB-B5EF-C293-2FC5-485FC2B1496E}"/>
              </a:ext>
            </a:extLst>
          </p:cNvPr>
          <p:cNvSpPr txBox="1"/>
          <p:nvPr/>
        </p:nvSpPr>
        <p:spPr>
          <a:xfrm>
            <a:off x="8688477" y="3396137"/>
            <a:ext cx="9405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2"/>
                </a:solidFill>
              </a:rPr>
              <a:t>extends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5AEAAA4-4B0A-C53F-922A-6E7790327FB6}"/>
              </a:ext>
            </a:extLst>
          </p:cNvPr>
          <p:cNvSpPr/>
          <p:nvPr/>
        </p:nvSpPr>
        <p:spPr>
          <a:xfrm>
            <a:off x="8238454" y="4238811"/>
            <a:ext cx="1222258" cy="51144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+ a: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int</a:t>
            </a:r>
          </a:p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# b: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char</a:t>
            </a:r>
            <a:endParaRPr lang="en-US" sz="14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E6AFC34-6E8B-5941-3C2F-9143236F5D58}"/>
              </a:ext>
            </a:extLst>
          </p:cNvPr>
          <p:cNvSpPr/>
          <p:nvPr/>
        </p:nvSpPr>
        <p:spPr>
          <a:xfrm>
            <a:off x="8238309" y="4745035"/>
            <a:ext cx="1222345" cy="51144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+ foo(…)</a:t>
            </a:r>
          </a:p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# fee(…)</a:t>
            </a:r>
            <a:endParaRPr lang="en-US" sz="14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25" name="Speech Bubble: Rectangle 24">
            <a:extLst>
              <a:ext uri="{FF2B5EF4-FFF2-40B4-BE49-F238E27FC236}">
                <a16:creationId xmlns:a16="http://schemas.microsoft.com/office/drawing/2014/main" id="{9600C3DA-6792-1789-8E65-A9CD400F3847}"/>
              </a:ext>
            </a:extLst>
          </p:cNvPr>
          <p:cNvSpPr/>
          <p:nvPr/>
        </p:nvSpPr>
        <p:spPr>
          <a:xfrm>
            <a:off x="9681257" y="5247548"/>
            <a:ext cx="1127000" cy="511445"/>
          </a:xfrm>
          <a:prstGeom prst="wedgeRectCallout">
            <a:avLst>
              <a:gd name="adj1" fmla="val -75748"/>
              <a:gd name="adj2" fmla="val -83035"/>
            </a:avLst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>
                <a:solidFill>
                  <a:schemeClr val="tx1"/>
                </a:solidFill>
              </a:rPr>
              <a:t>Can be </a:t>
            </a:r>
            <a:r>
              <a:rPr lang="en-CA" sz="1600" dirty="0" err="1">
                <a:solidFill>
                  <a:schemeClr val="tx1"/>
                </a:solidFill>
              </a:rPr>
              <a:t>Overidden</a:t>
            </a:r>
            <a:endParaRPr lang="en-CA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0641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8" grpId="0" animBg="1"/>
      <p:bldP spid="9" grpId="0" animBg="1"/>
      <p:bldP spid="12" grpId="0" animBg="1"/>
      <p:bldP spid="17" grpId="0"/>
      <p:bldP spid="23" grpId="0" animBg="1"/>
      <p:bldP spid="24" grpId="0" animBg="1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74056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Definition of Inheritance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270773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To define a class that inherits from an existing class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200" b="1" dirty="0">
              <a:solidFill>
                <a:schemeClr val="accent6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200" b="1" dirty="0">
              <a:solidFill>
                <a:schemeClr val="accent6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200" b="1" dirty="0">
              <a:solidFill>
                <a:schemeClr val="accent6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200" b="1" dirty="0">
                <a:solidFill>
                  <a:srgbClr val="7030A0"/>
                </a:solidFill>
              </a:rPr>
              <a:t>Access Level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sz="2200" dirty="0"/>
              <a:t>Controls the scope of the inherited members </a:t>
            </a:r>
            <a:br>
              <a:rPr lang="en-CA" sz="2200" dirty="0"/>
            </a:br>
            <a:r>
              <a:rPr lang="en-CA" sz="2200" dirty="0"/>
              <a:t>from the base class (more to come)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sz="22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200" b="1" dirty="0">
                <a:solidFill>
                  <a:srgbClr val="FF0000"/>
                </a:solidFill>
                <a:latin typeface="Algerian" panose="04020705040A02060702" pitchFamily="82" charset="0"/>
              </a:rPr>
              <a:t>Gotcha! </a:t>
            </a:r>
            <a:r>
              <a:rPr lang="en-CA" sz="2200" dirty="0"/>
              <a:t>In C++, all classes can be derived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sz="2200" dirty="0"/>
              <a:t>No final class in C++ (no syntax support)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6</a:t>
            </a:fld>
            <a:endParaRPr lang="en-CA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29761D-3753-B092-2136-8074C79D33B7}"/>
              </a:ext>
            </a:extLst>
          </p:cNvPr>
          <p:cNvSpPr/>
          <p:nvPr/>
        </p:nvSpPr>
        <p:spPr>
          <a:xfrm>
            <a:off x="8299848" y="1416378"/>
            <a:ext cx="1801038" cy="3321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BaseClass</a:t>
            </a:r>
            <a:endParaRPr lang="en-US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E166B0-CB24-F828-947E-29DB30633BDB}"/>
              </a:ext>
            </a:extLst>
          </p:cNvPr>
          <p:cNvSpPr/>
          <p:nvPr/>
        </p:nvSpPr>
        <p:spPr>
          <a:xfrm>
            <a:off x="8305293" y="1757468"/>
            <a:ext cx="1789508" cy="688457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+ a: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int</a:t>
            </a:r>
          </a:p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# b: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char</a:t>
            </a:r>
            <a:br>
              <a:rPr lang="en-CA" sz="1400" b="1" dirty="0">
                <a:solidFill>
                  <a:schemeClr val="accent1"/>
                </a:solidFill>
                <a:latin typeface="Courier"/>
              </a:rPr>
            </a:br>
            <a:r>
              <a:rPr lang="en-CA" sz="1400" b="1" dirty="0">
                <a:solidFill>
                  <a:schemeClr val="tx1"/>
                </a:solidFill>
                <a:latin typeface="Courier"/>
              </a:rPr>
              <a:t>- c: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float</a:t>
            </a:r>
            <a:endParaRPr lang="en-US" sz="14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779670-BC6A-5371-ADBD-A08EB51C18B5}"/>
              </a:ext>
            </a:extLst>
          </p:cNvPr>
          <p:cNvSpPr/>
          <p:nvPr/>
        </p:nvSpPr>
        <p:spPr>
          <a:xfrm>
            <a:off x="8300207" y="2443570"/>
            <a:ext cx="1789635" cy="775355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+ foo(…)</a:t>
            </a:r>
          </a:p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# fee(…)</a:t>
            </a:r>
          </a:p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- </a:t>
            </a:r>
            <a:r>
              <a:rPr lang="en-CA" sz="1400" b="1" dirty="0" err="1">
                <a:solidFill>
                  <a:schemeClr val="tx1"/>
                </a:solidFill>
                <a:latin typeface="Courier"/>
              </a:rPr>
              <a:t>faa</a:t>
            </a:r>
            <a:r>
              <a:rPr lang="en-CA" sz="1400" b="1" dirty="0">
                <a:solidFill>
                  <a:schemeClr val="tx1"/>
                </a:solidFill>
                <a:latin typeface="Courier"/>
              </a:rPr>
              <a:t>(…)</a:t>
            </a:r>
            <a:endParaRPr lang="en-US" sz="14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30B670-74A8-8BB7-8DED-0FF3FDDBEC61}"/>
              </a:ext>
            </a:extLst>
          </p:cNvPr>
          <p:cNvSpPr/>
          <p:nvPr/>
        </p:nvSpPr>
        <p:spPr>
          <a:xfrm>
            <a:off x="8482226" y="3769824"/>
            <a:ext cx="1379993" cy="332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SubClass</a:t>
            </a:r>
            <a:endParaRPr lang="en-US" b="1" dirty="0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5E1DC1ED-1393-4FE1-0F77-4FAC1982FDBD}"/>
              </a:ext>
            </a:extLst>
          </p:cNvPr>
          <p:cNvSpPr/>
          <p:nvPr/>
        </p:nvSpPr>
        <p:spPr>
          <a:xfrm>
            <a:off x="9312506" y="3227574"/>
            <a:ext cx="167880" cy="131567"/>
          </a:xfrm>
          <a:prstGeom prst="triangl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B4D144D-1DD4-8A8F-321B-843230D6396C}"/>
              </a:ext>
            </a:extLst>
          </p:cNvPr>
          <p:cNvCxnSpPr>
            <a:cxnSpLocks/>
          </p:cNvCxnSpPr>
          <p:nvPr/>
        </p:nvCxnSpPr>
        <p:spPr>
          <a:xfrm>
            <a:off x="9396446" y="3367850"/>
            <a:ext cx="5562" cy="414948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8DE33BB-B5EF-C293-2FC5-485FC2B1496E}"/>
              </a:ext>
            </a:extLst>
          </p:cNvPr>
          <p:cNvSpPr txBox="1"/>
          <p:nvPr/>
        </p:nvSpPr>
        <p:spPr>
          <a:xfrm>
            <a:off x="8688477" y="3396137"/>
            <a:ext cx="9405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2"/>
                </a:solidFill>
              </a:rPr>
              <a:t>extends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5AEAAA4-4B0A-C53F-922A-6E7790327FB6}"/>
              </a:ext>
            </a:extLst>
          </p:cNvPr>
          <p:cNvSpPr/>
          <p:nvPr/>
        </p:nvSpPr>
        <p:spPr>
          <a:xfrm>
            <a:off x="8238454" y="4238811"/>
            <a:ext cx="1222258" cy="51144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+ a: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int</a:t>
            </a:r>
          </a:p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# b: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char</a:t>
            </a:r>
            <a:endParaRPr lang="en-US" sz="14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E6AFC34-6E8B-5941-3C2F-9143236F5D58}"/>
              </a:ext>
            </a:extLst>
          </p:cNvPr>
          <p:cNvSpPr/>
          <p:nvPr/>
        </p:nvSpPr>
        <p:spPr>
          <a:xfrm>
            <a:off x="8238309" y="4745035"/>
            <a:ext cx="1222345" cy="51144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+ foo(…)</a:t>
            </a:r>
          </a:p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# fee(…)</a:t>
            </a:r>
            <a:endParaRPr lang="en-US" sz="14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25" name="Speech Bubble: Rectangle 24">
            <a:extLst>
              <a:ext uri="{FF2B5EF4-FFF2-40B4-BE49-F238E27FC236}">
                <a16:creationId xmlns:a16="http://schemas.microsoft.com/office/drawing/2014/main" id="{9600C3DA-6792-1789-8E65-A9CD400F3847}"/>
              </a:ext>
            </a:extLst>
          </p:cNvPr>
          <p:cNvSpPr/>
          <p:nvPr/>
        </p:nvSpPr>
        <p:spPr>
          <a:xfrm>
            <a:off x="9681257" y="5247548"/>
            <a:ext cx="1127000" cy="511445"/>
          </a:xfrm>
          <a:prstGeom prst="wedgeRectCallout">
            <a:avLst>
              <a:gd name="adj1" fmla="val -75748"/>
              <a:gd name="adj2" fmla="val -83035"/>
            </a:avLst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>
                <a:solidFill>
                  <a:schemeClr val="tx1"/>
                </a:solidFill>
              </a:rPr>
              <a:t>Can be </a:t>
            </a:r>
            <a:r>
              <a:rPr lang="en-CA" sz="1600" dirty="0" err="1">
                <a:solidFill>
                  <a:schemeClr val="tx1"/>
                </a:solidFill>
              </a:rPr>
              <a:t>Overidden</a:t>
            </a:r>
            <a:endParaRPr lang="en-CA" sz="16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3EF42B6-9D15-004B-0485-B93861DC7E77}"/>
              </a:ext>
            </a:extLst>
          </p:cNvPr>
          <p:cNvSpPr/>
          <p:nvPr/>
        </p:nvSpPr>
        <p:spPr>
          <a:xfrm>
            <a:off x="1399135" y="2136229"/>
            <a:ext cx="5783985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  <a:latin typeface="Courier"/>
              </a:rPr>
              <a:t>class</a:t>
            </a:r>
            <a:r>
              <a:rPr lang="en-CA" b="1" dirty="0">
                <a:solidFill>
                  <a:schemeClr val="tx1"/>
                </a:solidFill>
                <a:latin typeface="Courier"/>
              </a:rPr>
              <a:t> </a:t>
            </a:r>
            <a:r>
              <a:rPr lang="en-CA" b="1" dirty="0" err="1">
                <a:solidFill>
                  <a:schemeClr val="accent2">
                    <a:lumMod val="75000"/>
                  </a:schemeClr>
                </a:solidFill>
                <a:latin typeface="Courier"/>
              </a:rPr>
              <a:t>SubClass</a:t>
            </a:r>
            <a:r>
              <a:rPr lang="en-CA" b="1" dirty="0">
                <a:solidFill>
                  <a:schemeClr val="tx1"/>
                </a:solidFill>
                <a:latin typeface="Courier"/>
              </a:rPr>
              <a:t> : </a:t>
            </a:r>
            <a:r>
              <a:rPr lang="en-CA" b="1" dirty="0">
                <a:solidFill>
                  <a:srgbClr val="7030A0"/>
                </a:solidFill>
                <a:latin typeface="Courier"/>
              </a:rPr>
              <a:t>access-level</a:t>
            </a:r>
            <a:r>
              <a:rPr lang="en-CA" b="1" dirty="0">
                <a:solidFill>
                  <a:schemeClr val="tx1"/>
                </a:solidFill>
                <a:latin typeface="Courier"/>
              </a:rPr>
              <a:t> </a:t>
            </a:r>
            <a:r>
              <a:rPr lang="en-CA" b="1" dirty="0" err="1">
                <a:solidFill>
                  <a:schemeClr val="accent1">
                    <a:lumMod val="75000"/>
                  </a:schemeClr>
                </a:solidFill>
                <a:latin typeface="Courier"/>
              </a:rPr>
              <a:t>BaseClass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788012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74056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Scope of Members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725470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C++ Supports </a:t>
            </a:r>
            <a:r>
              <a:rPr lang="en-CA" sz="2200" b="1" dirty="0"/>
              <a:t>Inheritance Scope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1"/>
                </a:solidFill>
              </a:rPr>
              <a:t>public</a:t>
            </a:r>
            <a:r>
              <a:rPr lang="en-CA" dirty="0"/>
              <a:t>, </a:t>
            </a:r>
            <a:r>
              <a:rPr lang="en-CA" b="1" dirty="0">
                <a:solidFill>
                  <a:schemeClr val="accent1"/>
                </a:solidFill>
              </a:rPr>
              <a:t>private</a:t>
            </a:r>
            <a:r>
              <a:rPr lang="en-CA" dirty="0"/>
              <a:t>, </a:t>
            </a:r>
            <a:r>
              <a:rPr lang="en-CA" b="1" dirty="0">
                <a:solidFill>
                  <a:schemeClr val="accent1"/>
                </a:solidFill>
              </a:rPr>
              <a:t>protected</a:t>
            </a:r>
            <a:r>
              <a:rPr lang="en-CA" dirty="0"/>
              <a:t> access levels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All common members will be inherited, just different access scopes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Exceptions – Class-Specific Members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dirty="0"/>
              <a:t>Constructor, Destructor, operator override, friends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u="sng" dirty="0">
                <a:solidFill>
                  <a:schemeClr val="accent2">
                    <a:lumMod val="75000"/>
                  </a:schemeClr>
                </a:solidFill>
              </a:rPr>
              <a:t>Public</a:t>
            </a:r>
            <a:r>
              <a:rPr lang="en-CA" sz="2200" b="1" u="sng" dirty="0"/>
              <a:t> Inheritance Access Level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Derived Class inherits…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1"/>
                </a:solidFill>
              </a:rPr>
              <a:t>Public</a:t>
            </a:r>
            <a:r>
              <a:rPr lang="en-CA" dirty="0"/>
              <a:t> members as </a:t>
            </a:r>
            <a:r>
              <a:rPr lang="en-CA" b="1" dirty="0">
                <a:solidFill>
                  <a:schemeClr val="accent2">
                    <a:lumMod val="75000"/>
                  </a:schemeClr>
                </a:solidFill>
              </a:rPr>
              <a:t>public</a:t>
            </a:r>
            <a:r>
              <a:rPr lang="en-CA" dirty="0"/>
              <a:t> members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1"/>
                </a:solidFill>
              </a:rPr>
              <a:t>Protected</a:t>
            </a:r>
            <a:r>
              <a:rPr lang="en-CA" dirty="0"/>
              <a:t> members as </a:t>
            </a:r>
            <a:r>
              <a:rPr lang="en-CA" b="1" dirty="0">
                <a:solidFill>
                  <a:schemeClr val="accent2">
                    <a:lumMod val="75000"/>
                  </a:schemeClr>
                </a:solidFill>
              </a:rPr>
              <a:t>protected</a:t>
            </a:r>
            <a:r>
              <a:rPr lang="en-CA" dirty="0"/>
              <a:t> members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1"/>
                </a:solidFill>
              </a:rPr>
              <a:t>Private</a:t>
            </a:r>
            <a:r>
              <a:rPr lang="en-CA" dirty="0"/>
              <a:t> members are </a:t>
            </a:r>
            <a:r>
              <a:rPr lang="en-CA" b="1" i="1" dirty="0">
                <a:solidFill>
                  <a:srgbClr val="FF0000"/>
                </a:solidFill>
              </a:rPr>
              <a:t>NOT</a:t>
            </a:r>
            <a:r>
              <a:rPr lang="en-CA" dirty="0"/>
              <a:t> inherited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1400" b="1" dirty="0">
              <a:solidFill>
                <a:schemeClr val="accent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7</a:t>
            </a:fld>
            <a:endParaRPr lang="en-CA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E18613-07C8-251F-3A77-8180B6F1D731}"/>
              </a:ext>
            </a:extLst>
          </p:cNvPr>
          <p:cNvSpPr/>
          <p:nvPr/>
        </p:nvSpPr>
        <p:spPr>
          <a:xfrm>
            <a:off x="8299848" y="1416378"/>
            <a:ext cx="1801038" cy="3321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BaseClass</a:t>
            </a:r>
            <a:endParaRPr lang="en-US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0167CD-2F7A-8FA9-2BF4-39CA3A1D5009}"/>
              </a:ext>
            </a:extLst>
          </p:cNvPr>
          <p:cNvSpPr/>
          <p:nvPr/>
        </p:nvSpPr>
        <p:spPr>
          <a:xfrm>
            <a:off x="8305293" y="1757468"/>
            <a:ext cx="1789508" cy="688457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+ a: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int</a:t>
            </a:r>
          </a:p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# b: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char</a:t>
            </a:r>
            <a:br>
              <a:rPr lang="en-CA" sz="1400" b="1" dirty="0">
                <a:solidFill>
                  <a:schemeClr val="accent1"/>
                </a:solidFill>
                <a:latin typeface="Courier"/>
              </a:rPr>
            </a:br>
            <a:r>
              <a:rPr lang="en-CA" sz="1400" b="1" dirty="0">
                <a:solidFill>
                  <a:schemeClr val="tx1"/>
                </a:solidFill>
                <a:latin typeface="Courier"/>
              </a:rPr>
              <a:t>- c: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float</a:t>
            </a:r>
            <a:endParaRPr lang="en-US" sz="14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7F49C7-0128-C5D6-975F-FC9AB00C6AF4}"/>
              </a:ext>
            </a:extLst>
          </p:cNvPr>
          <p:cNvSpPr/>
          <p:nvPr/>
        </p:nvSpPr>
        <p:spPr>
          <a:xfrm>
            <a:off x="8300207" y="2443570"/>
            <a:ext cx="1789635" cy="775355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+ foo(…)</a:t>
            </a:r>
          </a:p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# fee(…)</a:t>
            </a:r>
          </a:p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- </a:t>
            </a:r>
            <a:r>
              <a:rPr lang="en-CA" sz="1400" b="1" dirty="0" err="1">
                <a:solidFill>
                  <a:schemeClr val="tx1"/>
                </a:solidFill>
                <a:latin typeface="Courier"/>
              </a:rPr>
              <a:t>faa</a:t>
            </a:r>
            <a:r>
              <a:rPr lang="en-CA" sz="1400" b="1" dirty="0">
                <a:solidFill>
                  <a:schemeClr val="tx1"/>
                </a:solidFill>
                <a:latin typeface="Courier"/>
              </a:rPr>
              <a:t>(…)</a:t>
            </a:r>
            <a:endParaRPr lang="en-US" sz="14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A2ED3C-3785-3771-D93F-0B896957A3F0}"/>
              </a:ext>
            </a:extLst>
          </p:cNvPr>
          <p:cNvSpPr/>
          <p:nvPr/>
        </p:nvSpPr>
        <p:spPr>
          <a:xfrm>
            <a:off x="8482226" y="3769824"/>
            <a:ext cx="1379993" cy="332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SubClass</a:t>
            </a:r>
            <a:endParaRPr lang="en-US" b="1" dirty="0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85965119-A4EB-327D-2FEE-3483AF4589B4}"/>
              </a:ext>
            </a:extLst>
          </p:cNvPr>
          <p:cNvSpPr/>
          <p:nvPr/>
        </p:nvSpPr>
        <p:spPr>
          <a:xfrm>
            <a:off x="9312506" y="3227574"/>
            <a:ext cx="167880" cy="131567"/>
          </a:xfrm>
          <a:prstGeom prst="triangl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3CDC8B0-080E-A0E8-48F4-CD86F9E6C3B1}"/>
              </a:ext>
            </a:extLst>
          </p:cNvPr>
          <p:cNvCxnSpPr>
            <a:cxnSpLocks/>
          </p:cNvCxnSpPr>
          <p:nvPr/>
        </p:nvCxnSpPr>
        <p:spPr>
          <a:xfrm>
            <a:off x="9396446" y="3367850"/>
            <a:ext cx="5562" cy="414948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5471D3A-2232-F046-A000-DC0640F5ADBB}"/>
              </a:ext>
            </a:extLst>
          </p:cNvPr>
          <p:cNvSpPr txBox="1"/>
          <p:nvPr/>
        </p:nvSpPr>
        <p:spPr>
          <a:xfrm>
            <a:off x="8688477" y="3396137"/>
            <a:ext cx="9405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2"/>
                </a:solidFill>
              </a:rPr>
              <a:t>extends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1D1FF7E-B5AD-8338-2493-8AA394F7282E}"/>
              </a:ext>
            </a:extLst>
          </p:cNvPr>
          <p:cNvSpPr/>
          <p:nvPr/>
        </p:nvSpPr>
        <p:spPr>
          <a:xfrm>
            <a:off x="8238454" y="4238811"/>
            <a:ext cx="1222258" cy="51144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+ a: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int</a:t>
            </a:r>
          </a:p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# b: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char</a:t>
            </a:r>
            <a:endParaRPr lang="en-US" sz="14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D807A6E-2323-EA1B-2CBB-EBC5EB761F15}"/>
              </a:ext>
            </a:extLst>
          </p:cNvPr>
          <p:cNvSpPr/>
          <p:nvPr/>
        </p:nvSpPr>
        <p:spPr>
          <a:xfrm>
            <a:off x="8238309" y="4745035"/>
            <a:ext cx="1222345" cy="51144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+ foo(…)</a:t>
            </a:r>
          </a:p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# fee(…)</a:t>
            </a:r>
            <a:endParaRPr lang="en-US" sz="14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25" name="Speech Bubble: Rectangle 24">
            <a:extLst>
              <a:ext uri="{FF2B5EF4-FFF2-40B4-BE49-F238E27FC236}">
                <a16:creationId xmlns:a16="http://schemas.microsoft.com/office/drawing/2014/main" id="{3D31880B-CC8D-DB5C-A3B0-AED4AD4BC809}"/>
              </a:ext>
            </a:extLst>
          </p:cNvPr>
          <p:cNvSpPr/>
          <p:nvPr/>
        </p:nvSpPr>
        <p:spPr>
          <a:xfrm>
            <a:off x="9681257" y="5247548"/>
            <a:ext cx="1127000" cy="511445"/>
          </a:xfrm>
          <a:prstGeom prst="wedgeRectCallout">
            <a:avLst>
              <a:gd name="adj1" fmla="val -75748"/>
              <a:gd name="adj2" fmla="val -83035"/>
            </a:avLst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>
                <a:solidFill>
                  <a:schemeClr val="tx1"/>
                </a:solidFill>
              </a:rPr>
              <a:t>Can be </a:t>
            </a:r>
            <a:r>
              <a:rPr lang="en-CA" sz="1600" dirty="0" err="1">
                <a:solidFill>
                  <a:schemeClr val="tx1"/>
                </a:solidFill>
              </a:rPr>
              <a:t>Overidden</a:t>
            </a:r>
            <a:endParaRPr lang="en-CA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6324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8" grpId="0" animBg="1"/>
      <p:bldP spid="9" grpId="0" animBg="1"/>
      <p:bldP spid="12" grpId="0" animBg="1"/>
      <p:bldP spid="17" grpId="0"/>
      <p:bldP spid="23" grpId="0" animBg="1"/>
      <p:bldP spid="24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74056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Scope of Members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7254704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u="sng" dirty="0">
                <a:solidFill>
                  <a:schemeClr val="accent4">
                    <a:lumMod val="75000"/>
                  </a:schemeClr>
                </a:solidFill>
              </a:rPr>
              <a:t>Protected</a:t>
            </a:r>
            <a:r>
              <a:rPr lang="en-CA" sz="2200" b="1" u="sng" dirty="0"/>
              <a:t> Inheritance Access Level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Derived Class inherits…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1"/>
                </a:solidFill>
              </a:rPr>
              <a:t>Public</a:t>
            </a:r>
            <a:r>
              <a:rPr lang="en-CA" dirty="0"/>
              <a:t> members as </a:t>
            </a:r>
            <a:r>
              <a:rPr lang="en-CA" b="1" dirty="0">
                <a:solidFill>
                  <a:schemeClr val="accent4">
                    <a:lumMod val="75000"/>
                  </a:schemeClr>
                </a:solidFill>
              </a:rPr>
              <a:t>protected</a:t>
            </a:r>
            <a:r>
              <a:rPr lang="en-CA" dirty="0"/>
              <a:t> members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1"/>
                </a:solidFill>
              </a:rPr>
              <a:t>Protected</a:t>
            </a:r>
            <a:r>
              <a:rPr lang="en-CA" dirty="0"/>
              <a:t> members as </a:t>
            </a:r>
            <a:r>
              <a:rPr lang="en-CA" b="1" dirty="0">
                <a:solidFill>
                  <a:schemeClr val="accent4">
                    <a:lumMod val="75000"/>
                  </a:schemeClr>
                </a:solidFill>
              </a:rPr>
              <a:t>protected</a:t>
            </a:r>
            <a:r>
              <a:rPr lang="en-CA" dirty="0"/>
              <a:t> members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1"/>
                </a:solidFill>
              </a:rPr>
              <a:t>Private</a:t>
            </a:r>
            <a:r>
              <a:rPr lang="en-CA" dirty="0"/>
              <a:t> members are </a:t>
            </a:r>
            <a:r>
              <a:rPr lang="en-CA" b="1" i="1" dirty="0">
                <a:solidFill>
                  <a:srgbClr val="FF0000"/>
                </a:solidFill>
              </a:rPr>
              <a:t>NOT</a:t>
            </a:r>
            <a:r>
              <a:rPr lang="en-CA" dirty="0"/>
              <a:t> inherited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u="sng" dirty="0">
                <a:solidFill>
                  <a:srgbClr val="7030A0"/>
                </a:solidFill>
              </a:rPr>
              <a:t>Private</a:t>
            </a:r>
            <a:r>
              <a:rPr lang="en-CA" sz="2200" b="1" u="sng" dirty="0"/>
              <a:t> Inheritance Access Level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Derived Class inherits…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1"/>
                </a:solidFill>
              </a:rPr>
              <a:t>Public</a:t>
            </a:r>
            <a:r>
              <a:rPr lang="en-CA" dirty="0"/>
              <a:t> members as </a:t>
            </a:r>
            <a:r>
              <a:rPr lang="en-CA" b="1" dirty="0">
                <a:solidFill>
                  <a:srgbClr val="7030A0"/>
                </a:solidFill>
              </a:rPr>
              <a:t>private</a:t>
            </a:r>
            <a:r>
              <a:rPr lang="en-CA" b="1" dirty="0"/>
              <a:t> </a:t>
            </a:r>
            <a:r>
              <a:rPr lang="en-CA" dirty="0"/>
              <a:t>members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1"/>
                </a:solidFill>
              </a:rPr>
              <a:t>Protected</a:t>
            </a:r>
            <a:r>
              <a:rPr lang="en-CA" dirty="0"/>
              <a:t> members as </a:t>
            </a:r>
            <a:r>
              <a:rPr lang="en-CA" b="1" dirty="0">
                <a:solidFill>
                  <a:srgbClr val="7030A0"/>
                </a:solidFill>
              </a:rPr>
              <a:t>private</a:t>
            </a:r>
            <a:r>
              <a:rPr lang="en-CA" dirty="0"/>
              <a:t> members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1"/>
                </a:solidFill>
              </a:rPr>
              <a:t>Private</a:t>
            </a:r>
            <a:r>
              <a:rPr lang="en-CA" dirty="0"/>
              <a:t> members are </a:t>
            </a:r>
            <a:r>
              <a:rPr lang="en-CA" b="1" i="1" dirty="0">
                <a:solidFill>
                  <a:srgbClr val="FF0000"/>
                </a:solidFill>
              </a:rPr>
              <a:t>NOT</a:t>
            </a:r>
            <a:r>
              <a:rPr lang="en-CA" dirty="0"/>
              <a:t> inherited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1400" b="1" dirty="0">
              <a:solidFill>
                <a:schemeClr val="accent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8</a:t>
            </a:fld>
            <a:endParaRPr lang="en-CA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E18613-07C8-251F-3A77-8180B6F1D731}"/>
              </a:ext>
            </a:extLst>
          </p:cNvPr>
          <p:cNvSpPr/>
          <p:nvPr/>
        </p:nvSpPr>
        <p:spPr>
          <a:xfrm>
            <a:off x="6815212" y="1038412"/>
            <a:ext cx="1801038" cy="3321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BaseClass</a:t>
            </a:r>
            <a:endParaRPr lang="en-US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0167CD-2F7A-8FA9-2BF4-39CA3A1D5009}"/>
              </a:ext>
            </a:extLst>
          </p:cNvPr>
          <p:cNvSpPr/>
          <p:nvPr/>
        </p:nvSpPr>
        <p:spPr>
          <a:xfrm>
            <a:off x="6820657" y="1379502"/>
            <a:ext cx="1789508" cy="688457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+ a: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int</a:t>
            </a:r>
          </a:p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# b: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char</a:t>
            </a:r>
            <a:br>
              <a:rPr lang="en-CA" sz="1400" b="1" dirty="0">
                <a:solidFill>
                  <a:schemeClr val="accent1"/>
                </a:solidFill>
                <a:latin typeface="Courier"/>
              </a:rPr>
            </a:br>
            <a:r>
              <a:rPr lang="en-CA" sz="1400" b="1" dirty="0">
                <a:solidFill>
                  <a:schemeClr val="tx1"/>
                </a:solidFill>
                <a:latin typeface="Courier"/>
              </a:rPr>
              <a:t>- c: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float</a:t>
            </a:r>
            <a:endParaRPr lang="en-US" sz="14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7F49C7-0128-C5D6-975F-FC9AB00C6AF4}"/>
              </a:ext>
            </a:extLst>
          </p:cNvPr>
          <p:cNvSpPr/>
          <p:nvPr/>
        </p:nvSpPr>
        <p:spPr>
          <a:xfrm>
            <a:off x="6815571" y="2065604"/>
            <a:ext cx="1789635" cy="775355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+ foo(…)</a:t>
            </a:r>
          </a:p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# fee(…)</a:t>
            </a:r>
          </a:p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- </a:t>
            </a:r>
            <a:r>
              <a:rPr lang="en-CA" sz="1400" b="1" dirty="0" err="1">
                <a:solidFill>
                  <a:schemeClr val="tx1"/>
                </a:solidFill>
                <a:latin typeface="Courier"/>
              </a:rPr>
              <a:t>faa</a:t>
            </a:r>
            <a:r>
              <a:rPr lang="en-CA" sz="1400" b="1" dirty="0">
                <a:solidFill>
                  <a:schemeClr val="tx1"/>
                </a:solidFill>
                <a:latin typeface="Courier"/>
              </a:rPr>
              <a:t>(…)</a:t>
            </a:r>
            <a:endParaRPr lang="en-US" sz="14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A2ED3C-3785-3771-D93F-0B896957A3F0}"/>
              </a:ext>
            </a:extLst>
          </p:cNvPr>
          <p:cNvSpPr/>
          <p:nvPr/>
        </p:nvSpPr>
        <p:spPr>
          <a:xfrm>
            <a:off x="9395501" y="1185671"/>
            <a:ext cx="1379993" cy="332126"/>
          </a:xfrm>
          <a:prstGeom prst="rect">
            <a:avLst/>
          </a:prstGeom>
          <a:ln>
            <a:solidFill>
              <a:srgbClr val="FFC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SubClass</a:t>
            </a:r>
            <a:endParaRPr lang="en-US" b="1" dirty="0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85965119-A4EB-327D-2FEE-3483AF4589B4}"/>
              </a:ext>
            </a:extLst>
          </p:cNvPr>
          <p:cNvSpPr/>
          <p:nvPr/>
        </p:nvSpPr>
        <p:spPr>
          <a:xfrm rot="16200000">
            <a:off x="8601690" y="1333399"/>
            <a:ext cx="167880" cy="131567"/>
          </a:xfrm>
          <a:prstGeom prst="triangle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3CDC8B0-080E-A0E8-48F4-CD86F9E6C3B1}"/>
              </a:ext>
            </a:extLst>
          </p:cNvPr>
          <p:cNvCxnSpPr>
            <a:cxnSpLocks/>
          </p:cNvCxnSpPr>
          <p:nvPr/>
        </p:nvCxnSpPr>
        <p:spPr>
          <a:xfrm>
            <a:off x="8751413" y="1379502"/>
            <a:ext cx="644088" cy="4573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5471D3A-2232-F046-A000-DC0640F5ADBB}"/>
              </a:ext>
            </a:extLst>
          </p:cNvPr>
          <p:cNvSpPr txBox="1"/>
          <p:nvPr/>
        </p:nvSpPr>
        <p:spPr>
          <a:xfrm>
            <a:off x="8617957" y="847069"/>
            <a:ext cx="1708801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4">
                    <a:lumMod val="75000"/>
                  </a:schemeClr>
                </a:solidFill>
              </a:rPr>
              <a:t>Protected extends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1D1FF7E-B5AD-8338-2493-8AA394F7282E}"/>
              </a:ext>
            </a:extLst>
          </p:cNvPr>
          <p:cNvSpPr/>
          <p:nvPr/>
        </p:nvSpPr>
        <p:spPr>
          <a:xfrm>
            <a:off x="8955158" y="1707534"/>
            <a:ext cx="1222258" cy="511444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rgbClr val="FF0000"/>
                </a:solidFill>
                <a:latin typeface="Courier"/>
              </a:rPr>
              <a:t>#</a:t>
            </a:r>
            <a:r>
              <a:rPr lang="en-CA" sz="1400" b="1" dirty="0">
                <a:solidFill>
                  <a:schemeClr val="tx1"/>
                </a:solidFill>
                <a:latin typeface="Courier"/>
              </a:rPr>
              <a:t> a: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int</a:t>
            </a:r>
          </a:p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# b: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char</a:t>
            </a:r>
            <a:endParaRPr lang="en-US" sz="14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D807A6E-2323-EA1B-2CBB-EBC5EB761F15}"/>
              </a:ext>
            </a:extLst>
          </p:cNvPr>
          <p:cNvSpPr/>
          <p:nvPr/>
        </p:nvSpPr>
        <p:spPr>
          <a:xfrm>
            <a:off x="8955013" y="2213758"/>
            <a:ext cx="1222345" cy="511444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rgbClr val="FF0000"/>
                </a:solidFill>
                <a:latin typeface="Courier"/>
              </a:rPr>
              <a:t>#</a:t>
            </a:r>
            <a:r>
              <a:rPr lang="en-CA" sz="1400" b="1" dirty="0">
                <a:solidFill>
                  <a:schemeClr val="tx1"/>
                </a:solidFill>
                <a:latin typeface="Courier"/>
              </a:rPr>
              <a:t> foo(…)</a:t>
            </a:r>
          </a:p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# fee(…)</a:t>
            </a:r>
            <a:endParaRPr lang="en-US" sz="14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25" name="Speech Bubble: Rectangle 24">
            <a:extLst>
              <a:ext uri="{FF2B5EF4-FFF2-40B4-BE49-F238E27FC236}">
                <a16:creationId xmlns:a16="http://schemas.microsoft.com/office/drawing/2014/main" id="{3D31880B-CC8D-DB5C-A3B0-AED4AD4BC809}"/>
              </a:ext>
            </a:extLst>
          </p:cNvPr>
          <p:cNvSpPr/>
          <p:nvPr/>
        </p:nvSpPr>
        <p:spPr>
          <a:xfrm>
            <a:off x="10085497" y="2650998"/>
            <a:ext cx="1127000" cy="511445"/>
          </a:xfrm>
          <a:prstGeom prst="wedgeRectCallout">
            <a:avLst>
              <a:gd name="adj1" fmla="val -44195"/>
              <a:gd name="adj2" fmla="val -88995"/>
            </a:avLst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>
                <a:solidFill>
                  <a:schemeClr val="tx1"/>
                </a:solidFill>
              </a:rPr>
              <a:t>Can be </a:t>
            </a:r>
            <a:r>
              <a:rPr lang="en-CA" sz="1600" dirty="0" err="1">
                <a:solidFill>
                  <a:schemeClr val="tx1"/>
                </a:solidFill>
              </a:rPr>
              <a:t>Overidden</a:t>
            </a:r>
            <a:endParaRPr lang="en-CA" sz="16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47CDFA-A2CA-251D-EE6A-42C93A8CAF85}"/>
              </a:ext>
            </a:extLst>
          </p:cNvPr>
          <p:cNvSpPr/>
          <p:nvPr/>
        </p:nvSpPr>
        <p:spPr>
          <a:xfrm>
            <a:off x="6804168" y="3800673"/>
            <a:ext cx="1801038" cy="3321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BaseClass</a:t>
            </a:r>
            <a:endParaRPr lang="en-US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C2C5EB-653B-CF8B-8FEF-A01DAE3C359D}"/>
              </a:ext>
            </a:extLst>
          </p:cNvPr>
          <p:cNvSpPr/>
          <p:nvPr/>
        </p:nvSpPr>
        <p:spPr>
          <a:xfrm>
            <a:off x="6809613" y="4141763"/>
            <a:ext cx="1789508" cy="688457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+ a: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int</a:t>
            </a:r>
          </a:p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# b: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char</a:t>
            </a:r>
            <a:br>
              <a:rPr lang="en-CA" sz="1400" b="1" dirty="0">
                <a:solidFill>
                  <a:schemeClr val="accent1"/>
                </a:solidFill>
                <a:latin typeface="Courier"/>
              </a:rPr>
            </a:br>
            <a:r>
              <a:rPr lang="en-CA" sz="1400" b="1" dirty="0">
                <a:solidFill>
                  <a:schemeClr val="tx1"/>
                </a:solidFill>
                <a:latin typeface="Courier"/>
              </a:rPr>
              <a:t>- c: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float</a:t>
            </a:r>
            <a:endParaRPr lang="en-US" sz="14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36E717-8D7B-F2BF-7562-DFA32E90BB3A}"/>
              </a:ext>
            </a:extLst>
          </p:cNvPr>
          <p:cNvSpPr/>
          <p:nvPr/>
        </p:nvSpPr>
        <p:spPr>
          <a:xfrm>
            <a:off x="6804527" y="4827865"/>
            <a:ext cx="1789635" cy="775355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+ foo(…)</a:t>
            </a:r>
          </a:p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# fee(…)</a:t>
            </a:r>
          </a:p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- </a:t>
            </a:r>
            <a:r>
              <a:rPr lang="en-CA" sz="1400" b="1" dirty="0" err="1">
                <a:solidFill>
                  <a:schemeClr val="tx1"/>
                </a:solidFill>
                <a:latin typeface="Courier"/>
              </a:rPr>
              <a:t>faa</a:t>
            </a:r>
            <a:r>
              <a:rPr lang="en-CA" sz="1400" b="1" dirty="0">
                <a:solidFill>
                  <a:schemeClr val="tx1"/>
                </a:solidFill>
                <a:latin typeface="Courier"/>
              </a:rPr>
              <a:t>(…)</a:t>
            </a:r>
            <a:endParaRPr lang="en-US" sz="14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FD848B9-B17F-46BD-3354-B0DD83468534}"/>
              </a:ext>
            </a:extLst>
          </p:cNvPr>
          <p:cNvSpPr/>
          <p:nvPr/>
        </p:nvSpPr>
        <p:spPr>
          <a:xfrm>
            <a:off x="9384457" y="3947932"/>
            <a:ext cx="1379993" cy="332126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SubClass</a:t>
            </a:r>
            <a:endParaRPr lang="en-US" b="1" dirty="0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2642F923-FDE5-2A74-A1B8-4509F99ABDBA}"/>
              </a:ext>
            </a:extLst>
          </p:cNvPr>
          <p:cNvSpPr/>
          <p:nvPr/>
        </p:nvSpPr>
        <p:spPr>
          <a:xfrm rot="16200000">
            <a:off x="8590646" y="4095660"/>
            <a:ext cx="167880" cy="131567"/>
          </a:xfrm>
          <a:prstGeom prst="triangl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4F399B2-90BD-FC81-3052-40890373404F}"/>
              </a:ext>
            </a:extLst>
          </p:cNvPr>
          <p:cNvCxnSpPr>
            <a:cxnSpLocks/>
          </p:cNvCxnSpPr>
          <p:nvPr/>
        </p:nvCxnSpPr>
        <p:spPr>
          <a:xfrm>
            <a:off x="8740369" y="4141763"/>
            <a:ext cx="644088" cy="4573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48066A9-953E-2905-95BE-BE52E8513B9E}"/>
              </a:ext>
            </a:extLst>
          </p:cNvPr>
          <p:cNvSpPr txBox="1"/>
          <p:nvPr/>
        </p:nvSpPr>
        <p:spPr>
          <a:xfrm>
            <a:off x="8606913" y="3609330"/>
            <a:ext cx="1708801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Private extends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A0F311A-FE96-ABF2-E5CD-519279E9B5DD}"/>
              </a:ext>
            </a:extLst>
          </p:cNvPr>
          <p:cNvSpPr/>
          <p:nvPr/>
        </p:nvSpPr>
        <p:spPr>
          <a:xfrm>
            <a:off x="8944114" y="4469795"/>
            <a:ext cx="1222258" cy="511444"/>
          </a:xfrm>
          <a:prstGeom prst="rect">
            <a:avLst/>
          </a:prstGeom>
          <a:solidFill>
            <a:schemeClr val="bg1"/>
          </a:solidFill>
          <a:ln w="28575"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rgbClr val="FF0000"/>
                </a:solidFill>
                <a:latin typeface="Courier"/>
              </a:rPr>
              <a:t>-</a:t>
            </a:r>
            <a:r>
              <a:rPr lang="en-CA" sz="1400" b="1" dirty="0">
                <a:solidFill>
                  <a:schemeClr val="tx1"/>
                </a:solidFill>
                <a:latin typeface="Courier"/>
              </a:rPr>
              <a:t> a: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int</a:t>
            </a:r>
          </a:p>
          <a:p>
            <a:r>
              <a:rPr lang="en-CA" sz="1400" b="1" dirty="0">
                <a:solidFill>
                  <a:srgbClr val="FF0000"/>
                </a:solidFill>
                <a:latin typeface="Courier"/>
              </a:rPr>
              <a:t>-</a:t>
            </a:r>
            <a:r>
              <a:rPr lang="en-CA" sz="1400" b="1" dirty="0">
                <a:solidFill>
                  <a:schemeClr val="tx1"/>
                </a:solidFill>
                <a:latin typeface="Courier"/>
              </a:rPr>
              <a:t> b: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char</a:t>
            </a:r>
            <a:endParaRPr lang="en-US" sz="14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E7A4D0E-07FB-FB57-49BD-9A5DA3E0C3EE}"/>
              </a:ext>
            </a:extLst>
          </p:cNvPr>
          <p:cNvSpPr/>
          <p:nvPr/>
        </p:nvSpPr>
        <p:spPr>
          <a:xfrm>
            <a:off x="8943969" y="4976019"/>
            <a:ext cx="1222345" cy="511444"/>
          </a:xfrm>
          <a:prstGeom prst="rect">
            <a:avLst/>
          </a:prstGeom>
          <a:solidFill>
            <a:schemeClr val="bg1"/>
          </a:solidFill>
          <a:ln w="28575"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rgbClr val="FF0000"/>
                </a:solidFill>
                <a:latin typeface="Courier"/>
              </a:rPr>
              <a:t>-</a:t>
            </a:r>
            <a:r>
              <a:rPr lang="en-CA" sz="1400" b="1" dirty="0">
                <a:solidFill>
                  <a:schemeClr val="tx1"/>
                </a:solidFill>
                <a:latin typeface="Courier"/>
              </a:rPr>
              <a:t> foo(…)</a:t>
            </a:r>
          </a:p>
          <a:p>
            <a:r>
              <a:rPr lang="en-CA" sz="1400" b="1" dirty="0">
                <a:solidFill>
                  <a:srgbClr val="FF0000"/>
                </a:solidFill>
                <a:latin typeface="Courier"/>
              </a:rPr>
              <a:t>-</a:t>
            </a:r>
            <a:r>
              <a:rPr lang="en-CA" sz="1400" b="1" dirty="0">
                <a:solidFill>
                  <a:schemeClr val="tx1"/>
                </a:solidFill>
                <a:latin typeface="Courier"/>
              </a:rPr>
              <a:t> fee(…)</a:t>
            </a:r>
            <a:endParaRPr lang="en-US" sz="14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27" name="Speech Bubble: Rectangle 26">
            <a:extLst>
              <a:ext uri="{FF2B5EF4-FFF2-40B4-BE49-F238E27FC236}">
                <a16:creationId xmlns:a16="http://schemas.microsoft.com/office/drawing/2014/main" id="{A95F0FCA-F26E-6362-0AD3-FC1A7415871B}"/>
              </a:ext>
            </a:extLst>
          </p:cNvPr>
          <p:cNvSpPr/>
          <p:nvPr/>
        </p:nvSpPr>
        <p:spPr>
          <a:xfrm>
            <a:off x="10074453" y="5413259"/>
            <a:ext cx="1127000" cy="511445"/>
          </a:xfrm>
          <a:prstGeom prst="wedgeRectCallout">
            <a:avLst>
              <a:gd name="adj1" fmla="val -44195"/>
              <a:gd name="adj2" fmla="val -88995"/>
            </a:avLst>
          </a:prstGeom>
          <a:solidFill>
            <a:srgbClr val="E8D9F3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>
                <a:solidFill>
                  <a:schemeClr val="tx1"/>
                </a:solidFill>
              </a:rPr>
              <a:t>Can be </a:t>
            </a:r>
            <a:r>
              <a:rPr lang="en-CA" sz="1600" dirty="0" err="1">
                <a:solidFill>
                  <a:schemeClr val="tx1"/>
                </a:solidFill>
              </a:rPr>
              <a:t>Overidden</a:t>
            </a:r>
            <a:endParaRPr lang="en-CA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9851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8" grpId="0" animBg="1"/>
      <p:bldP spid="9" grpId="0" animBg="1"/>
      <p:bldP spid="12" grpId="0" animBg="1"/>
      <p:bldP spid="17" grpId="0"/>
      <p:bldP spid="23" grpId="0" animBg="1"/>
      <p:bldP spid="24" grpId="0" animBg="1"/>
      <p:bldP spid="25" grpId="0" animBg="1"/>
      <p:bldP spid="11" grpId="0" animBg="1"/>
      <p:bldP spid="15" grpId="0" animBg="1"/>
      <p:bldP spid="16" grpId="0" animBg="1"/>
      <p:bldP spid="18" grpId="0" animBg="1"/>
      <p:bldP spid="19" grpId="0" animBg="1"/>
      <p:bldP spid="21" grpId="0"/>
      <p:bldP spid="22" grpId="0" animBg="1"/>
      <p:bldP spid="26" grpId="0" animBg="1"/>
      <p:bldP spid="2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74056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Scope of Members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933750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Summary of Member Scopes under different inheritance access levels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Only for offering design options – no real software performance impact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Remember, </a:t>
            </a:r>
            <a:r>
              <a:rPr lang="en-CA" b="1" i="1" dirty="0"/>
              <a:t>Not Applicable</a:t>
            </a:r>
            <a:r>
              <a:rPr lang="en-CA" dirty="0"/>
              <a:t> to Constructors / Destructors, operator overrides, and friends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We will show a grand example after Constructor/Destructor is covered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1400" b="1" dirty="0">
              <a:solidFill>
                <a:schemeClr val="accent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9</a:t>
            </a:fld>
            <a:endParaRPr lang="en-CA" dirty="0"/>
          </a:p>
        </p:txBody>
      </p:sp>
      <p:graphicFrame>
        <p:nvGraphicFramePr>
          <p:cNvPr id="10" name="Table 27">
            <a:extLst>
              <a:ext uri="{FF2B5EF4-FFF2-40B4-BE49-F238E27FC236}">
                <a16:creationId xmlns:a16="http://schemas.microsoft.com/office/drawing/2014/main" id="{98C89CDA-6B5A-5BC4-81C7-1B8E21F7AA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3004284"/>
              </p:ext>
            </p:extLst>
          </p:nvPr>
        </p:nvGraphicFramePr>
        <p:xfrm>
          <a:off x="1818640" y="2473381"/>
          <a:ext cx="81280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0926578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6384788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85337664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2650445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Base Class</a:t>
                      </a:r>
                    </a:p>
                    <a:p>
                      <a:r>
                        <a:rPr lang="en-CA" dirty="0"/>
                        <a:t>Member Scopes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Public Inheritance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Protected Inheritance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Private Inheritance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8785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Private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N/A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N/A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N/A</a:t>
                      </a:r>
                    </a:p>
                  </a:txBody>
                  <a:tcPr>
                    <a:solidFill>
                      <a:srgbClr val="D1B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1797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Protected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Protected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Protected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Private</a:t>
                      </a:r>
                    </a:p>
                  </a:txBody>
                  <a:tcPr>
                    <a:solidFill>
                      <a:srgbClr val="E8D9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8926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Public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Public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Protected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Private</a:t>
                      </a:r>
                    </a:p>
                  </a:txBody>
                  <a:tcPr>
                    <a:solidFill>
                      <a:srgbClr val="D1B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04333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2075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93999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altLang="zh-TW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Constructor / Destructor Rules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584281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Constructor Rules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When subclass is instantiated, the default constructor of the base class will always be invoked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Even if the subclass itself has a constructor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Destructor Rule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When subclass is instantiated, the default destructor of the base class will always be invoked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10</a:t>
            </a:fld>
            <a:endParaRPr lang="en-C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4EEF5A-7883-92C3-C8A0-640519D086CB}"/>
              </a:ext>
            </a:extLst>
          </p:cNvPr>
          <p:cNvSpPr txBox="1"/>
          <p:nvPr/>
        </p:nvSpPr>
        <p:spPr>
          <a:xfrm>
            <a:off x="1133323" y="3498183"/>
            <a:ext cx="3525290" cy="1223412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05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  <a:p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public:</a:t>
            </a:r>
          </a:p>
          <a:p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A() {</a:t>
            </a:r>
            <a:r>
              <a:rPr lang="en-US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“A: default” &lt;&lt; </a:t>
            </a:r>
            <a:r>
              <a:rPr lang="en-US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;}</a:t>
            </a:r>
          </a:p>
          <a:p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A(int a) {</a:t>
            </a:r>
            <a:r>
              <a:rPr lang="en-US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“A: param” &lt;&lt; </a:t>
            </a:r>
            <a:r>
              <a:rPr lang="en-US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;}</a:t>
            </a:r>
          </a:p>
          <a:p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~A() {</a:t>
            </a:r>
            <a:r>
              <a:rPr lang="en-US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“A: destruct” &lt;&lt; </a:t>
            </a:r>
            <a:r>
              <a:rPr lang="en-US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;}</a:t>
            </a:r>
          </a:p>
          <a:p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0AC466-43ED-14F3-A420-38803D786DE2}"/>
              </a:ext>
            </a:extLst>
          </p:cNvPr>
          <p:cNvSpPr txBox="1"/>
          <p:nvPr/>
        </p:nvSpPr>
        <p:spPr>
          <a:xfrm>
            <a:off x="1667028" y="4662024"/>
            <a:ext cx="4027150" cy="1061829"/>
          </a:xfrm>
          <a:prstGeom prst="rect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05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 : </a:t>
            </a:r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05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</a:t>
            </a:r>
          </a:p>
          <a:p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public:</a:t>
            </a:r>
          </a:p>
          <a:p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B(int a) {</a:t>
            </a:r>
            <a:r>
              <a:rPr lang="en-US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“B: construct” &lt;&lt; </a:t>
            </a:r>
            <a:r>
              <a:rPr lang="en-US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;}</a:t>
            </a:r>
          </a:p>
          <a:p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~B() {</a:t>
            </a:r>
            <a:r>
              <a:rPr lang="en-US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“B: destruct” &lt;&lt; </a:t>
            </a:r>
            <a:r>
              <a:rPr lang="en-US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;}</a:t>
            </a:r>
          </a:p>
          <a:p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11" name="Speech Bubble: Rectangle 10">
            <a:extLst>
              <a:ext uri="{FF2B5EF4-FFF2-40B4-BE49-F238E27FC236}">
                <a16:creationId xmlns:a16="http://schemas.microsoft.com/office/drawing/2014/main" id="{4A1B2110-7542-1B2E-F441-87509EAA530B}"/>
              </a:ext>
            </a:extLst>
          </p:cNvPr>
          <p:cNvSpPr/>
          <p:nvPr/>
        </p:nvSpPr>
        <p:spPr>
          <a:xfrm>
            <a:off x="7381542" y="2516778"/>
            <a:ext cx="2851029" cy="365363"/>
          </a:xfrm>
          <a:prstGeom prst="wedgeRectCallout">
            <a:avLst>
              <a:gd name="adj1" fmla="val 46018"/>
              <a:gd name="adj2" fmla="val -130632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dirty="0">
                <a:solidFill>
                  <a:schemeClr val="tx1"/>
                </a:solidFill>
              </a:rPr>
              <a:t>Before</a:t>
            </a:r>
            <a:r>
              <a:rPr lang="en-CA" sz="1600" dirty="0">
                <a:solidFill>
                  <a:schemeClr val="tx1"/>
                </a:solidFill>
              </a:rPr>
              <a:t> the subclass constructor</a:t>
            </a:r>
          </a:p>
        </p:txBody>
      </p:sp>
      <p:sp>
        <p:nvSpPr>
          <p:cNvPr id="12" name="Speech Bubble: Rectangle 11">
            <a:extLst>
              <a:ext uri="{FF2B5EF4-FFF2-40B4-BE49-F238E27FC236}">
                <a16:creationId xmlns:a16="http://schemas.microsoft.com/office/drawing/2014/main" id="{9DF03214-47F1-3264-DD9A-D372B8E6BB08}"/>
              </a:ext>
            </a:extLst>
          </p:cNvPr>
          <p:cNvSpPr/>
          <p:nvPr/>
        </p:nvSpPr>
        <p:spPr>
          <a:xfrm>
            <a:off x="7381541" y="3671326"/>
            <a:ext cx="2851029" cy="365363"/>
          </a:xfrm>
          <a:prstGeom prst="wedgeRectCallout">
            <a:avLst>
              <a:gd name="adj1" fmla="val 46018"/>
              <a:gd name="adj2" fmla="val -130632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dirty="0">
                <a:solidFill>
                  <a:schemeClr val="tx1"/>
                </a:solidFill>
              </a:rPr>
              <a:t>After</a:t>
            </a:r>
            <a:r>
              <a:rPr lang="en-CA" sz="1600" dirty="0">
                <a:solidFill>
                  <a:schemeClr val="tx1"/>
                </a:solidFill>
              </a:rPr>
              <a:t> the subclass destructor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1FAAA0-BD6C-331B-DA01-8A072ADE90B1}"/>
              </a:ext>
            </a:extLst>
          </p:cNvPr>
          <p:cNvSpPr txBox="1"/>
          <p:nvPr/>
        </p:nvSpPr>
        <p:spPr>
          <a:xfrm>
            <a:off x="6175048" y="4647492"/>
            <a:ext cx="1298474" cy="900246"/>
          </a:xfrm>
          <a:prstGeom prst="rect">
            <a:avLst/>
          </a:prstGeom>
          <a:ln w="28575">
            <a:solidFill>
              <a:srgbClr val="7F1F1F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main()</a:t>
            </a:r>
          </a:p>
          <a:p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05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test(1);</a:t>
            </a:r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endParaRPr lang="en-US" sz="1050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</a:p>
          <a:p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146BB3B7-DCFC-75CD-B64F-7571C82C166B}"/>
              </a:ext>
            </a:extLst>
          </p:cNvPr>
          <p:cNvSpPr/>
          <p:nvPr/>
        </p:nvSpPr>
        <p:spPr>
          <a:xfrm>
            <a:off x="7473522" y="4993930"/>
            <a:ext cx="736559" cy="304533"/>
          </a:xfrm>
          <a:prstGeom prst="rightArrow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261C98-AB5C-575B-68F4-FDADE249A3DD}"/>
              </a:ext>
            </a:extLst>
          </p:cNvPr>
          <p:cNvSpPr txBox="1"/>
          <p:nvPr/>
        </p:nvSpPr>
        <p:spPr>
          <a:xfrm>
            <a:off x="8210081" y="4635923"/>
            <a:ext cx="1779345" cy="954107"/>
          </a:xfrm>
          <a:prstGeom prst="rect">
            <a:avLst/>
          </a:prstGeom>
          <a:solidFill>
            <a:srgbClr val="7F1F1F"/>
          </a:solidFill>
          <a:ln w="28575">
            <a:solidFill>
              <a:srgbClr val="7F1F1F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A: default</a:t>
            </a:r>
          </a:p>
          <a:p>
            <a:r>
              <a:rPr lang="en-US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B: construct</a:t>
            </a:r>
          </a:p>
          <a:p>
            <a:r>
              <a:rPr lang="en-US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B: destruct</a:t>
            </a:r>
          </a:p>
          <a:p>
            <a:r>
              <a:rPr lang="en-US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A: destruct</a:t>
            </a:r>
          </a:p>
        </p:txBody>
      </p:sp>
    </p:spTree>
    <p:extLst>
      <p:ext uri="{BB962C8B-B14F-4D97-AF65-F5344CB8AC3E}">
        <p14:creationId xmlns:p14="http://schemas.microsoft.com/office/powerpoint/2010/main" val="2432951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 tmFilter="0, 0; .2, .5; .8, .5; 1, 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9" dur="250" autoRev="1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 tmFilter="0, 0; .2, .5; .8, .5; 1, 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4" dur="250" autoRev="1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 tmFilter="0, 0; .2, .5; .8, .5; 1, 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9" dur="250" autoRev="1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500" tmFilter="0, 0; .2, .5; .8, .5; 1, 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6" dur="250" autoRev="1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7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0" dur="250" autoRev="1" fill="remove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21" dur="250" autoRev="1" fill="remove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2" dur="250" autoRev="1" fill="remove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3" dur="250" autoRev="1" fill="remove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 tmFilter="0, 0; .2, .5; .8, .5; 1, 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8" dur="250" autoRev="1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" grpId="0" animBg="1"/>
      <p:bldP spid="11" grpId="0" animBg="1"/>
      <p:bldP spid="12" grpId="0" animBg="1"/>
      <p:bldP spid="14" grpId="0" animBg="1"/>
      <p:bldP spid="15" grpId="0" animBg="1"/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93999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altLang="zh-TW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Constructor / Destructor Rules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584281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Constructor Rules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When subclass is instantiated, the default constructor of the base class will always be invoked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Even if the subclass itself has a constructor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You can also specify a constructor of the base class other than the default constructor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11</a:t>
            </a:fld>
            <a:endParaRPr lang="en-C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4EEF5A-7883-92C3-C8A0-640519D086CB}"/>
              </a:ext>
            </a:extLst>
          </p:cNvPr>
          <p:cNvSpPr txBox="1"/>
          <p:nvPr/>
        </p:nvSpPr>
        <p:spPr>
          <a:xfrm>
            <a:off x="1263954" y="3097581"/>
            <a:ext cx="3525290" cy="1223412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05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  <a:p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public:</a:t>
            </a:r>
          </a:p>
          <a:p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A() {</a:t>
            </a:r>
            <a:r>
              <a:rPr lang="en-US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“A: default” &lt;&lt; </a:t>
            </a:r>
            <a:r>
              <a:rPr lang="en-US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;}</a:t>
            </a:r>
          </a:p>
          <a:p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A(int a) {</a:t>
            </a:r>
            <a:r>
              <a:rPr lang="en-US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“A: param” &lt;&lt; </a:t>
            </a:r>
            <a:r>
              <a:rPr lang="en-US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;}</a:t>
            </a:r>
          </a:p>
          <a:p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~A() {</a:t>
            </a:r>
            <a:r>
              <a:rPr lang="en-US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“A: destruct” &lt;&lt; </a:t>
            </a:r>
            <a:r>
              <a:rPr lang="en-US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;}</a:t>
            </a:r>
          </a:p>
          <a:p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0AC466-43ED-14F3-A420-38803D786DE2}"/>
              </a:ext>
            </a:extLst>
          </p:cNvPr>
          <p:cNvSpPr txBox="1"/>
          <p:nvPr/>
        </p:nvSpPr>
        <p:spPr>
          <a:xfrm>
            <a:off x="1797659" y="4261422"/>
            <a:ext cx="4027150" cy="1384995"/>
          </a:xfrm>
          <a:prstGeom prst="rect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C</a:t>
            </a:r>
            <a:r>
              <a:rPr lang="en-US" sz="105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: </a:t>
            </a:r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05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</a:t>
            </a:r>
          </a:p>
          <a:p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public:</a:t>
            </a:r>
          </a:p>
          <a:p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C(int a) : A(a)</a:t>
            </a:r>
            <a:b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{</a:t>
            </a:r>
            <a:r>
              <a:rPr lang="en-US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“C: construct” &lt;&lt; </a:t>
            </a:r>
            <a:r>
              <a:rPr lang="en-US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;}</a:t>
            </a:r>
            <a:b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105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~C() {</a:t>
            </a:r>
            <a:r>
              <a:rPr lang="en-US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“C: destruct” &lt;&lt; </a:t>
            </a:r>
            <a:r>
              <a:rPr lang="en-US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;}</a:t>
            </a:r>
          </a:p>
          <a:p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1FAAA0-BD6C-331B-DA01-8A072ADE90B1}"/>
              </a:ext>
            </a:extLst>
          </p:cNvPr>
          <p:cNvSpPr txBox="1"/>
          <p:nvPr/>
        </p:nvSpPr>
        <p:spPr>
          <a:xfrm>
            <a:off x="6367193" y="4635726"/>
            <a:ext cx="1298474" cy="900246"/>
          </a:xfrm>
          <a:prstGeom prst="rect">
            <a:avLst/>
          </a:prstGeom>
          <a:ln w="28575">
            <a:solidFill>
              <a:srgbClr val="7F1F1F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main()</a:t>
            </a:r>
          </a:p>
          <a:p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05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test(1);</a:t>
            </a:r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endParaRPr lang="en-US" sz="1050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 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</a:p>
          <a:p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146BB3B7-DCFC-75CD-B64F-7571C82C166B}"/>
              </a:ext>
            </a:extLst>
          </p:cNvPr>
          <p:cNvSpPr/>
          <p:nvPr/>
        </p:nvSpPr>
        <p:spPr>
          <a:xfrm>
            <a:off x="7665667" y="4982164"/>
            <a:ext cx="736559" cy="304533"/>
          </a:xfrm>
          <a:prstGeom prst="rightArrow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261C98-AB5C-575B-68F4-FDADE249A3DD}"/>
              </a:ext>
            </a:extLst>
          </p:cNvPr>
          <p:cNvSpPr txBox="1"/>
          <p:nvPr/>
        </p:nvSpPr>
        <p:spPr>
          <a:xfrm>
            <a:off x="8402226" y="4624157"/>
            <a:ext cx="1779345" cy="954107"/>
          </a:xfrm>
          <a:prstGeom prst="rect">
            <a:avLst/>
          </a:prstGeom>
          <a:solidFill>
            <a:srgbClr val="7F1F1F"/>
          </a:solidFill>
          <a:ln w="28575">
            <a:solidFill>
              <a:srgbClr val="7F1F1F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A: param</a:t>
            </a:r>
          </a:p>
          <a:p>
            <a:r>
              <a:rPr lang="en-US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C: construct</a:t>
            </a:r>
          </a:p>
          <a:p>
            <a:r>
              <a:rPr lang="en-US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C: destruct</a:t>
            </a:r>
          </a:p>
          <a:p>
            <a:r>
              <a:rPr lang="en-US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A: destruct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4888526-C7F8-803A-F00F-3CDBD0D59483}"/>
              </a:ext>
            </a:extLst>
          </p:cNvPr>
          <p:cNvSpPr/>
          <p:nvPr/>
        </p:nvSpPr>
        <p:spPr>
          <a:xfrm>
            <a:off x="6656420" y="3032188"/>
            <a:ext cx="3123305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  <a:latin typeface="Courier"/>
              </a:rPr>
              <a:t>C(int a) : A(a) {…}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Courier"/>
            </a:endParaRPr>
          </a:p>
        </p:txBody>
      </p:sp>
      <p:sp>
        <p:nvSpPr>
          <p:cNvPr id="17" name="Speech Bubble: Rectangle 16">
            <a:extLst>
              <a:ext uri="{FF2B5EF4-FFF2-40B4-BE49-F238E27FC236}">
                <a16:creationId xmlns:a16="http://schemas.microsoft.com/office/drawing/2014/main" id="{BF9A9298-A96E-2F06-ACAD-2AFAF5190ED6}"/>
              </a:ext>
            </a:extLst>
          </p:cNvPr>
          <p:cNvSpPr/>
          <p:nvPr/>
        </p:nvSpPr>
        <p:spPr>
          <a:xfrm>
            <a:off x="6560718" y="3757715"/>
            <a:ext cx="3525290" cy="544105"/>
          </a:xfrm>
          <a:prstGeom prst="wedgeRectCallout">
            <a:avLst>
              <a:gd name="adj1" fmla="val -3635"/>
              <a:gd name="adj2" fmla="val -100222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>
                <a:solidFill>
                  <a:schemeClr val="tx1"/>
                </a:solidFill>
              </a:rPr>
              <a:t>Run A(int a) before C(int a), and pass the input param </a:t>
            </a:r>
            <a:r>
              <a:rPr lang="en-CA" sz="1600" i="1" dirty="0">
                <a:solidFill>
                  <a:schemeClr val="tx1"/>
                </a:solidFill>
              </a:rPr>
              <a:t>a</a:t>
            </a:r>
            <a:r>
              <a:rPr lang="en-CA" sz="1600" dirty="0">
                <a:solidFill>
                  <a:schemeClr val="tx1"/>
                </a:solidFill>
              </a:rPr>
              <a:t> in C() into A()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4B1366C-A231-7CA0-E7A5-5CD061272B14}"/>
              </a:ext>
            </a:extLst>
          </p:cNvPr>
          <p:cNvSpPr/>
          <p:nvPr/>
        </p:nvSpPr>
        <p:spPr>
          <a:xfrm>
            <a:off x="8485673" y="772238"/>
            <a:ext cx="2343425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L14Ex3-CDR.cpp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5669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 tmFilter="0, 0; .2, .5; .8, .5; 1, 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5" dur="250" autoRev="1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 tmFilter="0, 0; .2, .5; .8, .5; 1, 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0" dur="250" autoRev="1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 tmFilter="0, 0; .2, .5; .8, .5; 1, 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5" dur="250" autoRev="1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4" grpId="0" animBg="1"/>
      <p:bldP spid="15" grpId="0" animBg="1"/>
      <p:bldP spid="16" grpId="0" animBg="1"/>
      <p:bldP spid="10" grpId="0" animBg="1"/>
      <p:bldP spid="17" grpId="0" animBg="1"/>
      <p:bldP spid="1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1058427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altLang="zh-TW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 – Member Scopes and Constructor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5842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Consider the following classes</a:t>
            </a: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12</a:t>
            </a:fld>
            <a:endParaRPr lang="en-CA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4B1366C-A231-7CA0-E7A5-5CD061272B14}"/>
              </a:ext>
            </a:extLst>
          </p:cNvPr>
          <p:cNvSpPr/>
          <p:nvPr/>
        </p:nvSpPr>
        <p:spPr>
          <a:xfrm>
            <a:off x="941294" y="5129600"/>
            <a:ext cx="2343425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L14Ex4-Scopes.c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53411F-552B-0856-15F5-19A0FCF77639}"/>
              </a:ext>
            </a:extLst>
          </p:cNvPr>
          <p:cNvSpPr txBox="1"/>
          <p:nvPr/>
        </p:nvSpPr>
        <p:spPr>
          <a:xfrm>
            <a:off x="977084" y="2044659"/>
            <a:ext cx="2850845" cy="2839239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05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BaseClass</a:t>
            </a:r>
            <a:endParaRPr lang="en-US" sz="105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private:</a:t>
            </a:r>
          </a:p>
          <a:p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int 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a;</a:t>
            </a:r>
          </a:p>
          <a:p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int </a:t>
            </a:r>
            <a:r>
              <a:rPr lang="en-US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getA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 </a:t>
            </a:r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a; }</a:t>
            </a:r>
          </a:p>
          <a:p>
            <a:endParaRPr lang="en-US" sz="105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protected:</a:t>
            </a:r>
          </a:p>
          <a:p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int 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b;</a:t>
            </a:r>
          </a:p>
          <a:p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int </a:t>
            </a:r>
            <a:r>
              <a:rPr lang="en-US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getB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 </a:t>
            </a:r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b; }</a:t>
            </a:r>
          </a:p>
          <a:p>
            <a:endParaRPr lang="en-US" sz="105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public:</a:t>
            </a:r>
          </a:p>
          <a:p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int 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c;</a:t>
            </a:r>
          </a:p>
          <a:p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int </a:t>
            </a:r>
            <a:r>
              <a:rPr lang="en-US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getC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return 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c; }</a:t>
            </a:r>
          </a:p>
          <a:p>
            <a:endParaRPr lang="en-US" sz="105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BaseClass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</a:t>
            </a:r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int 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y,</a:t>
            </a:r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int 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z)</a:t>
            </a:r>
          </a:p>
          <a:p>
            <a:r>
              <a:rPr lang="en-CA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l-PL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{a = x; b = y; c = z;}</a:t>
            </a:r>
          </a:p>
          <a:p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5D716A-B5A2-C8BE-A0BE-45868D4EFEBC}"/>
              </a:ext>
            </a:extLst>
          </p:cNvPr>
          <p:cNvSpPr txBox="1"/>
          <p:nvPr/>
        </p:nvSpPr>
        <p:spPr>
          <a:xfrm>
            <a:off x="3711606" y="2259009"/>
            <a:ext cx="3576482" cy="1115690"/>
          </a:xfrm>
          <a:prstGeom prst="rect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05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PubSubClass</a:t>
            </a:r>
            <a:r>
              <a:rPr lang="en-US" sz="105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: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05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BaseClass</a:t>
            </a:r>
            <a:endParaRPr lang="en-US" sz="105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public:</a:t>
            </a:r>
          </a:p>
          <a:p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PubSubClass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x, </a:t>
            </a:r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y, </a:t>
            </a:r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z) </a:t>
            </a:r>
          </a:p>
          <a:p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	       : </a:t>
            </a:r>
            <a:r>
              <a:rPr lang="en-US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BaseClass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(x, y, z){};</a:t>
            </a:r>
          </a:p>
          <a:p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CD56D3-82A9-36C3-AD8F-790A64DF73EE}"/>
              </a:ext>
            </a:extLst>
          </p:cNvPr>
          <p:cNvSpPr txBox="1"/>
          <p:nvPr/>
        </p:nvSpPr>
        <p:spPr>
          <a:xfrm>
            <a:off x="3711606" y="3484248"/>
            <a:ext cx="3576482" cy="1115690"/>
          </a:xfrm>
          <a:prstGeom prst="rect">
            <a:avLst/>
          </a:prstGeom>
          <a:ln w="28575">
            <a:solidFill>
              <a:schemeClr val="accent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05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ProSubClass</a:t>
            </a:r>
            <a:r>
              <a:rPr lang="en-US" sz="105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: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protected</a:t>
            </a:r>
            <a:r>
              <a:rPr lang="en-US" sz="105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BaseClass</a:t>
            </a:r>
            <a:endParaRPr lang="en-US" sz="105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public:</a:t>
            </a:r>
          </a:p>
          <a:p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ProSubClass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x, </a:t>
            </a:r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y, </a:t>
            </a:r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z) </a:t>
            </a:r>
          </a:p>
          <a:p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	       : </a:t>
            </a:r>
            <a:r>
              <a:rPr lang="en-US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BaseClass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(x, y, z){};</a:t>
            </a:r>
          </a:p>
          <a:p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FD98E1-D185-B296-75A5-C2253EDAE7EA}"/>
              </a:ext>
            </a:extLst>
          </p:cNvPr>
          <p:cNvSpPr txBox="1"/>
          <p:nvPr/>
        </p:nvSpPr>
        <p:spPr>
          <a:xfrm>
            <a:off x="3711606" y="4709487"/>
            <a:ext cx="3576482" cy="1115690"/>
          </a:xfrm>
          <a:prstGeom prst="rect">
            <a:avLst/>
          </a:prstGeom>
          <a:ln w="28575">
            <a:solidFill>
              <a:srgbClr val="7030A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05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PriSubClass</a:t>
            </a:r>
            <a:r>
              <a:rPr lang="en-US" sz="105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: </a:t>
            </a:r>
            <a:r>
              <a:rPr lang="en-US" sz="14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en-US" sz="105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BaseClass</a:t>
            </a:r>
            <a:endParaRPr lang="en-US" sz="105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public:</a:t>
            </a:r>
          </a:p>
          <a:p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PriSubClass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x, </a:t>
            </a:r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y, </a:t>
            </a:r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z) </a:t>
            </a:r>
          </a:p>
          <a:p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	       : </a:t>
            </a:r>
            <a:r>
              <a:rPr lang="en-US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BaseClass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(x, y, z){};</a:t>
            </a:r>
          </a:p>
          <a:p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156BE1-4F89-57E3-E80E-72C9EA4D9C2D}"/>
              </a:ext>
            </a:extLst>
          </p:cNvPr>
          <p:cNvSpPr txBox="1"/>
          <p:nvPr/>
        </p:nvSpPr>
        <p:spPr>
          <a:xfrm>
            <a:off x="7547290" y="1725103"/>
            <a:ext cx="3610444" cy="3808735"/>
          </a:xfrm>
          <a:prstGeom prst="rect">
            <a:avLst/>
          </a:prstGeom>
          <a:ln w="28575">
            <a:solidFill>
              <a:srgbClr val="7F1F1F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</a:t>
            </a:r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algn="l"/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algn="l"/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05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PubSubClass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pub = {2, 3, 4};</a:t>
            </a:r>
          </a:p>
          <a:p>
            <a:pPr algn="l"/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05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ProSubClass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pro = {3, 4, 5};</a:t>
            </a:r>
          </a:p>
          <a:p>
            <a:pPr algn="l"/>
            <a:r>
              <a:rPr lang="nb-NO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nb-NO" sz="105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PriSubClass</a:t>
            </a:r>
            <a:r>
              <a:rPr lang="nb-NO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pri = {4, 5, 6};</a:t>
            </a:r>
          </a:p>
          <a:p>
            <a:pPr algn="l"/>
            <a:endParaRPr lang="en-US" sz="105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"Public Derived Class has: "</a:t>
            </a:r>
          </a:p>
          <a:p>
            <a:pPr algn="l"/>
            <a:r>
              <a:rPr lang="en-US" sz="105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&lt;&lt; </a:t>
            </a:r>
            <a:r>
              <a:rPr lang="en-US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pub.getA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&lt;&lt; ","</a:t>
            </a:r>
          </a:p>
          <a:p>
            <a:pPr algn="l"/>
            <a:r>
              <a:rPr lang="en-US" sz="105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&lt;&lt; </a:t>
            </a:r>
            <a:r>
              <a:rPr lang="en-US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pub.getB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&lt;&lt; ","</a:t>
            </a:r>
          </a:p>
          <a:p>
            <a:pPr algn="l"/>
            <a:r>
              <a:rPr lang="en-US" sz="105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&lt;&lt; </a:t>
            </a:r>
            <a:r>
              <a:rPr lang="en-US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pub.getC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&lt;&lt; </a:t>
            </a:r>
            <a:r>
              <a:rPr lang="en-US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algn="l"/>
            <a:endParaRPr lang="en-US" sz="105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"Protected Derived Class has: "</a:t>
            </a:r>
          </a:p>
          <a:p>
            <a:pPr algn="l"/>
            <a:r>
              <a:rPr lang="en-US" sz="105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&lt;&lt; </a:t>
            </a:r>
            <a:r>
              <a:rPr lang="en-US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pro.getA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&lt;&lt; ","</a:t>
            </a:r>
          </a:p>
          <a:p>
            <a:pPr algn="l"/>
            <a:r>
              <a:rPr lang="en-US" sz="105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&lt;&lt; </a:t>
            </a:r>
            <a:r>
              <a:rPr lang="en-US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pro.getB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&lt;&lt; ","</a:t>
            </a:r>
          </a:p>
          <a:p>
            <a:pPr algn="l"/>
            <a:r>
              <a:rPr lang="en-US" sz="105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&lt;&lt; </a:t>
            </a:r>
            <a:r>
              <a:rPr lang="en-US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pro.getC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&lt;&lt; </a:t>
            </a:r>
            <a:r>
              <a:rPr lang="en-US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algn="l"/>
            <a:endParaRPr lang="en-US" sz="105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"Private Derived Class has: "</a:t>
            </a:r>
          </a:p>
          <a:p>
            <a:pPr algn="l"/>
            <a:r>
              <a:rPr lang="en-US" sz="105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&lt;&lt; </a:t>
            </a:r>
            <a:r>
              <a:rPr lang="en-US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pri.getA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&lt;&lt; ","</a:t>
            </a:r>
          </a:p>
          <a:p>
            <a:pPr algn="l"/>
            <a:r>
              <a:rPr lang="en-US" sz="105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&lt;&lt; </a:t>
            </a:r>
            <a:r>
              <a:rPr lang="en-US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pri.getB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&lt;&lt; ","</a:t>
            </a:r>
          </a:p>
          <a:p>
            <a:pPr algn="l"/>
            <a:r>
              <a:rPr lang="en-US" sz="105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&lt;&lt; </a:t>
            </a:r>
            <a:r>
              <a:rPr lang="en-US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pri.getC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&lt;&lt; </a:t>
            </a:r>
            <a:r>
              <a:rPr lang="en-US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algn="l"/>
            <a:endParaRPr lang="en-US" sz="105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pPr algn="l"/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0" name="Speech Bubble: Rectangle 19">
            <a:extLst>
              <a:ext uri="{FF2B5EF4-FFF2-40B4-BE49-F238E27FC236}">
                <a16:creationId xmlns:a16="http://schemas.microsoft.com/office/drawing/2014/main" id="{AFC9EC58-4241-F484-C384-F4F0272227FB}"/>
              </a:ext>
            </a:extLst>
          </p:cNvPr>
          <p:cNvSpPr/>
          <p:nvPr/>
        </p:nvSpPr>
        <p:spPr>
          <a:xfrm>
            <a:off x="9328462" y="5327715"/>
            <a:ext cx="1884035" cy="563273"/>
          </a:xfrm>
          <a:prstGeom prst="wedgeRectCallout">
            <a:avLst>
              <a:gd name="adj1" fmla="val -36943"/>
              <a:gd name="adj2" fmla="val -84307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>
                <a:solidFill>
                  <a:schemeClr val="tx1"/>
                </a:solidFill>
              </a:rPr>
              <a:t>Which </a:t>
            </a:r>
            <a:r>
              <a:rPr lang="en-CA" sz="1600" b="1" dirty="0">
                <a:solidFill>
                  <a:srgbClr val="FF0000"/>
                </a:solidFill>
              </a:rPr>
              <a:t>lines</a:t>
            </a:r>
            <a:r>
              <a:rPr lang="en-CA" sz="1600" dirty="0">
                <a:solidFill>
                  <a:schemeClr val="tx1"/>
                </a:solidFill>
              </a:rPr>
              <a:t> will fail, and why?</a:t>
            </a:r>
          </a:p>
        </p:txBody>
      </p:sp>
    </p:spTree>
    <p:extLst>
      <p:ext uri="{BB962C8B-B14F-4D97-AF65-F5344CB8AC3E}">
        <p14:creationId xmlns:p14="http://schemas.microsoft.com/office/powerpoint/2010/main" val="367877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5" grpId="0" animBg="1"/>
      <p:bldP spid="9" grpId="0" animBg="1"/>
      <p:bldP spid="11" grpId="0" animBg="1"/>
      <p:bldP spid="12" grpId="0" animBg="1"/>
      <p:bldP spid="19" grpId="0" animBg="1"/>
      <p:bldP spid="2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93999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altLang="zh-TW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New Subclass Members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6505348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Subclasses can also add their own members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Augmentation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13</a:t>
            </a:fld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44B997-283A-43D2-E53C-D27D17796F7D}"/>
              </a:ext>
            </a:extLst>
          </p:cNvPr>
          <p:cNvSpPr txBox="1"/>
          <p:nvPr/>
        </p:nvSpPr>
        <p:spPr>
          <a:xfrm>
            <a:off x="1876877" y="2543693"/>
            <a:ext cx="2818296" cy="1569660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Point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protected: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x, y</a:t>
            </a:r>
          </a:p>
          <a:p>
            <a:endParaRPr lang="en-US" sz="1200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public: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void 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a,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int 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9936F2-B61E-98D6-5BED-C0B43EFC1326}"/>
              </a:ext>
            </a:extLst>
          </p:cNvPr>
          <p:cNvSpPr txBox="1"/>
          <p:nvPr/>
        </p:nvSpPr>
        <p:spPr>
          <a:xfrm>
            <a:off x="2780201" y="3995446"/>
            <a:ext cx="2818296" cy="1569660"/>
          </a:xfrm>
          <a:prstGeom prst="rect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Circle 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public </a:t>
            </a:r>
            <a:r>
              <a:rPr lang="en-US" sz="1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Point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private: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double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r;</a:t>
            </a:r>
          </a:p>
          <a:p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set_r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41209B-9EDF-736D-EA26-5E3741234809}"/>
              </a:ext>
            </a:extLst>
          </p:cNvPr>
          <p:cNvSpPr/>
          <p:nvPr/>
        </p:nvSpPr>
        <p:spPr>
          <a:xfrm>
            <a:off x="6575686" y="2577791"/>
            <a:ext cx="2900590" cy="3321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Point</a:t>
            </a:r>
            <a:endParaRPr lang="en-US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F2EDA4E-B347-4300-63F8-2BEAA812F15B}"/>
              </a:ext>
            </a:extLst>
          </p:cNvPr>
          <p:cNvSpPr/>
          <p:nvPr/>
        </p:nvSpPr>
        <p:spPr>
          <a:xfrm>
            <a:off x="6584651" y="2918882"/>
            <a:ext cx="2882020" cy="50903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# x: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int</a:t>
            </a:r>
          </a:p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# y: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int</a:t>
            </a:r>
            <a:endParaRPr lang="en-US" sz="14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ED5FA2-6ECF-CD49-2E03-F2C4BE1AB10E}"/>
              </a:ext>
            </a:extLst>
          </p:cNvPr>
          <p:cNvSpPr/>
          <p:nvPr/>
        </p:nvSpPr>
        <p:spPr>
          <a:xfrm>
            <a:off x="6584447" y="3425107"/>
            <a:ext cx="2882224" cy="26121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+ set(</a:t>
            </a:r>
            <a:r>
              <a:rPr lang="en-CA" sz="1400" b="1" dirty="0" err="1">
                <a:solidFill>
                  <a:schemeClr val="tx1"/>
                </a:solidFill>
                <a:latin typeface="Courier"/>
              </a:rPr>
              <a:t>a:int</a:t>
            </a:r>
            <a:r>
              <a:rPr lang="en-CA" sz="1400" b="1" dirty="0">
                <a:solidFill>
                  <a:schemeClr val="tx1"/>
                </a:solidFill>
                <a:latin typeface="Courier"/>
              </a:rPr>
              <a:t>, b:int):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void</a:t>
            </a:r>
            <a:endParaRPr lang="en-US" sz="14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0B56E87-304E-AB70-4889-6BD847071FFF}"/>
              </a:ext>
            </a:extLst>
          </p:cNvPr>
          <p:cNvSpPr/>
          <p:nvPr/>
        </p:nvSpPr>
        <p:spPr>
          <a:xfrm>
            <a:off x="6908088" y="4248887"/>
            <a:ext cx="1379993" cy="332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Circle</a:t>
            </a:r>
            <a:endParaRPr lang="en-US" b="1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01626D-59CB-E905-9C56-65F03DB5189F}"/>
              </a:ext>
            </a:extLst>
          </p:cNvPr>
          <p:cNvSpPr/>
          <p:nvPr/>
        </p:nvSpPr>
        <p:spPr>
          <a:xfrm>
            <a:off x="6912532" y="4589978"/>
            <a:ext cx="1371158" cy="331493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- r: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double</a:t>
            </a:r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ECEB1468-0EC7-D713-3F19-41F3EAAF481E}"/>
              </a:ext>
            </a:extLst>
          </p:cNvPr>
          <p:cNvSpPr/>
          <p:nvPr/>
        </p:nvSpPr>
        <p:spPr>
          <a:xfrm>
            <a:off x="7170124" y="3698018"/>
            <a:ext cx="167880" cy="131567"/>
          </a:xfrm>
          <a:prstGeom prst="triangl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8876F63-936E-6462-C231-7A0F74D20F1F}"/>
              </a:ext>
            </a:extLst>
          </p:cNvPr>
          <p:cNvCxnSpPr>
            <a:cxnSpLocks/>
          </p:cNvCxnSpPr>
          <p:nvPr/>
        </p:nvCxnSpPr>
        <p:spPr>
          <a:xfrm>
            <a:off x="7254064" y="3838294"/>
            <a:ext cx="5562" cy="414948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CF03482-AE27-DE58-493D-563BF53213BE}"/>
              </a:ext>
            </a:extLst>
          </p:cNvPr>
          <p:cNvSpPr txBox="1"/>
          <p:nvPr/>
        </p:nvSpPr>
        <p:spPr>
          <a:xfrm>
            <a:off x="7276334" y="3848994"/>
            <a:ext cx="9405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2"/>
                </a:solidFill>
              </a:rPr>
              <a:t>extends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E4AB8AB-2091-8524-F62E-4A3A500F98DB}"/>
              </a:ext>
            </a:extLst>
          </p:cNvPr>
          <p:cNvSpPr/>
          <p:nvPr/>
        </p:nvSpPr>
        <p:spPr>
          <a:xfrm>
            <a:off x="6916797" y="4907466"/>
            <a:ext cx="1371158" cy="331493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400" b="1" dirty="0" err="1">
                <a:solidFill>
                  <a:schemeClr val="tx1"/>
                </a:solidFill>
                <a:latin typeface="Courier"/>
              </a:rPr>
              <a:t>set_r</a:t>
            </a:r>
            <a:r>
              <a:rPr lang="en-CA" sz="1400" b="1" dirty="0">
                <a:solidFill>
                  <a:schemeClr val="tx1"/>
                </a:solidFill>
                <a:latin typeface="Courier"/>
              </a:rPr>
              <a:t>(…)</a:t>
            </a:r>
            <a:endParaRPr lang="en-CA" sz="14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BD3EB78-DBF8-6C45-C2F4-81BE14DC45C4}"/>
              </a:ext>
            </a:extLst>
          </p:cNvPr>
          <p:cNvSpPr/>
          <p:nvPr/>
        </p:nvSpPr>
        <p:spPr>
          <a:xfrm>
            <a:off x="8216860" y="4448519"/>
            <a:ext cx="1111144" cy="50903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# x: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int</a:t>
            </a:r>
          </a:p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# y: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int</a:t>
            </a:r>
            <a:endParaRPr lang="en-US" sz="14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8B82023-B78B-D6C8-5847-CAD33A45A671}"/>
              </a:ext>
            </a:extLst>
          </p:cNvPr>
          <p:cNvSpPr/>
          <p:nvPr/>
        </p:nvSpPr>
        <p:spPr>
          <a:xfrm>
            <a:off x="8038191" y="5194859"/>
            <a:ext cx="1111223" cy="26121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+ set(…)</a:t>
            </a:r>
            <a:endParaRPr lang="en-US" sz="1400" b="1" dirty="0">
              <a:solidFill>
                <a:schemeClr val="accent1"/>
              </a:solidFill>
              <a:latin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26521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 tmFilter="0, 0; .2, .5; .8, .5; 1, 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" dur="25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0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2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3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5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0" grpId="0" animBg="1"/>
      <p:bldP spid="17" grpId="0" animBg="1"/>
      <p:bldP spid="18" grpId="0" animBg="1"/>
      <p:bldP spid="19" grpId="0" animBg="1"/>
      <p:bldP spid="20" grpId="0" animBg="1"/>
      <p:bldP spid="23" grpId="0" animBg="1"/>
      <p:bldP spid="23" grpId="1" animBg="1"/>
      <p:bldP spid="25" grpId="0"/>
      <p:bldP spid="25" grpId="1"/>
      <p:bldP spid="26" grpId="0" animBg="1"/>
      <p:bldP spid="21" grpId="0" animBg="1"/>
      <p:bldP spid="2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93999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altLang="zh-TW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 Override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584281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A subclass can also </a:t>
            </a:r>
            <a:r>
              <a:rPr lang="en-CA" sz="2200" b="1" i="1" dirty="0"/>
              <a:t>redefine</a:t>
            </a:r>
            <a:r>
              <a:rPr lang="en-CA" sz="2200" dirty="0"/>
              <a:t> the implementation of an inherited member function</a:t>
            </a: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This new implementation ONLY applies to the </a:t>
            </a:r>
            <a:r>
              <a:rPr lang="en-CA" b="1" dirty="0">
                <a:solidFill>
                  <a:schemeClr val="accent2"/>
                </a:solidFill>
              </a:rPr>
              <a:t>subclass</a:t>
            </a:r>
            <a:r>
              <a:rPr lang="en-CA" dirty="0"/>
              <a:t> behaviour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The original implementation in the </a:t>
            </a:r>
            <a:r>
              <a:rPr lang="en-CA" b="1" dirty="0">
                <a:solidFill>
                  <a:schemeClr val="accent1"/>
                </a:solidFill>
              </a:rPr>
              <a:t>base class </a:t>
            </a:r>
            <a:r>
              <a:rPr lang="en-CA" dirty="0"/>
              <a:t>remains </a:t>
            </a:r>
            <a:r>
              <a:rPr lang="en-CA" b="1" i="1" dirty="0"/>
              <a:t>unchanged</a:t>
            </a:r>
            <a:r>
              <a:rPr lang="en-CA" dirty="0"/>
              <a:t> in the </a:t>
            </a:r>
            <a:r>
              <a:rPr lang="en-CA" b="1" dirty="0">
                <a:solidFill>
                  <a:schemeClr val="accent1"/>
                </a:solidFill>
              </a:rPr>
              <a:t>base class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The </a:t>
            </a:r>
            <a:r>
              <a:rPr lang="en-CA" b="1" dirty="0">
                <a:solidFill>
                  <a:schemeClr val="accent1"/>
                </a:solidFill>
              </a:rPr>
              <a:t>base class </a:t>
            </a:r>
            <a:r>
              <a:rPr lang="en-CA" dirty="0"/>
              <a:t>and the </a:t>
            </a:r>
            <a:r>
              <a:rPr lang="en-CA" b="1" dirty="0">
                <a:solidFill>
                  <a:schemeClr val="accent2"/>
                </a:solidFill>
              </a:rPr>
              <a:t>subclass</a:t>
            </a:r>
            <a:r>
              <a:rPr lang="en-CA" dirty="0"/>
              <a:t> now have different behaviours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14</a:t>
            </a:fld>
            <a:endParaRPr lang="en-C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4EEF5A-7883-92C3-C8A0-640519D086CB}"/>
              </a:ext>
            </a:extLst>
          </p:cNvPr>
          <p:cNvSpPr txBox="1"/>
          <p:nvPr/>
        </p:nvSpPr>
        <p:spPr>
          <a:xfrm>
            <a:off x="1269479" y="2983858"/>
            <a:ext cx="3098810" cy="1546577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05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BaseClass</a:t>
            </a:r>
            <a:endParaRPr lang="en-US" sz="105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protected:</a:t>
            </a:r>
          </a:p>
          <a:p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int 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 y;</a:t>
            </a:r>
            <a:b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105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public:</a:t>
            </a:r>
          </a:p>
          <a:p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print()</a:t>
            </a:r>
          </a:p>
          <a:p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{</a:t>
            </a:r>
            <a:r>
              <a:rPr lang="en-US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“From A” &lt;&lt; </a:t>
            </a:r>
            <a:r>
              <a:rPr lang="en-US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;}</a:t>
            </a:r>
          </a:p>
          <a:p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0AC466-43ED-14F3-A420-38803D786DE2}"/>
              </a:ext>
            </a:extLst>
          </p:cNvPr>
          <p:cNvSpPr txBox="1"/>
          <p:nvPr/>
        </p:nvSpPr>
        <p:spPr>
          <a:xfrm>
            <a:off x="1269479" y="4705221"/>
            <a:ext cx="3098810" cy="1061829"/>
          </a:xfrm>
          <a:prstGeom prst="rect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05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SubClass</a:t>
            </a:r>
            <a:r>
              <a:rPr lang="en-US" sz="105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: </a:t>
            </a:r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05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05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BaseClass</a:t>
            </a:r>
            <a:endParaRPr lang="en-US" sz="105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public:</a:t>
            </a:r>
          </a:p>
          <a:p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05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print()</a:t>
            </a:r>
          </a:p>
          <a:p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{</a:t>
            </a:r>
            <a:r>
              <a:rPr lang="en-US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“From B” &lt;&lt; </a:t>
            </a:r>
            <a:r>
              <a:rPr lang="en-US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;}</a:t>
            </a:r>
          </a:p>
          <a:p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90D495-4A7F-7771-FDB2-1D6406405B65}"/>
              </a:ext>
            </a:extLst>
          </p:cNvPr>
          <p:cNvSpPr/>
          <p:nvPr/>
        </p:nvSpPr>
        <p:spPr>
          <a:xfrm>
            <a:off x="1558830" y="4004309"/>
            <a:ext cx="2622540" cy="339634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EDD2C0-61BF-D197-4BB8-E6E3CF85238B}"/>
              </a:ext>
            </a:extLst>
          </p:cNvPr>
          <p:cNvSpPr/>
          <p:nvPr/>
        </p:nvSpPr>
        <p:spPr>
          <a:xfrm>
            <a:off x="1558830" y="5230472"/>
            <a:ext cx="2622540" cy="339634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DDC8CDC6-C380-6390-6FA9-3D10587188FE}"/>
              </a:ext>
            </a:extLst>
          </p:cNvPr>
          <p:cNvSpPr/>
          <p:nvPr/>
        </p:nvSpPr>
        <p:spPr>
          <a:xfrm>
            <a:off x="4181370" y="4174126"/>
            <a:ext cx="497094" cy="1284514"/>
          </a:xfrm>
          <a:prstGeom prst="rightBrac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124F9DE-D90E-AC7B-A18D-3AEBE75C17F2}"/>
              </a:ext>
            </a:extLst>
          </p:cNvPr>
          <p:cNvSpPr/>
          <p:nvPr/>
        </p:nvSpPr>
        <p:spPr>
          <a:xfrm>
            <a:off x="4641663" y="3204538"/>
            <a:ext cx="3518267" cy="2523484"/>
          </a:xfrm>
          <a:prstGeom prst="rect">
            <a:avLst/>
          </a:prstGeom>
          <a:solidFill>
            <a:srgbClr val="FFDDDD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>
                <a:solidFill>
                  <a:schemeClr val="tx1"/>
                </a:solidFill>
              </a:rPr>
              <a:t>Subclass defines a method with identical signature as the inherited method from the Base class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>
                <a:solidFill>
                  <a:schemeClr val="tx1"/>
                </a:solidFill>
              </a:rPr>
              <a:t>Subclass is said to have </a:t>
            </a:r>
            <a:r>
              <a:rPr lang="en-CA" sz="1400" b="1" i="1" dirty="0">
                <a:solidFill>
                  <a:schemeClr val="tx1"/>
                </a:solidFill>
              </a:rPr>
              <a:t>overridden</a:t>
            </a:r>
            <a:r>
              <a:rPr lang="en-CA" sz="1400" dirty="0">
                <a:solidFill>
                  <a:schemeClr val="tx1"/>
                </a:solidFill>
              </a:rPr>
              <a:t> the base class behaviour of this given method with its new behaviour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>
                <a:solidFill>
                  <a:schemeClr val="tx1"/>
                </a:solidFill>
              </a:rPr>
              <a:t>In UML, function override is evident when subclass contains a method with identical signature as that in the base class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F7C122B-ACAA-0323-DC50-78F3FB95B77C}"/>
              </a:ext>
            </a:extLst>
          </p:cNvPr>
          <p:cNvSpPr/>
          <p:nvPr/>
        </p:nvSpPr>
        <p:spPr>
          <a:xfrm>
            <a:off x="8578514" y="3074141"/>
            <a:ext cx="1801038" cy="3321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BaseClass</a:t>
            </a:r>
            <a:endParaRPr lang="en-US" b="1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E66E13-7C1F-EEF9-5032-6D3CC02E4FA7}"/>
              </a:ext>
            </a:extLst>
          </p:cNvPr>
          <p:cNvSpPr/>
          <p:nvPr/>
        </p:nvSpPr>
        <p:spPr>
          <a:xfrm>
            <a:off x="8583959" y="3415231"/>
            <a:ext cx="1789508" cy="478351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# x: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int</a:t>
            </a:r>
          </a:p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# y: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int</a:t>
            </a:r>
            <a:endParaRPr lang="en-US" sz="14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1953CF2-6998-7286-D724-4F62D55AD44E}"/>
              </a:ext>
            </a:extLst>
          </p:cNvPr>
          <p:cNvSpPr/>
          <p:nvPr/>
        </p:nvSpPr>
        <p:spPr>
          <a:xfrm>
            <a:off x="8578514" y="3893175"/>
            <a:ext cx="1789635" cy="332126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+ print():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void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2A2B32A-3834-D66B-AFB8-DD27FA7D0798}"/>
              </a:ext>
            </a:extLst>
          </p:cNvPr>
          <p:cNvSpPr/>
          <p:nvPr/>
        </p:nvSpPr>
        <p:spPr>
          <a:xfrm>
            <a:off x="8589661" y="4783088"/>
            <a:ext cx="1778488" cy="332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SubClass</a:t>
            </a:r>
            <a:endParaRPr lang="en-US" b="1" dirty="0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AFFAEC03-E95B-D8A4-6279-B65ED4F0E6C3}"/>
              </a:ext>
            </a:extLst>
          </p:cNvPr>
          <p:cNvSpPr/>
          <p:nvPr/>
        </p:nvSpPr>
        <p:spPr>
          <a:xfrm>
            <a:off x="9591172" y="4240897"/>
            <a:ext cx="167880" cy="131567"/>
          </a:xfrm>
          <a:prstGeom prst="triangl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5DAD015-86FD-36E5-9AA7-28BFE0233FD1}"/>
              </a:ext>
            </a:extLst>
          </p:cNvPr>
          <p:cNvCxnSpPr>
            <a:cxnSpLocks/>
          </p:cNvCxnSpPr>
          <p:nvPr/>
        </p:nvCxnSpPr>
        <p:spPr>
          <a:xfrm>
            <a:off x="9675112" y="4381173"/>
            <a:ext cx="5562" cy="414948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F4732BF-890D-AB0C-3083-7F064B31A87E}"/>
              </a:ext>
            </a:extLst>
          </p:cNvPr>
          <p:cNvSpPr txBox="1"/>
          <p:nvPr/>
        </p:nvSpPr>
        <p:spPr>
          <a:xfrm>
            <a:off x="8967143" y="4409460"/>
            <a:ext cx="9405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2"/>
                </a:solidFill>
              </a:rPr>
              <a:t>extends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C78433E-09CE-2DD0-14BD-6DFD542303DE}"/>
              </a:ext>
            </a:extLst>
          </p:cNvPr>
          <p:cNvSpPr/>
          <p:nvPr/>
        </p:nvSpPr>
        <p:spPr>
          <a:xfrm>
            <a:off x="8590044" y="5108324"/>
            <a:ext cx="1772543" cy="219685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C79AAFB-87B1-A310-ACA2-CDA925522517}"/>
              </a:ext>
            </a:extLst>
          </p:cNvPr>
          <p:cNvSpPr/>
          <p:nvPr/>
        </p:nvSpPr>
        <p:spPr>
          <a:xfrm>
            <a:off x="9971753" y="4829480"/>
            <a:ext cx="1222258" cy="51144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# x: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int</a:t>
            </a:r>
          </a:p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# y: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int</a:t>
            </a:r>
            <a:endParaRPr lang="en-US" sz="14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5EC780F-45FC-FA88-AF39-24ECABF76E31}"/>
              </a:ext>
            </a:extLst>
          </p:cNvPr>
          <p:cNvSpPr/>
          <p:nvPr/>
        </p:nvSpPr>
        <p:spPr>
          <a:xfrm>
            <a:off x="8589661" y="5316795"/>
            <a:ext cx="1789635" cy="332126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tx1"/>
                </a:solidFill>
                <a:latin typeface="Courier"/>
              </a:rPr>
              <a:t>+ print(): </a:t>
            </a:r>
            <a:r>
              <a:rPr lang="en-CA" sz="1400" b="1" dirty="0">
                <a:solidFill>
                  <a:schemeClr val="accent1"/>
                </a:solidFill>
                <a:latin typeface="Courier"/>
              </a:rPr>
              <a:t>void</a:t>
            </a:r>
          </a:p>
        </p:txBody>
      </p:sp>
    </p:spTree>
    <p:extLst>
      <p:ext uri="{BB962C8B-B14F-4D97-AF65-F5344CB8AC3E}">
        <p14:creationId xmlns:p14="http://schemas.microsoft.com/office/powerpoint/2010/main" val="4008963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6" presetClass="emph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71" dur="2000" fill="hold"/>
                                        <p:tgtEl>
                                          <p:spTgt spid="2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72" presetID="6" presetClass="emph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73" dur="2000" fill="hold"/>
                                        <p:tgtEl>
                                          <p:spTgt spid="27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" grpId="0" animBg="1"/>
      <p:bldP spid="5" grpId="0" animBg="1"/>
      <p:bldP spid="9" grpId="0" animBg="1"/>
      <p:bldP spid="10" grpId="0" animBg="1"/>
      <p:bldP spid="17" grpId="0" animBg="1"/>
      <p:bldP spid="18" grpId="0" animBg="1"/>
      <p:bldP spid="19" grpId="0" animBg="1"/>
      <p:bldP spid="20" grpId="0" animBg="1"/>
      <p:bldP spid="20" grpId="1" animBg="1"/>
      <p:bldP spid="21" grpId="0" animBg="1"/>
      <p:bldP spid="22" grpId="0" animBg="1"/>
      <p:bldP spid="24" grpId="0"/>
      <p:bldP spid="26" grpId="0" animBg="1"/>
      <p:bldP spid="25" grpId="0" animBg="1"/>
      <p:bldP spid="27" grpId="0" animBg="1"/>
      <p:bldP spid="27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107049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altLang="zh-TW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 Override – Method Access Rules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58428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Given a Subclass extended from a Base Class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For all the inherited methods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sz="1600" dirty="0"/>
              <a:t>Subclass will use its own version if overridden, and the base version otherwise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sz="1600" dirty="0"/>
              <a:t>Base Class has no visibility of the overridden version in the Subclass, so it will always use its own version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15</a:t>
            </a:fld>
            <a:endParaRPr lang="en-CA" dirty="0"/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8C92C758-4E2D-8F60-D6F1-E70BD3008354}"/>
              </a:ext>
            </a:extLst>
          </p:cNvPr>
          <p:cNvSpPr/>
          <p:nvPr/>
        </p:nvSpPr>
        <p:spPr>
          <a:xfrm>
            <a:off x="7215718" y="1553291"/>
            <a:ext cx="2346293" cy="563273"/>
          </a:xfrm>
          <a:prstGeom prst="wedgeRectCallout">
            <a:avLst>
              <a:gd name="adj1" fmla="val -83339"/>
              <a:gd name="adj2" fmla="val -2365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>
                <a:solidFill>
                  <a:schemeClr val="tx1"/>
                </a:solidFill>
              </a:rPr>
              <a:t>NOT the new methods defined in the subclass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630902-AB64-105F-CA58-32D0B6C59C9B}"/>
              </a:ext>
            </a:extLst>
          </p:cNvPr>
          <p:cNvSpPr txBox="1"/>
          <p:nvPr/>
        </p:nvSpPr>
        <p:spPr>
          <a:xfrm>
            <a:off x="1496689" y="3016621"/>
            <a:ext cx="2818296" cy="2123658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Point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protected: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x, y</a:t>
            </a:r>
          </a:p>
          <a:p>
            <a:endParaRPr lang="en-US" sz="1200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public: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void 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a,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int 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b)</a:t>
            </a:r>
            <a:b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{x = a; y = b;}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foo();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print();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9C4177-433E-4F0E-2CB9-BB14C3F2BA28}"/>
              </a:ext>
            </a:extLst>
          </p:cNvPr>
          <p:cNvSpPr txBox="1"/>
          <p:nvPr/>
        </p:nvSpPr>
        <p:spPr>
          <a:xfrm>
            <a:off x="5236076" y="2844127"/>
            <a:ext cx="5061728" cy="3046988"/>
          </a:xfrm>
          <a:prstGeom prst="rect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Circle 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public </a:t>
            </a:r>
            <a:r>
              <a:rPr lang="en-US" sz="1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Point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private: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double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r;</a:t>
            </a:r>
          </a:p>
          <a:p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subclass overridden ver.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set(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c)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Point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::set(a, b);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invoking base ver.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r = c;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overridden ver.</a:t>
            </a:r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print();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26A281-FF1F-E689-81B6-16EA9412A043}"/>
              </a:ext>
            </a:extLst>
          </p:cNvPr>
          <p:cNvSpPr txBox="1"/>
          <p:nvPr/>
        </p:nvSpPr>
        <p:spPr>
          <a:xfrm>
            <a:off x="1802671" y="5049568"/>
            <a:ext cx="3233105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Point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A;</a:t>
            </a:r>
          </a:p>
          <a:p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A.set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(30, 50);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base class ver.</a:t>
            </a:r>
          </a:p>
          <a:p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A.print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base class ver.</a:t>
            </a:r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13322B15-DF46-BE2D-CAC1-48218A1D8E8D}"/>
              </a:ext>
            </a:extLst>
          </p:cNvPr>
          <p:cNvCxnSpPr>
            <a:cxnSpLocks/>
          </p:cNvCxnSpPr>
          <p:nvPr/>
        </p:nvCxnSpPr>
        <p:spPr>
          <a:xfrm rot="10800000">
            <a:off x="3988527" y="4241075"/>
            <a:ext cx="1881053" cy="374469"/>
          </a:xfrm>
          <a:prstGeom prst="bentConnector3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32C3FE7-C820-79DD-AD8B-CFBC5EB96D68}"/>
              </a:ext>
            </a:extLst>
          </p:cNvPr>
          <p:cNvSpPr txBox="1"/>
          <p:nvPr/>
        </p:nvSpPr>
        <p:spPr>
          <a:xfrm>
            <a:off x="7679851" y="4969821"/>
            <a:ext cx="3528078" cy="8309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Circle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C;</a:t>
            </a:r>
          </a:p>
          <a:p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C.set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(10, 10, 100);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subclass ver.</a:t>
            </a:r>
          </a:p>
          <a:p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C.foo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base class ver.</a:t>
            </a:r>
          </a:p>
          <a:p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C.print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subclass ver.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5A274B2-D457-791F-71C0-E534C64B0086}"/>
              </a:ext>
            </a:extLst>
          </p:cNvPr>
          <p:cNvSpPr/>
          <p:nvPr/>
        </p:nvSpPr>
        <p:spPr>
          <a:xfrm>
            <a:off x="8513945" y="3177787"/>
            <a:ext cx="2343425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L14Ex5-Override.cpp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3905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0" grpId="0" animBg="1"/>
      <p:bldP spid="17" grpId="0" animBg="1"/>
      <p:bldP spid="22" grpId="0" animBg="1"/>
      <p:bldP spid="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 descr="One solid circle, one ring, and one circle filled with diagonal lines">
            <a:extLst>
              <a:ext uri="{FF2B5EF4-FFF2-40B4-BE49-F238E27FC236}">
                <a16:creationId xmlns:a16="http://schemas.microsoft.com/office/drawing/2014/main" id="{117B1E9F-05A5-4510-8587-80B34F83D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8254" y="747419"/>
            <a:ext cx="5363162" cy="536316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14B5F53-76BB-4185-819B-0CE94A358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Grand Example</a:t>
            </a:r>
            <a:endParaRPr lang="en-US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699E1B-6ADB-4F72-95A0-4AA7EB020B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1EE999-66AE-40DE-9FC3-57D08FF72800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1EEE44-5A53-4177-97CB-790B8F12F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01DAD3D-5BC8-EC6E-8A6C-052FFFA3B186}"/>
              </a:ext>
            </a:extLst>
          </p:cNvPr>
          <p:cNvSpPr txBox="1"/>
          <p:nvPr/>
        </p:nvSpPr>
        <p:spPr>
          <a:xfrm>
            <a:off x="831848" y="551471"/>
            <a:ext cx="7061849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Watch Before Lecture:</a:t>
            </a:r>
          </a:p>
          <a:p>
            <a:r>
              <a:rPr lang="en-US" sz="2000" b="1" dirty="0">
                <a:solidFill>
                  <a:srgbClr val="7F1F1F"/>
                </a:solidFill>
              </a:rPr>
              <a:t>[PLV 14-2] Build Integer Set from Integer Array List </a:t>
            </a:r>
            <a:r>
              <a:rPr lang="en-CA" sz="2000" b="1" dirty="0">
                <a:solidFill>
                  <a:srgbClr val="7F1F1F"/>
                </a:solidFill>
              </a:rPr>
              <a:t>– Inheritance</a:t>
            </a:r>
          </a:p>
          <a:p>
            <a:endParaRPr lang="en-CA" sz="2000" b="1" dirty="0">
              <a:solidFill>
                <a:srgbClr val="7F1F1F"/>
              </a:solidFill>
            </a:endParaRPr>
          </a:p>
          <a:p>
            <a:r>
              <a:rPr lang="en-CA" sz="2000" dirty="0"/>
              <a:t>Review Before Lecture:</a:t>
            </a:r>
          </a:p>
          <a:p>
            <a:r>
              <a:rPr lang="en-US" sz="2000" b="1" dirty="0">
                <a:solidFill>
                  <a:srgbClr val="7F1F1F"/>
                </a:solidFill>
              </a:rPr>
              <a:t>[PLV 10-1] Struct, Union, and Enumeration</a:t>
            </a:r>
          </a:p>
          <a:p>
            <a:endParaRPr lang="en-US" sz="2000" b="1" dirty="0">
              <a:solidFill>
                <a:srgbClr val="7F1F1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75001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101693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Grand 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4" y="1563637"/>
            <a:ext cx="5843873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Putting Things Together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chemeClr val="accent1"/>
                </a:solidFill>
              </a:rPr>
              <a:t>Time</a:t>
            </a:r>
            <a:r>
              <a:rPr lang="en-CA" dirty="0"/>
              <a:t> is the base class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 err="1">
                <a:solidFill>
                  <a:schemeClr val="accent2"/>
                </a:solidFill>
              </a:rPr>
              <a:t>ExtTime</a:t>
            </a:r>
            <a:r>
              <a:rPr lang="en-CA" dirty="0"/>
              <a:t> is the derived class with public inheritance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/>
              <a:t>Recall! </a:t>
            </a:r>
            <a:r>
              <a:rPr lang="en-CA" dirty="0"/>
              <a:t>Derived class can…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sz="1600" dirty="0"/>
              <a:t>Inherit public and protected member functions from the base class, except the constructor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sz="1600" dirty="0"/>
              <a:t>Inherit all public and protected data members of the base class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sz="1600" dirty="0"/>
              <a:t>Define its data members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sz="1600" dirty="0"/>
              <a:t>Provide its own constructors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sz="1600" dirty="0"/>
              <a:t>Define its member functions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sz="1600" dirty="0"/>
              <a:t>Override inherited functions from base class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 err="1">
                <a:solidFill>
                  <a:schemeClr val="accent6">
                    <a:lumMod val="75000"/>
                  </a:schemeClr>
                </a:solidFill>
              </a:rPr>
              <a:t>ZoneType</a:t>
            </a:r>
            <a:r>
              <a:rPr lang="en-CA" dirty="0"/>
              <a:t> is an Enumeration (next slide)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Associated with </a:t>
            </a:r>
            <a:r>
              <a:rPr lang="en-CA" b="1" dirty="0" err="1">
                <a:solidFill>
                  <a:schemeClr val="accent2"/>
                </a:solidFill>
              </a:rPr>
              <a:t>ExtTime</a:t>
            </a:r>
            <a:r>
              <a:rPr lang="en-CA" dirty="0"/>
              <a:t> as in: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sz="1600" dirty="0"/>
              <a:t>“</a:t>
            </a:r>
            <a:r>
              <a:rPr lang="en-CA" sz="1600" b="1" dirty="0" err="1">
                <a:solidFill>
                  <a:schemeClr val="accent2"/>
                </a:solidFill>
              </a:rPr>
              <a:t>ExtTime</a:t>
            </a:r>
            <a:r>
              <a:rPr lang="en-CA" sz="1600" dirty="0"/>
              <a:t> uses </a:t>
            </a:r>
            <a:r>
              <a:rPr lang="en-CA" sz="1600" b="1" dirty="0" err="1">
                <a:solidFill>
                  <a:schemeClr val="accent6">
                    <a:lumMod val="75000"/>
                  </a:schemeClr>
                </a:solidFill>
              </a:rPr>
              <a:t>ZoneType</a:t>
            </a:r>
            <a:r>
              <a:rPr lang="en-CA" sz="1600" dirty="0"/>
              <a:t> as member type”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endParaRPr lang="en-CA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17</a:t>
            </a:fld>
            <a:endParaRPr lang="en-CA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A5DC76-E5DD-0440-C824-68739AE860E8}"/>
              </a:ext>
            </a:extLst>
          </p:cNvPr>
          <p:cNvSpPr/>
          <p:nvPr/>
        </p:nvSpPr>
        <p:spPr>
          <a:xfrm>
            <a:off x="7605034" y="854220"/>
            <a:ext cx="2976416" cy="3321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Time</a:t>
            </a:r>
            <a:endParaRPr lang="en-US" b="1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77E15B8-8064-A943-12B2-F282BA161CCE}"/>
              </a:ext>
            </a:extLst>
          </p:cNvPr>
          <p:cNvSpPr/>
          <p:nvPr/>
        </p:nvSpPr>
        <p:spPr>
          <a:xfrm>
            <a:off x="7614925" y="1195310"/>
            <a:ext cx="2957362" cy="624085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# hrs: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int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# mins: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int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# secs: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int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7BBB917-4C8C-F3EB-0AA0-194B09A389F3}"/>
              </a:ext>
            </a:extLst>
          </p:cNvPr>
          <p:cNvSpPr/>
          <p:nvPr/>
        </p:nvSpPr>
        <p:spPr>
          <a:xfrm>
            <a:off x="7605034" y="1822663"/>
            <a:ext cx="2958996" cy="960351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Time()</a:t>
            </a:r>
            <a:endParaRPr lang="en-CA" sz="1100" b="1" dirty="0">
              <a:solidFill>
                <a:schemeClr val="accent1"/>
              </a:solidFill>
              <a:latin typeface="Courier"/>
            </a:endParaRP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Time(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 h,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 m,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 s)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Set(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 h,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 m,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 s):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void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Increment():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void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Write():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void const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8D78AA-15CE-11E7-9213-674508E17558}"/>
              </a:ext>
            </a:extLst>
          </p:cNvPr>
          <p:cNvSpPr/>
          <p:nvPr/>
        </p:nvSpPr>
        <p:spPr>
          <a:xfrm>
            <a:off x="6760949" y="3564831"/>
            <a:ext cx="2864274" cy="332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ExtTime</a:t>
            </a:r>
            <a:endParaRPr lang="en-US" b="1" dirty="0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5B18A4C5-6A24-5CE8-BECC-72705118D45B}"/>
              </a:ext>
            </a:extLst>
          </p:cNvPr>
          <p:cNvSpPr/>
          <p:nvPr/>
        </p:nvSpPr>
        <p:spPr>
          <a:xfrm>
            <a:off x="8288108" y="2795314"/>
            <a:ext cx="167880" cy="131567"/>
          </a:xfrm>
          <a:prstGeom prst="triangl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1C37224-A3EF-FAAD-F0BC-081D37E0B4C6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8372048" y="2926881"/>
            <a:ext cx="0" cy="626216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057CE25-8AF6-A618-494E-DA950CE4CFBA}"/>
              </a:ext>
            </a:extLst>
          </p:cNvPr>
          <p:cNvSpPr txBox="1"/>
          <p:nvPr/>
        </p:nvSpPr>
        <p:spPr>
          <a:xfrm>
            <a:off x="8430523" y="2966869"/>
            <a:ext cx="9405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2"/>
                </a:solidFill>
              </a:rPr>
              <a:t>public extends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F5C4A26-12EA-E44C-4781-E85EFBB322B7}"/>
              </a:ext>
            </a:extLst>
          </p:cNvPr>
          <p:cNvSpPr/>
          <p:nvPr/>
        </p:nvSpPr>
        <p:spPr>
          <a:xfrm>
            <a:off x="6763147" y="3890067"/>
            <a:ext cx="2854699" cy="326396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tx1"/>
                </a:solidFill>
                <a:latin typeface="Courier"/>
              </a:rPr>
              <a:t>- zone: </a:t>
            </a:r>
            <a:r>
              <a:rPr lang="en-US" sz="1200" b="1" dirty="0" err="1">
                <a:solidFill>
                  <a:schemeClr val="accent6"/>
                </a:solidFill>
                <a:latin typeface="Courier"/>
              </a:rPr>
              <a:t>ZoneType</a:t>
            </a:r>
            <a:endParaRPr lang="en-US" sz="1200" b="1" dirty="0">
              <a:solidFill>
                <a:schemeClr val="accent6"/>
              </a:solidFill>
              <a:latin typeface="Courier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011D710-4A3C-AD8B-8CED-4A43FDB474AB}"/>
              </a:ext>
            </a:extLst>
          </p:cNvPr>
          <p:cNvSpPr/>
          <p:nvPr/>
        </p:nvSpPr>
        <p:spPr>
          <a:xfrm>
            <a:off x="6760468" y="4202359"/>
            <a:ext cx="2854699" cy="1105465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100" b="1" dirty="0" err="1">
                <a:solidFill>
                  <a:schemeClr val="tx1"/>
                </a:solidFill>
                <a:latin typeface="Courier"/>
              </a:rPr>
              <a:t>ExtTime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()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100" b="1" dirty="0" err="1">
                <a:solidFill>
                  <a:schemeClr val="tx1"/>
                </a:solidFill>
                <a:latin typeface="Courier"/>
              </a:rPr>
              <a:t>ExtTime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(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 h,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 m,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 s, </a:t>
            </a:r>
            <a:br>
              <a:rPr lang="en-CA" sz="1100" b="1" dirty="0">
                <a:solidFill>
                  <a:schemeClr val="tx1"/>
                </a:solidFill>
                <a:latin typeface="Courier"/>
              </a:rPr>
            </a:br>
            <a:r>
              <a:rPr lang="en-CA" sz="1100" b="1" dirty="0">
                <a:solidFill>
                  <a:schemeClr val="tx1"/>
                </a:solidFill>
                <a:latin typeface="Courier"/>
              </a:rPr>
              <a:t>                    </a:t>
            </a:r>
            <a:r>
              <a:rPr lang="en-CA" sz="1100" b="1" dirty="0" err="1">
                <a:solidFill>
                  <a:schemeClr val="accent6"/>
                </a:solidFill>
                <a:latin typeface="Courier"/>
              </a:rPr>
              <a:t>ZoneType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 z)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Set(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 h,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 m,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 s, </a:t>
            </a:r>
            <a:br>
              <a:rPr lang="en-CA" sz="1100" b="1" dirty="0">
                <a:solidFill>
                  <a:schemeClr val="tx1"/>
                </a:solidFill>
                <a:latin typeface="Courier"/>
              </a:rPr>
            </a:br>
            <a:r>
              <a:rPr lang="en-CA" sz="1100" b="1" dirty="0">
                <a:solidFill>
                  <a:schemeClr val="tx1"/>
                </a:solidFill>
                <a:latin typeface="Courier"/>
              </a:rPr>
              <a:t>             </a:t>
            </a:r>
            <a:r>
              <a:rPr lang="en-CA" sz="1100" b="1" dirty="0" err="1">
                <a:solidFill>
                  <a:schemeClr val="accent6"/>
                </a:solidFill>
                <a:latin typeface="Courier"/>
              </a:rPr>
              <a:t>ZoneType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 z) :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void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Write():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void const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041A18E-FA95-31C1-406D-854FDB24293F}"/>
              </a:ext>
            </a:extLst>
          </p:cNvPr>
          <p:cNvSpPr/>
          <p:nvPr/>
        </p:nvSpPr>
        <p:spPr>
          <a:xfrm>
            <a:off x="10186778" y="3199455"/>
            <a:ext cx="920965" cy="471380"/>
          </a:xfrm>
          <a:prstGeom prst="rect">
            <a:avLst/>
          </a:prstGeom>
          <a:solidFill>
            <a:schemeClr val="accent6"/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bg1"/>
                </a:solidFill>
                <a:latin typeface="Courier"/>
              </a:rPr>
              <a:t>&lt;&lt; </a:t>
            </a:r>
            <a:r>
              <a:rPr lang="en-US" sz="900" b="1" dirty="0" err="1">
                <a:solidFill>
                  <a:schemeClr val="bg1"/>
                </a:solidFill>
                <a:latin typeface="Courier"/>
              </a:rPr>
              <a:t>enum</a:t>
            </a:r>
            <a:r>
              <a:rPr lang="en-US" sz="900" b="1" dirty="0">
                <a:solidFill>
                  <a:schemeClr val="bg1"/>
                </a:solidFill>
                <a:latin typeface="Courier"/>
              </a:rPr>
              <a:t> &gt;&gt;</a:t>
            </a:r>
            <a:br>
              <a:rPr lang="en-US" sz="1050" b="1" dirty="0">
                <a:solidFill>
                  <a:schemeClr val="bg1"/>
                </a:solidFill>
                <a:latin typeface="Courier"/>
              </a:rPr>
            </a:br>
            <a:r>
              <a:rPr lang="en-US" sz="1200" b="1" dirty="0" err="1">
                <a:solidFill>
                  <a:schemeClr val="bg1"/>
                </a:solidFill>
                <a:latin typeface="Courier"/>
              </a:rPr>
              <a:t>ZoneType</a:t>
            </a:r>
            <a:endParaRPr lang="en-US" sz="1000" b="1" dirty="0">
              <a:solidFill>
                <a:schemeClr val="bg1"/>
              </a:solidFill>
              <a:latin typeface="Courier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D78CF54-1C32-55FB-A03F-4C5F7A083682}"/>
              </a:ext>
            </a:extLst>
          </p:cNvPr>
          <p:cNvSpPr/>
          <p:nvPr/>
        </p:nvSpPr>
        <p:spPr>
          <a:xfrm>
            <a:off x="10186777" y="3676427"/>
            <a:ext cx="920965" cy="143805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>
                <a:solidFill>
                  <a:schemeClr val="tx1"/>
                </a:solidFill>
                <a:latin typeface="Courier"/>
              </a:rPr>
              <a:t>EST</a:t>
            </a:r>
          </a:p>
          <a:p>
            <a:r>
              <a:rPr lang="en-US" sz="1100" b="1" dirty="0">
                <a:solidFill>
                  <a:schemeClr val="tx1"/>
                </a:solidFill>
                <a:latin typeface="Courier"/>
              </a:rPr>
              <a:t>CST</a:t>
            </a:r>
          </a:p>
          <a:p>
            <a:r>
              <a:rPr lang="en-US" sz="1100" b="1" dirty="0">
                <a:solidFill>
                  <a:schemeClr val="tx1"/>
                </a:solidFill>
                <a:latin typeface="Courier"/>
              </a:rPr>
              <a:t>MST</a:t>
            </a:r>
          </a:p>
          <a:p>
            <a:r>
              <a:rPr lang="en-US" sz="1100" b="1" dirty="0">
                <a:solidFill>
                  <a:schemeClr val="tx1"/>
                </a:solidFill>
                <a:latin typeface="Courier"/>
              </a:rPr>
              <a:t>PST</a:t>
            </a:r>
          </a:p>
          <a:p>
            <a:r>
              <a:rPr lang="en-US" sz="1100" b="1" dirty="0">
                <a:solidFill>
                  <a:schemeClr val="tx1"/>
                </a:solidFill>
                <a:latin typeface="Courier"/>
              </a:rPr>
              <a:t>EDT</a:t>
            </a:r>
          </a:p>
          <a:p>
            <a:r>
              <a:rPr lang="en-US" sz="1100" b="1" dirty="0">
                <a:solidFill>
                  <a:schemeClr val="tx1"/>
                </a:solidFill>
                <a:latin typeface="Courier"/>
              </a:rPr>
              <a:t>CDT</a:t>
            </a:r>
          </a:p>
          <a:p>
            <a:r>
              <a:rPr lang="en-US" sz="1100" b="1" dirty="0">
                <a:solidFill>
                  <a:schemeClr val="tx1"/>
                </a:solidFill>
                <a:latin typeface="Courier"/>
              </a:rPr>
              <a:t>MDT</a:t>
            </a:r>
          </a:p>
          <a:p>
            <a:r>
              <a:rPr lang="en-US" sz="1100" b="1" dirty="0">
                <a:solidFill>
                  <a:schemeClr val="tx1"/>
                </a:solidFill>
                <a:latin typeface="Courier"/>
              </a:rPr>
              <a:t>PDT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9B454B6-DCA8-670D-4548-CCF8DDE61A71}"/>
              </a:ext>
            </a:extLst>
          </p:cNvPr>
          <p:cNvCxnSpPr>
            <a:cxnSpLocks/>
          </p:cNvCxnSpPr>
          <p:nvPr/>
        </p:nvCxnSpPr>
        <p:spPr>
          <a:xfrm flipH="1">
            <a:off x="9625223" y="4085084"/>
            <a:ext cx="571610" cy="0"/>
          </a:xfrm>
          <a:prstGeom prst="line">
            <a:avLst/>
          </a:prstGeom>
          <a:ln w="28575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5" name="Speech Bubble: Rectangle 34">
            <a:extLst>
              <a:ext uri="{FF2B5EF4-FFF2-40B4-BE49-F238E27FC236}">
                <a16:creationId xmlns:a16="http://schemas.microsoft.com/office/drawing/2014/main" id="{E0D5C602-C0A7-FFF9-3EF9-46343DA562BA}"/>
              </a:ext>
            </a:extLst>
          </p:cNvPr>
          <p:cNvSpPr/>
          <p:nvPr/>
        </p:nvSpPr>
        <p:spPr>
          <a:xfrm>
            <a:off x="8168148" y="5401406"/>
            <a:ext cx="2958996" cy="565395"/>
          </a:xfrm>
          <a:prstGeom prst="wedgeRectCallout">
            <a:avLst>
              <a:gd name="adj1" fmla="val 11755"/>
              <a:gd name="adj2" fmla="val -47031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u="sng" dirty="0">
                <a:solidFill>
                  <a:schemeClr val="tx1"/>
                </a:solidFill>
              </a:rPr>
              <a:t>Association</a:t>
            </a:r>
          </a:p>
          <a:p>
            <a:pPr algn="ctr"/>
            <a:r>
              <a:rPr lang="en-CA" sz="1600" b="1" dirty="0" err="1">
                <a:solidFill>
                  <a:schemeClr val="accent2">
                    <a:lumMod val="75000"/>
                  </a:schemeClr>
                </a:solidFill>
              </a:rPr>
              <a:t>ExtTime</a:t>
            </a:r>
            <a:r>
              <a:rPr lang="en-CA" sz="16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CA" sz="1600" dirty="0">
                <a:solidFill>
                  <a:schemeClr val="tx1"/>
                </a:solidFill>
              </a:rPr>
              <a:t>is related to </a:t>
            </a:r>
            <a:r>
              <a:rPr lang="en-CA" sz="1600" b="1" dirty="0" err="1">
                <a:solidFill>
                  <a:schemeClr val="accent6">
                    <a:lumMod val="75000"/>
                  </a:schemeClr>
                </a:solidFill>
              </a:rPr>
              <a:t>ZoneType</a:t>
            </a:r>
            <a:endParaRPr lang="en-CA" sz="16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1641586-1EF5-CDAB-6641-8C293434F195}"/>
              </a:ext>
            </a:extLst>
          </p:cNvPr>
          <p:cNvCxnSpPr>
            <a:stCxn id="35" idx="4"/>
          </p:cNvCxnSpPr>
          <p:nvPr/>
        </p:nvCxnSpPr>
        <p:spPr>
          <a:xfrm flipH="1" flipV="1">
            <a:off x="9831977" y="4085084"/>
            <a:ext cx="163499" cy="1333109"/>
          </a:xfrm>
          <a:prstGeom prst="straightConnector1">
            <a:avLst/>
          </a:prstGeom>
          <a:ln w="38100">
            <a:solidFill>
              <a:srgbClr val="7F1F1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9075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 tmFilter="0, 0; .2, .5; .8, .5; 1, 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" dur="250" autoRev="1" fill="hold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0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 tmFilter="0, 0; .2, .5; .8, .5; 1, 0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2" dur="250" autoRev="1" fill="hold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3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 tmFilter="0, 0; .2, .5; .8, .5; 1, 0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5" dur="250" autoRev="1" fill="hold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 tmFilter="0, 0; .2, .5; .8, .5; 1, 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4" dur="250" autoRev="1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 tmFilter="0, 0; .2, .5; .8, .5; 1, 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7" dur="250" autoRev="1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 tmFilter="0, 0; .2, .5; .8, .5; 1, 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0" dur="250" autoRev="1" fill="hold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6" grpId="0"/>
      <p:bldP spid="27" grpId="0" animBg="1"/>
      <p:bldP spid="29" grpId="0" animBg="1"/>
      <p:bldP spid="30" grpId="0" animBg="1"/>
      <p:bldP spid="31" grpId="0" animBg="1"/>
      <p:bldP spid="3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101693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Grand 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4" y="1563637"/>
            <a:ext cx="5843873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Time Class Implementation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From UML to Class Declaration (</a:t>
            </a:r>
            <a:r>
              <a:rPr lang="en-CA" b="1" dirty="0" err="1"/>
              <a:t>Time.h</a:t>
            </a:r>
            <a:r>
              <a:rPr lang="en-CA" dirty="0"/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18</a:t>
            </a:fld>
            <a:endParaRPr lang="en-CA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A5DC76-E5DD-0440-C824-68739AE860E8}"/>
              </a:ext>
            </a:extLst>
          </p:cNvPr>
          <p:cNvSpPr/>
          <p:nvPr/>
        </p:nvSpPr>
        <p:spPr>
          <a:xfrm>
            <a:off x="8025570" y="1022603"/>
            <a:ext cx="2976416" cy="3321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Time</a:t>
            </a:r>
            <a:endParaRPr lang="en-US" b="1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77E15B8-8064-A943-12B2-F282BA161CCE}"/>
              </a:ext>
            </a:extLst>
          </p:cNvPr>
          <p:cNvSpPr/>
          <p:nvPr/>
        </p:nvSpPr>
        <p:spPr>
          <a:xfrm>
            <a:off x="8035461" y="1363693"/>
            <a:ext cx="2957362" cy="624085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# hrs: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int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# mins: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int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# secs: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int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7BBB917-4C8C-F3EB-0AA0-194B09A389F3}"/>
              </a:ext>
            </a:extLst>
          </p:cNvPr>
          <p:cNvSpPr/>
          <p:nvPr/>
        </p:nvSpPr>
        <p:spPr>
          <a:xfrm>
            <a:off x="8025570" y="1991046"/>
            <a:ext cx="2958996" cy="960351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Time()</a:t>
            </a:r>
            <a:endParaRPr lang="en-CA" sz="1100" b="1" dirty="0">
              <a:solidFill>
                <a:schemeClr val="accent1"/>
              </a:solidFill>
              <a:latin typeface="Courier"/>
            </a:endParaRP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Time(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 h,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 m,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 s)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Set(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 h,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 m,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 s):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void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Increment():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void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Write():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void const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C6BB5C-60C6-D080-AE26-57BE87CDE4B2}"/>
              </a:ext>
            </a:extLst>
          </p:cNvPr>
          <p:cNvSpPr txBox="1"/>
          <p:nvPr/>
        </p:nvSpPr>
        <p:spPr>
          <a:xfrm>
            <a:off x="1157623" y="2432041"/>
            <a:ext cx="3476689" cy="2862322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Time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protected: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hrs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mins, secs;</a:t>
            </a:r>
          </a:p>
          <a:p>
            <a:endParaRPr lang="en-US" sz="1200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public:</a:t>
            </a:r>
          </a:p>
          <a:p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Constructors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Time();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Time(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h,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s);</a:t>
            </a:r>
          </a:p>
          <a:p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Set(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h,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Increment();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Write()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900144-49D2-0651-7B8F-3D293A4B6BB9}"/>
              </a:ext>
            </a:extLst>
          </p:cNvPr>
          <p:cNvSpPr/>
          <p:nvPr/>
        </p:nvSpPr>
        <p:spPr>
          <a:xfrm>
            <a:off x="8342811" y="3503498"/>
            <a:ext cx="2641755" cy="21576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000" b="1" dirty="0"/>
              <a:t>Time Class</a:t>
            </a:r>
          </a:p>
          <a:p>
            <a:pPr algn="ctr"/>
            <a:endParaRPr lang="en-CA" b="1" dirty="0"/>
          </a:p>
          <a:p>
            <a:pPr algn="ctr"/>
            <a:endParaRPr lang="en-CA" b="1" dirty="0"/>
          </a:p>
          <a:p>
            <a:pPr algn="ctr"/>
            <a:endParaRPr lang="en-CA" b="1" dirty="0"/>
          </a:p>
          <a:p>
            <a:pPr algn="ctr"/>
            <a:endParaRPr lang="en-CA" b="1" dirty="0"/>
          </a:p>
          <a:p>
            <a:pPr algn="ctr"/>
            <a:endParaRPr lang="en-CA" b="1" dirty="0"/>
          </a:p>
          <a:p>
            <a:pPr algn="ctr"/>
            <a:endParaRPr lang="en-US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82650C-D70C-3120-EB7D-23EDD7C6C513}"/>
              </a:ext>
            </a:extLst>
          </p:cNvPr>
          <p:cNvSpPr/>
          <p:nvPr/>
        </p:nvSpPr>
        <p:spPr>
          <a:xfrm>
            <a:off x="9398354" y="4005750"/>
            <a:ext cx="1452527" cy="15665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u="sng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Protected Data</a:t>
            </a:r>
          </a:p>
          <a:p>
            <a:endParaRPr lang="en-US" sz="12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200" b="1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hrs</a:t>
            </a:r>
            <a:endParaRPr lang="en-US" sz="12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2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2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mins</a:t>
            </a:r>
          </a:p>
          <a:p>
            <a:endParaRPr lang="en-US" sz="12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2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secs</a:t>
            </a:r>
          </a:p>
          <a:p>
            <a:endParaRPr lang="en-US" sz="12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52FC12-845A-9ED7-A7D8-0FFCCCC91EE4}"/>
              </a:ext>
            </a:extLst>
          </p:cNvPr>
          <p:cNvSpPr/>
          <p:nvPr/>
        </p:nvSpPr>
        <p:spPr>
          <a:xfrm>
            <a:off x="9931691" y="4397500"/>
            <a:ext cx="759206" cy="2684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8DDB34-509C-F7D2-7134-9243D23F0D1D}"/>
              </a:ext>
            </a:extLst>
          </p:cNvPr>
          <p:cNvSpPr/>
          <p:nvPr/>
        </p:nvSpPr>
        <p:spPr>
          <a:xfrm>
            <a:off x="9927334" y="4776321"/>
            <a:ext cx="759206" cy="2684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BBA322-DF69-6F58-529D-A5C825469694}"/>
              </a:ext>
            </a:extLst>
          </p:cNvPr>
          <p:cNvSpPr/>
          <p:nvPr/>
        </p:nvSpPr>
        <p:spPr>
          <a:xfrm>
            <a:off x="9927332" y="5142085"/>
            <a:ext cx="759206" cy="2684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2A2B78-1609-91D5-259E-543B8210EEB5}"/>
              </a:ext>
            </a:extLst>
          </p:cNvPr>
          <p:cNvSpPr/>
          <p:nvPr/>
        </p:nvSpPr>
        <p:spPr>
          <a:xfrm>
            <a:off x="7993131" y="3925547"/>
            <a:ext cx="1194424" cy="268422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Set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82CB0F2-394E-CCD0-25BF-763C64870E65}"/>
              </a:ext>
            </a:extLst>
          </p:cNvPr>
          <p:cNvSpPr/>
          <p:nvPr/>
        </p:nvSpPr>
        <p:spPr>
          <a:xfrm>
            <a:off x="7993131" y="4279444"/>
            <a:ext cx="1194424" cy="268422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Increment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61C3D2-FECF-ED59-4336-03C7F0D26377}"/>
              </a:ext>
            </a:extLst>
          </p:cNvPr>
          <p:cNvSpPr/>
          <p:nvPr/>
        </p:nvSpPr>
        <p:spPr>
          <a:xfrm>
            <a:off x="7993131" y="4622292"/>
            <a:ext cx="1194424" cy="268422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Write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9E211B-BF9C-B807-B57B-79E6FBC8171C}"/>
              </a:ext>
            </a:extLst>
          </p:cNvPr>
          <p:cNvSpPr/>
          <p:nvPr/>
        </p:nvSpPr>
        <p:spPr>
          <a:xfrm>
            <a:off x="7993131" y="4975694"/>
            <a:ext cx="1194424" cy="268422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Time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A156764-3E4E-E268-104A-D0AF578530FE}"/>
              </a:ext>
            </a:extLst>
          </p:cNvPr>
          <p:cNvSpPr/>
          <p:nvPr/>
        </p:nvSpPr>
        <p:spPr>
          <a:xfrm>
            <a:off x="7993131" y="5319648"/>
            <a:ext cx="1194424" cy="268422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Time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BFA9B7-0759-A24F-14B1-B68005AEAA74}"/>
              </a:ext>
            </a:extLst>
          </p:cNvPr>
          <p:cNvSpPr txBox="1"/>
          <p:nvPr/>
        </p:nvSpPr>
        <p:spPr>
          <a:xfrm>
            <a:off x="4503857" y="2362123"/>
            <a:ext cx="2958996" cy="43088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Time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::Time()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hrs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0; mins = 0; secs = 0; }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37C25A-DE79-0171-8C53-82A753327069}"/>
              </a:ext>
            </a:extLst>
          </p:cNvPr>
          <p:cNvSpPr txBox="1"/>
          <p:nvPr/>
        </p:nvSpPr>
        <p:spPr>
          <a:xfrm>
            <a:off x="4503857" y="2835990"/>
            <a:ext cx="2958996" cy="110799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Time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::Time(</a:t>
            </a:r>
            <a:r>
              <a:rPr lang="en-US" sz="11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h, </a:t>
            </a:r>
            <a:r>
              <a:rPr lang="en-US" sz="11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m, </a:t>
            </a:r>
            <a:r>
              <a:rPr lang="en-US" sz="11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s)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Preliminary error check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hrs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h % 24; 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mins = m % 60; 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secs = s % 60; 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DB89A27-320F-0E69-D61A-BDD85702F66D}"/>
              </a:ext>
            </a:extLst>
          </p:cNvPr>
          <p:cNvSpPr txBox="1"/>
          <p:nvPr/>
        </p:nvSpPr>
        <p:spPr>
          <a:xfrm>
            <a:off x="4505600" y="3992339"/>
            <a:ext cx="3184069" cy="110799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Time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::Set(</a:t>
            </a:r>
            <a:r>
              <a:rPr lang="en-US" sz="11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h, </a:t>
            </a:r>
            <a:r>
              <a:rPr lang="en-US" sz="11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m, </a:t>
            </a:r>
            <a:r>
              <a:rPr lang="en-US" sz="11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s)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  </a:t>
            </a:r>
            <a:r>
              <a:rPr lang="en-US" sz="11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Preliminary error check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hrs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h % 24; 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mins = m % 60; 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secs = s % 60; 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915FC6-0664-983F-516B-F2ABFC60B847}"/>
              </a:ext>
            </a:extLst>
          </p:cNvPr>
          <p:cNvSpPr txBox="1"/>
          <p:nvPr/>
        </p:nvSpPr>
        <p:spPr>
          <a:xfrm>
            <a:off x="3140980" y="5155762"/>
            <a:ext cx="4548689" cy="7694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Time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::Write() </a:t>
            </a:r>
            <a:r>
              <a:rPr lang="en-US" sz="11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setfill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(‘0’) &lt;&lt;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setw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(2) &lt;&lt;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hrs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“:” </a:t>
            </a:r>
            <a:b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&lt;&lt;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setfill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(‘0’) &lt;&lt;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setw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(2) &lt;&lt; mins &lt;&lt; “:” 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&lt;&lt;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setfill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(‘0’) &lt;&lt;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setw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(2) &lt;&lt; secs; }</a:t>
            </a:r>
          </a:p>
        </p:txBody>
      </p:sp>
      <p:sp>
        <p:nvSpPr>
          <p:cNvPr id="36" name="Speech Bubble: Rectangle 35">
            <a:extLst>
              <a:ext uri="{FF2B5EF4-FFF2-40B4-BE49-F238E27FC236}">
                <a16:creationId xmlns:a16="http://schemas.microsoft.com/office/drawing/2014/main" id="{44F312E6-C104-D436-47FC-EB65AEE39145}"/>
              </a:ext>
            </a:extLst>
          </p:cNvPr>
          <p:cNvSpPr/>
          <p:nvPr/>
        </p:nvSpPr>
        <p:spPr>
          <a:xfrm>
            <a:off x="7786463" y="5886670"/>
            <a:ext cx="2346293" cy="563273"/>
          </a:xfrm>
          <a:prstGeom prst="wedgeRectCallout">
            <a:avLst>
              <a:gd name="adj1" fmla="val -68865"/>
              <a:gd name="adj2" fmla="val -64207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 err="1">
                <a:solidFill>
                  <a:schemeClr val="tx1"/>
                </a:solidFill>
              </a:rPr>
              <a:t>setfill</a:t>
            </a:r>
            <a:r>
              <a:rPr lang="en-CA" sz="1600" dirty="0">
                <a:solidFill>
                  <a:schemeClr val="tx1"/>
                </a:solidFill>
              </a:rPr>
              <a:t>() and </a:t>
            </a:r>
            <a:r>
              <a:rPr lang="en-CA" sz="1600" dirty="0" err="1">
                <a:solidFill>
                  <a:schemeClr val="tx1"/>
                </a:solidFill>
              </a:rPr>
              <a:t>setw</a:t>
            </a:r>
            <a:r>
              <a:rPr lang="en-CA" sz="1600" dirty="0">
                <a:solidFill>
                  <a:schemeClr val="tx1"/>
                </a:solidFill>
              </a:rPr>
              <a:t>() requires &lt;</a:t>
            </a:r>
            <a:r>
              <a:rPr lang="en-CA" sz="1600" dirty="0" err="1">
                <a:solidFill>
                  <a:schemeClr val="tx1"/>
                </a:solidFill>
              </a:rPr>
              <a:t>iomanip</a:t>
            </a:r>
            <a:r>
              <a:rPr lang="en-CA" sz="1600" dirty="0">
                <a:solidFill>
                  <a:schemeClr val="tx1"/>
                </a:solidFill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27411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25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 tmFilter="0, 0; .2, .5; .8, .5; 1, 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7" dur="250" autoRev="1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 tmFilter="0, 0; .2, .5; .8, .5; 1, 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250" autoRev="1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 tmFilter="0, 0; .2, .5; .8, .5; 1, 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1" dur="250" autoRev="1" fill="hold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2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 tmFilter="0, 0; .2, .5; .8, .5; 1, 0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4" dur="250" autoRev="1" fill="hold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 tmFilter="0, 0; .2, .5; .8, .5; 1, 0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7" dur="250" autoRev="1" fill="hold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" grpId="0" animBg="1"/>
      <p:bldP spid="5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32" grpId="0" animBg="1"/>
      <p:bldP spid="34" grpId="0" animBg="1"/>
      <p:bldP spid="3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101693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Grand 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4" y="1563637"/>
            <a:ext cx="5843873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Time Class Implementation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From UML to Class Declaration (</a:t>
            </a:r>
            <a:r>
              <a:rPr lang="en-CA" b="1" dirty="0" err="1"/>
              <a:t>Time.h</a:t>
            </a:r>
            <a:r>
              <a:rPr lang="en-CA" dirty="0"/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19</a:t>
            </a:fld>
            <a:endParaRPr lang="en-CA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A5DC76-E5DD-0440-C824-68739AE860E8}"/>
              </a:ext>
            </a:extLst>
          </p:cNvPr>
          <p:cNvSpPr/>
          <p:nvPr/>
        </p:nvSpPr>
        <p:spPr>
          <a:xfrm>
            <a:off x="8025570" y="1022603"/>
            <a:ext cx="2976416" cy="3321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Time</a:t>
            </a:r>
            <a:endParaRPr lang="en-US" b="1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77E15B8-8064-A943-12B2-F282BA161CCE}"/>
              </a:ext>
            </a:extLst>
          </p:cNvPr>
          <p:cNvSpPr/>
          <p:nvPr/>
        </p:nvSpPr>
        <p:spPr>
          <a:xfrm>
            <a:off x="8035461" y="1363693"/>
            <a:ext cx="2957362" cy="624085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# hrs: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int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# mins: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int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# secs: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int</a:t>
            </a:r>
            <a:endParaRPr lang="en-US" sz="110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7BBB917-4C8C-F3EB-0AA0-194B09A389F3}"/>
              </a:ext>
            </a:extLst>
          </p:cNvPr>
          <p:cNvSpPr/>
          <p:nvPr/>
        </p:nvSpPr>
        <p:spPr>
          <a:xfrm>
            <a:off x="8025570" y="1991046"/>
            <a:ext cx="2958996" cy="960351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Time()</a:t>
            </a:r>
            <a:endParaRPr lang="en-CA" sz="1100" b="1" dirty="0">
              <a:solidFill>
                <a:schemeClr val="accent1"/>
              </a:solidFill>
              <a:latin typeface="Courier"/>
            </a:endParaRP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Time(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 h,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 m,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 s)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Set(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 h,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 m,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 s):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void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Increment():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void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Write():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void const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C6BB5C-60C6-D080-AE26-57BE87CDE4B2}"/>
              </a:ext>
            </a:extLst>
          </p:cNvPr>
          <p:cNvSpPr txBox="1"/>
          <p:nvPr/>
        </p:nvSpPr>
        <p:spPr>
          <a:xfrm>
            <a:off x="1157623" y="2432041"/>
            <a:ext cx="3476689" cy="2862322"/>
          </a:xfrm>
          <a:prstGeom prst="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Time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protected: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hrs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mins, secs;</a:t>
            </a:r>
          </a:p>
          <a:p>
            <a:endParaRPr lang="en-US" sz="1200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public:</a:t>
            </a:r>
          </a:p>
          <a:p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Constructors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Time();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Time(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h,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s);</a:t>
            </a:r>
          </a:p>
          <a:p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Set(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h,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Increment();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Write()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900144-49D2-0651-7B8F-3D293A4B6BB9}"/>
              </a:ext>
            </a:extLst>
          </p:cNvPr>
          <p:cNvSpPr/>
          <p:nvPr/>
        </p:nvSpPr>
        <p:spPr>
          <a:xfrm>
            <a:off x="8342811" y="3503498"/>
            <a:ext cx="2641755" cy="21576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000" b="1" dirty="0"/>
              <a:t>Time Class</a:t>
            </a:r>
          </a:p>
          <a:p>
            <a:pPr algn="ctr"/>
            <a:endParaRPr lang="en-CA" b="1" dirty="0"/>
          </a:p>
          <a:p>
            <a:pPr algn="ctr"/>
            <a:endParaRPr lang="en-CA" b="1" dirty="0"/>
          </a:p>
          <a:p>
            <a:pPr algn="ctr"/>
            <a:endParaRPr lang="en-CA" b="1" dirty="0"/>
          </a:p>
          <a:p>
            <a:pPr algn="ctr"/>
            <a:endParaRPr lang="en-CA" b="1" dirty="0"/>
          </a:p>
          <a:p>
            <a:pPr algn="ctr"/>
            <a:endParaRPr lang="en-CA" b="1" dirty="0"/>
          </a:p>
          <a:p>
            <a:pPr algn="ctr"/>
            <a:endParaRPr lang="en-US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82650C-D70C-3120-EB7D-23EDD7C6C513}"/>
              </a:ext>
            </a:extLst>
          </p:cNvPr>
          <p:cNvSpPr/>
          <p:nvPr/>
        </p:nvSpPr>
        <p:spPr>
          <a:xfrm>
            <a:off x="9398354" y="4005750"/>
            <a:ext cx="1452527" cy="15665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u="sng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Protected Data</a:t>
            </a:r>
          </a:p>
          <a:p>
            <a:endParaRPr lang="en-US" sz="12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200" b="1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hrs</a:t>
            </a:r>
            <a:endParaRPr lang="en-US" sz="12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2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2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mins</a:t>
            </a:r>
          </a:p>
          <a:p>
            <a:endParaRPr lang="en-US" sz="12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2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secs</a:t>
            </a:r>
          </a:p>
          <a:p>
            <a:endParaRPr lang="en-US" sz="12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52FC12-845A-9ED7-A7D8-0FFCCCC91EE4}"/>
              </a:ext>
            </a:extLst>
          </p:cNvPr>
          <p:cNvSpPr/>
          <p:nvPr/>
        </p:nvSpPr>
        <p:spPr>
          <a:xfrm>
            <a:off x="9931691" y="4397500"/>
            <a:ext cx="759206" cy="2684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8DDB34-509C-F7D2-7134-9243D23F0D1D}"/>
              </a:ext>
            </a:extLst>
          </p:cNvPr>
          <p:cNvSpPr/>
          <p:nvPr/>
        </p:nvSpPr>
        <p:spPr>
          <a:xfrm>
            <a:off x="9927334" y="4776321"/>
            <a:ext cx="759206" cy="2684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BBA322-DF69-6F58-529D-A5C825469694}"/>
              </a:ext>
            </a:extLst>
          </p:cNvPr>
          <p:cNvSpPr/>
          <p:nvPr/>
        </p:nvSpPr>
        <p:spPr>
          <a:xfrm>
            <a:off x="9927332" y="5142085"/>
            <a:ext cx="759206" cy="2684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2A2B78-1609-91D5-259E-543B8210EEB5}"/>
              </a:ext>
            </a:extLst>
          </p:cNvPr>
          <p:cNvSpPr/>
          <p:nvPr/>
        </p:nvSpPr>
        <p:spPr>
          <a:xfrm>
            <a:off x="7993131" y="3925547"/>
            <a:ext cx="1194424" cy="268422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Set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82CB0F2-394E-CCD0-25BF-763C64870E65}"/>
              </a:ext>
            </a:extLst>
          </p:cNvPr>
          <p:cNvSpPr/>
          <p:nvPr/>
        </p:nvSpPr>
        <p:spPr>
          <a:xfrm>
            <a:off x="7993131" y="4279444"/>
            <a:ext cx="1194424" cy="268422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Increment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61C3D2-FECF-ED59-4336-03C7F0D26377}"/>
              </a:ext>
            </a:extLst>
          </p:cNvPr>
          <p:cNvSpPr/>
          <p:nvPr/>
        </p:nvSpPr>
        <p:spPr>
          <a:xfrm>
            <a:off x="7993131" y="4622292"/>
            <a:ext cx="1194424" cy="268422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Write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9E211B-BF9C-B807-B57B-79E6FBC8171C}"/>
              </a:ext>
            </a:extLst>
          </p:cNvPr>
          <p:cNvSpPr/>
          <p:nvPr/>
        </p:nvSpPr>
        <p:spPr>
          <a:xfrm>
            <a:off x="7993131" y="4975694"/>
            <a:ext cx="1194424" cy="268422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Time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A156764-3E4E-E268-104A-D0AF578530FE}"/>
              </a:ext>
            </a:extLst>
          </p:cNvPr>
          <p:cNvSpPr/>
          <p:nvPr/>
        </p:nvSpPr>
        <p:spPr>
          <a:xfrm>
            <a:off x="7993131" y="5319648"/>
            <a:ext cx="1194424" cy="268422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Time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DB89A27-320F-0E69-D61A-BDD85702F66D}"/>
              </a:ext>
            </a:extLst>
          </p:cNvPr>
          <p:cNvSpPr txBox="1"/>
          <p:nvPr/>
        </p:nvSpPr>
        <p:spPr>
          <a:xfrm>
            <a:off x="4488677" y="2572697"/>
            <a:ext cx="3184069" cy="263149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Time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::Increment()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  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1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(++secs % 60 == 0)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secs = 0;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(++mins % 60 == 0)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mins = 0;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1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(++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hrs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% 24 == 0)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{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hrs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}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     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32466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3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94B2D996-FB4D-FD73-9EF9-E666FA820D7A}"/>
              </a:ext>
            </a:extLst>
          </p:cNvPr>
          <p:cNvSpPr/>
          <p:nvPr/>
        </p:nvSpPr>
        <p:spPr>
          <a:xfrm>
            <a:off x="7279015" y="3282793"/>
            <a:ext cx="3654806" cy="2473979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000" b="1" dirty="0"/>
              <a:t>                     </a:t>
            </a:r>
            <a:r>
              <a:rPr lang="en-CA" sz="2000" b="1" dirty="0" err="1"/>
              <a:t>ExtTime</a:t>
            </a:r>
            <a:r>
              <a:rPr lang="en-CA" sz="2000" b="1" dirty="0"/>
              <a:t> Class</a:t>
            </a:r>
          </a:p>
          <a:p>
            <a:pPr algn="ctr"/>
            <a:endParaRPr lang="en-CA" sz="2000" b="1" dirty="0"/>
          </a:p>
          <a:p>
            <a:pPr algn="ctr"/>
            <a:endParaRPr lang="en-CA" b="1" dirty="0"/>
          </a:p>
          <a:p>
            <a:pPr algn="ctr"/>
            <a:endParaRPr lang="en-CA" b="1" dirty="0"/>
          </a:p>
          <a:p>
            <a:pPr algn="ctr"/>
            <a:endParaRPr lang="en-CA" b="1" dirty="0"/>
          </a:p>
          <a:p>
            <a:pPr algn="ctr"/>
            <a:endParaRPr lang="en-CA" b="1" dirty="0"/>
          </a:p>
          <a:p>
            <a:pPr algn="ctr"/>
            <a:endParaRPr lang="en-CA" b="1" dirty="0"/>
          </a:p>
          <a:p>
            <a:pPr algn="ctr"/>
            <a:endParaRPr lang="en-US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101693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Grand 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4" y="1563637"/>
            <a:ext cx="5843873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 err="1"/>
              <a:t>ExtTime</a:t>
            </a:r>
            <a:r>
              <a:rPr lang="en-CA" sz="2200" dirty="0"/>
              <a:t> Subclass Implementation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From UML to Class Declaration (</a:t>
            </a:r>
            <a:r>
              <a:rPr lang="en-CA" b="1" dirty="0" err="1"/>
              <a:t>ExtTime.h</a:t>
            </a:r>
            <a:r>
              <a:rPr lang="en-CA" dirty="0"/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20</a:t>
            </a:fld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C6BB5C-60C6-D080-AE26-57BE87CDE4B2}"/>
              </a:ext>
            </a:extLst>
          </p:cNvPr>
          <p:cNvSpPr txBox="1"/>
          <p:nvPr/>
        </p:nvSpPr>
        <p:spPr>
          <a:xfrm>
            <a:off x="905687" y="2375200"/>
            <a:ext cx="5620926" cy="3416320"/>
          </a:xfrm>
          <a:prstGeom prst="rect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Time.h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</a:p>
          <a:p>
            <a:endParaRPr lang="en-US" sz="12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enum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 err="1">
                <a:solidFill>
                  <a:srgbClr val="FF7D7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ZoneType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{EST, CST, MST, PST, EDT, CDT, MDT, PDT};</a:t>
            </a:r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2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ExtTime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: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Time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private: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 err="1">
                <a:solidFill>
                  <a:srgbClr val="FF7D7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ZoneType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zone;</a:t>
            </a:r>
          </a:p>
          <a:p>
            <a:endParaRPr lang="en-US" sz="1200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public:</a:t>
            </a:r>
          </a:p>
          <a:p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Constructors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ExtTime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ExtTime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h,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s, </a:t>
            </a:r>
            <a:r>
              <a:rPr lang="en-US" sz="1200" b="1" dirty="0" err="1">
                <a:solidFill>
                  <a:srgbClr val="FF7D7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ZoneType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z);</a:t>
            </a:r>
          </a:p>
          <a:p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Set(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h,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s, </a:t>
            </a:r>
            <a:r>
              <a:rPr lang="en-US" sz="1200" b="1" dirty="0" err="1">
                <a:solidFill>
                  <a:srgbClr val="FF7D7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ZoneType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z);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Override</a:t>
            </a:r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void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Write()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Override</a:t>
            </a:r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900144-49D2-0651-7B8F-3D293A4B6BB9}"/>
              </a:ext>
            </a:extLst>
          </p:cNvPr>
          <p:cNvSpPr/>
          <p:nvPr/>
        </p:nvSpPr>
        <p:spPr>
          <a:xfrm>
            <a:off x="8935000" y="3751569"/>
            <a:ext cx="1915885" cy="18959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000" b="1" dirty="0"/>
              <a:t>Time Class</a:t>
            </a:r>
            <a:endParaRPr lang="en-CA" b="1" dirty="0"/>
          </a:p>
          <a:p>
            <a:pPr algn="ctr"/>
            <a:endParaRPr lang="en-CA" b="1" dirty="0"/>
          </a:p>
          <a:p>
            <a:pPr algn="ctr"/>
            <a:endParaRPr lang="en-CA" b="1" dirty="0"/>
          </a:p>
          <a:p>
            <a:pPr algn="ctr"/>
            <a:endParaRPr lang="en-CA" b="1" dirty="0"/>
          </a:p>
          <a:p>
            <a:pPr algn="ctr"/>
            <a:endParaRPr lang="en-CA" b="1" dirty="0"/>
          </a:p>
          <a:p>
            <a:pPr algn="ctr"/>
            <a:endParaRPr lang="en-US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82650C-D70C-3120-EB7D-23EDD7C6C513}"/>
              </a:ext>
            </a:extLst>
          </p:cNvPr>
          <p:cNvSpPr/>
          <p:nvPr/>
        </p:nvSpPr>
        <p:spPr>
          <a:xfrm>
            <a:off x="9559235" y="4214955"/>
            <a:ext cx="1200436" cy="13784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u="sng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Protected Data</a:t>
            </a:r>
          </a:p>
          <a:p>
            <a:endParaRPr lang="en-US" sz="11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b="1" dirty="0" err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hrs</a:t>
            </a:r>
            <a:endParaRPr lang="en-US" sz="11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1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mins</a:t>
            </a:r>
          </a:p>
          <a:p>
            <a:endParaRPr lang="en-US" sz="11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secs</a:t>
            </a:r>
          </a:p>
          <a:p>
            <a:endParaRPr lang="en-US" sz="11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52FC12-845A-9ED7-A7D8-0FFCCCC91EE4}"/>
              </a:ext>
            </a:extLst>
          </p:cNvPr>
          <p:cNvSpPr/>
          <p:nvPr/>
        </p:nvSpPr>
        <p:spPr>
          <a:xfrm>
            <a:off x="10026097" y="4522918"/>
            <a:ext cx="570403" cy="2440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8DDB34-509C-F7D2-7134-9243D23F0D1D}"/>
              </a:ext>
            </a:extLst>
          </p:cNvPr>
          <p:cNvSpPr/>
          <p:nvPr/>
        </p:nvSpPr>
        <p:spPr>
          <a:xfrm>
            <a:off x="10021740" y="4884321"/>
            <a:ext cx="570403" cy="2440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BBA322-DF69-6F58-529D-A5C825469694}"/>
              </a:ext>
            </a:extLst>
          </p:cNvPr>
          <p:cNvSpPr/>
          <p:nvPr/>
        </p:nvSpPr>
        <p:spPr>
          <a:xfrm>
            <a:off x="10021738" y="5232667"/>
            <a:ext cx="570403" cy="2440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2A2B78-1609-91D5-259E-543B8210EEB5}"/>
              </a:ext>
            </a:extLst>
          </p:cNvPr>
          <p:cNvSpPr/>
          <p:nvPr/>
        </p:nvSpPr>
        <p:spPr>
          <a:xfrm>
            <a:off x="8288376" y="4073597"/>
            <a:ext cx="987127" cy="268422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1"/>
                </a:solidFill>
              </a:rPr>
              <a:t>Set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82CB0F2-394E-CCD0-25BF-763C64870E65}"/>
              </a:ext>
            </a:extLst>
          </p:cNvPr>
          <p:cNvSpPr/>
          <p:nvPr/>
        </p:nvSpPr>
        <p:spPr>
          <a:xfrm>
            <a:off x="8288376" y="4392658"/>
            <a:ext cx="987127" cy="268422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1"/>
                </a:solidFill>
              </a:rPr>
              <a:t>Increment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61C3D2-FECF-ED59-4336-03C7F0D26377}"/>
              </a:ext>
            </a:extLst>
          </p:cNvPr>
          <p:cNvSpPr/>
          <p:nvPr/>
        </p:nvSpPr>
        <p:spPr>
          <a:xfrm>
            <a:off x="8288376" y="4700670"/>
            <a:ext cx="987127" cy="268422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1"/>
                </a:solidFill>
              </a:rPr>
              <a:t>Write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9E211B-BF9C-B807-B57B-79E6FBC8171C}"/>
              </a:ext>
            </a:extLst>
          </p:cNvPr>
          <p:cNvSpPr/>
          <p:nvPr/>
        </p:nvSpPr>
        <p:spPr>
          <a:xfrm>
            <a:off x="8288376" y="5019237"/>
            <a:ext cx="987127" cy="268422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1"/>
                </a:solidFill>
              </a:rPr>
              <a:t>Time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A156764-3E4E-E268-104A-D0AF578530FE}"/>
              </a:ext>
            </a:extLst>
          </p:cNvPr>
          <p:cNvSpPr/>
          <p:nvPr/>
        </p:nvSpPr>
        <p:spPr>
          <a:xfrm>
            <a:off x="8288376" y="5328355"/>
            <a:ext cx="987127" cy="268422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1"/>
                </a:solidFill>
              </a:rPr>
              <a:t>Time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42D6DF-9FA5-E0BD-0307-B6705EE8CEE8}"/>
              </a:ext>
            </a:extLst>
          </p:cNvPr>
          <p:cNvSpPr/>
          <p:nvPr/>
        </p:nvSpPr>
        <p:spPr>
          <a:xfrm>
            <a:off x="6908140" y="397161"/>
            <a:ext cx="2976416" cy="3321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Time</a:t>
            </a:r>
            <a:endParaRPr lang="en-US" b="1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D6EC5E2-862D-CBB0-4ECA-4B9636BE594C}"/>
              </a:ext>
            </a:extLst>
          </p:cNvPr>
          <p:cNvSpPr/>
          <p:nvPr/>
        </p:nvSpPr>
        <p:spPr>
          <a:xfrm>
            <a:off x="6924040" y="1231539"/>
            <a:ext cx="2864274" cy="332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ExtTime</a:t>
            </a:r>
            <a:endParaRPr lang="en-US" b="1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981BBDF-165C-4F21-FBAB-5D57847E4DEF}"/>
              </a:ext>
            </a:extLst>
          </p:cNvPr>
          <p:cNvSpPr/>
          <p:nvPr/>
        </p:nvSpPr>
        <p:spPr>
          <a:xfrm>
            <a:off x="6926238" y="1556775"/>
            <a:ext cx="2854699" cy="326396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tx1"/>
                </a:solidFill>
                <a:latin typeface="Courier"/>
              </a:rPr>
              <a:t>- zone: </a:t>
            </a:r>
            <a:r>
              <a:rPr lang="en-US" sz="1200" b="1" dirty="0" err="1">
                <a:solidFill>
                  <a:schemeClr val="accent6"/>
                </a:solidFill>
                <a:latin typeface="Courier"/>
              </a:rPr>
              <a:t>ZoneType</a:t>
            </a:r>
            <a:endParaRPr lang="en-US" sz="1200" b="1" dirty="0">
              <a:solidFill>
                <a:schemeClr val="accent6"/>
              </a:solidFill>
              <a:latin typeface="Courier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FDE0FF6-C66B-63B9-E0E5-4712E128E7F1}"/>
              </a:ext>
            </a:extLst>
          </p:cNvPr>
          <p:cNvSpPr/>
          <p:nvPr/>
        </p:nvSpPr>
        <p:spPr>
          <a:xfrm>
            <a:off x="6923559" y="1869067"/>
            <a:ext cx="2854699" cy="1105465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100" b="1" dirty="0" err="1">
                <a:solidFill>
                  <a:schemeClr val="tx1"/>
                </a:solidFill>
                <a:latin typeface="Courier"/>
              </a:rPr>
              <a:t>ExtTime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()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100" b="1" dirty="0" err="1">
                <a:solidFill>
                  <a:schemeClr val="tx1"/>
                </a:solidFill>
                <a:latin typeface="Courier"/>
              </a:rPr>
              <a:t>ExtTime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(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 h,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 m,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 s, </a:t>
            </a:r>
            <a:br>
              <a:rPr lang="en-CA" sz="1100" b="1" dirty="0">
                <a:solidFill>
                  <a:schemeClr val="tx1"/>
                </a:solidFill>
                <a:latin typeface="Courier"/>
              </a:rPr>
            </a:br>
            <a:r>
              <a:rPr lang="en-CA" sz="1100" b="1" dirty="0">
                <a:solidFill>
                  <a:schemeClr val="tx1"/>
                </a:solidFill>
                <a:latin typeface="Courier"/>
              </a:rPr>
              <a:t>                    </a:t>
            </a:r>
            <a:r>
              <a:rPr lang="en-CA" sz="1100" b="1" dirty="0" err="1">
                <a:solidFill>
                  <a:schemeClr val="accent6"/>
                </a:solidFill>
                <a:latin typeface="Courier"/>
              </a:rPr>
              <a:t>ZoneType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 z)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Set(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 h,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 m,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 s, </a:t>
            </a:r>
            <a:br>
              <a:rPr lang="en-CA" sz="1100" b="1" dirty="0">
                <a:solidFill>
                  <a:schemeClr val="tx1"/>
                </a:solidFill>
                <a:latin typeface="Courier"/>
              </a:rPr>
            </a:br>
            <a:r>
              <a:rPr lang="en-CA" sz="1100" b="1" dirty="0">
                <a:solidFill>
                  <a:schemeClr val="tx1"/>
                </a:solidFill>
                <a:latin typeface="Courier"/>
              </a:rPr>
              <a:t>             </a:t>
            </a:r>
            <a:r>
              <a:rPr lang="en-CA" sz="1100" b="1" dirty="0" err="1">
                <a:solidFill>
                  <a:schemeClr val="accent6"/>
                </a:solidFill>
                <a:latin typeface="Courier"/>
              </a:rPr>
              <a:t>ZoneType</a:t>
            </a:r>
            <a:r>
              <a:rPr lang="en-CA" sz="1100" b="1" dirty="0">
                <a:solidFill>
                  <a:schemeClr val="tx1"/>
                </a:solidFill>
                <a:latin typeface="Courier"/>
              </a:rPr>
              <a:t> z) :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void</a:t>
            </a:r>
          </a:p>
          <a:p>
            <a:r>
              <a:rPr lang="en-CA" sz="1100" b="1" dirty="0">
                <a:solidFill>
                  <a:schemeClr val="tx1"/>
                </a:solidFill>
                <a:latin typeface="Courier"/>
              </a:rPr>
              <a:t>+ Write(): </a:t>
            </a:r>
            <a:r>
              <a:rPr lang="en-CA" sz="1100" b="1" dirty="0">
                <a:solidFill>
                  <a:schemeClr val="accent1"/>
                </a:solidFill>
                <a:latin typeface="Courier"/>
              </a:rPr>
              <a:t>void const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2D23A3-9983-EC79-F630-0BC5BC78C3DC}"/>
              </a:ext>
            </a:extLst>
          </p:cNvPr>
          <p:cNvSpPr/>
          <p:nvPr/>
        </p:nvSpPr>
        <p:spPr>
          <a:xfrm>
            <a:off x="10285951" y="1061712"/>
            <a:ext cx="920965" cy="471380"/>
          </a:xfrm>
          <a:prstGeom prst="rect">
            <a:avLst/>
          </a:prstGeom>
          <a:solidFill>
            <a:schemeClr val="accent6"/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bg1"/>
                </a:solidFill>
                <a:latin typeface="Courier"/>
              </a:rPr>
              <a:t>&lt;&lt; </a:t>
            </a:r>
            <a:r>
              <a:rPr lang="en-US" sz="900" b="1" dirty="0" err="1">
                <a:solidFill>
                  <a:schemeClr val="bg1"/>
                </a:solidFill>
                <a:latin typeface="Courier"/>
              </a:rPr>
              <a:t>enum</a:t>
            </a:r>
            <a:r>
              <a:rPr lang="en-US" sz="900" b="1" dirty="0">
                <a:solidFill>
                  <a:schemeClr val="bg1"/>
                </a:solidFill>
                <a:latin typeface="Courier"/>
              </a:rPr>
              <a:t> &gt;&gt;</a:t>
            </a:r>
            <a:br>
              <a:rPr lang="en-US" sz="1050" b="1" dirty="0">
                <a:solidFill>
                  <a:schemeClr val="bg1"/>
                </a:solidFill>
                <a:latin typeface="Courier"/>
              </a:rPr>
            </a:br>
            <a:r>
              <a:rPr lang="en-US" sz="1200" b="1" dirty="0" err="1">
                <a:solidFill>
                  <a:schemeClr val="bg1"/>
                </a:solidFill>
                <a:latin typeface="Courier"/>
              </a:rPr>
              <a:t>ZoneType</a:t>
            </a:r>
            <a:endParaRPr lang="en-US" sz="1000" b="1" dirty="0">
              <a:solidFill>
                <a:schemeClr val="bg1"/>
              </a:solidFill>
              <a:latin typeface="Courier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966E204-E317-8DE4-747D-6458CFEE45EF}"/>
              </a:ext>
            </a:extLst>
          </p:cNvPr>
          <p:cNvSpPr/>
          <p:nvPr/>
        </p:nvSpPr>
        <p:spPr>
          <a:xfrm>
            <a:off x="10285950" y="1538684"/>
            <a:ext cx="920965" cy="143805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>
                <a:solidFill>
                  <a:schemeClr val="tx1"/>
                </a:solidFill>
                <a:latin typeface="Courier"/>
              </a:rPr>
              <a:t>EST</a:t>
            </a:r>
          </a:p>
          <a:p>
            <a:r>
              <a:rPr lang="en-US" sz="1100" b="1" dirty="0">
                <a:solidFill>
                  <a:schemeClr val="tx1"/>
                </a:solidFill>
                <a:latin typeface="Courier"/>
              </a:rPr>
              <a:t>CST</a:t>
            </a:r>
          </a:p>
          <a:p>
            <a:r>
              <a:rPr lang="en-US" sz="1100" b="1" dirty="0">
                <a:solidFill>
                  <a:schemeClr val="tx1"/>
                </a:solidFill>
                <a:latin typeface="Courier"/>
              </a:rPr>
              <a:t>MST</a:t>
            </a:r>
          </a:p>
          <a:p>
            <a:r>
              <a:rPr lang="en-US" sz="1100" b="1" dirty="0">
                <a:solidFill>
                  <a:schemeClr val="tx1"/>
                </a:solidFill>
                <a:latin typeface="Courier"/>
              </a:rPr>
              <a:t>PST</a:t>
            </a:r>
          </a:p>
          <a:p>
            <a:r>
              <a:rPr lang="en-US" sz="1100" b="1" dirty="0">
                <a:solidFill>
                  <a:schemeClr val="tx1"/>
                </a:solidFill>
                <a:latin typeface="Courier"/>
              </a:rPr>
              <a:t>EDT</a:t>
            </a:r>
          </a:p>
          <a:p>
            <a:r>
              <a:rPr lang="en-US" sz="1100" b="1" dirty="0">
                <a:solidFill>
                  <a:schemeClr val="tx1"/>
                </a:solidFill>
                <a:latin typeface="Courier"/>
              </a:rPr>
              <a:t>CDT</a:t>
            </a:r>
          </a:p>
          <a:p>
            <a:r>
              <a:rPr lang="en-US" sz="1100" b="1" dirty="0">
                <a:solidFill>
                  <a:schemeClr val="tx1"/>
                </a:solidFill>
                <a:latin typeface="Courier"/>
              </a:rPr>
              <a:t>MDT</a:t>
            </a:r>
          </a:p>
          <a:p>
            <a:r>
              <a:rPr lang="en-US" sz="1100" b="1" dirty="0">
                <a:solidFill>
                  <a:schemeClr val="tx1"/>
                </a:solidFill>
                <a:latin typeface="Courier"/>
              </a:rPr>
              <a:t>PDT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2CCA08A-762E-153B-E859-DFF2CF9A980D}"/>
              </a:ext>
            </a:extLst>
          </p:cNvPr>
          <p:cNvCxnSpPr>
            <a:cxnSpLocks/>
          </p:cNvCxnSpPr>
          <p:nvPr/>
        </p:nvCxnSpPr>
        <p:spPr>
          <a:xfrm flipH="1">
            <a:off x="9788314" y="2088611"/>
            <a:ext cx="497636" cy="0"/>
          </a:xfrm>
          <a:prstGeom prst="line">
            <a:avLst/>
          </a:prstGeom>
          <a:ln w="28575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39444050-1D68-C62B-0912-9FA2C613A52B}"/>
              </a:ext>
            </a:extLst>
          </p:cNvPr>
          <p:cNvSpPr/>
          <p:nvPr/>
        </p:nvSpPr>
        <p:spPr>
          <a:xfrm>
            <a:off x="8315413" y="740478"/>
            <a:ext cx="167880" cy="131567"/>
          </a:xfrm>
          <a:prstGeom prst="triangl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771E198-ED36-F52E-1E6B-D24B283E96EE}"/>
              </a:ext>
            </a:extLst>
          </p:cNvPr>
          <p:cNvCxnSpPr>
            <a:cxnSpLocks/>
            <a:stCxn id="28" idx="3"/>
          </p:cNvCxnSpPr>
          <p:nvPr/>
        </p:nvCxnSpPr>
        <p:spPr>
          <a:xfrm>
            <a:off x="8399353" y="872045"/>
            <a:ext cx="0" cy="359494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473071F-C675-3307-EDBD-BFAE7B980DE7}"/>
              </a:ext>
            </a:extLst>
          </p:cNvPr>
          <p:cNvSpPr txBox="1"/>
          <p:nvPr/>
        </p:nvSpPr>
        <p:spPr>
          <a:xfrm>
            <a:off x="8457827" y="859779"/>
            <a:ext cx="14695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2"/>
                </a:solidFill>
              </a:rPr>
              <a:t>public extends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26EB0CD-2EDA-3393-A570-20F5DB0868DA}"/>
              </a:ext>
            </a:extLst>
          </p:cNvPr>
          <p:cNvSpPr/>
          <p:nvPr/>
        </p:nvSpPr>
        <p:spPr>
          <a:xfrm>
            <a:off x="7456965" y="3410181"/>
            <a:ext cx="1171058" cy="50979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200" b="1" u="sng" dirty="0">
                <a:solidFill>
                  <a:schemeClr val="accent2">
                    <a:lumMod val="75000"/>
                  </a:schemeClr>
                </a:solidFill>
              </a:rPr>
              <a:t>Private Data</a:t>
            </a:r>
            <a:br>
              <a:rPr lang="en-CA" sz="1200" b="1" u="sng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CA" sz="1200" b="1" dirty="0">
                <a:solidFill>
                  <a:schemeClr val="accent2">
                    <a:lumMod val="75000"/>
                  </a:schemeClr>
                </a:solidFill>
              </a:rPr>
              <a:t>zone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8458E54-00E2-A32D-F456-58F4BF022374}"/>
              </a:ext>
            </a:extLst>
          </p:cNvPr>
          <p:cNvSpPr/>
          <p:nvPr/>
        </p:nvSpPr>
        <p:spPr>
          <a:xfrm>
            <a:off x="7944398" y="3692192"/>
            <a:ext cx="570403" cy="16666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691493A-5F9E-6572-F721-8808005E440D}"/>
              </a:ext>
            </a:extLst>
          </p:cNvPr>
          <p:cNvSpPr/>
          <p:nvPr/>
        </p:nvSpPr>
        <p:spPr>
          <a:xfrm>
            <a:off x="6756193" y="4068426"/>
            <a:ext cx="987127" cy="26842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2">
                    <a:lumMod val="75000"/>
                  </a:schemeClr>
                </a:solidFill>
              </a:rPr>
              <a:t>Set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3393D40-8301-5771-993D-77BA30CCF1EC}"/>
              </a:ext>
            </a:extLst>
          </p:cNvPr>
          <p:cNvSpPr/>
          <p:nvPr/>
        </p:nvSpPr>
        <p:spPr>
          <a:xfrm>
            <a:off x="6756193" y="4387487"/>
            <a:ext cx="987127" cy="26842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2">
                    <a:lumMod val="75000"/>
                  </a:schemeClr>
                </a:solidFill>
              </a:rPr>
              <a:t>Increment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C3A906F-90F0-6C7C-222C-B411C77A1EB0}"/>
              </a:ext>
            </a:extLst>
          </p:cNvPr>
          <p:cNvSpPr/>
          <p:nvPr/>
        </p:nvSpPr>
        <p:spPr>
          <a:xfrm>
            <a:off x="6756193" y="4695499"/>
            <a:ext cx="987127" cy="26842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2">
                    <a:lumMod val="75000"/>
                  </a:schemeClr>
                </a:solidFill>
              </a:rPr>
              <a:t>Write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5B3043D-F9FB-909E-B21D-62C3CB37F79C}"/>
              </a:ext>
            </a:extLst>
          </p:cNvPr>
          <p:cNvSpPr/>
          <p:nvPr/>
        </p:nvSpPr>
        <p:spPr>
          <a:xfrm>
            <a:off x="6756193" y="5014066"/>
            <a:ext cx="987127" cy="26842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accent2">
                    <a:lumMod val="75000"/>
                  </a:schemeClr>
                </a:solidFill>
              </a:rPr>
              <a:t>ExtTime</a:t>
            </a:r>
            <a:endParaRPr lang="en-US" sz="1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4D9E386-EE55-3813-DD9C-EA6D1C9E7132}"/>
              </a:ext>
            </a:extLst>
          </p:cNvPr>
          <p:cNvSpPr/>
          <p:nvPr/>
        </p:nvSpPr>
        <p:spPr>
          <a:xfrm>
            <a:off x="6756193" y="5323184"/>
            <a:ext cx="987127" cy="268422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accent2">
                    <a:lumMod val="75000"/>
                  </a:schemeClr>
                </a:solidFill>
              </a:rPr>
              <a:t>ExtTime</a:t>
            </a:r>
            <a:endParaRPr lang="en-US" sz="1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1006402E-962B-031A-CAC4-D09559249D06}"/>
              </a:ext>
            </a:extLst>
          </p:cNvPr>
          <p:cNvCxnSpPr>
            <a:endCxn id="38" idx="3"/>
          </p:cNvCxnSpPr>
          <p:nvPr/>
        </p:nvCxnSpPr>
        <p:spPr>
          <a:xfrm flipH="1" flipV="1">
            <a:off x="7743320" y="4521698"/>
            <a:ext cx="545056" cy="1220"/>
          </a:xfrm>
          <a:prstGeom prst="straightConnector1">
            <a:avLst/>
          </a:prstGeom>
          <a:ln w="38100">
            <a:solidFill>
              <a:schemeClr val="bg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9503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2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1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 tmFilter="0, 0; .2, .5; .8, .5; 1, 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8" dur="25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 tmFilter="0, 0; .2, .5; .8, .5; 1, 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1" dur="250" autoRev="1" fill="hold"/>
                                        <p:tgtEl>
                                          <p:spTgt spid="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2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 tmFilter="0, 0; .2, .5; .8, .5; 1, 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4" dur="250" autoRev="1" fill="hold"/>
                                        <p:tgtEl>
                                          <p:spTgt spid="2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 tmFilter="0, 0; .2, .5; .8, .5; 1, 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3" dur="250" autoRev="1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4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 tmFilter="0, 0; .2, .5; .8, .5; 1, 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6" dur="250" autoRev="1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 tmFilter="0, 0; .2, .5; .8, .5; 1, 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7" dur="250" autoRev="1" fill="hold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500" tmFilter="0, 0; .2, .5; .8, .5; 1, 0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0" dur="250" autoRev="1" fill="hold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00"/>
                            </p:stCondLst>
                            <p:childTnLst>
                              <p:par>
                                <p:cTn id="12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2" grpId="0" animBg="1"/>
      <p:bldP spid="18" grpId="0" animBg="1"/>
      <p:bldP spid="19" grpId="0" animBg="1"/>
      <p:bldP spid="23" grpId="0" animBg="1"/>
      <p:bldP spid="25" grpId="0" animBg="1"/>
      <p:bldP spid="26" grpId="0" animBg="1"/>
      <p:bldP spid="28" grpId="0" animBg="1"/>
      <p:bldP spid="30" grpId="0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101693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Grand 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4" y="1563637"/>
            <a:ext cx="5843873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 err="1"/>
              <a:t>ExtTime</a:t>
            </a:r>
            <a:r>
              <a:rPr lang="en-CA" sz="2200" dirty="0"/>
              <a:t> Subclass Implementation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From UML to Class Declaration (</a:t>
            </a:r>
            <a:r>
              <a:rPr lang="en-CA" b="1" dirty="0" err="1"/>
              <a:t>ExtTime.h</a:t>
            </a:r>
            <a:r>
              <a:rPr lang="en-CA" dirty="0"/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21</a:t>
            </a:fld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C6BB5C-60C6-D080-AE26-57BE87CDE4B2}"/>
              </a:ext>
            </a:extLst>
          </p:cNvPr>
          <p:cNvSpPr txBox="1"/>
          <p:nvPr/>
        </p:nvSpPr>
        <p:spPr>
          <a:xfrm>
            <a:off x="905687" y="2375200"/>
            <a:ext cx="5620926" cy="3416320"/>
          </a:xfrm>
          <a:prstGeom prst="rect">
            <a:avLst/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Time.h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</a:p>
          <a:p>
            <a:endParaRPr lang="en-US" sz="12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enum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 err="1">
                <a:solidFill>
                  <a:srgbClr val="FF7D7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ZoneType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{EST, CST, MST, PST, EDT, CDT, MDT, PDT};</a:t>
            </a:r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12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ExtTime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: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Time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private: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 err="1">
                <a:solidFill>
                  <a:srgbClr val="FF7D7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ZoneType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zone;</a:t>
            </a:r>
          </a:p>
          <a:p>
            <a:endParaRPr lang="en-US" sz="1200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public:</a:t>
            </a:r>
          </a:p>
          <a:p>
            <a:endParaRPr lang="en-US" sz="1200" b="1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Constructors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ExtTime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ExtTime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h,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s, </a:t>
            </a:r>
            <a:r>
              <a:rPr lang="en-US" sz="1200" b="1" dirty="0" err="1">
                <a:solidFill>
                  <a:srgbClr val="FF7D7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ZoneType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z);</a:t>
            </a:r>
          </a:p>
          <a:p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Set(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h,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s, </a:t>
            </a:r>
            <a:r>
              <a:rPr lang="en-US" sz="1200" b="1" dirty="0" err="1">
                <a:solidFill>
                  <a:srgbClr val="FF7D7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ZoneType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z);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Override</a:t>
            </a:r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void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Write()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Override</a:t>
            </a:r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EE6C35-C186-8E20-FF37-73633D73A2ED}"/>
              </a:ext>
            </a:extLst>
          </p:cNvPr>
          <p:cNvSpPr txBox="1"/>
          <p:nvPr/>
        </p:nvSpPr>
        <p:spPr>
          <a:xfrm>
            <a:off x="6424320" y="2071020"/>
            <a:ext cx="189543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ExtTime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ExtTime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zone = EST; }</a:t>
            </a:r>
          </a:p>
        </p:txBody>
      </p:sp>
      <p:sp>
        <p:nvSpPr>
          <p:cNvPr id="21" name="Speech Bubble: Rectangle 20">
            <a:extLst>
              <a:ext uri="{FF2B5EF4-FFF2-40B4-BE49-F238E27FC236}">
                <a16:creationId xmlns:a16="http://schemas.microsoft.com/office/drawing/2014/main" id="{3AA2759F-C407-D464-3521-973B45E8CB95}"/>
              </a:ext>
            </a:extLst>
          </p:cNvPr>
          <p:cNvSpPr/>
          <p:nvPr/>
        </p:nvSpPr>
        <p:spPr>
          <a:xfrm>
            <a:off x="7132320" y="1015337"/>
            <a:ext cx="3802492" cy="769441"/>
          </a:xfrm>
          <a:prstGeom prst="wedgeRectCallout">
            <a:avLst>
              <a:gd name="adj1" fmla="val -46866"/>
              <a:gd name="adj2" fmla="val 80801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u="sng" dirty="0">
                <a:solidFill>
                  <a:srgbClr val="7F1F1F"/>
                </a:solidFill>
              </a:rPr>
              <a:t>Default Constructor</a:t>
            </a:r>
          </a:p>
          <a:p>
            <a:pPr algn="ctr"/>
            <a:r>
              <a:rPr lang="en-CA" sz="1600" dirty="0">
                <a:solidFill>
                  <a:srgbClr val="7F1F1F"/>
                </a:solidFill>
              </a:rPr>
              <a:t> When called, </a:t>
            </a:r>
            <a:r>
              <a:rPr lang="en-CA" sz="1600" i="1" dirty="0">
                <a:solidFill>
                  <a:srgbClr val="7F1F1F"/>
                </a:solidFill>
              </a:rPr>
              <a:t>base class constructor </a:t>
            </a:r>
            <a:r>
              <a:rPr lang="en-CA" sz="1600" b="1" i="1" dirty="0">
                <a:solidFill>
                  <a:srgbClr val="7F1F1F"/>
                </a:solidFill>
              </a:rPr>
              <a:t>Time() </a:t>
            </a:r>
            <a:r>
              <a:rPr lang="en-CA" sz="1600" dirty="0">
                <a:solidFill>
                  <a:srgbClr val="7F1F1F"/>
                </a:solidFill>
              </a:rPr>
              <a:t>will be called first</a:t>
            </a:r>
            <a:endParaRPr lang="en-US" sz="1600" dirty="0">
              <a:solidFill>
                <a:srgbClr val="7F1F1F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471A12-5900-5226-AFA2-673D02F34542}"/>
              </a:ext>
            </a:extLst>
          </p:cNvPr>
          <p:cNvSpPr txBox="1"/>
          <p:nvPr/>
        </p:nvSpPr>
        <p:spPr>
          <a:xfrm>
            <a:off x="6424319" y="2593889"/>
            <a:ext cx="4822027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ExtTime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ExtTime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h,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s, </a:t>
            </a:r>
            <a:r>
              <a:rPr lang="en-US" sz="1200" b="1" dirty="0" err="1">
                <a:solidFill>
                  <a:srgbClr val="FF7D7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ZoneType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z)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:Time(h, m, s)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Specify base constructor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zone = z; }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2BF5F9E-B2D9-0B16-51B0-41B393529829}"/>
              </a:ext>
            </a:extLst>
          </p:cNvPr>
          <p:cNvSpPr txBox="1"/>
          <p:nvPr/>
        </p:nvSpPr>
        <p:spPr>
          <a:xfrm>
            <a:off x="6425305" y="3299649"/>
            <a:ext cx="4822027" cy="10156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ExtTime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::Set(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h,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s, </a:t>
            </a:r>
            <a:r>
              <a:rPr lang="en-US" sz="1200" b="1" dirty="0" err="1">
                <a:solidFill>
                  <a:srgbClr val="FF7D7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ZoneType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z)</a:t>
            </a:r>
            <a:b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Time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::Set(h, m, s);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Base Class Version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zone = z; 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BAADA69-DEEE-A10E-F8D8-F26F34B13CDA}"/>
              </a:ext>
            </a:extLst>
          </p:cNvPr>
          <p:cNvSpPr txBox="1"/>
          <p:nvPr/>
        </p:nvSpPr>
        <p:spPr>
          <a:xfrm>
            <a:off x="6424319" y="4385935"/>
            <a:ext cx="4822027" cy="15696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2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ExtTime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::Write()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b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string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ZoneStr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[8] = </a:t>
            </a:r>
          </a:p>
          <a:p>
            <a:r>
              <a:rPr lang="en-US" sz="1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{“EST”, “CST”, “MST”, “PST”, 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“EDT”, “CDT”, “MDT”, “PDT”};</a:t>
            </a:r>
            <a:endParaRPr lang="en-US" sz="1200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Time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::Write();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‘ ’ &lt;&lt;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ZoneStr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[zone] &lt;&lt;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4325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 tmFilter="0, 0; .2, .5; .8, .5; 1, 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250" autoRev="1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 tmFilter="0, 0; .2, .5; .8, .5; 1, 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250" autoRev="1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 tmFilter="0, 0; .2, .5; .8, .5; 1, 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2" dur="250" autoRev="1" fill="hold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31" grpId="0" animBg="1"/>
      <p:bldP spid="3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101693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Grand 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4" y="1563637"/>
            <a:ext cx="58438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Using </a:t>
            </a:r>
            <a:r>
              <a:rPr lang="en-CA" sz="2200" dirty="0" err="1"/>
              <a:t>ExtTime</a:t>
            </a:r>
            <a:endParaRPr lang="en-CA" sz="22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22</a:t>
            </a:fld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C6BB5C-60C6-D080-AE26-57BE87CDE4B2}"/>
              </a:ext>
            </a:extLst>
          </p:cNvPr>
          <p:cNvSpPr txBox="1"/>
          <p:nvPr/>
        </p:nvSpPr>
        <p:spPr>
          <a:xfrm>
            <a:off x="1053858" y="2082037"/>
            <a:ext cx="3678500" cy="3600986"/>
          </a:xfrm>
          <a:prstGeom prst="rect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ExtTime.h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</a:p>
          <a:p>
            <a:endParaRPr lang="en-US" sz="12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main()</a:t>
            </a:r>
            <a:endParaRPr lang="en-US" sz="12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ExtTime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thisTime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(8, 34, 59, PST);</a:t>
            </a:r>
          </a:p>
          <a:p>
            <a:r>
              <a:rPr lang="en-US" sz="1200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endParaRPr lang="en-US" sz="1200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BE8E21-EFCC-9CBE-FFA8-1C0F04C8A1EA}"/>
              </a:ext>
            </a:extLst>
          </p:cNvPr>
          <p:cNvSpPr txBox="1"/>
          <p:nvPr/>
        </p:nvSpPr>
        <p:spPr>
          <a:xfrm>
            <a:off x="4995257" y="5006298"/>
            <a:ext cx="4822027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ExtTime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ExtTime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h,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s, </a:t>
            </a:r>
            <a:r>
              <a:rPr lang="en-US" sz="1200" b="1" dirty="0" err="1">
                <a:solidFill>
                  <a:srgbClr val="FF7D7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ZoneType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z)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:Time(h, m, s)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Specify base constructor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zone = z; }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27327A-5F16-89A2-89AE-8F2B434DAC18}"/>
              </a:ext>
            </a:extLst>
          </p:cNvPr>
          <p:cNvSpPr/>
          <p:nvPr/>
        </p:nvSpPr>
        <p:spPr>
          <a:xfrm>
            <a:off x="4995257" y="1028872"/>
            <a:ext cx="2789111" cy="3321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Time</a:t>
            </a:r>
            <a:endParaRPr lang="en-US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3AA8D5-E7ED-051D-8A97-687429EC1A1C}"/>
              </a:ext>
            </a:extLst>
          </p:cNvPr>
          <p:cNvSpPr/>
          <p:nvPr/>
        </p:nvSpPr>
        <p:spPr>
          <a:xfrm>
            <a:off x="5005148" y="1369962"/>
            <a:ext cx="2771256" cy="624085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# hrs: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</a:p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# mins: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</a:p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# secs: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endParaRPr lang="en-US" sz="105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2D6B75-934C-7E02-9D48-C1FB65D39FCE}"/>
              </a:ext>
            </a:extLst>
          </p:cNvPr>
          <p:cNvSpPr/>
          <p:nvPr/>
        </p:nvSpPr>
        <p:spPr>
          <a:xfrm>
            <a:off x="4995257" y="1997315"/>
            <a:ext cx="2772787" cy="960351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+ Time()</a:t>
            </a:r>
            <a:endParaRPr lang="en-CA" sz="1050" b="1" dirty="0">
              <a:solidFill>
                <a:schemeClr val="accent1"/>
              </a:solidFill>
              <a:latin typeface="Courier"/>
            </a:endParaRPr>
          </a:p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+ Time(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h,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m,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s)</a:t>
            </a:r>
          </a:p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+ Set(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h,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m,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s):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void</a:t>
            </a:r>
          </a:p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+ Increment():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void</a:t>
            </a:r>
          </a:p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+ Write():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void const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1C846D-0884-4441-B98C-F1418F926B97}"/>
              </a:ext>
            </a:extLst>
          </p:cNvPr>
          <p:cNvSpPr/>
          <p:nvPr/>
        </p:nvSpPr>
        <p:spPr>
          <a:xfrm>
            <a:off x="8780400" y="1057747"/>
            <a:ext cx="2661066" cy="332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ExtTime</a:t>
            </a:r>
            <a:endParaRPr lang="en-US" b="1" dirty="0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7153CCE1-196A-215F-7C25-C7CE46EACBDD}"/>
              </a:ext>
            </a:extLst>
          </p:cNvPr>
          <p:cNvSpPr/>
          <p:nvPr/>
        </p:nvSpPr>
        <p:spPr>
          <a:xfrm rot="16200000">
            <a:off x="7758248" y="2067741"/>
            <a:ext cx="167880" cy="131567"/>
          </a:xfrm>
          <a:prstGeom prst="triangl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F8381D8-D703-22EA-B9D0-9DCEA4DEEEFC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7907972" y="2133525"/>
            <a:ext cx="871948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ABB282D-A59E-5D0C-1962-73DCD9F5C15D}"/>
              </a:ext>
            </a:extLst>
          </p:cNvPr>
          <p:cNvSpPr txBox="1"/>
          <p:nvPr/>
        </p:nvSpPr>
        <p:spPr>
          <a:xfrm>
            <a:off x="7970962" y="1583925"/>
            <a:ext cx="9405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2"/>
                </a:solidFill>
              </a:rPr>
              <a:t>public extends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8EB3C7A-9B37-7C77-6F41-4E2AFAB5DF23}"/>
              </a:ext>
            </a:extLst>
          </p:cNvPr>
          <p:cNvSpPr/>
          <p:nvPr/>
        </p:nvSpPr>
        <p:spPr>
          <a:xfrm>
            <a:off x="8782599" y="1382983"/>
            <a:ext cx="2652170" cy="326396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>
                <a:solidFill>
                  <a:schemeClr val="tx1"/>
                </a:solidFill>
                <a:latin typeface="Courier"/>
              </a:rPr>
              <a:t>- zone: </a:t>
            </a:r>
            <a:r>
              <a:rPr lang="en-US" sz="1100" b="1" dirty="0" err="1">
                <a:solidFill>
                  <a:schemeClr val="accent6"/>
                </a:solidFill>
                <a:latin typeface="Courier"/>
              </a:rPr>
              <a:t>ZoneType</a:t>
            </a:r>
            <a:endParaRPr lang="en-US" sz="1100" b="1" dirty="0">
              <a:solidFill>
                <a:schemeClr val="accent6"/>
              </a:solidFill>
              <a:latin typeface="Courier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792E756-3324-DA1C-0E2A-9936695A9BFA}"/>
              </a:ext>
            </a:extLst>
          </p:cNvPr>
          <p:cNvSpPr/>
          <p:nvPr/>
        </p:nvSpPr>
        <p:spPr>
          <a:xfrm>
            <a:off x="8779920" y="1695275"/>
            <a:ext cx="2652170" cy="1105465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050" b="1" dirty="0" err="1">
                <a:solidFill>
                  <a:schemeClr val="tx1"/>
                </a:solidFill>
                <a:latin typeface="Courier"/>
              </a:rPr>
              <a:t>ExtTime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()</a:t>
            </a:r>
          </a:p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050" b="1" dirty="0" err="1">
                <a:solidFill>
                  <a:schemeClr val="tx1"/>
                </a:solidFill>
                <a:latin typeface="Courier"/>
              </a:rPr>
              <a:t>ExtTime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(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h,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m,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s, </a:t>
            </a:r>
            <a:br>
              <a:rPr lang="en-CA" sz="1050" b="1" dirty="0">
                <a:solidFill>
                  <a:schemeClr val="tx1"/>
                </a:solidFill>
                <a:latin typeface="Courier"/>
              </a:rPr>
            </a:br>
            <a:r>
              <a:rPr lang="en-CA" sz="1050" b="1" dirty="0">
                <a:solidFill>
                  <a:schemeClr val="tx1"/>
                </a:solidFill>
                <a:latin typeface="Courier"/>
              </a:rPr>
              <a:t>                    </a:t>
            </a:r>
            <a:r>
              <a:rPr lang="en-CA" sz="1050" b="1" dirty="0" err="1">
                <a:solidFill>
                  <a:schemeClr val="accent6"/>
                </a:solidFill>
                <a:latin typeface="Courier"/>
              </a:rPr>
              <a:t>ZoneType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z)</a:t>
            </a:r>
          </a:p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+ Set(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h,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m,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s, </a:t>
            </a:r>
            <a:br>
              <a:rPr lang="en-CA" sz="1050" b="1" dirty="0">
                <a:solidFill>
                  <a:schemeClr val="tx1"/>
                </a:solidFill>
                <a:latin typeface="Courier"/>
              </a:rPr>
            </a:br>
            <a:r>
              <a:rPr lang="en-CA" sz="1050" b="1" dirty="0">
                <a:solidFill>
                  <a:schemeClr val="tx1"/>
                </a:solidFill>
                <a:latin typeface="Courier"/>
              </a:rPr>
              <a:t>             </a:t>
            </a:r>
            <a:r>
              <a:rPr lang="en-CA" sz="1050" b="1" dirty="0" err="1">
                <a:solidFill>
                  <a:schemeClr val="accent6"/>
                </a:solidFill>
                <a:latin typeface="Courier"/>
              </a:rPr>
              <a:t>ZoneType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z) :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void</a:t>
            </a:r>
          </a:p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+ Write():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void const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FCC4692-98AD-D27F-C325-BFEE8D1321C6}"/>
              </a:ext>
            </a:extLst>
          </p:cNvPr>
          <p:cNvSpPr/>
          <p:nvPr/>
        </p:nvSpPr>
        <p:spPr>
          <a:xfrm>
            <a:off x="8938869" y="2934474"/>
            <a:ext cx="1171058" cy="129302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u="sng" dirty="0" err="1">
                <a:solidFill>
                  <a:schemeClr val="accent2">
                    <a:lumMod val="75000"/>
                  </a:schemeClr>
                </a:solidFill>
              </a:rPr>
              <a:t>thisTime</a:t>
            </a:r>
            <a:endParaRPr lang="en-CA" sz="1600" b="1" u="sng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CA" sz="1400" dirty="0">
                <a:solidFill>
                  <a:schemeClr val="accent2">
                    <a:lumMod val="75000"/>
                  </a:schemeClr>
                </a:solidFill>
              </a:rPr>
              <a:t>hrs = 8</a:t>
            </a:r>
          </a:p>
          <a:p>
            <a:r>
              <a:rPr lang="en-CA" sz="1400" dirty="0">
                <a:solidFill>
                  <a:schemeClr val="accent2">
                    <a:lumMod val="75000"/>
                  </a:schemeClr>
                </a:solidFill>
              </a:rPr>
              <a:t>mins = 34</a:t>
            </a:r>
          </a:p>
          <a:p>
            <a:r>
              <a:rPr lang="en-CA" sz="1400" dirty="0">
                <a:solidFill>
                  <a:schemeClr val="accent2">
                    <a:lumMod val="75000"/>
                  </a:schemeClr>
                </a:solidFill>
              </a:rPr>
              <a:t>secs = 59</a:t>
            </a:r>
          </a:p>
          <a:p>
            <a:r>
              <a:rPr lang="en-CA" sz="1400" dirty="0">
                <a:solidFill>
                  <a:schemeClr val="accent2">
                    <a:lumMod val="75000"/>
                  </a:schemeClr>
                </a:solidFill>
              </a:rPr>
              <a:t>zone = PST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57ED574-6A33-CF4F-EE78-33A50F8DF1C4}"/>
              </a:ext>
            </a:extLst>
          </p:cNvPr>
          <p:cNvSpPr txBox="1"/>
          <p:nvPr/>
        </p:nvSpPr>
        <p:spPr>
          <a:xfrm>
            <a:off x="4995257" y="3717838"/>
            <a:ext cx="3177508" cy="120032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Time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::Time(</a:t>
            </a:r>
            <a:r>
              <a:rPr lang="en-US" sz="12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h, </a:t>
            </a:r>
            <a:r>
              <a:rPr lang="en-US" sz="12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m, </a:t>
            </a:r>
            <a:r>
              <a:rPr lang="en-US" sz="12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s)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Preliminary error check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hrs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h % 24; 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mins = m % 60; 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secs = s % 60; 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94520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 tmFilter="0, 0; .2, .5; .8, .5; 1, 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1" dur="250" autoRev="1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30" grpId="0" animBg="1"/>
      <p:bldP spid="3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101693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Grand 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4" y="1563637"/>
            <a:ext cx="58438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Using </a:t>
            </a:r>
            <a:r>
              <a:rPr lang="en-CA" sz="2200" dirty="0" err="1"/>
              <a:t>ExtTime</a:t>
            </a:r>
            <a:endParaRPr lang="en-CA" sz="22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23</a:t>
            </a:fld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C6BB5C-60C6-D080-AE26-57BE87CDE4B2}"/>
              </a:ext>
            </a:extLst>
          </p:cNvPr>
          <p:cNvSpPr txBox="1"/>
          <p:nvPr/>
        </p:nvSpPr>
        <p:spPr>
          <a:xfrm>
            <a:off x="1053858" y="2082037"/>
            <a:ext cx="3678500" cy="3416320"/>
          </a:xfrm>
          <a:prstGeom prst="rect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ExtTime.h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</a:p>
          <a:p>
            <a:endParaRPr lang="en-US" sz="12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main()</a:t>
            </a:r>
            <a:endParaRPr lang="en-US" sz="12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ExtTime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thisTime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(8, 34, 59, PST);</a:t>
            </a:r>
          </a:p>
          <a:p>
            <a:r>
              <a:rPr lang="en-US" sz="1200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ExtTime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thatTime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200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27327A-5F16-89A2-89AE-8F2B434DAC18}"/>
              </a:ext>
            </a:extLst>
          </p:cNvPr>
          <p:cNvSpPr/>
          <p:nvPr/>
        </p:nvSpPr>
        <p:spPr>
          <a:xfrm>
            <a:off x="4995257" y="1028872"/>
            <a:ext cx="2789111" cy="3321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Time</a:t>
            </a:r>
            <a:endParaRPr lang="en-US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3AA8D5-E7ED-051D-8A97-687429EC1A1C}"/>
              </a:ext>
            </a:extLst>
          </p:cNvPr>
          <p:cNvSpPr/>
          <p:nvPr/>
        </p:nvSpPr>
        <p:spPr>
          <a:xfrm>
            <a:off x="5005148" y="1369962"/>
            <a:ext cx="2771256" cy="624085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# hrs: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</a:p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# mins: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</a:p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# secs: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endParaRPr lang="en-US" sz="105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2D6B75-934C-7E02-9D48-C1FB65D39FCE}"/>
              </a:ext>
            </a:extLst>
          </p:cNvPr>
          <p:cNvSpPr/>
          <p:nvPr/>
        </p:nvSpPr>
        <p:spPr>
          <a:xfrm>
            <a:off x="4995257" y="1997315"/>
            <a:ext cx="2772787" cy="960351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+ Time()</a:t>
            </a:r>
            <a:endParaRPr lang="en-CA" sz="1050" b="1" dirty="0">
              <a:solidFill>
                <a:schemeClr val="accent1"/>
              </a:solidFill>
              <a:latin typeface="Courier"/>
            </a:endParaRPr>
          </a:p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+ Time(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h,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m,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s)</a:t>
            </a:r>
          </a:p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+ Set(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h,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m,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s):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void</a:t>
            </a:r>
          </a:p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+ Increment():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void</a:t>
            </a:r>
          </a:p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+ Write():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void const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1C846D-0884-4441-B98C-F1418F926B97}"/>
              </a:ext>
            </a:extLst>
          </p:cNvPr>
          <p:cNvSpPr/>
          <p:nvPr/>
        </p:nvSpPr>
        <p:spPr>
          <a:xfrm>
            <a:off x="8780400" y="1057747"/>
            <a:ext cx="2661066" cy="332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ExtTime</a:t>
            </a:r>
            <a:endParaRPr lang="en-US" b="1" dirty="0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7153CCE1-196A-215F-7C25-C7CE46EACBDD}"/>
              </a:ext>
            </a:extLst>
          </p:cNvPr>
          <p:cNvSpPr/>
          <p:nvPr/>
        </p:nvSpPr>
        <p:spPr>
          <a:xfrm rot="16200000">
            <a:off x="7758248" y="2067741"/>
            <a:ext cx="167880" cy="131567"/>
          </a:xfrm>
          <a:prstGeom prst="triangl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F8381D8-D703-22EA-B9D0-9DCEA4DEEEFC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7907972" y="2133525"/>
            <a:ext cx="871948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ABB282D-A59E-5D0C-1962-73DCD9F5C15D}"/>
              </a:ext>
            </a:extLst>
          </p:cNvPr>
          <p:cNvSpPr txBox="1"/>
          <p:nvPr/>
        </p:nvSpPr>
        <p:spPr>
          <a:xfrm>
            <a:off x="7970962" y="1583925"/>
            <a:ext cx="9405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2"/>
                </a:solidFill>
              </a:rPr>
              <a:t>public extends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8EB3C7A-9B37-7C77-6F41-4E2AFAB5DF23}"/>
              </a:ext>
            </a:extLst>
          </p:cNvPr>
          <p:cNvSpPr/>
          <p:nvPr/>
        </p:nvSpPr>
        <p:spPr>
          <a:xfrm>
            <a:off x="8782599" y="1382983"/>
            <a:ext cx="2652170" cy="326396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>
                <a:solidFill>
                  <a:schemeClr val="tx1"/>
                </a:solidFill>
                <a:latin typeface="Courier"/>
              </a:rPr>
              <a:t>- zone: </a:t>
            </a:r>
            <a:r>
              <a:rPr lang="en-US" sz="1100" b="1" dirty="0" err="1">
                <a:solidFill>
                  <a:schemeClr val="accent6"/>
                </a:solidFill>
                <a:latin typeface="Courier"/>
              </a:rPr>
              <a:t>ZoneType</a:t>
            </a:r>
            <a:endParaRPr lang="en-US" sz="1100" b="1" dirty="0">
              <a:solidFill>
                <a:schemeClr val="accent6"/>
              </a:solidFill>
              <a:latin typeface="Courier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792E756-3324-DA1C-0E2A-9936695A9BFA}"/>
              </a:ext>
            </a:extLst>
          </p:cNvPr>
          <p:cNvSpPr/>
          <p:nvPr/>
        </p:nvSpPr>
        <p:spPr>
          <a:xfrm>
            <a:off x="8779920" y="1695275"/>
            <a:ext cx="2652170" cy="1105465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050" b="1" dirty="0" err="1">
                <a:solidFill>
                  <a:schemeClr val="tx1"/>
                </a:solidFill>
                <a:latin typeface="Courier"/>
              </a:rPr>
              <a:t>ExtTime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()</a:t>
            </a:r>
          </a:p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050" b="1" dirty="0" err="1">
                <a:solidFill>
                  <a:schemeClr val="tx1"/>
                </a:solidFill>
                <a:latin typeface="Courier"/>
              </a:rPr>
              <a:t>ExtTime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(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h,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m,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s, </a:t>
            </a:r>
            <a:br>
              <a:rPr lang="en-CA" sz="1050" b="1" dirty="0">
                <a:solidFill>
                  <a:schemeClr val="tx1"/>
                </a:solidFill>
                <a:latin typeface="Courier"/>
              </a:rPr>
            </a:br>
            <a:r>
              <a:rPr lang="en-CA" sz="1050" b="1" dirty="0">
                <a:solidFill>
                  <a:schemeClr val="tx1"/>
                </a:solidFill>
                <a:latin typeface="Courier"/>
              </a:rPr>
              <a:t>                    </a:t>
            </a:r>
            <a:r>
              <a:rPr lang="en-CA" sz="1050" b="1" dirty="0" err="1">
                <a:solidFill>
                  <a:schemeClr val="accent6"/>
                </a:solidFill>
                <a:latin typeface="Courier"/>
              </a:rPr>
              <a:t>ZoneType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z)</a:t>
            </a:r>
          </a:p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+ Set(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h,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m,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s, </a:t>
            </a:r>
            <a:br>
              <a:rPr lang="en-CA" sz="1050" b="1" dirty="0">
                <a:solidFill>
                  <a:schemeClr val="tx1"/>
                </a:solidFill>
                <a:latin typeface="Courier"/>
              </a:rPr>
            </a:br>
            <a:r>
              <a:rPr lang="en-CA" sz="1050" b="1" dirty="0">
                <a:solidFill>
                  <a:schemeClr val="tx1"/>
                </a:solidFill>
                <a:latin typeface="Courier"/>
              </a:rPr>
              <a:t>             </a:t>
            </a:r>
            <a:r>
              <a:rPr lang="en-CA" sz="1050" b="1" dirty="0" err="1">
                <a:solidFill>
                  <a:schemeClr val="accent6"/>
                </a:solidFill>
                <a:latin typeface="Courier"/>
              </a:rPr>
              <a:t>ZoneType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z) :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void</a:t>
            </a:r>
          </a:p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+ Write():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void const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FCC4692-98AD-D27F-C325-BFEE8D1321C6}"/>
              </a:ext>
            </a:extLst>
          </p:cNvPr>
          <p:cNvSpPr/>
          <p:nvPr/>
        </p:nvSpPr>
        <p:spPr>
          <a:xfrm>
            <a:off x="8938869" y="2934474"/>
            <a:ext cx="1171058" cy="129302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u="sng" dirty="0" err="1">
                <a:solidFill>
                  <a:schemeClr val="accent2">
                    <a:lumMod val="75000"/>
                  </a:schemeClr>
                </a:solidFill>
              </a:rPr>
              <a:t>thisTime</a:t>
            </a:r>
            <a:endParaRPr lang="en-CA" sz="1600" b="1" u="sng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CA" sz="1400" dirty="0">
                <a:solidFill>
                  <a:schemeClr val="accent2">
                    <a:lumMod val="75000"/>
                  </a:schemeClr>
                </a:solidFill>
              </a:rPr>
              <a:t>hrs = 8</a:t>
            </a:r>
          </a:p>
          <a:p>
            <a:r>
              <a:rPr lang="en-CA" sz="1400" dirty="0">
                <a:solidFill>
                  <a:schemeClr val="accent2">
                    <a:lumMod val="75000"/>
                  </a:schemeClr>
                </a:solidFill>
              </a:rPr>
              <a:t>mins = 34</a:t>
            </a:r>
          </a:p>
          <a:p>
            <a:r>
              <a:rPr lang="en-CA" sz="1400" dirty="0">
                <a:solidFill>
                  <a:schemeClr val="accent2">
                    <a:lumMod val="75000"/>
                  </a:schemeClr>
                </a:solidFill>
              </a:rPr>
              <a:t>secs = 59</a:t>
            </a:r>
          </a:p>
          <a:p>
            <a:r>
              <a:rPr lang="en-CA" sz="1400" dirty="0">
                <a:solidFill>
                  <a:schemeClr val="accent2">
                    <a:lumMod val="75000"/>
                  </a:schemeClr>
                </a:solidFill>
              </a:rPr>
              <a:t>zone = PST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76C854-7F1F-158D-A541-0C27C89F5197}"/>
              </a:ext>
            </a:extLst>
          </p:cNvPr>
          <p:cNvSpPr txBox="1"/>
          <p:nvPr/>
        </p:nvSpPr>
        <p:spPr>
          <a:xfrm>
            <a:off x="5005148" y="4990411"/>
            <a:ext cx="189543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ExtTime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ExtTime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zone = EST; }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D6D3E4-A09D-5337-0092-EF123E6B5499}"/>
              </a:ext>
            </a:extLst>
          </p:cNvPr>
          <p:cNvSpPr txBox="1"/>
          <p:nvPr/>
        </p:nvSpPr>
        <p:spPr>
          <a:xfrm>
            <a:off x="5011966" y="4423259"/>
            <a:ext cx="3182800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Time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::Time()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hrs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0; mins = 0; secs = 0; }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24C13B0-AFA7-F847-7378-54B22F7E2013}"/>
              </a:ext>
            </a:extLst>
          </p:cNvPr>
          <p:cNvSpPr/>
          <p:nvPr/>
        </p:nvSpPr>
        <p:spPr>
          <a:xfrm>
            <a:off x="10239204" y="2934473"/>
            <a:ext cx="1171058" cy="129302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u="sng" dirty="0" err="1">
                <a:solidFill>
                  <a:schemeClr val="accent2">
                    <a:lumMod val="75000"/>
                  </a:schemeClr>
                </a:solidFill>
              </a:rPr>
              <a:t>thatTime</a:t>
            </a:r>
            <a:endParaRPr lang="en-CA" sz="1600" b="1" u="sng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CA" sz="1400" dirty="0">
                <a:solidFill>
                  <a:schemeClr val="accent2">
                    <a:lumMod val="75000"/>
                  </a:schemeClr>
                </a:solidFill>
              </a:rPr>
              <a:t>hrs = 0</a:t>
            </a:r>
          </a:p>
          <a:p>
            <a:r>
              <a:rPr lang="en-CA" sz="1400" dirty="0">
                <a:solidFill>
                  <a:schemeClr val="accent2">
                    <a:lumMod val="75000"/>
                  </a:schemeClr>
                </a:solidFill>
              </a:rPr>
              <a:t>mins = 0</a:t>
            </a:r>
          </a:p>
          <a:p>
            <a:r>
              <a:rPr lang="en-CA" sz="1400" dirty="0">
                <a:solidFill>
                  <a:schemeClr val="accent2">
                    <a:lumMod val="75000"/>
                  </a:schemeClr>
                </a:solidFill>
              </a:rPr>
              <a:t>secs = 0</a:t>
            </a:r>
          </a:p>
          <a:p>
            <a:r>
              <a:rPr lang="en-CA" sz="1400" dirty="0">
                <a:solidFill>
                  <a:schemeClr val="accent2">
                    <a:lumMod val="75000"/>
                  </a:schemeClr>
                </a:solidFill>
              </a:rPr>
              <a:t>zone = EST</a:t>
            </a:r>
          </a:p>
        </p:txBody>
      </p:sp>
    </p:spTree>
    <p:extLst>
      <p:ext uri="{BB962C8B-B14F-4D97-AF65-F5344CB8AC3E}">
        <p14:creationId xmlns:p14="http://schemas.microsoft.com/office/powerpoint/2010/main" val="2944700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9" grpId="0" animBg="1"/>
      <p:bldP spid="2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101693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Grand 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4" y="1563637"/>
            <a:ext cx="58438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Using </a:t>
            </a:r>
            <a:r>
              <a:rPr lang="en-CA" sz="2200" dirty="0" err="1"/>
              <a:t>ExtTime</a:t>
            </a:r>
            <a:endParaRPr lang="en-CA" sz="22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24</a:t>
            </a:fld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C6BB5C-60C6-D080-AE26-57BE87CDE4B2}"/>
              </a:ext>
            </a:extLst>
          </p:cNvPr>
          <p:cNvSpPr txBox="1"/>
          <p:nvPr/>
        </p:nvSpPr>
        <p:spPr>
          <a:xfrm>
            <a:off x="1053858" y="2082037"/>
            <a:ext cx="3678500" cy="3416320"/>
          </a:xfrm>
          <a:prstGeom prst="rect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ExtTime.h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</a:p>
          <a:p>
            <a:endParaRPr lang="en-US" sz="12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main()</a:t>
            </a:r>
            <a:endParaRPr lang="en-US" sz="12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ExtTime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thisTime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(8, 34, 59, PST);</a:t>
            </a:r>
          </a:p>
          <a:p>
            <a:r>
              <a:rPr lang="en-US" sz="1200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ExtTime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thatTime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200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thisTime.Write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thatTime.Write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endParaRPr lang="en-US" sz="1200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27327A-5F16-89A2-89AE-8F2B434DAC18}"/>
              </a:ext>
            </a:extLst>
          </p:cNvPr>
          <p:cNvSpPr/>
          <p:nvPr/>
        </p:nvSpPr>
        <p:spPr>
          <a:xfrm>
            <a:off x="4995257" y="1028872"/>
            <a:ext cx="2789111" cy="3321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Time</a:t>
            </a:r>
            <a:endParaRPr lang="en-US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3AA8D5-E7ED-051D-8A97-687429EC1A1C}"/>
              </a:ext>
            </a:extLst>
          </p:cNvPr>
          <p:cNvSpPr/>
          <p:nvPr/>
        </p:nvSpPr>
        <p:spPr>
          <a:xfrm>
            <a:off x="5005148" y="1369962"/>
            <a:ext cx="2771256" cy="624085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# hrs: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</a:p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# mins: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</a:p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# secs: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endParaRPr lang="en-US" sz="105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2D6B75-934C-7E02-9D48-C1FB65D39FCE}"/>
              </a:ext>
            </a:extLst>
          </p:cNvPr>
          <p:cNvSpPr/>
          <p:nvPr/>
        </p:nvSpPr>
        <p:spPr>
          <a:xfrm>
            <a:off x="4995257" y="1997315"/>
            <a:ext cx="2772787" cy="960351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+ Time()</a:t>
            </a:r>
            <a:endParaRPr lang="en-CA" sz="1050" b="1" dirty="0">
              <a:solidFill>
                <a:schemeClr val="accent1"/>
              </a:solidFill>
              <a:latin typeface="Courier"/>
            </a:endParaRPr>
          </a:p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+ Time(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h,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m,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s)</a:t>
            </a:r>
          </a:p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+ Set(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h,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m,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s):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void</a:t>
            </a:r>
          </a:p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+ Increment():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void</a:t>
            </a:r>
          </a:p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+ Write():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void const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1C846D-0884-4441-B98C-F1418F926B97}"/>
              </a:ext>
            </a:extLst>
          </p:cNvPr>
          <p:cNvSpPr/>
          <p:nvPr/>
        </p:nvSpPr>
        <p:spPr>
          <a:xfrm>
            <a:off x="8780400" y="1057747"/>
            <a:ext cx="2661066" cy="332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ExtTime</a:t>
            </a:r>
            <a:endParaRPr lang="en-US" b="1" dirty="0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7153CCE1-196A-215F-7C25-C7CE46EACBDD}"/>
              </a:ext>
            </a:extLst>
          </p:cNvPr>
          <p:cNvSpPr/>
          <p:nvPr/>
        </p:nvSpPr>
        <p:spPr>
          <a:xfrm rot="16200000">
            <a:off x="7758248" y="2067741"/>
            <a:ext cx="167880" cy="131567"/>
          </a:xfrm>
          <a:prstGeom prst="triangl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F8381D8-D703-22EA-B9D0-9DCEA4DEEEFC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7907972" y="2133525"/>
            <a:ext cx="871948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ABB282D-A59E-5D0C-1962-73DCD9F5C15D}"/>
              </a:ext>
            </a:extLst>
          </p:cNvPr>
          <p:cNvSpPr txBox="1"/>
          <p:nvPr/>
        </p:nvSpPr>
        <p:spPr>
          <a:xfrm>
            <a:off x="7970962" y="1583925"/>
            <a:ext cx="9405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2"/>
                </a:solidFill>
              </a:rPr>
              <a:t>public extends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8EB3C7A-9B37-7C77-6F41-4E2AFAB5DF23}"/>
              </a:ext>
            </a:extLst>
          </p:cNvPr>
          <p:cNvSpPr/>
          <p:nvPr/>
        </p:nvSpPr>
        <p:spPr>
          <a:xfrm>
            <a:off x="8782599" y="1382983"/>
            <a:ext cx="2652170" cy="326396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>
                <a:solidFill>
                  <a:schemeClr val="tx1"/>
                </a:solidFill>
                <a:latin typeface="Courier"/>
              </a:rPr>
              <a:t>- zone: </a:t>
            </a:r>
            <a:r>
              <a:rPr lang="en-US" sz="1100" b="1" dirty="0" err="1">
                <a:solidFill>
                  <a:schemeClr val="accent6"/>
                </a:solidFill>
                <a:latin typeface="Courier"/>
              </a:rPr>
              <a:t>ZoneType</a:t>
            </a:r>
            <a:endParaRPr lang="en-US" sz="1100" b="1" dirty="0">
              <a:solidFill>
                <a:schemeClr val="accent6"/>
              </a:solidFill>
              <a:latin typeface="Courier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792E756-3324-DA1C-0E2A-9936695A9BFA}"/>
              </a:ext>
            </a:extLst>
          </p:cNvPr>
          <p:cNvSpPr/>
          <p:nvPr/>
        </p:nvSpPr>
        <p:spPr>
          <a:xfrm>
            <a:off x="8779920" y="1695275"/>
            <a:ext cx="2652170" cy="1105465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050" b="1" dirty="0" err="1">
                <a:solidFill>
                  <a:schemeClr val="tx1"/>
                </a:solidFill>
                <a:latin typeface="Courier"/>
              </a:rPr>
              <a:t>ExtTime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()</a:t>
            </a:r>
          </a:p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050" b="1" dirty="0" err="1">
                <a:solidFill>
                  <a:schemeClr val="tx1"/>
                </a:solidFill>
                <a:latin typeface="Courier"/>
              </a:rPr>
              <a:t>ExtTime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(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h,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m,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s, </a:t>
            </a:r>
            <a:br>
              <a:rPr lang="en-CA" sz="1050" b="1" dirty="0">
                <a:solidFill>
                  <a:schemeClr val="tx1"/>
                </a:solidFill>
                <a:latin typeface="Courier"/>
              </a:rPr>
            </a:br>
            <a:r>
              <a:rPr lang="en-CA" sz="1050" b="1" dirty="0">
                <a:solidFill>
                  <a:schemeClr val="tx1"/>
                </a:solidFill>
                <a:latin typeface="Courier"/>
              </a:rPr>
              <a:t>                    </a:t>
            </a:r>
            <a:r>
              <a:rPr lang="en-CA" sz="1050" b="1" dirty="0" err="1">
                <a:solidFill>
                  <a:schemeClr val="accent6"/>
                </a:solidFill>
                <a:latin typeface="Courier"/>
              </a:rPr>
              <a:t>ZoneType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z)</a:t>
            </a:r>
          </a:p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+ Set(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h,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m,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s, </a:t>
            </a:r>
            <a:br>
              <a:rPr lang="en-CA" sz="1050" b="1" dirty="0">
                <a:solidFill>
                  <a:schemeClr val="tx1"/>
                </a:solidFill>
                <a:latin typeface="Courier"/>
              </a:rPr>
            </a:br>
            <a:r>
              <a:rPr lang="en-CA" sz="1050" b="1" dirty="0">
                <a:solidFill>
                  <a:schemeClr val="tx1"/>
                </a:solidFill>
                <a:latin typeface="Courier"/>
              </a:rPr>
              <a:t>             </a:t>
            </a:r>
            <a:r>
              <a:rPr lang="en-CA" sz="1050" b="1" dirty="0" err="1">
                <a:solidFill>
                  <a:schemeClr val="accent6"/>
                </a:solidFill>
                <a:latin typeface="Courier"/>
              </a:rPr>
              <a:t>ZoneType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z) :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void</a:t>
            </a:r>
          </a:p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+ Write():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void const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FCC4692-98AD-D27F-C325-BFEE8D1321C6}"/>
              </a:ext>
            </a:extLst>
          </p:cNvPr>
          <p:cNvSpPr/>
          <p:nvPr/>
        </p:nvSpPr>
        <p:spPr>
          <a:xfrm>
            <a:off x="8938869" y="2934474"/>
            <a:ext cx="1171058" cy="129302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u="sng" dirty="0" err="1">
                <a:solidFill>
                  <a:schemeClr val="accent2">
                    <a:lumMod val="75000"/>
                  </a:schemeClr>
                </a:solidFill>
              </a:rPr>
              <a:t>thisTime</a:t>
            </a:r>
            <a:endParaRPr lang="en-CA" sz="1600" b="1" u="sng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CA" sz="1400" dirty="0">
                <a:solidFill>
                  <a:schemeClr val="accent2">
                    <a:lumMod val="75000"/>
                  </a:schemeClr>
                </a:solidFill>
              </a:rPr>
              <a:t>hrs = 8</a:t>
            </a:r>
          </a:p>
          <a:p>
            <a:r>
              <a:rPr lang="en-CA" sz="1400" dirty="0">
                <a:solidFill>
                  <a:schemeClr val="accent2">
                    <a:lumMod val="75000"/>
                  </a:schemeClr>
                </a:solidFill>
              </a:rPr>
              <a:t>mins = 34</a:t>
            </a:r>
          </a:p>
          <a:p>
            <a:r>
              <a:rPr lang="en-CA" sz="1400" dirty="0">
                <a:solidFill>
                  <a:schemeClr val="accent2">
                    <a:lumMod val="75000"/>
                  </a:schemeClr>
                </a:solidFill>
              </a:rPr>
              <a:t>secs = 59</a:t>
            </a:r>
          </a:p>
          <a:p>
            <a:r>
              <a:rPr lang="en-CA" sz="1400" dirty="0">
                <a:solidFill>
                  <a:schemeClr val="accent2">
                    <a:lumMod val="75000"/>
                  </a:schemeClr>
                </a:solidFill>
              </a:rPr>
              <a:t>zone = PST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24C13B0-AFA7-F847-7378-54B22F7E2013}"/>
              </a:ext>
            </a:extLst>
          </p:cNvPr>
          <p:cNvSpPr/>
          <p:nvPr/>
        </p:nvSpPr>
        <p:spPr>
          <a:xfrm>
            <a:off x="10239204" y="2934473"/>
            <a:ext cx="1171058" cy="129302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u="sng" dirty="0" err="1">
                <a:solidFill>
                  <a:schemeClr val="accent2">
                    <a:lumMod val="75000"/>
                  </a:schemeClr>
                </a:solidFill>
              </a:rPr>
              <a:t>thatTime</a:t>
            </a:r>
            <a:endParaRPr lang="en-CA" sz="1600" b="1" u="sng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CA" sz="1400" dirty="0">
                <a:solidFill>
                  <a:schemeClr val="accent2">
                    <a:lumMod val="75000"/>
                  </a:schemeClr>
                </a:solidFill>
              </a:rPr>
              <a:t>hrs = 0</a:t>
            </a:r>
          </a:p>
          <a:p>
            <a:r>
              <a:rPr lang="en-CA" sz="1400" dirty="0">
                <a:solidFill>
                  <a:schemeClr val="accent2">
                    <a:lumMod val="75000"/>
                  </a:schemeClr>
                </a:solidFill>
              </a:rPr>
              <a:t>mins = 0</a:t>
            </a:r>
          </a:p>
          <a:p>
            <a:r>
              <a:rPr lang="en-CA" sz="1400" dirty="0">
                <a:solidFill>
                  <a:schemeClr val="accent2">
                    <a:lumMod val="75000"/>
                  </a:schemeClr>
                </a:solidFill>
              </a:rPr>
              <a:t>secs = 0</a:t>
            </a:r>
          </a:p>
          <a:p>
            <a:r>
              <a:rPr lang="en-CA" sz="1400" dirty="0">
                <a:solidFill>
                  <a:schemeClr val="accent2">
                    <a:lumMod val="75000"/>
                  </a:schemeClr>
                </a:solidFill>
              </a:rPr>
              <a:t>zone = EST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47C9FD-C114-286D-8AF3-D3C5E0CF3800}"/>
              </a:ext>
            </a:extLst>
          </p:cNvPr>
          <p:cNvSpPr txBox="1"/>
          <p:nvPr/>
        </p:nvSpPr>
        <p:spPr>
          <a:xfrm>
            <a:off x="4769084" y="4259468"/>
            <a:ext cx="3814885" cy="15696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2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ExtTime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::Write()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b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string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ZoneStr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[8] = </a:t>
            </a:r>
          </a:p>
          <a:p>
            <a:r>
              <a:rPr lang="en-US" sz="1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{“EST”, “CST”, “MST”, “PST”, 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“EDT”, “CDT”, “MDT”, “PDT”};</a:t>
            </a:r>
            <a:endParaRPr lang="en-US" sz="1200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Time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::Write();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‘ ’ &lt;&lt;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ZoneStr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[zone] &lt;&lt;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2F80247-97B6-C14A-6B72-47CB383DAB51}"/>
              </a:ext>
            </a:extLst>
          </p:cNvPr>
          <p:cNvSpPr txBox="1"/>
          <p:nvPr/>
        </p:nvSpPr>
        <p:spPr>
          <a:xfrm>
            <a:off x="4769084" y="3318732"/>
            <a:ext cx="3814885" cy="8309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Time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::Write() </a:t>
            </a:r>
            <a:r>
              <a:rPr lang="en-US" sz="12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setfill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(‘0’) &lt;&lt;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setw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(2)      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&lt;&lt;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hrs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“:” &lt;&lt; mins &lt;&lt; “:” 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&lt;&lt; secs; }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FD25D0D-7905-443D-C6AE-1F1DCE8C9AC0}"/>
              </a:ext>
            </a:extLst>
          </p:cNvPr>
          <p:cNvSpPr txBox="1"/>
          <p:nvPr/>
        </p:nvSpPr>
        <p:spPr>
          <a:xfrm>
            <a:off x="2404326" y="3965890"/>
            <a:ext cx="1779345" cy="523220"/>
          </a:xfrm>
          <a:prstGeom prst="rect">
            <a:avLst/>
          </a:prstGeom>
          <a:solidFill>
            <a:srgbClr val="7F1F1F"/>
          </a:solidFill>
          <a:ln w="28575">
            <a:solidFill>
              <a:srgbClr val="7F1F1F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08:34:59 PST</a:t>
            </a:r>
          </a:p>
          <a:p>
            <a:r>
              <a:rPr lang="en-US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00:00:00 EST</a:t>
            </a:r>
          </a:p>
        </p:txBody>
      </p:sp>
    </p:spTree>
    <p:extLst>
      <p:ext uri="{BB962C8B-B14F-4D97-AF65-F5344CB8AC3E}">
        <p14:creationId xmlns:p14="http://schemas.microsoft.com/office/powerpoint/2010/main" val="1337360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 tmFilter="0, 0; .2, .5; .8, .5; 1, 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250" autoRev="1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1" grpId="0" animBg="1"/>
      <p:bldP spid="2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101693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Grand 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4" y="1563637"/>
            <a:ext cx="58438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Using </a:t>
            </a:r>
            <a:r>
              <a:rPr lang="en-CA" sz="2200" dirty="0" err="1"/>
              <a:t>ExtTime</a:t>
            </a:r>
            <a:endParaRPr lang="en-CA" sz="22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25</a:t>
            </a:fld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C6BB5C-60C6-D080-AE26-57BE87CDE4B2}"/>
              </a:ext>
            </a:extLst>
          </p:cNvPr>
          <p:cNvSpPr txBox="1"/>
          <p:nvPr/>
        </p:nvSpPr>
        <p:spPr>
          <a:xfrm>
            <a:off x="1053858" y="2082037"/>
            <a:ext cx="3678500" cy="3600986"/>
          </a:xfrm>
          <a:prstGeom prst="rect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ExtTime.h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</a:p>
          <a:p>
            <a:endParaRPr lang="en-US" sz="12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main()</a:t>
            </a:r>
            <a:endParaRPr lang="en-US" sz="12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ExtTime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thisTime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(8, 34, 59, PST);</a:t>
            </a:r>
          </a:p>
          <a:p>
            <a:r>
              <a:rPr lang="en-US" sz="1200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ExtTime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thatTime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200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thisTime.Write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thatTime.Write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endParaRPr lang="en-US" sz="1200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thatTime.Set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(16, 49, 23, CDT);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thatTime.Write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endParaRPr lang="en-US" sz="1200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27327A-5F16-89A2-89AE-8F2B434DAC18}"/>
              </a:ext>
            </a:extLst>
          </p:cNvPr>
          <p:cNvSpPr/>
          <p:nvPr/>
        </p:nvSpPr>
        <p:spPr>
          <a:xfrm>
            <a:off x="4995257" y="1028872"/>
            <a:ext cx="2789111" cy="3321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Time</a:t>
            </a:r>
            <a:endParaRPr lang="en-US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3AA8D5-E7ED-051D-8A97-687429EC1A1C}"/>
              </a:ext>
            </a:extLst>
          </p:cNvPr>
          <p:cNvSpPr/>
          <p:nvPr/>
        </p:nvSpPr>
        <p:spPr>
          <a:xfrm>
            <a:off x="5005148" y="1369962"/>
            <a:ext cx="2771256" cy="624085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# hrs: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</a:p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# mins: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</a:p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# secs: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endParaRPr lang="en-US" sz="105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2D6B75-934C-7E02-9D48-C1FB65D39FCE}"/>
              </a:ext>
            </a:extLst>
          </p:cNvPr>
          <p:cNvSpPr/>
          <p:nvPr/>
        </p:nvSpPr>
        <p:spPr>
          <a:xfrm>
            <a:off x="4995257" y="1997315"/>
            <a:ext cx="2772787" cy="960351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+ Time()</a:t>
            </a:r>
            <a:endParaRPr lang="en-CA" sz="1050" b="1" dirty="0">
              <a:solidFill>
                <a:schemeClr val="accent1"/>
              </a:solidFill>
              <a:latin typeface="Courier"/>
            </a:endParaRPr>
          </a:p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+ Time(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h,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m,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s)</a:t>
            </a:r>
          </a:p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+ Set(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h,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m,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s):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void</a:t>
            </a:r>
          </a:p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+ Increment():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void</a:t>
            </a:r>
          </a:p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+ Write():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void const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1C846D-0884-4441-B98C-F1418F926B97}"/>
              </a:ext>
            </a:extLst>
          </p:cNvPr>
          <p:cNvSpPr/>
          <p:nvPr/>
        </p:nvSpPr>
        <p:spPr>
          <a:xfrm>
            <a:off x="8780400" y="1057747"/>
            <a:ext cx="2661066" cy="332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ExtTime</a:t>
            </a:r>
            <a:endParaRPr lang="en-US" b="1" dirty="0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7153CCE1-196A-215F-7C25-C7CE46EACBDD}"/>
              </a:ext>
            </a:extLst>
          </p:cNvPr>
          <p:cNvSpPr/>
          <p:nvPr/>
        </p:nvSpPr>
        <p:spPr>
          <a:xfrm rot="16200000">
            <a:off x="7758248" y="2067741"/>
            <a:ext cx="167880" cy="131567"/>
          </a:xfrm>
          <a:prstGeom prst="triangl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F8381D8-D703-22EA-B9D0-9DCEA4DEEEFC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7907972" y="2133525"/>
            <a:ext cx="871948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ABB282D-A59E-5D0C-1962-73DCD9F5C15D}"/>
              </a:ext>
            </a:extLst>
          </p:cNvPr>
          <p:cNvSpPr txBox="1"/>
          <p:nvPr/>
        </p:nvSpPr>
        <p:spPr>
          <a:xfrm>
            <a:off x="7970962" y="1583925"/>
            <a:ext cx="9405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2"/>
                </a:solidFill>
              </a:rPr>
              <a:t>public extends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8EB3C7A-9B37-7C77-6F41-4E2AFAB5DF23}"/>
              </a:ext>
            </a:extLst>
          </p:cNvPr>
          <p:cNvSpPr/>
          <p:nvPr/>
        </p:nvSpPr>
        <p:spPr>
          <a:xfrm>
            <a:off x="8782599" y="1382983"/>
            <a:ext cx="2652170" cy="326396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>
                <a:solidFill>
                  <a:schemeClr val="tx1"/>
                </a:solidFill>
                <a:latin typeface="Courier"/>
              </a:rPr>
              <a:t>- zone: </a:t>
            </a:r>
            <a:r>
              <a:rPr lang="en-US" sz="1100" b="1" dirty="0" err="1">
                <a:solidFill>
                  <a:schemeClr val="accent6"/>
                </a:solidFill>
                <a:latin typeface="Courier"/>
              </a:rPr>
              <a:t>ZoneType</a:t>
            </a:r>
            <a:endParaRPr lang="en-US" sz="1100" b="1" dirty="0">
              <a:solidFill>
                <a:schemeClr val="accent6"/>
              </a:solidFill>
              <a:latin typeface="Courier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792E756-3324-DA1C-0E2A-9936695A9BFA}"/>
              </a:ext>
            </a:extLst>
          </p:cNvPr>
          <p:cNvSpPr/>
          <p:nvPr/>
        </p:nvSpPr>
        <p:spPr>
          <a:xfrm>
            <a:off x="8779920" y="1695275"/>
            <a:ext cx="2652170" cy="1105465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050" b="1" dirty="0" err="1">
                <a:solidFill>
                  <a:schemeClr val="tx1"/>
                </a:solidFill>
                <a:latin typeface="Courier"/>
              </a:rPr>
              <a:t>ExtTime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()</a:t>
            </a:r>
          </a:p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050" b="1" dirty="0" err="1">
                <a:solidFill>
                  <a:schemeClr val="tx1"/>
                </a:solidFill>
                <a:latin typeface="Courier"/>
              </a:rPr>
              <a:t>ExtTime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(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h,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m,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s, </a:t>
            </a:r>
            <a:br>
              <a:rPr lang="en-CA" sz="1050" b="1" dirty="0">
                <a:solidFill>
                  <a:schemeClr val="tx1"/>
                </a:solidFill>
                <a:latin typeface="Courier"/>
              </a:rPr>
            </a:br>
            <a:r>
              <a:rPr lang="en-CA" sz="1050" b="1" dirty="0">
                <a:solidFill>
                  <a:schemeClr val="tx1"/>
                </a:solidFill>
                <a:latin typeface="Courier"/>
              </a:rPr>
              <a:t>                    </a:t>
            </a:r>
            <a:r>
              <a:rPr lang="en-CA" sz="1050" b="1" dirty="0" err="1">
                <a:solidFill>
                  <a:schemeClr val="accent6"/>
                </a:solidFill>
                <a:latin typeface="Courier"/>
              </a:rPr>
              <a:t>ZoneType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z)</a:t>
            </a:r>
          </a:p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+ Set(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h,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m,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s, </a:t>
            </a:r>
            <a:br>
              <a:rPr lang="en-CA" sz="1050" b="1" dirty="0">
                <a:solidFill>
                  <a:schemeClr val="tx1"/>
                </a:solidFill>
                <a:latin typeface="Courier"/>
              </a:rPr>
            </a:br>
            <a:r>
              <a:rPr lang="en-CA" sz="1050" b="1" dirty="0">
                <a:solidFill>
                  <a:schemeClr val="tx1"/>
                </a:solidFill>
                <a:latin typeface="Courier"/>
              </a:rPr>
              <a:t>             </a:t>
            </a:r>
            <a:r>
              <a:rPr lang="en-CA" sz="1050" b="1" dirty="0" err="1">
                <a:solidFill>
                  <a:schemeClr val="accent6"/>
                </a:solidFill>
                <a:latin typeface="Courier"/>
              </a:rPr>
              <a:t>ZoneType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z) :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void</a:t>
            </a:r>
          </a:p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+ Write():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void const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FCC4692-98AD-D27F-C325-BFEE8D1321C6}"/>
              </a:ext>
            </a:extLst>
          </p:cNvPr>
          <p:cNvSpPr/>
          <p:nvPr/>
        </p:nvSpPr>
        <p:spPr>
          <a:xfrm>
            <a:off x="8938869" y="2934474"/>
            <a:ext cx="1171058" cy="129302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u="sng" dirty="0" err="1">
                <a:solidFill>
                  <a:schemeClr val="accent2">
                    <a:lumMod val="75000"/>
                  </a:schemeClr>
                </a:solidFill>
              </a:rPr>
              <a:t>thisTime</a:t>
            </a:r>
            <a:endParaRPr lang="en-CA" sz="1600" b="1" u="sng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CA" sz="1400" dirty="0">
                <a:solidFill>
                  <a:schemeClr val="accent2">
                    <a:lumMod val="75000"/>
                  </a:schemeClr>
                </a:solidFill>
              </a:rPr>
              <a:t>hrs = 8</a:t>
            </a:r>
          </a:p>
          <a:p>
            <a:r>
              <a:rPr lang="en-CA" sz="1400" dirty="0">
                <a:solidFill>
                  <a:schemeClr val="accent2">
                    <a:lumMod val="75000"/>
                  </a:schemeClr>
                </a:solidFill>
              </a:rPr>
              <a:t>mins = 34</a:t>
            </a:r>
          </a:p>
          <a:p>
            <a:r>
              <a:rPr lang="en-CA" sz="1400" dirty="0">
                <a:solidFill>
                  <a:schemeClr val="accent2">
                    <a:lumMod val="75000"/>
                  </a:schemeClr>
                </a:solidFill>
              </a:rPr>
              <a:t>secs = 59</a:t>
            </a:r>
          </a:p>
          <a:p>
            <a:r>
              <a:rPr lang="en-CA" sz="1400" dirty="0">
                <a:solidFill>
                  <a:schemeClr val="accent2">
                    <a:lumMod val="75000"/>
                  </a:schemeClr>
                </a:solidFill>
              </a:rPr>
              <a:t>zone = PST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24C13B0-AFA7-F847-7378-54B22F7E2013}"/>
              </a:ext>
            </a:extLst>
          </p:cNvPr>
          <p:cNvSpPr/>
          <p:nvPr/>
        </p:nvSpPr>
        <p:spPr>
          <a:xfrm>
            <a:off x="10239204" y="2934473"/>
            <a:ext cx="1171058" cy="129302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u="sng" dirty="0" err="1">
                <a:solidFill>
                  <a:schemeClr val="accent2">
                    <a:lumMod val="75000"/>
                  </a:schemeClr>
                </a:solidFill>
              </a:rPr>
              <a:t>thatTime</a:t>
            </a:r>
            <a:endParaRPr lang="en-CA" sz="1600" b="1" u="sng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CA" sz="1400" dirty="0">
                <a:solidFill>
                  <a:schemeClr val="accent2">
                    <a:lumMod val="75000"/>
                  </a:schemeClr>
                </a:solidFill>
              </a:rPr>
              <a:t>hrs = 0</a:t>
            </a:r>
          </a:p>
          <a:p>
            <a:r>
              <a:rPr lang="en-CA" sz="1400" dirty="0">
                <a:solidFill>
                  <a:schemeClr val="accent2">
                    <a:lumMod val="75000"/>
                  </a:schemeClr>
                </a:solidFill>
              </a:rPr>
              <a:t>mins = 0</a:t>
            </a:r>
          </a:p>
          <a:p>
            <a:r>
              <a:rPr lang="en-CA" sz="1400" dirty="0">
                <a:solidFill>
                  <a:schemeClr val="accent2">
                    <a:lumMod val="75000"/>
                  </a:schemeClr>
                </a:solidFill>
              </a:rPr>
              <a:t>secs = 0</a:t>
            </a:r>
          </a:p>
          <a:p>
            <a:r>
              <a:rPr lang="en-CA" sz="1400" dirty="0">
                <a:solidFill>
                  <a:schemeClr val="accent2">
                    <a:lumMod val="75000"/>
                  </a:schemeClr>
                </a:solidFill>
              </a:rPr>
              <a:t>zone = EST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6D4915-013C-B8CB-EC1B-CAA1001F1E71}"/>
              </a:ext>
            </a:extLst>
          </p:cNvPr>
          <p:cNvSpPr txBox="1"/>
          <p:nvPr/>
        </p:nvSpPr>
        <p:spPr>
          <a:xfrm>
            <a:off x="4796802" y="4806939"/>
            <a:ext cx="4822027" cy="10156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ExtTime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::Set(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h,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m,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s, </a:t>
            </a:r>
            <a:r>
              <a:rPr lang="en-US" sz="1200" b="1" dirty="0" err="1">
                <a:solidFill>
                  <a:srgbClr val="FF7D7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ZoneType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z)</a:t>
            </a:r>
            <a:b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Time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::Set(h, m, s);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Base Class Version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zone = z; 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EE83389-84EB-222F-2AC6-E67B32D3A78C}"/>
              </a:ext>
            </a:extLst>
          </p:cNvPr>
          <p:cNvSpPr txBox="1"/>
          <p:nvPr/>
        </p:nvSpPr>
        <p:spPr>
          <a:xfrm>
            <a:off x="4797777" y="3537104"/>
            <a:ext cx="3510200" cy="120032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2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Time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::Set(</a:t>
            </a:r>
            <a:r>
              <a:rPr lang="en-US" sz="12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h, </a:t>
            </a:r>
            <a:r>
              <a:rPr lang="en-US" sz="12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m, </a:t>
            </a:r>
            <a:r>
              <a:rPr lang="en-US" sz="12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s)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Preliminary error check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hrs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h % 24; 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mins = m % 60; 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secs = s % 60; 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219215E-78FC-35CC-BC47-7575B0257071}"/>
              </a:ext>
            </a:extLst>
          </p:cNvPr>
          <p:cNvSpPr/>
          <p:nvPr/>
        </p:nvSpPr>
        <p:spPr>
          <a:xfrm>
            <a:off x="10239204" y="3131394"/>
            <a:ext cx="1171058" cy="129302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u="sng" dirty="0" err="1">
                <a:solidFill>
                  <a:schemeClr val="accent2">
                    <a:lumMod val="75000"/>
                  </a:schemeClr>
                </a:solidFill>
              </a:rPr>
              <a:t>thatTime</a:t>
            </a:r>
            <a:endParaRPr lang="en-CA" sz="1600" b="1" u="sng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CA" sz="1400" dirty="0">
                <a:solidFill>
                  <a:schemeClr val="accent2">
                    <a:lumMod val="75000"/>
                  </a:schemeClr>
                </a:solidFill>
              </a:rPr>
              <a:t>hrs = 16</a:t>
            </a:r>
          </a:p>
          <a:p>
            <a:r>
              <a:rPr lang="en-CA" sz="1400" dirty="0">
                <a:solidFill>
                  <a:schemeClr val="accent2">
                    <a:lumMod val="75000"/>
                  </a:schemeClr>
                </a:solidFill>
              </a:rPr>
              <a:t>mins = 49</a:t>
            </a:r>
          </a:p>
          <a:p>
            <a:r>
              <a:rPr lang="en-CA" sz="1400" dirty="0">
                <a:solidFill>
                  <a:schemeClr val="accent2">
                    <a:lumMod val="75000"/>
                  </a:schemeClr>
                </a:solidFill>
              </a:rPr>
              <a:t>secs = 23</a:t>
            </a:r>
          </a:p>
          <a:p>
            <a:r>
              <a:rPr lang="en-CA" sz="1400" dirty="0">
                <a:solidFill>
                  <a:schemeClr val="accent2">
                    <a:lumMod val="75000"/>
                  </a:schemeClr>
                </a:solidFill>
              </a:rPr>
              <a:t>zone = CDT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627AB7B-3092-468D-D10F-523B14040A7B}"/>
              </a:ext>
            </a:extLst>
          </p:cNvPr>
          <p:cNvSpPr txBox="1"/>
          <p:nvPr/>
        </p:nvSpPr>
        <p:spPr>
          <a:xfrm>
            <a:off x="2508829" y="4412897"/>
            <a:ext cx="1779345" cy="307777"/>
          </a:xfrm>
          <a:prstGeom prst="rect">
            <a:avLst/>
          </a:prstGeom>
          <a:solidFill>
            <a:srgbClr val="7F1F1F"/>
          </a:solidFill>
          <a:ln w="28575">
            <a:solidFill>
              <a:srgbClr val="7F1F1F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16:49:23 CDT</a:t>
            </a:r>
          </a:p>
        </p:txBody>
      </p:sp>
    </p:spTree>
    <p:extLst>
      <p:ext uri="{BB962C8B-B14F-4D97-AF65-F5344CB8AC3E}">
        <p14:creationId xmlns:p14="http://schemas.microsoft.com/office/powerpoint/2010/main" val="2558353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7" y="585288"/>
            <a:ext cx="101693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Grand 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4" y="1563637"/>
            <a:ext cx="58438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Using </a:t>
            </a:r>
            <a:r>
              <a:rPr lang="en-CA" sz="2200" dirty="0" err="1"/>
              <a:t>ExtTime</a:t>
            </a:r>
            <a:endParaRPr lang="en-CA" sz="22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26</a:t>
            </a:fld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C6BB5C-60C6-D080-AE26-57BE87CDE4B2}"/>
              </a:ext>
            </a:extLst>
          </p:cNvPr>
          <p:cNvSpPr txBox="1"/>
          <p:nvPr/>
        </p:nvSpPr>
        <p:spPr>
          <a:xfrm>
            <a:off x="1053858" y="2082037"/>
            <a:ext cx="3678500" cy="3600986"/>
          </a:xfrm>
          <a:prstGeom prst="rect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ExtTime.h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</a:p>
          <a:p>
            <a:endParaRPr lang="en-US" sz="12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main()</a:t>
            </a:r>
            <a:endParaRPr lang="en-US" sz="12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ExtTime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thisTime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(8, 34, 59, PST);</a:t>
            </a:r>
          </a:p>
          <a:p>
            <a:r>
              <a:rPr lang="en-US" sz="1200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ExtTime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thatTime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200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thisTime.Write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thatTime.Write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endParaRPr lang="en-US" sz="1200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thatTime.Set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(16, 49, 23, CDT);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thatTime.Write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endParaRPr lang="en-US" sz="1200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thisTime.Increment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thisTime.Increment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thisTime.Write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lang="en-US" sz="1200" dirty="0">
              <a:solidFill>
                <a:schemeClr val="accent5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27327A-5F16-89A2-89AE-8F2B434DAC18}"/>
              </a:ext>
            </a:extLst>
          </p:cNvPr>
          <p:cNvSpPr/>
          <p:nvPr/>
        </p:nvSpPr>
        <p:spPr>
          <a:xfrm>
            <a:off x="4995257" y="1028872"/>
            <a:ext cx="2789111" cy="3321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/>
              <a:t>Time</a:t>
            </a:r>
            <a:endParaRPr lang="en-US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3AA8D5-E7ED-051D-8A97-687429EC1A1C}"/>
              </a:ext>
            </a:extLst>
          </p:cNvPr>
          <p:cNvSpPr/>
          <p:nvPr/>
        </p:nvSpPr>
        <p:spPr>
          <a:xfrm>
            <a:off x="5005148" y="1369962"/>
            <a:ext cx="2771256" cy="624085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# hrs: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</a:p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# mins: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</a:p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# secs: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endParaRPr lang="en-US" sz="1050" b="1" dirty="0">
              <a:solidFill>
                <a:schemeClr val="accent1"/>
              </a:solidFill>
              <a:latin typeface="Courier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2D6B75-934C-7E02-9D48-C1FB65D39FCE}"/>
              </a:ext>
            </a:extLst>
          </p:cNvPr>
          <p:cNvSpPr/>
          <p:nvPr/>
        </p:nvSpPr>
        <p:spPr>
          <a:xfrm>
            <a:off x="4995257" y="1997315"/>
            <a:ext cx="2772787" cy="960351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+ Time()</a:t>
            </a:r>
            <a:endParaRPr lang="en-CA" sz="1050" b="1" dirty="0">
              <a:solidFill>
                <a:schemeClr val="accent1"/>
              </a:solidFill>
              <a:latin typeface="Courier"/>
            </a:endParaRPr>
          </a:p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+ Time(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h,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m,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s)</a:t>
            </a:r>
          </a:p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+ Set(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h,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m,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s):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void</a:t>
            </a:r>
          </a:p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+ Increment():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void</a:t>
            </a:r>
          </a:p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+ Write():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void const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1C846D-0884-4441-B98C-F1418F926B97}"/>
              </a:ext>
            </a:extLst>
          </p:cNvPr>
          <p:cNvSpPr/>
          <p:nvPr/>
        </p:nvSpPr>
        <p:spPr>
          <a:xfrm>
            <a:off x="8780400" y="1057747"/>
            <a:ext cx="2661066" cy="3321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 err="1"/>
              <a:t>ExtTime</a:t>
            </a:r>
            <a:endParaRPr lang="en-US" b="1" dirty="0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7153CCE1-196A-215F-7C25-C7CE46EACBDD}"/>
              </a:ext>
            </a:extLst>
          </p:cNvPr>
          <p:cNvSpPr/>
          <p:nvPr/>
        </p:nvSpPr>
        <p:spPr>
          <a:xfrm rot="16200000">
            <a:off x="7758248" y="2067741"/>
            <a:ext cx="167880" cy="131567"/>
          </a:xfrm>
          <a:prstGeom prst="triangl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F8381D8-D703-22EA-B9D0-9DCEA4DEEEFC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7907972" y="2133525"/>
            <a:ext cx="871948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ABB282D-A59E-5D0C-1962-73DCD9F5C15D}"/>
              </a:ext>
            </a:extLst>
          </p:cNvPr>
          <p:cNvSpPr txBox="1"/>
          <p:nvPr/>
        </p:nvSpPr>
        <p:spPr>
          <a:xfrm>
            <a:off x="7970962" y="1583925"/>
            <a:ext cx="9405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2"/>
                </a:solidFill>
              </a:rPr>
              <a:t>public extends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8EB3C7A-9B37-7C77-6F41-4E2AFAB5DF23}"/>
              </a:ext>
            </a:extLst>
          </p:cNvPr>
          <p:cNvSpPr/>
          <p:nvPr/>
        </p:nvSpPr>
        <p:spPr>
          <a:xfrm>
            <a:off x="8782599" y="1382983"/>
            <a:ext cx="2652170" cy="326396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>
                <a:solidFill>
                  <a:schemeClr val="tx1"/>
                </a:solidFill>
                <a:latin typeface="Courier"/>
              </a:rPr>
              <a:t>- zone: </a:t>
            </a:r>
            <a:r>
              <a:rPr lang="en-US" sz="1100" b="1" dirty="0" err="1">
                <a:solidFill>
                  <a:schemeClr val="accent6"/>
                </a:solidFill>
                <a:latin typeface="Courier"/>
              </a:rPr>
              <a:t>ZoneType</a:t>
            </a:r>
            <a:endParaRPr lang="en-US" sz="1100" b="1" dirty="0">
              <a:solidFill>
                <a:schemeClr val="accent6"/>
              </a:solidFill>
              <a:latin typeface="Courier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792E756-3324-DA1C-0E2A-9936695A9BFA}"/>
              </a:ext>
            </a:extLst>
          </p:cNvPr>
          <p:cNvSpPr/>
          <p:nvPr/>
        </p:nvSpPr>
        <p:spPr>
          <a:xfrm>
            <a:off x="8779920" y="1695275"/>
            <a:ext cx="2652170" cy="1105465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050" b="1" dirty="0" err="1">
                <a:solidFill>
                  <a:schemeClr val="tx1"/>
                </a:solidFill>
                <a:latin typeface="Courier"/>
              </a:rPr>
              <a:t>ExtTime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()</a:t>
            </a:r>
          </a:p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+ </a:t>
            </a:r>
            <a:r>
              <a:rPr lang="en-CA" sz="1050" b="1" dirty="0" err="1">
                <a:solidFill>
                  <a:schemeClr val="tx1"/>
                </a:solidFill>
                <a:latin typeface="Courier"/>
              </a:rPr>
              <a:t>ExtTime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(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h,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m,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s, </a:t>
            </a:r>
            <a:br>
              <a:rPr lang="en-CA" sz="1050" b="1" dirty="0">
                <a:solidFill>
                  <a:schemeClr val="tx1"/>
                </a:solidFill>
                <a:latin typeface="Courier"/>
              </a:rPr>
            </a:br>
            <a:r>
              <a:rPr lang="en-CA" sz="1050" b="1" dirty="0">
                <a:solidFill>
                  <a:schemeClr val="tx1"/>
                </a:solidFill>
                <a:latin typeface="Courier"/>
              </a:rPr>
              <a:t>                    </a:t>
            </a:r>
            <a:r>
              <a:rPr lang="en-CA" sz="1050" b="1" dirty="0" err="1">
                <a:solidFill>
                  <a:schemeClr val="accent6"/>
                </a:solidFill>
                <a:latin typeface="Courier"/>
              </a:rPr>
              <a:t>ZoneType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z)</a:t>
            </a:r>
          </a:p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+ Set(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h,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m,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s, </a:t>
            </a:r>
            <a:br>
              <a:rPr lang="en-CA" sz="1050" b="1" dirty="0">
                <a:solidFill>
                  <a:schemeClr val="tx1"/>
                </a:solidFill>
                <a:latin typeface="Courier"/>
              </a:rPr>
            </a:br>
            <a:r>
              <a:rPr lang="en-CA" sz="1050" b="1" dirty="0">
                <a:solidFill>
                  <a:schemeClr val="tx1"/>
                </a:solidFill>
                <a:latin typeface="Courier"/>
              </a:rPr>
              <a:t>             </a:t>
            </a:r>
            <a:r>
              <a:rPr lang="en-CA" sz="1050" b="1" dirty="0" err="1">
                <a:solidFill>
                  <a:schemeClr val="accent6"/>
                </a:solidFill>
                <a:latin typeface="Courier"/>
              </a:rPr>
              <a:t>ZoneType</a:t>
            </a:r>
            <a:r>
              <a:rPr lang="en-CA" sz="1050" b="1" dirty="0">
                <a:solidFill>
                  <a:schemeClr val="tx1"/>
                </a:solidFill>
                <a:latin typeface="Courier"/>
              </a:rPr>
              <a:t> z) :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void</a:t>
            </a:r>
          </a:p>
          <a:p>
            <a:r>
              <a:rPr lang="en-CA" sz="1050" b="1" dirty="0">
                <a:solidFill>
                  <a:schemeClr val="tx1"/>
                </a:solidFill>
                <a:latin typeface="Courier"/>
              </a:rPr>
              <a:t>+ Write(): </a:t>
            </a:r>
            <a:r>
              <a:rPr lang="en-CA" sz="1050" b="1" dirty="0">
                <a:solidFill>
                  <a:schemeClr val="accent1"/>
                </a:solidFill>
                <a:latin typeface="Courier"/>
              </a:rPr>
              <a:t>void const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FCC4692-98AD-D27F-C325-BFEE8D1321C6}"/>
              </a:ext>
            </a:extLst>
          </p:cNvPr>
          <p:cNvSpPr/>
          <p:nvPr/>
        </p:nvSpPr>
        <p:spPr>
          <a:xfrm>
            <a:off x="8938869" y="2934474"/>
            <a:ext cx="1171058" cy="129302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u="sng" dirty="0" err="1">
                <a:solidFill>
                  <a:schemeClr val="accent2">
                    <a:lumMod val="75000"/>
                  </a:schemeClr>
                </a:solidFill>
              </a:rPr>
              <a:t>thisTime</a:t>
            </a:r>
            <a:endParaRPr lang="en-CA" sz="1600" b="1" u="sng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CA" sz="1400" dirty="0">
                <a:solidFill>
                  <a:schemeClr val="accent2">
                    <a:lumMod val="75000"/>
                  </a:schemeClr>
                </a:solidFill>
              </a:rPr>
              <a:t>hrs = 8</a:t>
            </a:r>
          </a:p>
          <a:p>
            <a:r>
              <a:rPr lang="en-CA" sz="1400" dirty="0">
                <a:solidFill>
                  <a:schemeClr val="accent2">
                    <a:lumMod val="75000"/>
                  </a:schemeClr>
                </a:solidFill>
              </a:rPr>
              <a:t>mins = 34</a:t>
            </a:r>
          </a:p>
          <a:p>
            <a:r>
              <a:rPr lang="en-CA" sz="1400" dirty="0">
                <a:solidFill>
                  <a:schemeClr val="accent2">
                    <a:lumMod val="75000"/>
                  </a:schemeClr>
                </a:solidFill>
              </a:rPr>
              <a:t>secs = 59</a:t>
            </a:r>
          </a:p>
          <a:p>
            <a:r>
              <a:rPr lang="en-CA" sz="1400" dirty="0">
                <a:solidFill>
                  <a:schemeClr val="accent2">
                    <a:lumMod val="75000"/>
                  </a:schemeClr>
                </a:solidFill>
              </a:rPr>
              <a:t>zone = PST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219215E-78FC-35CC-BC47-7575B0257071}"/>
              </a:ext>
            </a:extLst>
          </p:cNvPr>
          <p:cNvSpPr/>
          <p:nvPr/>
        </p:nvSpPr>
        <p:spPr>
          <a:xfrm>
            <a:off x="10239204" y="3131394"/>
            <a:ext cx="1171058" cy="129302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u="sng" dirty="0" err="1">
                <a:solidFill>
                  <a:schemeClr val="accent2">
                    <a:lumMod val="75000"/>
                  </a:schemeClr>
                </a:solidFill>
              </a:rPr>
              <a:t>thatTime</a:t>
            </a:r>
            <a:endParaRPr lang="en-CA" sz="1600" b="1" u="sng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CA" sz="1400" dirty="0">
                <a:solidFill>
                  <a:schemeClr val="accent2">
                    <a:lumMod val="75000"/>
                  </a:schemeClr>
                </a:solidFill>
              </a:rPr>
              <a:t>hrs = 16</a:t>
            </a:r>
          </a:p>
          <a:p>
            <a:r>
              <a:rPr lang="en-CA" sz="1400" dirty="0">
                <a:solidFill>
                  <a:schemeClr val="accent2">
                    <a:lumMod val="75000"/>
                  </a:schemeClr>
                </a:solidFill>
              </a:rPr>
              <a:t>mins = 49</a:t>
            </a:r>
          </a:p>
          <a:p>
            <a:r>
              <a:rPr lang="en-CA" sz="1400" dirty="0">
                <a:solidFill>
                  <a:schemeClr val="accent2">
                    <a:lumMod val="75000"/>
                  </a:schemeClr>
                </a:solidFill>
              </a:rPr>
              <a:t>secs = 23</a:t>
            </a:r>
          </a:p>
          <a:p>
            <a:r>
              <a:rPr lang="en-CA" sz="1400" dirty="0">
                <a:solidFill>
                  <a:schemeClr val="accent2">
                    <a:lumMod val="75000"/>
                  </a:schemeClr>
                </a:solidFill>
              </a:rPr>
              <a:t>zone = CDT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C066F4-D565-E7CF-1136-0F7DDA5DD9C1}"/>
              </a:ext>
            </a:extLst>
          </p:cNvPr>
          <p:cNvSpPr txBox="1"/>
          <p:nvPr/>
        </p:nvSpPr>
        <p:spPr>
          <a:xfrm>
            <a:off x="5138205" y="3131657"/>
            <a:ext cx="2486889" cy="263149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1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Time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::Increment()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  </a:t>
            </a:r>
            <a:endParaRPr lang="en-US" sz="11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1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(++secs % 60 == 0)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{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sec = 0;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(++mins % 60 == 0)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mins = 0;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1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(++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hrs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% 24 == 0)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{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hrs</a:t>
            </a:r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}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     </a:t>
            </a:r>
          </a:p>
          <a:p>
            <a:r>
              <a:rPr lang="en-US" sz="1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87C017-F1E8-45FD-C910-D866014C351F}"/>
              </a:ext>
            </a:extLst>
          </p:cNvPr>
          <p:cNvSpPr/>
          <p:nvPr/>
        </p:nvSpPr>
        <p:spPr>
          <a:xfrm>
            <a:off x="8935972" y="3135568"/>
            <a:ext cx="1171058" cy="129302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u="sng" dirty="0" err="1">
                <a:solidFill>
                  <a:schemeClr val="accent2">
                    <a:lumMod val="75000"/>
                  </a:schemeClr>
                </a:solidFill>
              </a:rPr>
              <a:t>thisTime</a:t>
            </a:r>
            <a:endParaRPr lang="en-CA" sz="1600" b="1" u="sng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CA" sz="1400" dirty="0">
                <a:solidFill>
                  <a:schemeClr val="accent2">
                    <a:lumMod val="75000"/>
                  </a:schemeClr>
                </a:solidFill>
              </a:rPr>
              <a:t>hrs = 8</a:t>
            </a:r>
          </a:p>
          <a:p>
            <a:r>
              <a:rPr lang="en-CA" sz="1400" dirty="0">
                <a:solidFill>
                  <a:schemeClr val="accent2">
                    <a:lumMod val="75000"/>
                  </a:schemeClr>
                </a:solidFill>
              </a:rPr>
              <a:t>mins = 35</a:t>
            </a:r>
          </a:p>
          <a:p>
            <a:r>
              <a:rPr lang="en-CA" sz="1400" dirty="0">
                <a:solidFill>
                  <a:schemeClr val="accent2">
                    <a:lumMod val="75000"/>
                  </a:schemeClr>
                </a:solidFill>
              </a:rPr>
              <a:t>secs = 1</a:t>
            </a:r>
          </a:p>
          <a:p>
            <a:r>
              <a:rPr lang="en-CA" sz="1400" dirty="0">
                <a:solidFill>
                  <a:schemeClr val="accent2">
                    <a:lumMod val="75000"/>
                  </a:schemeClr>
                </a:solidFill>
              </a:rPr>
              <a:t>zone = PST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0CE247E-9EBB-247B-15BF-1C15EAA68A4B}"/>
              </a:ext>
            </a:extLst>
          </p:cNvPr>
          <p:cNvSpPr txBox="1"/>
          <p:nvPr/>
        </p:nvSpPr>
        <p:spPr>
          <a:xfrm>
            <a:off x="2864917" y="5259010"/>
            <a:ext cx="1779345" cy="307777"/>
          </a:xfrm>
          <a:prstGeom prst="rect">
            <a:avLst/>
          </a:prstGeom>
          <a:solidFill>
            <a:srgbClr val="7F1F1F"/>
          </a:solidFill>
          <a:ln w="28575">
            <a:solidFill>
              <a:srgbClr val="7F1F1F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08:35:01 PST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C3BD74B-474C-5276-705A-033D2C8BC742}"/>
              </a:ext>
            </a:extLst>
          </p:cNvPr>
          <p:cNvSpPr/>
          <p:nvPr/>
        </p:nvSpPr>
        <p:spPr>
          <a:xfrm>
            <a:off x="8576380" y="5221644"/>
            <a:ext cx="2343425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>
                <a:solidFill>
                  <a:schemeClr val="tx1"/>
                </a:solidFill>
              </a:rPr>
              <a:t>L14Ex6-GrandEx</a:t>
            </a:r>
            <a:r>
              <a:rPr lang="en-CA" b="1" dirty="0">
                <a:solidFill>
                  <a:schemeClr val="tx1"/>
                </a:solidFill>
              </a:rPr>
              <a:t>.cpp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2141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5" grpId="0" animBg="1"/>
      <p:bldP spid="8" grpId="0" animBg="1"/>
      <p:bldP spid="19" grpId="0" animBg="1"/>
      <p:bldP spid="2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268464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Takeaways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8" y="1563637"/>
            <a:ext cx="6589222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 dirty="0"/>
              <a:t>Inheritance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 mechanism for defining new class types to be a specialization or an augmentation of existing types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2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Rules of Inheritance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Every non-private member of a base class is inherited by a derived class with different access permissions, except for the constructors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Watch out for Function Override!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27</a:t>
            </a:fld>
            <a:endParaRPr lang="en-CA" dirty="0"/>
          </a:p>
        </p:txBody>
      </p:sp>
      <p:pic>
        <p:nvPicPr>
          <p:cNvPr id="9" name="Graphic 8" descr="Three circles each containing concentric circles.">
            <a:extLst>
              <a:ext uri="{FF2B5EF4-FFF2-40B4-BE49-F238E27FC236}">
                <a16:creationId xmlns:a16="http://schemas.microsoft.com/office/drawing/2014/main" id="{AD0038CC-0843-437C-BFCF-0646F453B2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8020" y="776106"/>
            <a:ext cx="5305788" cy="530578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7D74735-2E62-933E-38AE-1C7B29290AA5}"/>
              </a:ext>
            </a:extLst>
          </p:cNvPr>
          <p:cNvSpPr txBox="1"/>
          <p:nvPr/>
        </p:nvSpPr>
        <p:spPr>
          <a:xfrm>
            <a:off x="831848" y="5060775"/>
            <a:ext cx="727583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Watch For Project</a:t>
            </a:r>
          </a:p>
          <a:p>
            <a:r>
              <a:rPr lang="en-CA" sz="2000" b="1" dirty="0">
                <a:solidFill>
                  <a:srgbClr val="7F1F1F"/>
                </a:solidFill>
              </a:rPr>
              <a:t>[PLV 14-3] Build Integer Set from Integer Array List - Composition</a:t>
            </a:r>
          </a:p>
        </p:txBody>
      </p:sp>
    </p:spTree>
    <p:extLst>
      <p:ext uri="{BB962C8B-B14F-4D97-AF65-F5344CB8AC3E}">
        <p14:creationId xmlns:p14="http://schemas.microsoft.com/office/powerpoint/2010/main" val="192334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255916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Upcoming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690055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 dirty="0"/>
              <a:t>Recursion</a:t>
            </a:r>
          </a:p>
          <a:p>
            <a:endParaRPr lang="en-CA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 dirty="0"/>
              <a:t>OOD – Polymorphism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Static vs. Late Binding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Virtual Functions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Polymorphism and OOD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Extra: Multiple Inheritance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28</a:t>
            </a:fld>
            <a:endParaRPr lang="en-CA" dirty="0"/>
          </a:p>
        </p:txBody>
      </p:sp>
      <p:pic>
        <p:nvPicPr>
          <p:cNvPr id="9" name="Graphic 8" descr="Three circles each containing concentric circles.">
            <a:extLst>
              <a:ext uri="{FF2B5EF4-FFF2-40B4-BE49-F238E27FC236}">
                <a16:creationId xmlns:a16="http://schemas.microsoft.com/office/drawing/2014/main" id="{AD0038CC-0843-437C-BFCF-0646F453B2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8020" y="776106"/>
            <a:ext cx="5305788" cy="5305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051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47763</TotalTime>
  <Words>4525</Words>
  <Application>Microsoft Office PowerPoint</Application>
  <PresentationFormat>Widescreen</PresentationFormat>
  <Paragraphs>1006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Algerian</vt:lpstr>
      <vt:lpstr>Arial</vt:lpstr>
      <vt:lpstr>Calibri</vt:lpstr>
      <vt:lpstr>Calibri Light</vt:lpstr>
      <vt:lpstr>Courier</vt:lpstr>
      <vt:lpstr>Courier New</vt:lpstr>
      <vt:lpstr>Office Theme</vt:lpstr>
      <vt:lpstr>PowerPoint Presentation</vt:lpstr>
      <vt:lpstr>PowerPoint Presentation</vt:lpstr>
      <vt:lpstr>PowerPoint Presentation</vt:lpstr>
      <vt:lpstr>Rules of Inheritance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Grand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14 - OOD in C++ Part II - Inheritance</dc:title>
  <dc:creator>Shahrukh Athar</dc:creator>
  <cp:lastModifiedBy>Shahrukh Athar</cp:lastModifiedBy>
  <cp:revision>732</cp:revision>
  <dcterms:created xsi:type="dcterms:W3CDTF">2018-10-02T00:35:18Z</dcterms:created>
  <dcterms:modified xsi:type="dcterms:W3CDTF">2024-11-22T21:52:32Z</dcterms:modified>
</cp:coreProperties>
</file>