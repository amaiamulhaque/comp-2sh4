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410" r:id="rId3"/>
    <p:sldId id="264" r:id="rId4"/>
    <p:sldId id="270" r:id="rId5"/>
    <p:sldId id="297" r:id="rId6"/>
    <p:sldId id="411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9" r:id="rId15"/>
    <p:sldId id="407" r:id="rId16"/>
    <p:sldId id="420" r:id="rId17"/>
    <p:sldId id="422" r:id="rId18"/>
    <p:sldId id="378" r:id="rId19"/>
    <p:sldId id="423" r:id="rId20"/>
    <p:sldId id="424" r:id="rId21"/>
    <p:sldId id="425" r:id="rId22"/>
    <p:sldId id="426" r:id="rId23"/>
    <p:sldId id="435" r:id="rId24"/>
    <p:sldId id="437" r:id="rId25"/>
    <p:sldId id="436" r:id="rId26"/>
    <p:sldId id="427" r:id="rId27"/>
    <p:sldId id="428" r:id="rId28"/>
    <p:sldId id="431" r:id="rId29"/>
    <p:sldId id="432" r:id="rId30"/>
    <p:sldId id="433" r:id="rId31"/>
    <p:sldId id="434" r:id="rId32"/>
    <p:sldId id="408" r:id="rId33"/>
    <p:sldId id="439" r:id="rId34"/>
    <p:sldId id="441" r:id="rId35"/>
    <p:sldId id="442" r:id="rId36"/>
    <p:sldId id="443" r:id="rId37"/>
    <p:sldId id="444" r:id="rId38"/>
    <p:sldId id="450" r:id="rId39"/>
    <p:sldId id="451" r:id="rId40"/>
    <p:sldId id="452" r:id="rId41"/>
    <p:sldId id="453" r:id="rId42"/>
    <p:sldId id="454" r:id="rId43"/>
    <p:sldId id="455" r:id="rId44"/>
    <p:sldId id="445" r:id="rId45"/>
    <p:sldId id="457" r:id="rId46"/>
    <p:sldId id="456" r:id="rId47"/>
    <p:sldId id="458" r:id="rId48"/>
    <p:sldId id="460" r:id="rId49"/>
    <p:sldId id="461" r:id="rId50"/>
    <p:sldId id="462" r:id="rId51"/>
    <p:sldId id="463" r:id="rId52"/>
    <p:sldId id="464" r:id="rId53"/>
    <p:sldId id="465" r:id="rId54"/>
    <p:sldId id="466" r:id="rId55"/>
    <p:sldId id="467" r:id="rId56"/>
    <p:sldId id="468" r:id="rId57"/>
    <p:sldId id="470" r:id="rId58"/>
    <p:sldId id="469" r:id="rId59"/>
    <p:sldId id="471" r:id="rId60"/>
    <p:sldId id="472" r:id="rId61"/>
    <p:sldId id="409" r:id="rId62"/>
    <p:sldId id="473" r:id="rId63"/>
    <p:sldId id="474" r:id="rId64"/>
    <p:sldId id="475" r:id="rId65"/>
    <p:sldId id="476" r:id="rId66"/>
    <p:sldId id="477" r:id="rId67"/>
    <p:sldId id="478" r:id="rId68"/>
    <p:sldId id="313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1F1F"/>
    <a:srgbClr val="FFDDDD"/>
    <a:srgbClr val="FFE8CB"/>
    <a:srgbClr val="D5E3CF"/>
    <a:srgbClr val="F8D7CD"/>
    <a:srgbClr val="D2DEEF"/>
    <a:srgbClr val="CFD5EA"/>
    <a:srgbClr val="A870D2"/>
    <a:srgbClr val="FF7D7D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4335772" y="2611819"/>
            <a:ext cx="35205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Theories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975701" y="1867574"/>
            <a:ext cx="4225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6530DD-9E03-8E5A-8A00-4B04BB042390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403A2-252B-968F-63A7-1399B464363B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8242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 a Breather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798114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First Two Weeks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got familiar with 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finished Lab 0 – Setting up our IDE (VS Code)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saw / used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Variables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Arrays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Loops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Conditional Statements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Functions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Let’s now take a deep dive into the computer theories behind these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5043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2681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 (3-4 Lectures)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78734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Variables and Data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Data Types in detail, Data Size Limits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Floating Point Numbers Explained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Operators and Statements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Arithmetic Operators, Logic Operators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Statements vs. Expressions, </a:t>
            </a:r>
            <a:r>
              <a:rPr lang="en-CA" dirty="0" err="1"/>
              <a:t>lvalue</a:t>
            </a:r>
            <a:r>
              <a:rPr lang="en-CA" dirty="0"/>
              <a:t> vs. </a:t>
            </a:r>
            <a:r>
              <a:rPr lang="en-CA" dirty="0" err="1"/>
              <a:t>rvalue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Arithmetic Conversions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Operator Precedence and Associativity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Control Structures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Sequence, Selection, and Iteration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Console I/O</a:t>
            </a: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Variables and Data Types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B7921D-2359-26BE-3667-37D5BC2309E6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3-1 Part I] C Primitive Data Types</a:t>
            </a: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301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A Closer Look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 </a:t>
            </a:r>
            <a:r>
              <a:rPr lang="en-CA" sz="2200" b="1" i="1" dirty="0"/>
              <a:t>memory bucket</a:t>
            </a:r>
            <a:r>
              <a:rPr lang="en-CA" sz="2200" dirty="0"/>
              <a:t> that holds a value that may change throughout the program runtime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Naming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sequence of letters, digits, or underscores that does not begin with a digit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Max 31-character length, case sensitive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MUST NOT</a:t>
            </a:r>
            <a:r>
              <a:rPr lang="en-CA" dirty="0"/>
              <a:t> be a C-reserved keyword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variable naming convention –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words_separated_by_underscore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You may also use the camel form -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variableInCamelForm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Declaration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All variables must be declared with a type, such that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compiler knows (and can manage it for you)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How much memory is required to store this variable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How the value should be interpreted in the program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What is the set of possible values permitted in this variable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What operations can be carried out with the variable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064717B1-B22C-BDBD-76AB-608F6C0A8705}"/>
              </a:ext>
            </a:extLst>
          </p:cNvPr>
          <p:cNvSpPr/>
          <p:nvPr/>
        </p:nvSpPr>
        <p:spPr>
          <a:xfrm>
            <a:off x="9689617" y="5302928"/>
            <a:ext cx="1522880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L3Ex1-var.c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FF6447C3-D931-EB58-F5BA-593E02710764}"/>
              </a:ext>
            </a:extLst>
          </p:cNvPr>
          <p:cNvSpPr/>
          <p:nvPr/>
        </p:nvSpPr>
        <p:spPr>
          <a:xfrm>
            <a:off x="9180373" y="4365748"/>
            <a:ext cx="1432141" cy="542200"/>
          </a:xfrm>
          <a:prstGeom prst="wedgeRectCallout">
            <a:avLst>
              <a:gd name="adj1" fmla="val 3561"/>
              <a:gd name="adj2" fmla="val 11824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Not for compilation!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1043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C Primitive Data Types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 offers the following primitive data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CA" dirty="0"/>
              <a:t> 	ASCII characters	1 byte (i.e., 8 bits)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/>
              <a:t>	Integers		16-bit / 32-bit (implementation / hardware dependent)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 int</a:t>
            </a:r>
            <a:r>
              <a:rPr lang="en-CA" dirty="0"/>
              <a:t>		at least 16 bits, and no larger than for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int</a:t>
            </a:r>
            <a:r>
              <a:rPr lang="en-CA" dirty="0"/>
              <a:t>		at least 32 bits, and no smaller than for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CA" dirty="0"/>
              <a:t>	single-precision floating point number		32-bit / 64-bit (hardware dependent)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dirty="0"/>
              <a:t>	double-precision floating point number		double the size of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Signed-ness	Applies to char, int, short, and long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CA" dirty="0"/>
              <a:t>	only positive integers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signed</a:t>
            </a:r>
            <a:r>
              <a:rPr lang="en-CA" dirty="0"/>
              <a:t>	positive and negative integers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784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1794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C Integers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Storage Size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Defined typically by the compiler designed for the designated processor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However, C never enforces size requirements, only </a:t>
            </a:r>
            <a:r>
              <a:rPr lang="en-CA" b="1" i="1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C89 Recommended Sizes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/>
              <a:t>		16 or 32 bits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  <a:r>
              <a:rPr lang="en-CA" dirty="0"/>
              <a:t>	at least 16 bits, and no larger than for 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CA" dirty="0"/>
              <a:t>		at least 32 bits, and no smaller than for 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int</a:t>
            </a:r>
            <a:r>
              <a:rPr lang="en-CA" dirty="0"/>
              <a:t>	with Storage Size b-bits, possible value range is </a:t>
            </a:r>
            <a:r>
              <a:rPr lang="en-CA" b="1" dirty="0"/>
              <a:t>[0, 2</a:t>
            </a:r>
            <a:r>
              <a:rPr lang="en-CA" b="1" baseline="30000" dirty="0"/>
              <a:t>b</a:t>
            </a:r>
            <a:r>
              <a:rPr lang="en-CA" b="1" dirty="0"/>
              <a:t> - 1]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signed int</a:t>
            </a:r>
            <a:r>
              <a:rPr lang="en-CA" dirty="0"/>
              <a:t>		with Storage Size b-bits, possible value range is </a:t>
            </a:r>
            <a:r>
              <a:rPr lang="en-CA" b="1" dirty="0"/>
              <a:t>[-2</a:t>
            </a:r>
            <a:r>
              <a:rPr lang="en-CA" b="1" baseline="30000" dirty="0"/>
              <a:t>b-1</a:t>
            </a:r>
            <a:r>
              <a:rPr lang="en-CA" b="1" dirty="0"/>
              <a:t>, 2</a:t>
            </a:r>
            <a:r>
              <a:rPr lang="en-CA" b="1" baseline="30000" dirty="0"/>
              <a:t>b-1</a:t>
            </a:r>
            <a:r>
              <a:rPr lang="en-CA" b="1" dirty="0"/>
              <a:t>-1]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C99 specifies additional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CA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</a:t>
            </a:r>
            <a:r>
              <a:rPr lang="en-CA" dirty="0"/>
              <a:t>	at least 64 bits, and no smaller than long 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_Bool	</a:t>
            </a:r>
            <a:r>
              <a:rPr lang="en-CA" dirty="0"/>
              <a:t>	Boolean value – True (0) and False (Non-0)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2073CC19-3030-D857-AD98-6D28746539E5}"/>
              </a:ext>
            </a:extLst>
          </p:cNvPr>
          <p:cNvSpPr/>
          <p:nvPr/>
        </p:nvSpPr>
        <p:spPr>
          <a:xfrm>
            <a:off x="8937056" y="1707525"/>
            <a:ext cx="2108896" cy="854612"/>
          </a:xfrm>
          <a:prstGeom prst="wedgeRectCallout">
            <a:avLst>
              <a:gd name="adj1" fmla="val -77964"/>
              <a:gd name="adj2" fmla="val 2783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Never Trust Bit Sizes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Check Your Settings!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73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1794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C Integers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Storage Size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Defined typically by the compiler designed for the designated processor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However, C never enforces size requirements, only </a:t>
            </a:r>
            <a:r>
              <a:rPr lang="en-CA" b="1" i="1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of range of values based on the given bit-sizes (storage size)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2073CC19-3030-D857-AD98-6D28746539E5}"/>
              </a:ext>
            </a:extLst>
          </p:cNvPr>
          <p:cNvSpPr/>
          <p:nvPr/>
        </p:nvSpPr>
        <p:spPr>
          <a:xfrm>
            <a:off x="8937056" y="1612034"/>
            <a:ext cx="2108896" cy="854612"/>
          </a:xfrm>
          <a:prstGeom prst="wedgeRectCallout">
            <a:avLst>
              <a:gd name="adj1" fmla="val -74929"/>
              <a:gd name="adj2" fmla="val 4174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Never Trust Bit Sizes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Check Your Settings!</a:t>
            </a:r>
            <a:endParaRPr lang="en-US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7A23BA77-B28D-D5CB-02B1-41AE97A84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170903"/>
              </p:ext>
            </p:extLst>
          </p:nvPr>
        </p:nvGraphicFramePr>
        <p:xfrm>
          <a:off x="1307592" y="3140194"/>
          <a:ext cx="926287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8709">
                  <a:extLst>
                    <a:ext uri="{9D8B030D-6E8A-4147-A177-3AD203B41FA5}">
                      <a16:colId xmlns:a16="http://schemas.microsoft.com/office/drawing/2014/main" val="533251674"/>
                    </a:ext>
                  </a:extLst>
                </a:gridCol>
                <a:gridCol w="2021973">
                  <a:extLst>
                    <a:ext uri="{9D8B030D-6E8A-4147-A177-3AD203B41FA5}">
                      <a16:colId xmlns:a16="http://schemas.microsoft.com/office/drawing/2014/main" val="3345067050"/>
                    </a:ext>
                  </a:extLst>
                </a:gridCol>
                <a:gridCol w="3272188">
                  <a:extLst>
                    <a:ext uri="{9D8B030D-6E8A-4147-A177-3AD203B41FA5}">
                      <a16:colId xmlns:a16="http://schemas.microsoft.com/office/drawing/2014/main" val="2276118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Type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Typical Size (bits)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Range of Values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52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short int (short)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-32768 to 32767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340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-2,147,483,648 to 2,147,483,647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7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long int (long)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-9.22E+18 to 9.22E+18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58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unsigned short int (unsigned short)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 to 65535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233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unsigned 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 to 4,294,967,295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818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unsigned long int (unsigned long)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 to 1.84E+19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18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472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7928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C Floating Point Numbers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 Floating Point Numbers follow the IEEE 754 Standard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are not going too deep into this standard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simplified view: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CA" dirty="0"/>
              <a:t>	</a:t>
            </a:r>
            <a:r>
              <a:rPr lang="en-CA" b="1" dirty="0"/>
              <a:t>32 bit </a:t>
            </a:r>
            <a:r>
              <a:rPr lang="en-CA" dirty="0"/>
              <a:t>(IEEE 754 Floating Point Standard)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Range of Values 	3.4E-38 to 3.4E+38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Precision		6 decimal digits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dirty="0"/>
              <a:t> 	</a:t>
            </a:r>
            <a:r>
              <a:rPr lang="en-CA" b="1" dirty="0"/>
              <a:t>64 bits </a:t>
            </a:r>
            <a:r>
              <a:rPr lang="en-CA" dirty="0"/>
              <a:t>(IEEE 754 Floating Point Standard)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Range of Values		1.7E-308 to 1.7E+308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Precision		15 decimal digits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6BD442-D831-2B71-9176-C8287945248A}"/>
              </a:ext>
            </a:extLst>
          </p:cNvPr>
          <p:cNvSpPr/>
          <p:nvPr/>
        </p:nvSpPr>
        <p:spPr>
          <a:xfrm>
            <a:off x="2225040" y="2633173"/>
            <a:ext cx="7763256" cy="411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32-bit Binary Number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52E655-D39F-69CC-E098-87248AC64ACC}"/>
              </a:ext>
            </a:extLst>
          </p:cNvPr>
          <p:cNvSpPr/>
          <p:nvPr/>
        </p:nvSpPr>
        <p:spPr>
          <a:xfrm>
            <a:off x="2011680" y="2608723"/>
            <a:ext cx="600322" cy="4609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1-bit</a:t>
            </a:r>
          </a:p>
          <a:p>
            <a:pPr algn="ctr"/>
            <a:r>
              <a:rPr lang="en-CA" sz="1400" b="1" dirty="0">
                <a:solidFill>
                  <a:schemeClr val="tx1"/>
                </a:solidFill>
              </a:rPr>
              <a:t>+/-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06CACC-5864-234F-EFDD-17EEF1A04F42}"/>
              </a:ext>
            </a:extLst>
          </p:cNvPr>
          <p:cNvSpPr/>
          <p:nvPr/>
        </p:nvSpPr>
        <p:spPr>
          <a:xfrm>
            <a:off x="2612002" y="2608723"/>
            <a:ext cx="2270894" cy="46097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8-bit Exponent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FD6CC4-108B-FB12-BBA4-0089C142245F}"/>
              </a:ext>
            </a:extLst>
          </p:cNvPr>
          <p:cNvSpPr/>
          <p:nvPr/>
        </p:nvSpPr>
        <p:spPr>
          <a:xfrm>
            <a:off x="4882896" y="2608723"/>
            <a:ext cx="5105400" cy="4609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23-bit Mantissa (Base)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5550A9-D194-92EF-D9FC-8D71C2187BC2}"/>
              </a:ext>
            </a:extLst>
          </p:cNvPr>
          <p:cNvSpPr txBox="1"/>
          <p:nvPr/>
        </p:nvSpPr>
        <p:spPr>
          <a:xfrm>
            <a:off x="2119817" y="3044972"/>
            <a:ext cx="38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chemeClr val="accent4">
                    <a:lumMod val="75000"/>
                  </a:schemeClr>
                </a:solidFill>
              </a:rPr>
              <a:t>S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45075A-1E22-FFB4-419B-F15FED2FDAD5}"/>
              </a:ext>
            </a:extLst>
          </p:cNvPr>
          <p:cNvSpPr txBox="1"/>
          <p:nvPr/>
        </p:nvSpPr>
        <p:spPr>
          <a:xfrm>
            <a:off x="3417469" y="3047776"/>
            <a:ext cx="38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chemeClr val="accent2"/>
                </a:solidFill>
              </a:rPr>
              <a:t>E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D96B10-09FD-8D7C-C529-2B3F19BA6644}"/>
              </a:ext>
            </a:extLst>
          </p:cNvPr>
          <p:cNvSpPr txBox="1"/>
          <p:nvPr/>
        </p:nvSpPr>
        <p:spPr>
          <a:xfrm>
            <a:off x="7275580" y="3044653"/>
            <a:ext cx="38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id="{86BD50DC-03A0-AF3A-511E-D62770BF5223}"/>
                  </a:ext>
                </a:extLst>
              </p:cNvPr>
              <p:cNvSpPr/>
              <p:nvPr/>
            </p:nvSpPr>
            <p:spPr>
              <a:xfrm>
                <a:off x="8405051" y="1538589"/>
                <a:ext cx="2558605" cy="790238"/>
              </a:xfrm>
              <a:prstGeom prst="wedgeRectCallout">
                <a:avLst>
                  <a:gd name="adj1" fmla="val -98314"/>
                  <a:gd name="adj2" fmla="val 84670"/>
                </a:avLst>
              </a:prstGeom>
              <a:solidFill>
                <a:srgbClr val="FFDDDD"/>
              </a:solidFill>
              <a:ln w="38100">
                <a:solidFill>
                  <a:srgbClr val="7F1F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000" b="1" dirty="0">
                    <a:solidFill>
                      <a:schemeClr val="tx1"/>
                    </a:solidFill>
                  </a:rPr>
                  <a:t>Number = </a:t>
                </a:r>
                <a14:m>
                  <m:oMath xmlns:m="http://schemas.openxmlformats.org/officeDocument/2006/math">
                    <m:r>
                      <a:rPr lang="en-CA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CA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CA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r>
                      <a:rPr lang="en-CA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CA" sz="2000" b="1" i="1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sz="2000" b="1" baseline="30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CA" sz="1400" b="1" dirty="0">
                    <a:solidFill>
                      <a:srgbClr val="FF0000"/>
                    </a:solidFill>
                  </a:rPr>
                  <a:t>(wrong, but you get the idea…)</a:t>
                </a:r>
              </a:p>
            </p:txBody>
          </p:sp>
        </mc:Choice>
        <mc:Fallback xmlns=""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id="{86BD50DC-03A0-AF3A-511E-D62770BF52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051" y="1538589"/>
                <a:ext cx="2558605" cy="790238"/>
              </a:xfrm>
              <a:prstGeom prst="wedgeRectCallout">
                <a:avLst>
                  <a:gd name="adj1" fmla="val -98314"/>
                  <a:gd name="adj2" fmla="val 84670"/>
                </a:avLst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7F1F1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9AA3790A-51E1-1A57-6F49-C32F044A0282}"/>
              </a:ext>
            </a:extLst>
          </p:cNvPr>
          <p:cNvSpPr/>
          <p:nvPr/>
        </p:nvSpPr>
        <p:spPr>
          <a:xfrm>
            <a:off x="7215576" y="3872677"/>
            <a:ext cx="4050675" cy="790239"/>
          </a:xfrm>
          <a:prstGeom prst="wedgeRectCallout">
            <a:avLst>
              <a:gd name="adj1" fmla="val -65063"/>
              <a:gd name="adj2" fmla="val -577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IEEE 754 floating point numbers are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APPROXIMATIONS ONLY!!</a:t>
            </a: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1DCBA2E5-BF32-FC5E-86BA-CEA4B47CF6AD}"/>
              </a:ext>
            </a:extLst>
          </p:cNvPr>
          <p:cNvSpPr/>
          <p:nvPr/>
        </p:nvSpPr>
        <p:spPr>
          <a:xfrm>
            <a:off x="7215576" y="4876448"/>
            <a:ext cx="4050675" cy="790239"/>
          </a:xfrm>
          <a:prstGeom prst="wedgeRectCallout">
            <a:avLst>
              <a:gd name="adj1" fmla="val -59646"/>
              <a:gd name="adj2" fmla="val -45116"/>
            </a:avLst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Programming Tips: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Avoid checking equality of two floating point numbers.  Provide Check Range instead.</a:t>
            </a:r>
          </a:p>
        </p:txBody>
      </p:sp>
    </p:spTree>
    <p:extLst>
      <p:ext uri="{BB962C8B-B14F-4D97-AF65-F5344CB8AC3E}">
        <p14:creationId xmlns:p14="http://schemas.microsoft.com/office/powerpoint/2010/main" val="407736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4" grpId="0"/>
      <p:bldP spid="16" grpId="0"/>
      <p:bldP spid="17" grpId="0"/>
      <p:bldP spid="18" grpId="0" animBg="1"/>
      <p:bldP spid="19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6482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C Data Sizes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Check your compiler settings for the data size – HOW?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limits.h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defines constants for the sizes of integers on your system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INT_MAX</a:t>
            </a:r>
            <a:r>
              <a:rPr lang="en-CA" dirty="0"/>
              <a:t>	Maximum value of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SHRT_MIN</a:t>
            </a:r>
            <a:r>
              <a:rPr lang="en-CA" dirty="0"/>
              <a:t>	Minimum value of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ULONG_MAX</a:t>
            </a:r>
            <a:r>
              <a:rPr lang="en-CA" dirty="0"/>
              <a:t>	Maximum value of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long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Many more…check them out!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float.h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defines constants related to floating point arithmetic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FLT_DIG</a:t>
            </a:r>
            <a:r>
              <a:rPr lang="en-CA" dirty="0"/>
              <a:t>	Decimal digits of precision for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DBL_MAX</a:t>
            </a:r>
            <a:r>
              <a:rPr lang="en-CA" dirty="0"/>
              <a:t>	Maximum value for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Many more…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3D2367E7-89DE-16F5-5590-C9ED34FBE786}"/>
              </a:ext>
            </a:extLst>
          </p:cNvPr>
          <p:cNvSpPr/>
          <p:nvPr/>
        </p:nvSpPr>
        <p:spPr>
          <a:xfrm>
            <a:off x="8777342" y="3880673"/>
            <a:ext cx="2169332" cy="673909"/>
          </a:xfrm>
          <a:prstGeom prst="wedgeRectCallout">
            <a:avLst>
              <a:gd name="adj1" fmla="val -88073"/>
              <a:gd name="adj2" fmla="val 6161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With MinGW: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C:/MinGW/include/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2628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Specify Data Sizes for Constants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Integer numbers written in decimal format – defaulted as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77389, -578, 2879875, 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Force to be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int</a:t>
            </a:r>
            <a:r>
              <a:rPr lang="en-CA" dirty="0"/>
              <a:t> 	Suffix l or 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77389</a:t>
            </a:r>
            <a:r>
              <a:rPr lang="en-CA" b="1" dirty="0">
                <a:solidFill>
                  <a:srgbClr val="FF0000"/>
                </a:solidFill>
              </a:rPr>
              <a:t>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Force to be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int</a:t>
            </a:r>
            <a:r>
              <a:rPr lang="en-CA" dirty="0"/>
              <a:t> 	Suffix u or 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77389</a:t>
            </a:r>
            <a:r>
              <a:rPr lang="en-CA" b="1" dirty="0">
                <a:solidFill>
                  <a:srgbClr val="FF0000"/>
                </a:solidFill>
              </a:rPr>
              <a:t>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Force to be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long int</a:t>
            </a:r>
            <a:r>
              <a:rPr lang="en-CA" dirty="0"/>
              <a:t> 	Suffix </a:t>
            </a:r>
            <a:r>
              <a:rPr lang="en-CA" dirty="0" err="1"/>
              <a:t>ul</a:t>
            </a:r>
            <a:r>
              <a:rPr lang="en-CA" dirty="0"/>
              <a:t> or UL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77389</a:t>
            </a:r>
            <a:r>
              <a:rPr lang="en-CA" b="1" dirty="0">
                <a:solidFill>
                  <a:srgbClr val="FF0000"/>
                </a:solidFill>
              </a:rPr>
              <a:t>UL</a:t>
            </a:r>
            <a:br>
              <a:rPr lang="en-CA" b="1" dirty="0">
                <a:solidFill>
                  <a:srgbClr val="FF0000"/>
                </a:solidFill>
              </a:rPr>
            </a:br>
            <a:endParaRPr lang="en-CA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Floating point constants – defaulted as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Force to be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CA" dirty="0"/>
              <a:t> 	Suffix f or F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3.8845</a:t>
            </a:r>
            <a:r>
              <a:rPr lang="en-CA" b="1" dirty="0">
                <a:solidFill>
                  <a:srgbClr val="FF0000"/>
                </a:solidFill>
              </a:rPr>
              <a:t>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Force to be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double</a:t>
            </a:r>
            <a:r>
              <a:rPr lang="en-CA" dirty="0"/>
              <a:t> 	Suffix l or 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3.8845</a:t>
            </a:r>
            <a:r>
              <a:rPr lang="en-CA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1D21446-87FE-6A91-EA1E-1C705C2A64B8}"/>
              </a:ext>
            </a:extLst>
          </p:cNvPr>
          <p:cNvSpPr/>
          <p:nvPr/>
        </p:nvSpPr>
        <p:spPr>
          <a:xfrm>
            <a:off x="7022927" y="3994084"/>
            <a:ext cx="4189570" cy="1662981"/>
          </a:xfrm>
          <a:prstGeom prst="wedgeRectCallout">
            <a:avLst>
              <a:gd name="adj1" fmla="val -60396"/>
              <a:gd name="adj2" fmla="val -2898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Floating Point Constants</a:t>
            </a:r>
            <a:r>
              <a:rPr lang="en-US" sz="1600" dirty="0">
                <a:solidFill>
                  <a:schemeClr val="tx1"/>
                </a:solidFill>
              </a:rPr>
              <a:t> are numbers written…</a:t>
            </a:r>
          </a:p>
          <a:p>
            <a:r>
              <a:rPr lang="en-US" sz="1600" dirty="0">
                <a:solidFill>
                  <a:schemeClr val="tx1"/>
                </a:solidFill>
              </a:rPr>
              <a:t>- With a decimal point		0.1, 4.45…</a:t>
            </a:r>
          </a:p>
          <a:p>
            <a:r>
              <a:rPr lang="en-US" sz="1600" dirty="0">
                <a:solidFill>
                  <a:schemeClr val="tx1"/>
                </a:solidFill>
              </a:rPr>
              <a:t>- With an exponent		3e-7, 24E2…</a:t>
            </a:r>
          </a:p>
          <a:p>
            <a:r>
              <a:rPr lang="en-US" sz="1600" dirty="0">
                <a:solidFill>
                  <a:schemeClr val="tx1"/>
                </a:solidFill>
              </a:rPr>
              <a:t>- or BOTH			4.6E9, -23.E4</a:t>
            </a:r>
          </a:p>
        </p:txBody>
      </p:sp>
    </p:spTree>
    <p:extLst>
      <p:ext uri="{BB962C8B-B14F-4D97-AF65-F5344CB8AC3E}">
        <p14:creationId xmlns:p14="http://schemas.microsoft.com/office/powerpoint/2010/main" val="425743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3419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Characters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22541"/>
            <a:ext cx="1083440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Size 		</a:t>
            </a:r>
            <a:r>
              <a:rPr lang="en-CA" sz="2200" b="1" dirty="0"/>
              <a:t>1-byte (8-bit)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Variables and constants of type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CA" sz="2200" dirty="0"/>
              <a:t> have </a:t>
            </a:r>
            <a:r>
              <a:rPr lang="en-CA" sz="2200" b="1" u="sng" dirty="0"/>
              <a:t>integer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be </a:t>
            </a:r>
            <a:r>
              <a:rPr lang="en-CA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signed</a:t>
            </a:r>
            <a:r>
              <a:rPr lang="en-CA" dirty="0"/>
              <a:t> or </a:t>
            </a:r>
            <a:r>
              <a:rPr lang="en-CA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CA" dirty="0"/>
              <a:t> (</a:t>
            </a:r>
            <a:r>
              <a:rPr lang="en-CA" b="1" dirty="0"/>
              <a:t>WHAT?</a:t>
            </a:r>
            <a:r>
              <a:rPr lang="en-CA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[-128, 127]  	signed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[0, 255]	unsigned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Adopts the </a:t>
            </a:r>
            <a:r>
              <a:rPr lang="en-CA" sz="2200" b="1" dirty="0"/>
              <a:t>American Standard Code for Information Interchange (ASCII) </a:t>
            </a:r>
            <a:r>
              <a:rPr lang="en-CA" sz="2200" dirty="0"/>
              <a:t>character 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Printable characters [0, 127]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Conversion Specifier - %c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%d is used in place of %c for type </a:t>
            </a:r>
            <a:r>
              <a:rPr lang="en-CA" b="1" dirty="0"/>
              <a:t>char</a:t>
            </a:r>
            <a:r>
              <a:rPr lang="en-CA" dirty="0"/>
              <a:t>, its integer value will be printed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(“%c”, ‘s’);  // will print the lowercase character 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‘s’);  // will print the decimal value 115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limits.h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200" dirty="0"/>
              <a:t>also defines the constant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CHAR_MIN</a:t>
            </a:r>
            <a:r>
              <a:rPr lang="en-CA" dirty="0"/>
              <a:t>	Minimum value of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CHAR_MAX</a:t>
            </a:r>
            <a:r>
              <a:rPr lang="en-CA" dirty="0"/>
              <a:t>	Maximum value of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235D2A-B532-C463-5936-CA8546CC6380}"/>
              </a:ext>
            </a:extLst>
          </p:cNvPr>
          <p:cNvSpPr/>
          <p:nvPr/>
        </p:nvSpPr>
        <p:spPr>
          <a:xfrm>
            <a:off x="9456851" y="748937"/>
            <a:ext cx="1755646" cy="44382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ASCII Table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271A99B3-865E-1DB2-606D-33CC35C7BB03}"/>
              </a:ext>
            </a:extLst>
          </p:cNvPr>
          <p:cNvSpPr/>
          <p:nvPr/>
        </p:nvSpPr>
        <p:spPr>
          <a:xfrm>
            <a:off x="6096000" y="2376044"/>
            <a:ext cx="2169332" cy="673909"/>
          </a:xfrm>
          <a:prstGeom prst="wedgeRectCallout">
            <a:avLst>
              <a:gd name="adj1" fmla="val -88461"/>
              <a:gd name="adj2" fmla="val -4902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Implementation-Dependent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56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3419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 Characters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Character Constants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single character with single quote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‘X’, ‘a’, ‘3’, ‘?’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Their values are (of course) integers too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‘X’</a:t>
            </a:r>
            <a:r>
              <a:rPr lang="en-CA" dirty="0"/>
              <a:t> = 88,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‘a’</a:t>
            </a:r>
            <a:r>
              <a:rPr lang="en-CA" dirty="0"/>
              <a:t> = 97,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‘3’</a:t>
            </a:r>
            <a:r>
              <a:rPr lang="en-CA" dirty="0"/>
              <a:t> = 51,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‘?’</a:t>
            </a:r>
            <a:r>
              <a:rPr lang="en-CA" dirty="0"/>
              <a:t> = 63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Some special characters are written in escape sequence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‘\n’</a:t>
            </a:r>
            <a:r>
              <a:rPr lang="en-CA" dirty="0"/>
              <a:t>		newline character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‘\t’</a:t>
            </a:r>
            <a:r>
              <a:rPr lang="en-CA" dirty="0"/>
              <a:t>		tab character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‘\v’</a:t>
            </a:r>
            <a:r>
              <a:rPr lang="en-CA" dirty="0"/>
              <a:t> 	vertical tab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‘\b’</a:t>
            </a:r>
            <a:r>
              <a:rPr lang="en-CA" dirty="0"/>
              <a:t>  	backspace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‘\0’</a:t>
            </a:r>
            <a:r>
              <a:rPr lang="en-CA" dirty="0"/>
              <a:t>  	termination character (more to come)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Unicode Characters – represented by “wide characters” (</a:t>
            </a:r>
            <a:r>
              <a:rPr lang="en-CA" sz="22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wchar_t</a:t>
            </a:r>
            <a:r>
              <a:rPr lang="en-CA" sz="22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Size of </a:t>
            </a:r>
            <a:r>
              <a:rPr lang="en-CA" dirty="0" err="1"/>
              <a:t>wchar_t</a:t>
            </a:r>
            <a:r>
              <a:rPr lang="en-CA" dirty="0"/>
              <a:t> is implementation dependent (16 / 32 bits)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C99 / C11, we can specify the bit-length ourselves through: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char16_t</a:t>
            </a:r>
            <a:r>
              <a:rPr lang="en-CA" dirty="0"/>
              <a:t>,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char32_t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754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700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–</a:t>
            </a:r>
            <a:r>
              <a:rPr lang="ja-JP" alt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altLang="ja-JP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Perspective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83440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Memory storage unit configuration: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All RAM memory slots typically built with a cell of 8-bit (1 byte) size on conventional computers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i="1" dirty="0"/>
              <a:t>The hardware interface of RAMs are 32-bit or 64-bit native, however.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COMPILERs may choose to operate on these memory slots as: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Single units (each with 8 bits) – small systems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 pack of 2 units (16-bit)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A pack of 4 units (32-bit) (Most Typical Default)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 pack of 8 units (64-bit)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default setting typically ties into the bit-size of the CPU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 The computer bus line width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Reconfigurable in some compilers too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Takeaways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Q: What’s the default size of a memory slot?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A: It depends. 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[Question] </a:t>
            </a:r>
            <a:r>
              <a:rPr lang="en-CA" dirty="0"/>
              <a:t>Do you see any problem with this?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AC8B1E-E3B0-AF8D-CF45-434945E070BC}"/>
              </a:ext>
            </a:extLst>
          </p:cNvPr>
          <p:cNvSpPr/>
          <p:nvPr/>
        </p:nvSpPr>
        <p:spPr>
          <a:xfrm>
            <a:off x="8120895" y="4758387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8-bit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69DBA9-3005-2BBC-30B1-C96B4FD17FB5}"/>
              </a:ext>
            </a:extLst>
          </p:cNvPr>
          <p:cNvSpPr/>
          <p:nvPr/>
        </p:nvSpPr>
        <p:spPr>
          <a:xfrm>
            <a:off x="8120895" y="4465203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8-bit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026B83-DB89-0803-EB4A-B1D12C80311D}"/>
              </a:ext>
            </a:extLst>
          </p:cNvPr>
          <p:cNvSpPr/>
          <p:nvPr/>
        </p:nvSpPr>
        <p:spPr>
          <a:xfrm>
            <a:off x="8120895" y="5051572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8-bit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498DF-20AD-2706-8C78-B72E90DB8DDD}"/>
              </a:ext>
            </a:extLst>
          </p:cNvPr>
          <p:cNvSpPr txBox="1"/>
          <p:nvPr/>
        </p:nvSpPr>
        <p:spPr>
          <a:xfrm rot="16200000">
            <a:off x="8374231" y="5257797"/>
            <a:ext cx="511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…</a:t>
            </a:r>
            <a:endParaRPr lang="en-CA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37039-4EE9-6171-7C8F-1AB4A0A1C4CD}"/>
              </a:ext>
            </a:extLst>
          </p:cNvPr>
          <p:cNvSpPr txBox="1"/>
          <p:nvPr/>
        </p:nvSpPr>
        <p:spPr>
          <a:xfrm>
            <a:off x="7556891" y="5069652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1011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76B92-5F9C-DAD0-FA14-87C8CC2841CF}"/>
              </a:ext>
            </a:extLst>
          </p:cNvPr>
          <p:cNvSpPr txBox="1"/>
          <p:nvPr/>
        </p:nvSpPr>
        <p:spPr>
          <a:xfrm>
            <a:off x="7544041" y="4765637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1012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5048DB-D797-479A-0919-498A9B44B151}"/>
              </a:ext>
            </a:extLst>
          </p:cNvPr>
          <p:cNvSpPr txBox="1"/>
          <p:nvPr/>
        </p:nvSpPr>
        <p:spPr>
          <a:xfrm>
            <a:off x="7544041" y="4454304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1013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ACD809-0262-86D1-3480-13454AD98D9D}"/>
              </a:ext>
            </a:extLst>
          </p:cNvPr>
          <p:cNvSpPr txBox="1"/>
          <p:nvPr/>
        </p:nvSpPr>
        <p:spPr>
          <a:xfrm rot="16200000">
            <a:off x="8374232" y="2443537"/>
            <a:ext cx="511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…</a:t>
            </a:r>
            <a:endParaRPr lang="en-CA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219460-AF95-6F64-DCCA-8085F8B629C4}"/>
              </a:ext>
            </a:extLst>
          </p:cNvPr>
          <p:cNvSpPr/>
          <p:nvPr/>
        </p:nvSpPr>
        <p:spPr>
          <a:xfrm>
            <a:off x="8106191" y="3887031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8-bit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449FFD-AA2D-BA7F-52C5-A03F414F9AB1}"/>
              </a:ext>
            </a:extLst>
          </p:cNvPr>
          <p:cNvSpPr/>
          <p:nvPr/>
        </p:nvSpPr>
        <p:spPr>
          <a:xfrm>
            <a:off x="8106191" y="3593847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8-bit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1950A07-63EF-22B4-9E2B-3D50139C9E80}"/>
              </a:ext>
            </a:extLst>
          </p:cNvPr>
          <p:cNvSpPr/>
          <p:nvPr/>
        </p:nvSpPr>
        <p:spPr>
          <a:xfrm>
            <a:off x="8106191" y="4180216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8-bit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5A714B-CBD6-D5DB-68EE-E6B340022DA5}"/>
              </a:ext>
            </a:extLst>
          </p:cNvPr>
          <p:cNvSpPr txBox="1"/>
          <p:nvPr/>
        </p:nvSpPr>
        <p:spPr>
          <a:xfrm>
            <a:off x="7542187" y="4198296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1014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46E1F4-FD66-738D-4A7F-A03A776604F5}"/>
              </a:ext>
            </a:extLst>
          </p:cNvPr>
          <p:cNvSpPr txBox="1"/>
          <p:nvPr/>
        </p:nvSpPr>
        <p:spPr>
          <a:xfrm>
            <a:off x="7529337" y="3894281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1015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D88E70-44FC-6956-8ABF-27641C6ED03E}"/>
              </a:ext>
            </a:extLst>
          </p:cNvPr>
          <p:cNvSpPr txBox="1"/>
          <p:nvPr/>
        </p:nvSpPr>
        <p:spPr>
          <a:xfrm>
            <a:off x="7529337" y="3582948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1016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E422E8-A433-FD2D-3E3E-24DA565FD1AC}"/>
              </a:ext>
            </a:extLst>
          </p:cNvPr>
          <p:cNvSpPr/>
          <p:nvPr/>
        </p:nvSpPr>
        <p:spPr>
          <a:xfrm>
            <a:off x="8033047" y="3593847"/>
            <a:ext cx="1445623" cy="584683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8360BF-B32F-F12D-F8A4-4C70731A305A}"/>
              </a:ext>
            </a:extLst>
          </p:cNvPr>
          <p:cNvSpPr txBox="1"/>
          <p:nvPr/>
        </p:nvSpPr>
        <p:spPr>
          <a:xfrm>
            <a:off x="9486168" y="3623345"/>
            <a:ext cx="98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0B050"/>
                </a:solidFill>
              </a:rPr>
              <a:t>16-bit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971868-D72C-E379-E365-9358A287333E}"/>
              </a:ext>
            </a:extLst>
          </p:cNvPr>
          <p:cNvSpPr/>
          <p:nvPr/>
        </p:nvSpPr>
        <p:spPr>
          <a:xfrm>
            <a:off x="8033047" y="4190067"/>
            <a:ext cx="1445623" cy="584683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E353AE-3215-F1B5-5BBA-0A5C13004143}"/>
              </a:ext>
            </a:extLst>
          </p:cNvPr>
          <p:cNvSpPr txBox="1"/>
          <p:nvPr/>
        </p:nvSpPr>
        <p:spPr>
          <a:xfrm>
            <a:off x="9486168" y="4219565"/>
            <a:ext cx="98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0B050"/>
                </a:solidFill>
              </a:rPr>
              <a:t>16-bit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B5F782-B235-3867-5858-041D7F9FA85B}"/>
              </a:ext>
            </a:extLst>
          </p:cNvPr>
          <p:cNvSpPr/>
          <p:nvPr/>
        </p:nvSpPr>
        <p:spPr>
          <a:xfrm>
            <a:off x="8040545" y="4772406"/>
            <a:ext cx="1445623" cy="584683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F2C030-F8D4-2C98-BF3A-29A3A801ACD2}"/>
              </a:ext>
            </a:extLst>
          </p:cNvPr>
          <p:cNvSpPr txBox="1"/>
          <p:nvPr/>
        </p:nvSpPr>
        <p:spPr>
          <a:xfrm>
            <a:off x="9493666" y="4801904"/>
            <a:ext cx="98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0B050"/>
                </a:solidFill>
              </a:rPr>
              <a:t>16-bit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DC036C-6B65-B3D9-3471-2972EC653A10}"/>
              </a:ext>
            </a:extLst>
          </p:cNvPr>
          <p:cNvSpPr/>
          <p:nvPr/>
        </p:nvSpPr>
        <p:spPr>
          <a:xfrm>
            <a:off x="8033047" y="3015980"/>
            <a:ext cx="1445623" cy="584683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D82189-8E9B-37A9-B304-BFB5C707EBE2}"/>
              </a:ext>
            </a:extLst>
          </p:cNvPr>
          <p:cNvSpPr txBox="1"/>
          <p:nvPr/>
        </p:nvSpPr>
        <p:spPr>
          <a:xfrm>
            <a:off x="9486168" y="3045478"/>
            <a:ext cx="98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0B050"/>
                </a:solidFill>
              </a:rPr>
              <a:t>16-bit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1C238BD-E48B-7047-DAD1-06B16085F7FA}"/>
              </a:ext>
            </a:extLst>
          </p:cNvPr>
          <p:cNvSpPr/>
          <p:nvPr/>
        </p:nvSpPr>
        <p:spPr>
          <a:xfrm>
            <a:off x="8106191" y="3032098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8-bit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07328BF-E2B0-5719-C4C3-7ABB755FD7BF}"/>
              </a:ext>
            </a:extLst>
          </p:cNvPr>
          <p:cNvSpPr/>
          <p:nvPr/>
        </p:nvSpPr>
        <p:spPr>
          <a:xfrm>
            <a:off x="8106191" y="3325283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8-bit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DBEADE-39B6-7960-3AE5-EFCD30BD59B8}"/>
              </a:ext>
            </a:extLst>
          </p:cNvPr>
          <p:cNvSpPr txBox="1"/>
          <p:nvPr/>
        </p:nvSpPr>
        <p:spPr>
          <a:xfrm>
            <a:off x="7542187" y="3343363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1017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E273D1-537D-9253-6C7D-35FEBB9ADE50}"/>
              </a:ext>
            </a:extLst>
          </p:cNvPr>
          <p:cNvSpPr txBox="1"/>
          <p:nvPr/>
        </p:nvSpPr>
        <p:spPr>
          <a:xfrm>
            <a:off x="7529337" y="3039348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1018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D2ABF8-94BB-5BD7-F63B-D9C2F8CD4217}"/>
              </a:ext>
            </a:extLst>
          </p:cNvPr>
          <p:cNvSpPr/>
          <p:nvPr/>
        </p:nvSpPr>
        <p:spPr>
          <a:xfrm>
            <a:off x="7907384" y="2990719"/>
            <a:ext cx="2311756" cy="1228846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FAEFA9-C117-67A4-E05E-746202B46EF8}"/>
              </a:ext>
            </a:extLst>
          </p:cNvPr>
          <p:cNvSpPr txBox="1"/>
          <p:nvPr/>
        </p:nvSpPr>
        <p:spPr>
          <a:xfrm>
            <a:off x="10226637" y="3020217"/>
            <a:ext cx="98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030A0"/>
                </a:solidFill>
              </a:rPr>
              <a:t>32-bit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859B19-A483-732F-E6A7-963201B584AA}"/>
              </a:ext>
            </a:extLst>
          </p:cNvPr>
          <p:cNvSpPr/>
          <p:nvPr/>
        </p:nvSpPr>
        <p:spPr>
          <a:xfrm>
            <a:off x="7907384" y="4170605"/>
            <a:ext cx="2311756" cy="1228846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A26E8A-AD18-77C2-0C0E-FD87668A75DC}"/>
              </a:ext>
            </a:extLst>
          </p:cNvPr>
          <p:cNvSpPr txBox="1"/>
          <p:nvPr/>
        </p:nvSpPr>
        <p:spPr>
          <a:xfrm>
            <a:off x="10226637" y="4200103"/>
            <a:ext cx="98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030A0"/>
                </a:solidFill>
              </a:rPr>
              <a:t>32-bit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32C82F-2B58-BE2A-A0DC-FCCF9F067D49}"/>
              </a:ext>
            </a:extLst>
          </p:cNvPr>
          <p:cNvSpPr/>
          <p:nvPr/>
        </p:nvSpPr>
        <p:spPr>
          <a:xfrm>
            <a:off x="7766562" y="2891735"/>
            <a:ext cx="3241071" cy="26120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4FBA07-2520-261D-B3B1-80F46420BFE6}"/>
              </a:ext>
            </a:extLst>
          </p:cNvPr>
          <p:cNvSpPr txBox="1"/>
          <p:nvPr/>
        </p:nvSpPr>
        <p:spPr>
          <a:xfrm>
            <a:off x="10219140" y="2559912"/>
            <a:ext cx="98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64-bit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56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/>
      <p:bldP spid="10" grpId="0"/>
      <p:bldP spid="11" grpId="0"/>
      <p:bldP spid="12" grpId="0"/>
      <p:bldP spid="14" grpId="0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5" grpId="0" animBg="1"/>
      <p:bldP spid="36" grpId="0" animBg="1"/>
      <p:bldP spid="37" grpId="0"/>
      <p:bldP spid="38" grpId="0"/>
      <p:bldP spid="39" grpId="0" animBg="1"/>
      <p:bldP spid="40" grpId="0"/>
      <p:bldP spid="41" grpId="0" animBg="1"/>
      <p:bldP spid="42" grpId="0"/>
      <p:bldP spid="45" grpId="0" animBg="1"/>
      <p:bldP spid="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Operators and Statements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1957BA-BB9A-5745-7A79-3C28A78C9E67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US" sz="2000" b="1" dirty="0">
                <a:solidFill>
                  <a:srgbClr val="7F1F1F"/>
                </a:solidFill>
              </a:rPr>
              <a:t>[PLV 3-1 Part II] C Operators</a:t>
            </a:r>
            <a:endParaRPr lang="en-CA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979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139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Arithmetic Operators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6550"/>
            <a:ext cx="1052668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Binary Operators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>
                <a:latin typeface="Courier New" panose="02070309020205020404" pitchFamily="49" charset="0"/>
                <a:cs typeface="Courier New" panose="02070309020205020404" pitchFamily="49" charset="0"/>
              </a:rPr>
              <a:t>=, +, -,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*, /, 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If both operands of the Division Operator (/) are integers, </a:t>
            </a:r>
            <a:r>
              <a:rPr lang="en-CA" b="1" dirty="0"/>
              <a:t>round-down integer division is performed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 5 / 2  = 2    (NOT 2.5)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Modulus Operator (%) returns the </a:t>
            </a:r>
            <a:r>
              <a:rPr lang="en-CA" b="1" dirty="0"/>
              <a:t>integer remainder</a:t>
            </a:r>
            <a:r>
              <a:rPr lang="en-CA" dirty="0"/>
              <a:t> from integer division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 % b</a:t>
            </a:r>
            <a:r>
              <a:rPr lang="en-CA" dirty="0"/>
              <a:t> is the remainder of the division of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 / b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Ex. 18 % 4 = 2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What happens if </a:t>
            </a:r>
            <a:r>
              <a:rPr lang="en-CA" b="1" dirty="0"/>
              <a:t>a negative operand </a:t>
            </a:r>
            <a:r>
              <a:rPr lang="en-CA" dirty="0"/>
              <a:t>is used in % operation?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i="1" dirty="0"/>
              <a:t>Implementation-Dependent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Unary Operators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Signs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+,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Increment / Decrement 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++, 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b="1" i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0A4E9238-4747-4056-3521-82986871E509}"/>
              </a:ext>
            </a:extLst>
          </p:cNvPr>
          <p:cNvSpPr/>
          <p:nvPr/>
        </p:nvSpPr>
        <p:spPr>
          <a:xfrm>
            <a:off x="8919875" y="3724710"/>
            <a:ext cx="2169332" cy="673909"/>
          </a:xfrm>
          <a:prstGeom prst="wedgeRectCallout">
            <a:avLst>
              <a:gd name="adj1" fmla="val -59571"/>
              <a:gd name="adj2" fmla="val -9018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Integer Operands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ONLY!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5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Assignment Statement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Computer completes an assignment statement as: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sz="1400" dirty="0"/>
              <a:t>Evaluate the expression on the right-hand side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sz="1400" dirty="0"/>
              <a:t>Evaluation result </a:t>
            </a:r>
            <a:r>
              <a:rPr lang="en-CA" sz="1400" b="1" u="sng" dirty="0"/>
              <a:t>temporarily</a:t>
            </a:r>
            <a:r>
              <a:rPr lang="en-CA" sz="1400" dirty="0"/>
              <a:t> stored in CPU as </a:t>
            </a:r>
            <a:br>
              <a:rPr lang="en-CA" sz="1400" dirty="0"/>
            </a:br>
            <a:r>
              <a:rPr lang="en-CA" sz="1400" dirty="0">
                <a:solidFill>
                  <a:schemeClr val="accent6"/>
                </a:solidFill>
              </a:rPr>
              <a:t>“</a:t>
            </a:r>
            <a:r>
              <a:rPr lang="en-CA" sz="1400" b="1" i="1" dirty="0">
                <a:solidFill>
                  <a:schemeClr val="accent6"/>
                </a:solidFill>
              </a:rPr>
              <a:t>Right Hand Value</a:t>
            </a:r>
            <a:r>
              <a:rPr lang="en-CA" sz="1400" dirty="0">
                <a:solidFill>
                  <a:schemeClr val="accent6"/>
                </a:solidFill>
              </a:rPr>
              <a:t>” aka. </a:t>
            </a:r>
            <a:r>
              <a:rPr lang="en-CA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rvalue</a:t>
            </a:r>
            <a:r>
              <a:rPr lang="en-CA" sz="1400" b="1" dirty="0">
                <a:solidFill>
                  <a:schemeClr val="accent6"/>
                </a:solidFill>
              </a:rPr>
              <a:t>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sz="1400" dirty="0"/>
              <a:t>CPU locates the memory address of where the </a:t>
            </a:r>
            <a:br>
              <a:rPr lang="en-CA" sz="1400" dirty="0"/>
            </a:br>
            <a:r>
              <a:rPr lang="en-CA" sz="1400" dirty="0"/>
              <a:t>left-hand side variable resides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sz="1400" dirty="0"/>
              <a:t>Right hand value is then “assigned” to the </a:t>
            </a:r>
            <a:br>
              <a:rPr lang="en-CA" sz="1400" dirty="0"/>
            </a:br>
            <a:r>
              <a:rPr lang="en-CA" sz="1400" dirty="0"/>
              <a:t>designated memory location</a:t>
            </a:r>
          </a:p>
          <a:p>
            <a:pPr marL="1257300" lvl="2" indent="-342900">
              <a:buFont typeface="+mj-lt"/>
              <a:buAutoNum type="arabicPeriod"/>
            </a:pPr>
            <a:endParaRPr lang="en-CA" sz="1400" dirty="0"/>
          </a:p>
          <a:p>
            <a:pPr marL="1257300" lvl="2" indent="-342900">
              <a:buFont typeface="+mj-lt"/>
              <a:buAutoNum type="arabicPeriod"/>
            </a:pPr>
            <a:endParaRPr lang="en-CA" sz="1400" dirty="0"/>
          </a:p>
          <a:p>
            <a:pPr marL="1257300" lvl="2" indent="-342900">
              <a:buFont typeface="+mj-lt"/>
              <a:buAutoNum type="arabicPeriod"/>
            </a:pPr>
            <a:endParaRPr lang="en-CA" sz="1400" dirty="0"/>
          </a:p>
          <a:p>
            <a:pPr marL="1257300" lvl="2" indent="-342900">
              <a:buFont typeface="+mj-lt"/>
              <a:buAutoNum type="arabicPeriod"/>
            </a:pPr>
            <a:r>
              <a:rPr lang="en-CA" sz="1400" dirty="0"/>
              <a:t>The temporary </a:t>
            </a:r>
            <a:r>
              <a:rPr lang="en-CA" sz="1400" dirty="0" err="1"/>
              <a:t>rvalue</a:t>
            </a:r>
            <a:r>
              <a:rPr lang="en-CA" sz="1400" dirty="0"/>
              <a:t> is then wiped out at the end</a:t>
            </a:r>
            <a:br>
              <a:rPr lang="en-CA" sz="1400" dirty="0"/>
            </a:br>
            <a:r>
              <a:rPr lang="en-CA" sz="1400" dirty="0"/>
              <a:t>of the assignment statement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sz="1400" dirty="0"/>
              <a:t>The value stored in the variable (in memory) now can</a:t>
            </a:r>
            <a:br>
              <a:rPr lang="en-CA" sz="1400" dirty="0"/>
            </a:br>
            <a:r>
              <a:rPr lang="en-CA" sz="1400" dirty="0"/>
              <a:t>persist through its storage duration.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400" dirty="0"/>
              <a:t>We refer to this value as “value assigned to the left-hand side variable”</a:t>
            </a:r>
            <a:br>
              <a:rPr lang="en-CA" sz="1400" dirty="0"/>
            </a:br>
            <a:r>
              <a:rPr lang="en-CA" sz="1400" dirty="0"/>
              <a:t>or </a:t>
            </a:r>
            <a:r>
              <a:rPr lang="en-CA" sz="1400" b="1" i="1" dirty="0">
                <a:solidFill>
                  <a:schemeClr val="accent1"/>
                </a:solidFill>
              </a:rPr>
              <a:t>“Left Hand Value” </a:t>
            </a:r>
            <a:r>
              <a:rPr lang="en-CA" sz="1400" dirty="0">
                <a:solidFill>
                  <a:schemeClr val="accent1"/>
                </a:solidFill>
              </a:rPr>
              <a:t>aka. </a:t>
            </a:r>
            <a:r>
              <a:rPr lang="en-CA" sz="1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lvalue</a:t>
            </a:r>
            <a:endParaRPr lang="en-CA" sz="14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57300" lvl="2" indent="-342900">
              <a:buFont typeface="+mj-lt"/>
              <a:buAutoNum type="arabicPeriod"/>
            </a:pPr>
            <a:endParaRPr lang="en-CA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69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Operator “=”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F0BB0-2A49-E769-29E3-1B05D53278CE}"/>
              </a:ext>
            </a:extLst>
          </p:cNvPr>
          <p:cNvSpPr txBox="1"/>
          <p:nvPr/>
        </p:nvSpPr>
        <p:spPr>
          <a:xfrm>
            <a:off x="6994428" y="1912407"/>
            <a:ext cx="2894132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=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3FE731F-C330-C6D1-E3D2-E61C0C1B96B0}"/>
              </a:ext>
            </a:extLst>
          </p:cNvPr>
          <p:cNvSpPr/>
          <p:nvPr/>
        </p:nvSpPr>
        <p:spPr>
          <a:xfrm rot="16200000">
            <a:off x="8293448" y="260041"/>
            <a:ext cx="296092" cy="2894132"/>
          </a:xfrm>
          <a:prstGeom prst="rightBrac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386BE-84C3-DAA9-C3ED-13E5B235F35B}"/>
              </a:ext>
            </a:extLst>
          </p:cNvPr>
          <p:cNvSpPr txBox="1"/>
          <p:nvPr/>
        </p:nvSpPr>
        <p:spPr>
          <a:xfrm>
            <a:off x="7868399" y="1200935"/>
            <a:ext cx="1613974" cy="37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Statement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5EAE91-4FDB-CA4D-023C-F74D527151AB}"/>
              </a:ext>
            </a:extLst>
          </p:cNvPr>
          <p:cNvSpPr/>
          <p:nvPr/>
        </p:nvSpPr>
        <p:spPr>
          <a:xfrm>
            <a:off x="7971146" y="1104714"/>
            <a:ext cx="2570442" cy="44382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Assignment Statement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48B2BC7-A23C-94AE-0BEF-955E522E1573}"/>
              </a:ext>
            </a:extLst>
          </p:cNvPr>
          <p:cNvSpPr/>
          <p:nvPr/>
        </p:nvSpPr>
        <p:spPr>
          <a:xfrm>
            <a:off x="9013371" y="2184489"/>
            <a:ext cx="227543" cy="51516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31A6DF-FB00-BEE2-8823-22B85C9CE679}"/>
              </a:ext>
            </a:extLst>
          </p:cNvPr>
          <p:cNvSpPr/>
          <p:nvPr/>
        </p:nvSpPr>
        <p:spPr>
          <a:xfrm>
            <a:off x="8675386" y="2722045"/>
            <a:ext cx="1755646" cy="37303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Right-Hand Value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FAC8BB-0634-9881-5ED4-6258D3262D02}"/>
              </a:ext>
            </a:extLst>
          </p:cNvPr>
          <p:cNvSpPr/>
          <p:nvPr/>
        </p:nvSpPr>
        <p:spPr>
          <a:xfrm>
            <a:off x="8613544" y="4150846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23EC2F-D67C-D42B-45C3-2BE3A818655E}"/>
              </a:ext>
            </a:extLst>
          </p:cNvPr>
          <p:cNvSpPr/>
          <p:nvPr/>
        </p:nvSpPr>
        <p:spPr>
          <a:xfrm>
            <a:off x="8613544" y="3857662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1D025B-BF58-992F-B86B-F21EF6B3EF57}"/>
              </a:ext>
            </a:extLst>
          </p:cNvPr>
          <p:cNvSpPr/>
          <p:nvPr/>
        </p:nvSpPr>
        <p:spPr>
          <a:xfrm>
            <a:off x="8613544" y="4444031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96D66D-28A1-EF2C-8BE0-624D656BEA36}"/>
              </a:ext>
            </a:extLst>
          </p:cNvPr>
          <p:cNvSpPr txBox="1"/>
          <p:nvPr/>
        </p:nvSpPr>
        <p:spPr>
          <a:xfrm rot="16200000">
            <a:off x="8866880" y="4650256"/>
            <a:ext cx="511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…</a:t>
            </a:r>
            <a:endParaRPr lang="en-CA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456BF-270F-1937-59DF-602EC83DC673}"/>
              </a:ext>
            </a:extLst>
          </p:cNvPr>
          <p:cNvSpPr txBox="1"/>
          <p:nvPr/>
        </p:nvSpPr>
        <p:spPr>
          <a:xfrm>
            <a:off x="8049540" y="4462111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1011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39F7C-1584-9B45-EDFE-0953368B0CC5}"/>
              </a:ext>
            </a:extLst>
          </p:cNvPr>
          <p:cNvSpPr txBox="1"/>
          <p:nvPr/>
        </p:nvSpPr>
        <p:spPr>
          <a:xfrm>
            <a:off x="8036690" y="4158096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1012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B79192-8F61-699F-7B11-F6A835FCA73F}"/>
              </a:ext>
            </a:extLst>
          </p:cNvPr>
          <p:cNvSpPr txBox="1"/>
          <p:nvPr/>
        </p:nvSpPr>
        <p:spPr>
          <a:xfrm>
            <a:off x="8036690" y="3846763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1013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A2FCF3-BE9C-FBFF-4D21-95228C8227AA}"/>
              </a:ext>
            </a:extLst>
          </p:cNvPr>
          <p:cNvSpPr txBox="1"/>
          <p:nvPr/>
        </p:nvSpPr>
        <p:spPr>
          <a:xfrm>
            <a:off x="6765652" y="4121899"/>
            <a:ext cx="172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endParaRPr lang="en-CA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AD393A-574B-9C79-38ED-0933F0460361}"/>
              </a:ext>
            </a:extLst>
          </p:cNvPr>
          <p:cNvSpPr txBox="1"/>
          <p:nvPr/>
        </p:nvSpPr>
        <p:spPr>
          <a:xfrm rot="16200000">
            <a:off x="8866881" y="3278384"/>
            <a:ext cx="511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…</a:t>
            </a:r>
            <a:endParaRPr lang="en-CA" b="1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556EB10-C19C-5ECC-E34B-BAB6B467E608}"/>
              </a:ext>
            </a:extLst>
          </p:cNvPr>
          <p:cNvSpPr/>
          <p:nvPr/>
        </p:nvSpPr>
        <p:spPr>
          <a:xfrm>
            <a:off x="7384869" y="2184489"/>
            <a:ext cx="227543" cy="19736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6B865438-911B-0534-81F8-DBB712695278}"/>
              </a:ext>
            </a:extLst>
          </p:cNvPr>
          <p:cNvSpPr/>
          <p:nvPr/>
        </p:nvSpPr>
        <p:spPr>
          <a:xfrm rot="5400000" flipV="1">
            <a:off x="9410046" y="3568893"/>
            <a:ext cx="1324549" cy="360877"/>
          </a:xfrm>
          <a:prstGeom prst="ben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3E8AE2-422F-7E35-19DA-5707FDC6D4A2}"/>
              </a:ext>
            </a:extLst>
          </p:cNvPr>
          <p:cNvSpPr txBox="1"/>
          <p:nvPr/>
        </p:nvSpPr>
        <p:spPr>
          <a:xfrm>
            <a:off x="8947733" y="4133944"/>
            <a:ext cx="740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>
                <a:solidFill>
                  <a:srgbClr val="00B050"/>
                </a:solidFill>
              </a:rPr>
              <a:t>Value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C9FD8B7-1B46-9E16-0755-C5E040040E5F}"/>
              </a:ext>
            </a:extLst>
          </p:cNvPr>
          <p:cNvSpPr/>
          <p:nvPr/>
        </p:nvSpPr>
        <p:spPr>
          <a:xfrm>
            <a:off x="3298481" y="3791581"/>
            <a:ext cx="1725067" cy="44382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“Assignment”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BBCB6240-4598-766C-C938-737CDB49D333}"/>
              </a:ext>
            </a:extLst>
          </p:cNvPr>
          <p:cNvSpPr/>
          <p:nvPr/>
        </p:nvSpPr>
        <p:spPr>
          <a:xfrm>
            <a:off x="7745648" y="5217167"/>
            <a:ext cx="2169332" cy="401955"/>
          </a:xfrm>
          <a:prstGeom prst="wedgeRectCallout">
            <a:avLst>
              <a:gd name="adj1" fmla="val -961"/>
              <a:gd name="adj2" fmla="val -247885"/>
            </a:avLst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Left-Hand Value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84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  <p:bldP spid="26" grpId="1" animBg="1"/>
      <p:bldP spid="28" grpId="0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Assignment Statement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short..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en-CA" dirty="0"/>
              <a:t> gets the value of </a:t>
            </a:r>
            <a:r>
              <a:rPr lang="en-CA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Implication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The resultant value evaluated from an expression</a:t>
            </a:r>
            <a:br>
              <a:rPr lang="en-CA" sz="1600" dirty="0"/>
            </a:br>
            <a:r>
              <a:rPr lang="en-CA" sz="1600" dirty="0"/>
              <a:t>must be assigned to a variable to further be used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Otherwise, the evaluated value will no longer be</a:t>
            </a:r>
            <a:br>
              <a:rPr lang="en-CA" sz="1600" dirty="0"/>
            </a:br>
            <a:r>
              <a:rPr lang="en-CA" sz="1600" dirty="0"/>
              <a:t>available after the statement is executed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“=“ associates from </a:t>
            </a:r>
            <a:r>
              <a:rPr lang="en-CA" b="1" dirty="0"/>
              <a:t>right to left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Has the second lowest precedence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rgbClr val="FF0000"/>
                </a:solidFill>
              </a:rPr>
              <a:t>[Question]</a:t>
            </a:r>
            <a:r>
              <a:rPr lang="en-CA" sz="1600" dirty="0"/>
              <a:t> why?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69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Operator “=”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F0BB0-2A49-E769-29E3-1B05D53278CE}"/>
              </a:ext>
            </a:extLst>
          </p:cNvPr>
          <p:cNvSpPr txBox="1"/>
          <p:nvPr/>
        </p:nvSpPr>
        <p:spPr>
          <a:xfrm>
            <a:off x="6994428" y="1912407"/>
            <a:ext cx="2894132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 =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3FE731F-C330-C6D1-E3D2-E61C0C1B96B0}"/>
              </a:ext>
            </a:extLst>
          </p:cNvPr>
          <p:cNvSpPr/>
          <p:nvPr/>
        </p:nvSpPr>
        <p:spPr>
          <a:xfrm rot="16200000">
            <a:off x="8293448" y="260041"/>
            <a:ext cx="296092" cy="2894132"/>
          </a:xfrm>
          <a:prstGeom prst="rightBrace">
            <a:avLst/>
          </a:prstGeom>
          <a:ln w="28575">
            <a:solidFill>
              <a:srgbClr val="7F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386BE-84C3-DAA9-C3ED-13E5B235F35B}"/>
              </a:ext>
            </a:extLst>
          </p:cNvPr>
          <p:cNvSpPr txBox="1"/>
          <p:nvPr/>
        </p:nvSpPr>
        <p:spPr>
          <a:xfrm>
            <a:off x="7868399" y="1200935"/>
            <a:ext cx="1613974" cy="37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F1F1F"/>
                </a:solidFill>
              </a:rPr>
              <a:t>Statement</a:t>
            </a:r>
            <a:endParaRPr lang="en-US" b="1" dirty="0">
              <a:solidFill>
                <a:srgbClr val="7F1F1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5EAE91-4FDB-CA4D-023C-F74D527151AB}"/>
              </a:ext>
            </a:extLst>
          </p:cNvPr>
          <p:cNvSpPr/>
          <p:nvPr/>
        </p:nvSpPr>
        <p:spPr>
          <a:xfrm>
            <a:off x="7971146" y="1104714"/>
            <a:ext cx="2570442" cy="44382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Assignment Statement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48B2BC7-A23C-94AE-0BEF-955E522E1573}"/>
              </a:ext>
            </a:extLst>
          </p:cNvPr>
          <p:cNvSpPr/>
          <p:nvPr/>
        </p:nvSpPr>
        <p:spPr>
          <a:xfrm>
            <a:off x="9013371" y="2184489"/>
            <a:ext cx="227543" cy="51516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31A6DF-FB00-BEE2-8823-22B85C9CE679}"/>
              </a:ext>
            </a:extLst>
          </p:cNvPr>
          <p:cNvSpPr/>
          <p:nvPr/>
        </p:nvSpPr>
        <p:spPr>
          <a:xfrm>
            <a:off x="8675386" y="2722045"/>
            <a:ext cx="1755646" cy="37303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Right-Hand Value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FAC8BB-0634-9881-5ED4-6258D3262D02}"/>
              </a:ext>
            </a:extLst>
          </p:cNvPr>
          <p:cNvSpPr/>
          <p:nvPr/>
        </p:nvSpPr>
        <p:spPr>
          <a:xfrm>
            <a:off x="8613544" y="4150846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23EC2F-D67C-D42B-45C3-2BE3A818655E}"/>
              </a:ext>
            </a:extLst>
          </p:cNvPr>
          <p:cNvSpPr/>
          <p:nvPr/>
        </p:nvSpPr>
        <p:spPr>
          <a:xfrm>
            <a:off x="8613544" y="3857662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1D025B-BF58-992F-B86B-F21EF6B3EF57}"/>
              </a:ext>
            </a:extLst>
          </p:cNvPr>
          <p:cNvSpPr/>
          <p:nvPr/>
        </p:nvSpPr>
        <p:spPr>
          <a:xfrm>
            <a:off x="8613544" y="4444031"/>
            <a:ext cx="1275016" cy="2891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96D66D-28A1-EF2C-8BE0-624D656BEA36}"/>
              </a:ext>
            </a:extLst>
          </p:cNvPr>
          <p:cNvSpPr txBox="1"/>
          <p:nvPr/>
        </p:nvSpPr>
        <p:spPr>
          <a:xfrm rot="16200000">
            <a:off x="8866880" y="4650256"/>
            <a:ext cx="511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…</a:t>
            </a:r>
            <a:endParaRPr lang="en-CA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456BF-270F-1937-59DF-602EC83DC673}"/>
              </a:ext>
            </a:extLst>
          </p:cNvPr>
          <p:cNvSpPr txBox="1"/>
          <p:nvPr/>
        </p:nvSpPr>
        <p:spPr>
          <a:xfrm>
            <a:off x="8049540" y="4462111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1011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39F7C-1584-9B45-EDFE-0953368B0CC5}"/>
              </a:ext>
            </a:extLst>
          </p:cNvPr>
          <p:cNvSpPr txBox="1"/>
          <p:nvPr/>
        </p:nvSpPr>
        <p:spPr>
          <a:xfrm>
            <a:off x="8036690" y="4158096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1012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B79192-8F61-699F-7B11-F6A835FCA73F}"/>
              </a:ext>
            </a:extLst>
          </p:cNvPr>
          <p:cNvSpPr txBox="1"/>
          <p:nvPr/>
        </p:nvSpPr>
        <p:spPr>
          <a:xfrm>
            <a:off x="8036690" y="3846763"/>
            <a:ext cx="65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</a:rPr>
              <a:t># 1013</a:t>
            </a:r>
            <a:endParaRPr lang="en-CA" sz="14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A2FCF3-BE9C-FBFF-4D21-95228C8227AA}"/>
              </a:ext>
            </a:extLst>
          </p:cNvPr>
          <p:cNvSpPr txBox="1"/>
          <p:nvPr/>
        </p:nvSpPr>
        <p:spPr>
          <a:xfrm>
            <a:off x="6765652" y="4121899"/>
            <a:ext cx="172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endParaRPr lang="en-CA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AD393A-574B-9C79-38ED-0933F0460361}"/>
              </a:ext>
            </a:extLst>
          </p:cNvPr>
          <p:cNvSpPr txBox="1"/>
          <p:nvPr/>
        </p:nvSpPr>
        <p:spPr>
          <a:xfrm rot="16200000">
            <a:off x="8866881" y="3278384"/>
            <a:ext cx="511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/>
              <a:t>…</a:t>
            </a:r>
            <a:endParaRPr lang="en-CA" b="1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556EB10-C19C-5ECC-E34B-BAB6B467E608}"/>
              </a:ext>
            </a:extLst>
          </p:cNvPr>
          <p:cNvSpPr/>
          <p:nvPr/>
        </p:nvSpPr>
        <p:spPr>
          <a:xfrm>
            <a:off x="7384869" y="2184489"/>
            <a:ext cx="227543" cy="19736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6B865438-911B-0534-81F8-DBB712695278}"/>
              </a:ext>
            </a:extLst>
          </p:cNvPr>
          <p:cNvSpPr/>
          <p:nvPr/>
        </p:nvSpPr>
        <p:spPr>
          <a:xfrm rot="5400000" flipV="1">
            <a:off x="9410046" y="3568893"/>
            <a:ext cx="1324549" cy="360877"/>
          </a:xfrm>
          <a:prstGeom prst="ben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3E8AE2-422F-7E35-19DA-5707FDC6D4A2}"/>
              </a:ext>
            </a:extLst>
          </p:cNvPr>
          <p:cNvSpPr txBox="1"/>
          <p:nvPr/>
        </p:nvSpPr>
        <p:spPr>
          <a:xfrm>
            <a:off x="8947733" y="4133944"/>
            <a:ext cx="740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>
                <a:solidFill>
                  <a:srgbClr val="00B050"/>
                </a:solidFill>
              </a:rPr>
              <a:t>Value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BBCB6240-4598-766C-C938-737CDB49D333}"/>
              </a:ext>
            </a:extLst>
          </p:cNvPr>
          <p:cNvSpPr/>
          <p:nvPr/>
        </p:nvSpPr>
        <p:spPr>
          <a:xfrm>
            <a:off x="7745648" y="5217167"/>
            <a:ext cx="2169332" cy="401955"/>
          </a:xfrm>
          <a:prstGeom prst="wedgeRectCallout">
            <a:avLst>
              <a:gd name="adj1" fmla="val -961"/>
              <a:gd name="adj2" fmla="val -247885"/>
            </a:avLst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Left-Hand Value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5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Compound Assignment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For syntactic simplicity only</a:t>
            </a:r>
            <a:r>
              <a:rPr lang="en-CA" dirty="0"/>
              <a:t> - no implications of different expression evaluation outcome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69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Operator “=”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024DAC8-CFD0-87B0-6CBE-10B5F862C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453199"/>
              </p:ext>
            </p:extLst>
          </p:nvPr>
        </p:nvGraphicFramePr>
        <p:xfrm>
          <a:off x="2032000" y="2275383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810152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77868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Basic Assignment Statements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Compound Assignment Statement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71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x + 3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+= 3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6589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9DF14D-7602-4D3D-B7D2-3D54DCA96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800806"/>
              </p:ext>
            </p:extLst>
          </p:nvPr>
        </p:nvGraphicFramePr>
        <p:xfrm>
          <a:off x="2032000" y="305065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064493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98065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x – 2.5</a:t>
                      </a: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-= 2.5</a:t>
                      </a: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91070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258A329-F02C-4EA8-E5F6-0B8A728E3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540201"/>
              </p:ext>
            </p:extLst>
          </p:nvPr>
        </p:nvGraphicFramePr>
        <p:xfrm>
          <a:off x="2032000" y="344641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350537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02024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y / 5.0</a:t>
                      </a: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/= 5.0</a:t>
                      </a: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7990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82DD222-3C7F-C8AE-B61F-A82BBFB9D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056762"/>
              </p:ext>
            </p:extLst>
          </p:nvPr>
        </p:nvGraphicFramePr>
        <p:xfrm>
          <a:off x="2032000" y="384074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350537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02024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a * 7</a:t>
                      </a: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*= 7</a:t>
                      </a: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799034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3E26195-D525-0D26-939E-357D40D53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224666"/>
              </p:ext>
            </p:extLst>
          </p:nvPr>
        </p:nvGraphicFramePr>
        <p:xfrm>
          <a:off x="2032000" y="423507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350537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02024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b % 2</a:t>
                      </a: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%= 2</a:t>
                      </a: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799034"/>
                  </a:ext>
                </a:extLst>
              </a:tr>
            </a:tbl>
          </a:graphicData>
        </a:graphic>
      </p:graphicFrame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EA250E0C-6B59-D41D-40DE-4E5967454A35}"/>
              </a:ext>
            </a:extLst>
          </p:cNvPr>
          <p:cNvSpPr/>
          <p:nvPr/>
        </p:nvSpPr>
        <p:spPr>
          <a:xfrm>
            <a:off x="9689617" y="1017123"/>
            <a:ext cx="1522880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L3Ex2-ops.c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8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4019477"/>
            <a:ext cx="101662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Unary Operator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only operate on values stored in variables (</a:t>
            </a:r>
            <a:r>
              <a:rPr lang="en-CA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lvalues</a:t>
            </a:r>
            <a:r>
              <a:rPr lang="en-CA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  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x++; 		</a:t>
            </a:r>
            <a:r>
              <a:rPr lang="en-CA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statement will compile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	++533; 	</a:t>
            </a:r>
            <a:r>
              <a:rPr lang="en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will NOT compile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(x + 3)++	</a:t>
            </a:r>
            <a:r>
              <a:rPr lang="en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will NOT compile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7860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and Decrement Operators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07123062-48D4-F9BE-E0AE-8188DA033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577048"/>
              </p:ext>
            </p:extLst>
          </p:nvPr>
        </p:nvGraphicFramePr>
        <p:xfrm>
          <a:off x="1552460" y="1562185"/>
          <a:ext cx="2052890" cy="88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890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146">
                <a:tc>
                  <a:txBody>
                    <a:bodyPr/>
                    <a:lstStyle/>
                    <a:p>
                      <a:r>
                        <a:rPr lang="en-CA" dirty="0"/>
                        <a:t>Inc/Dec Operator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0146">
                <a:tc>
                  <a:txBody>
                    <a:bodyPr/>
                    <a:lstStyle/>
                    <a:p>
                      <a:r>
                        <a:rPr lang="en-CA" dirty="0"/>
                        <a:t>Pre-Increment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C4BB4BB-B2CF-AC5D-D94A-54B185A4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151556"/>
              </p:ext>
            </p:extLst>
          </p:nvPr>
        </p:nvGraphicFramePr>
        <p:xfrm>
          <a:off x="3625645" y="1562185"/>
          <a:ext cx="1320825" cy="8802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20825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146">
                <a:tc>
                  <a:txBody>
                    <a:bodyPr/>
                    <a:lstStyle/>
                    <a:p>
                      <a:r>
                        <a:rPr lang="en-CA" dirty="0"/>
                        <a:t>Syntax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0146">
                <a:tc>
                  <a:txBody>
                    <a:bodyPr/>
                    <a:lstStyle/>
                    <a:p>
                      <a:pPr algn="l"/>
                      <a:r>
                        <a:rPr lang="en-CA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++var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0E509B5-17CC-7ADF-DC70-7D92CD752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666200"/>
              </p:ext>
            </p:extLst>
          </p:nvPr>
        </p:nvGraphicFramePr>
        <p:xfrm>
          <a:off x="4974577" y="1553771"/>
          <a:ext cx="2697676" cy="88870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97676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4353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4353">
                <a:tc>
                  <a:txBody>
                    <a:bodyPr/>
                    <a:lstStyle/>
                    <a:p>
                      <a:r>
                        <a:rPr lang="en-CA" sz="18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 = ++x + 2;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4A85A41-F260-30CE-58E8-F1463C6DF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873016"/>
              </p:ext>
            </p:extLst>
          </p:nvPr>
        </p:nvGraphicFramePr>
        <p:xfrm>
          <a:off x="7700360" y="1553477"/>
          <a:ext cx="2697676" cy="8979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97676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786">
                <a:tc>
                  <a:txBody>
                    <a:bodyPr/>
                    <a:lstStyle/>
                    <a:p>
                      <a:r>
                        <a:rPr lang="en-CA" dirty="0"/>
                        <a:t>Equivalence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x += 1;  </a:t>
                      </a:r>
                      <a:r>
                        <a:rPr lang="en-CA" sz="1200" b="1" kern="120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// pre-increment</a:t>
                      </a:r>
                      <a:b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 = x + 2;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25" name="Table 25">
            <a:extLst>
              <a:ext uri="{FF2B5EF4-FFF2-40B4-BE49-F238E27FC236}">
                <a16:creationId xmlns:a16="http://schemas.microsoft.com/office/drawing/2014/main" id="{72BF25C7-C418-AA22-6985-D5750D046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42355"/>
              </p:ext>
            </p:extLst>
          </p:nvPr>
        </p:nvGraphicFramePr>
        <p:xfrm>
          <a:off x="1552460" y="2473498"/>
          <a:ext cx="2052890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890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</a:rPr>
                        <a:t>Post-Increment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18B964D-4461-FDD7-D3BD-7E2CCD6E1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18361"/>
              </p:ext>
            </p:extLst>
          </p:nvPr>
        </p:nvGraphicFramePr>
        <p:xfrm>
          <a:off x="3633457" y="2469144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var++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AF58B84-0A9B-B60C-206A-B4CD9E452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471879"/>
              </p:ext>
            </p:extLst>
          </p:nvPr>
        </p:nvGraphicFramePr>
        <p:xfrm>
          <a:off x="4974577" y="2478482"/>
          <a:ext cx="2697676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676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 = y++ + 2;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09F1342-D759-83E6-3C37-39F91DA2D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199115"/>
              </p:ext>
            </p:extLst>
          </p:nvPr>
        </p:nvGraphicFramePr>
        <p:xfrm>
          <a:off x="7702340" y="2468881"/>
          <a:ext cx="2697676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676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 = y + 2;</a:t>
                      </a:r>
                    </a:p>
                    <a:p>
                      <a:pPr marL="0" algn="l" defTabSz="914400" rtl="0" eaLnBrk="1" latinLnBrk="0" hangingPunct="1"/>
                      <a: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y += 1;  </a:t>
                      </a:r>
                      <a:r>
                        <a:rPr lang="en-CA" sz="1200" b="1" kern="120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// post-increment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4" name="Table 25">
            <a:extLst>
              <a:ext uri="{FF2B5EF4-FFF2-40B4-BE49-F238E27FC236}">
                <a16:creationId xmlns:a16="http://schemas.microsoft.com/office/drawing/2014/main" id="{94549C4C-38DA-1441-7378-93384FF7A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215560"/>
              </p:ext>
            </p:extLst>
          </p:nvPr>
        </p:nvGraphicFramePr>
        <p:xfrm>
          <a:off x="1550480" y="2948478"/>
          <a:ext cx="2052890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890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</a:rPr>
                        <a:t>Pre-Decrement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D15B4847-A9A5-F871-B223-872E22EA4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069640"/>
              </p:ext>
            </p:extLst>
          </p:nvPr>
        </p:nvGraphicFramePr>
        <p:xfrm>
          <a:off x="3631477" y="2944124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--var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A2B1AE7-D79C-ADB3-12B5-6E1D5B41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04800"/>
              </p:ext>
            </p:extLst>
          </p:nvPr>
        </p:nvGraphicFramePr>
        <p:xfrm>
          <a:off x="4972597" y="2953462"/>
          <a:ext cx="2697676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676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 = --z + 2;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6CEEFB5C-06CD-3342-D0C8-1E4A3918C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952447"/>
              </p:ext>
            </p:extLst>
          </p:nvPr>
        </p:nvGraphicFramePr>
        <p:xfrm>
          <a:off x="7700360" y="2943861"/>
          <a:ext cx="2697676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676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z -= 1;  </a:t>
                      </a:r>
                      <a:r>
                        <a:rPr lang="en-CA" sz="1200" b="1" kern="120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// pre-decrement</a:t>
                      </a:r>
                      <a:b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 = z + 2;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8" name="Table 25">
            <a:extLst>
              <a:ext uri="{FF2B5EF4-FFF2-40B4-BE49-F238E27FC236}">
                <a16:creationId xmlns:a16="http://schemas.microsoft.com/office/drawing/2014/main" id="{724437FF-21FC-0521-2AED-F1D9A54A3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219118"/>
              </p:ext>
            </p:extLst>
          </p:nvPr>
        </p:nvGraphicFramePr>
        <p:xfrm>
          <a:off x="1550480" y="3422570"/>
          <a:ext cx="2052890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890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</a:rPr>
                        <a:t>Post-Decrement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AB702C2-3E68-7CC5-51B8-7E492C5C8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738940"/>
              </p:ext>
            </p:extLst>
          </p:nvPr>
        </p:nvGraphicFramePr>
        <p:xfrm>
          <a:off x="3631477" y="3418216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var--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C00BCBD-D661-B9B6-F5F3-8044FD493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735871"/>
              </p:ext>
            </p:extLst>
          </p:nvPr>
        </p:nvGraphicFramePr>
        <p:xfrm>
          <a:off x="4972597" y="3427554"/>
          <a:ext cx="2697676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676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8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 = k-- + 2;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DA3C82E-A2AE-90BF-9207-E15D588D0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885424"/>
              </p:ext>
            </p:extLst>
          </p:nvPr>
        </p:nvGraphicFramePr>
        <p:xfrm>
          <a:off x="7700360" y="3417953"/>
          <a:ext cx="2697676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676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 = k + 2;</a:t>
                      </a:r>
                    </a:p>
                    <a:p>
                      <a:pPr marL="0" algn="l" defTabSz="914400" rtl="0" eaLnBrk="1" latinLnBrk="0" hangingPunct="1"/>
                      <a:r>
                        <a:rPr lang="en-CA" sz="12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k -= 1;  </a:t>
                      </a:r>
                      <a:r>
                        <a:rPr lang="en-CA" sz="1200" b="1" kern="120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// post-decrement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49F1F315-4A99-E11C-2BC2-C139C7364E14}"/>
              </a:ext>
            </a:extLst>
          </p:cNvPr>
          <p:cNvSpPr/>
          <p:nvPr/>
        </p:nvSpPr>
        <p:spPr>
          <a:xfrm>
            <a:off x="9618028" y="5277884"/>
            <a:ext cx="1522880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L3Ex2-ops.c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15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0468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and Equality Operators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 Comparing Primitive Values – </a:t>
            </a:r>
            <a:r>
              <a:rPr lang="en-CA" sz="2200" b="1" dirty="0">
                <a:solidFill>
                  <a:srgbClr val="FF0000"/>
                </a:solidFill>
              </a:rPr>
              <a:t>NOT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Greater / Smaller Than	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Greater or Equal / Smaller or Equal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&gt;=, &lt;=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Equal			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Not Equal			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CA" dirty="0"/>
              <a:t>   (some deviated versions of C use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r>
              <a:rPr lang="en-CA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Examples</a:t>
            </a:r>
            <a:endParaRPr lang="en-CA" sz="22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Ex. 	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a &gt;= 0  	\\ relational expression</a:t>
            </a:r>
            <a:b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		n % 2 == 0	\\ equality expression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Evaluation Outcome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Type -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Value -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CA" dirty="0"/>
              <a:t> (1)   / 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CA" dirty="0"/>
              <a:t> (0)</a:t>
            </a:r>
            <a:endParaRPr lang="en-CA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b="1" i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A8EBDE-D79D-66E5-F57C-71451D3B0DE1}"/>
              </a:ext>
            </a:extLst>
          </p:cNvPr>
          <p:cNvSpPr/>
          <p:nvPr/>
        </p:nvSpPr>
        <p:spPr>
          <a:xfrm>
            <a:off x="9603696" y="1695648"/>
            <a:ext cx="1755646" cy="37303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GNU C Manual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CC15DC-CE56-EC96-D991-C75EF9A0517E}"/>
              </a:ext>
            </a:extLst>
          </p:cNvPr>
          <p:cNvSpPr txBox="1"/>
          <p:nvPr/>
        </p:nvSpPr>
        <p:spPr>
          <a:xfrm>
            <a:off x="2481942" y="5276810"/>
            <a:ext cx="4049486" cy="46166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100 + ( 100 != 200 )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CC66A2C7-99EC-A347-38DC-D780454C5B61}"/>
              </a:ext>
            </a:extLst>
          </p:cNvPr>
          <p:cNvSpPr/>
          <p:nvPr/>
        </p:nvSpPr>
        <p:spPr>
          <a:xfrm>
            <a:off x="7054232" y="4150652"/>
            <a:ext cx="3653527" cy="747037"/>
          </a:xfrm>
          <a:prstGeom prst="wedgeRectCallout">
            <a:avLst>
              <a:gd name="adj1" fmla="val -63364"/>
              <a:gd name="adj2" fmla="val 10826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are the type and value?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 101 (int)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37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2502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 Evaluating Logical Expressions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Logic AND	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Logic OR	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Negate (NOT)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Examples</a:t>
            </a:r>
            <a:endParaRPr lang="en-CA" sz="22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Ex. 	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expr1 &amp;&amp; expr2  // TRUE if and only if both expr’s are true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expr1 || expr2  // TRUE if and only if at least one expr is true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!expr1		 // if expr1 is TRUE, this returns FALSE</a:t>
            </a:r>
            <a:b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		 // if expr1 is FALSE, this returns TRUE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Tips about C logic operators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 &gt;= 2 &amp;&amp; a &lt;= 6	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Correct Usage in 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&lt;= a &lt;= 6		</a:t>
            </a:r>
            <a:r>
              <a:rPr lang="en-CA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INCORRECT Usage in 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A8EBDE-D79D-66E5-F57C-71451D3B0DE1}"/>
              </a:ext>
            </a:extLst>
          </p:cNvPr>
          <p:cNvSpPr/>
          <p:nvPr/>
        </p:nvSpPr>
        <p:spPr>
          <a:xfrm>
            <a:off x="9456851" y="5431625"/>
            <a:ext cx="1755646" cy="37303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GNU C Manual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822FBD6E-F398-3BC3-DAFF-887868934505}"/>
              </a:ext>
            </a:extLst>
          </p:cNvPr>
          <p:cNvSpPr/>
          <p:nvPr/>
        </p:nvSpPr>
        <p:spPr>
          <a:xfrm>
            <a:off x="6096000" y="1408209"/>
            <a:ext cx="3720860" cy="1567904"/>
          </a:xfrm>
          <a:prstGeom prst="wedgeRectCallout">
            <a:avLst>
              <a:gd name="adj1" fmla="val -49355"/>
              <a:gd name="adj2" fmla="val 6835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Practice</a:t>
            </a:r>
            <a:r>
              <a:rPr lang="en-US" sz="1600" dirty="0">
                <a:solidFill>
                  <a:schemeClr val="tx1"/>
                </a:solidFill>
              </a:rPr>
              <a:t>:  When are the following expressions TRUE?</a:t>
            </a:r>
            <a:br>
              <a:rPr lang="en-US" sz="1600" dirty="0">
                <a:solidFill>
                  <a:schemeClr val="tx1"/>
                </a:solidFill>
              </a:rPr>
            </a:br>
            <a:endParaRPr lang="en-US" sz="16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a &gt;= 2 || a &lt;= 6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!(a &gt;= 2 || a &lt;= 6)</a:t>
            </a:r>
          </a:p>
        </p:txBody>
      </p:sp>
    </p:spTree>
    <p:extLst>
      <p:ext uri="{BB962C8B-B14F-4D97-AF65-F5344CB8AC3E}">
        <p14:creationId xmlns:p14="http://schemas.microsoft.com/office/powerpoint/2010/main" val="75715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0628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 – Tips on &amp;&amp; and ||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 Evaluating Logical Expressions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Logic AND	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Logic OR	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value of the logical expression can only be 0 (False) or 1 (True), type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An interesting example…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ASCII lowercase letters have consecutive values along the alphabetical order, and likewise for uppercase letters.  The two groups are separated by some punctuation marks.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As a result, here is how you can check whether a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CA" dirty="0"/>
              <a:t> is a lowercase letter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A8EBDE-D79D-66E5-F57C-71451D3B0DE1}"/>
              </a:ext>
            </a:extLst>
          </p:cNvPr>
          <p:cNvSpPr/>
          <p:nvPr/>
        </p:nvSpPr>
        <p:spPr>
          <a:xfrm>
            <a:off x="9456851" y="5431625"/>
            <a:ext cx="1755646" cy="37303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GNU C Manual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8F1B3D-4D57-5853-3A5F-3CACD5644B1E}"/>
              </a:ext>
            </a:extLst>
          </p:cNvPr>
          <p:cNvSpPr/>
          <p:nvPr/>
        </p:nvSpPr>
        <p:spPr>
          <a:xfrm>
            <a:off x="9456851" y="4961464"/>
            <a:ext cx="1755646" cy="37303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ASCII Table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2CF966-E274-206D-E097-E230561ED4C0}"/>
              </a:ext>
            </a:extLst>
          </p:cNvPr>
          <p:cNvSpPr txBox="1"/>
          <p:nvPr/>
        </p:nvSpPr>
        <p:spPr>
          <a:xfrm>
            <a:off x="2895968" y="4799756"/>
            <a:ext cx="4909770" cy="584775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(letter &gt;= ‘a’) &amp;&amp; (letter &lt;= ‘z’)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brackets for readability, optional</a:t>
            </a:r>
            <a:endParaRPr lang="en-US" sz="14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5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0628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 – Tips on &amp;&amp; and ||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Short Circuit Evaluation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&amp;&amp; and || are evaluated </a:t>
            </a:r>
            <a:r>
              <a:rPr lang="en-CA" b="1" i="1" dirty="0">
                <a:solidFill>
                  <a:schemeClr val="accent1"/>
                </a:solidFill>
              </a:rPr>
              <a:t>left-to-right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Evaluation stops as soon as the </a:t>
            </a:r>
            <a:r>
              <a:rPr lang="en-CA" b="1" dirty="0"/>
              <a:t>Truth</a:t>
            </a:r>
            <a:r>
              <a:rPr lang="en-CA" dirty="0"/>
              <a:t> (value 1) or </a:t>
            </a:r>
            <a:r>
              <a:rPr lang="en-CA" b="1" dirty="0"/>
              <a:t>Falsehood</a:t>
            </a:r>
            <a:r>
              <a:rPr lang="en-CA" dirty="0"/>
              <a:t> (value 0) is determined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2E1B5-B8B8-1609-095A-973DEB95FA4E}"/>
              </a:ext>
            </a:extLst>
          </p:cNvPr>
          <p:cNvSpPr txBox="1"/>
          <p:nvPr/>
        </p:nvSpPr>
        <p:spPr>
          <a:xfrm>
            <a:off x="4711225" y="3369121"/>
            <a:ext cx="6501272" cy="206210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= 0, b = 0, c, d;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 = a++ &amp;&amp; b++;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 = a++ || b++;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(“a=%d\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=%d\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=%d\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=%d\n”, a, b, c, d);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4546BA4A-01A0-C9A9-9339-C0575141133A}"/>
              </a:ext>
            </a:extLst>
          </p:cNvPr>
          <p:cNvSpPr/>
          <p:nvPr/>
        </p:nvSpPr>
        <p:spPr>
          <a:xfrm>
            <a:off x="1854196" y="2797811"/>
            <a:ext cx="2232417" cy="896973"/>
          </a:xfrm>
          <a:prstGeom prst="wedgeRectCallout">
            <a:avLst>
              <a:gd name="adj1" fmla="val 102495"/>
              <a:gd name="adj2" fmla="val 11161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chemeClr val="tx1"/>
                </a:solidFill>
              </a:rPr>
              <a:t>c</a:t>
            </a:r>
            <a:r>
              <a:rPr lang="en-US" sz="1600" dirty="0">
                <a:solidFill>
                  <a:schemeClr val="tx1"/>
                </a:solidFill>
              </a:rPr>
              <a:t> gets (0) right after determining a = 0. 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b is skipped.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B80DC389-32B8-85EF-1C9D-6E379C21CEAE}"/>
              </a:ext>
            </a:extLst>
          </p:cNvPr>
          <p:cNvSpPr/>
          <p:nvPr/>
        </p:nvSpPr>
        <p:spPr>
          <a:xfrm>
            <a:off x="1854195" y="4616806"/>
            <a:ext cx="2232417" cy="896973"/>
          </a:xfrm>
          <a:prstGeom prst="wedgeRectCallout">
            <a:avLst>
              <a:gd name="adj1" fmla="val 102105"/>
              <a:gd name="adj2" fmla="val -6314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chemeClr val="tx1"/>
                </a:solidFill>
              </a:rPr>
              <a:t>d</a:t>
            </a:r>
            <a:r>
              <a:rPr lang="en-US" sz="1600" dirty="0">
                <a:solidFill>
                  <a:schemeClr val="tx1"/>
                </a:solidFill>
              </a:rPr>
              <a:t> gets (1) right after determining a = 1. 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b is skipped.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B201A1EC-41BC-E601-D565-3B9BE8197819}"/>
              </a:ext>
            </a:extLst>
          </p:cNvPr>
          <p:cNvSpPr/>
          <p:nvPr/>
        </p:nvSpPr>
        <p:spPr>
          <a:xfrm>
            <a:off x="9430060" y="3478490"/>
            <a:ext cx="1522880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L3Ex5-SCE.c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05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753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 – Tips on !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 Evaluating Logical Expressions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Negate (NOT)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be applied to any expression with a numerical value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Non-zero value 		TRUE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Zero			FALSE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Provided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!(var) </a:t>
            </a:r>
            <a:r>
              <a:rPr lang="en-CA" dirty="0"/>
              <a:t>or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!(expr)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!(nonzero)</a:t>
            </a:r>
            <a:r>
              <a:rPr lang="en-CA" dirty="0"/>
              <a:t>	Result:  value 0, type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!(0)</a:t>
            </a:r>
            <a:r>
              <a:rPr lang="en-CA" dirty="0"/>
              <a:t>		Result:  value 1, type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A8EBDE-D79D-66E5-F57C-71451D3B0DE1}"/>
              </a:ext>
            </a:extLst>
          </p:cNvPr>
          <p:cNvSpPr/>
          <p:nvPr/>
        </p:nvSpPr>
        <p:spPr>
          <a:xfrm>
            <a:off x="9456851" y="5431625"/>
            <a:ext cx="1755646" cy="37303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GNU C Manual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8CD83C-922F-DFA5-81B9-4740E621F7EB}"/>
              </a:ext>
            </a:extLst>
          </p:cNvPr>
          <p:cNvSpPr txBox="1"/>
          <p:nvPr/>
        </p:nvSpPr>
        <p:spPr>
          <a:xfrm>
            <a:off x="7608039" y="2519879"/>
            <a:ext cx="1663338" cy="46166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!(75.9)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999CD241-DF3B-9D93-0423-7A9CBF648001}"/>
              </a:ext>
            </a:extLst>
          </p:cNvPr>
          <p:cNvSpPr/>
          <p:nvPr/>
        </p:nvSpPr>
        <p:spPr>
          <a:xfrm>
            <a:off x="8190567" y="1585281"/>
            <a:ext cx="2744949" cy="747037"/>
          </a:xfrm>
          <a:prstGeom prst="wedgeRectCallout">
            <a:avLst>
              <a:gd name="adj1" fmla="val -35128"/>
              <a:gd name="adj2" fmla="val 7096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are the type and value?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 0 (int)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13805-F959-CB09-8A33-89592DF8455D}"/>
              </a:ext>
            </a:extLst>
          </p:cNvPr>
          <p:cNvSpPr txBox="1"/>
          <p:nvPr/>
        </p:nvSpPr>
        <p:spPr>
          <a:xfrm>
            <a:off x="7608039" y="4294850"/>
            <a:ext cx="2075892" cy="461665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!(3 == 4)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6E810D0D-225D-4F98-579A-247B5A307314}"/>
              </a:ext>
            </a:extLst>
          </p:cNvPr>
          <p:cNvSpPr/>
          <p:nvPr/>
        </p:nvSpPr>
        <p:spPr>
          <a:xfrm>
            <a:off x="8190567" y="3360252"/>
            <a:ext cx="2744949" cy="747037"/>
          </a:xfrm>
          <a:prstGeom prst="wedgeRectCallout">
            <a:avLst>
              <a:gd name="adj1" fmla="val -35128"/>
              <a:gd name="adj2" fmla="val 70963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are the type and value?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 1 (int)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51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70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 – Truth Table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DB66E567-5F52-3B13-E992-37B043248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28571"/>
              </p:ext>
            </p:extLst>
          </p:nvPr>
        </p:nvGraphicFramePr>
        <p:xfrm>
          <a:off x="2208833" y="2209165"/>
          <a:ext cx="14021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52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X</a:t>
                      </a:r>
                      <a:endParaRPr lang="en-US" sz="2400" dirty="0"/>
                    </a:p>
                  </a:txBody>
                  <a:tcPr marL="62455" marR="62455"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T </a:t>
                      </a:r>
                      <a:r>
                        <a:rPr lang="en-CA" sz="1600" dirty="0"/>
                        <a:t>(nonzero)</a:t>
                      </a:r>
                      <a:endParaRPr lang="en-US" sz="2400" dirty="0"/>
                    </a:p>
                  </a:txBody>
                  <a:tcPr marL="62455" marR="62455"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37E1136-6447-96C1-21EC-A2F84FC00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749409"/>
              </p:ext>
            </p:extLst>
          </p:nvPr>
        </p:nvGraphicFramePr>
        <p:xfrm>
          <a:off x="5106101" y="2200539"/>
          <a:ext cx="1320825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20825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X &amp;&amp; 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T</a:t>
                      </a:r>
                      <a:r>
                        <a:rPr lang="en-CA" sz="1600" dirty="0"/>
                        <a:t> (1)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11" name="Table 25">
            <a:extLst>
              <a:ext uri="{FF2B5EF4-FFF2-40B4-BE49-F238E27FC236}">
                <a16:creationId xmlns:a16="http://schemas.microsoft.com/office/drawing/2014/main" id="{9BA47A1D-07ED-B7CB-04D9-C353118DA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606719"/>
              </p:ext>
            </p:extLst>
          </p:nvPr>
        </p:nvGraphicFramePr>
        <p:xfrm>
          <a:off x="2208833" y="3120478"/>
          <a:ext cx="1402152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52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tx1"/>
                          </a:solidFill>
                        </a:rPr>
                        <a:t>T </a:t>
                      </a:r>
                      <a:r>
                        <a:rPr lang="en-CA" sz="1600" b="0" dirty="0">
                          <a:solidFill>
                            <a:schemeClr val="tx1"/>
                          </a:solidFill>
                        </a:rPr>
                        <a:t>(nonzero)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62455" marR="62455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453EB6-DF52-2801-2251-5A3455BC4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69787"/>
              </p:ext>
            </p:extLst>
          </p:nvPr>
        </p:nvGraphicFramePr>
        <p:xfrm>
          <a:off x="5105287" y="3116124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CA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(0)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17" name="Table 25">
            <a:extLst>
              <a:ext uri="{FF2B5EF4-FFF2-40B4-BE49-F238E27FC236}">
                <a16:creationId xmlns:a16="http://schemas.microsoft.com/office/drawing/2014/main" id="{250E3765-434A-0DBC-EA65-8BF2E96D9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06545"/>
              </p:ext>
            </p:extLst>
          </p:nvPr>
        </p:nvGraphicFramePr>
        <p:xfrm>
          <a:off x="2206853" y="3595458"/>
          <a:ext cx="1402152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52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CA" sz="1600" b="0" dirty="0">
                          <a:solidFill>
                            <a:schemeClr val="tx1"/>
                          </a:solidFill>
                        </a:rPr>
                        <a:t> (0)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62455" marR="62455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9515BDA-8760-3A76-2D18-DAC1B67A6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154248"/>
              </p:ext>
            </p:extLst>
          </p:nvPr>
        </p:nvGraphicFramePr>
        <p:xfrm>
          <a:off x="5103307" y="3591104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CA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(0)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21" name="Table 25">
            <a:extLst>
              <a:ext uri="{FF2B5EF4-FFF2-40B4-BE49-F238E27FC236}">
                <a16:creationId xmlns:a16="http://schemas.microsoft.com/office/drawing/2014/main" id="{57305B5F-56CC-511B-190F-E290C9F6B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376055"/>
              </p:ext>
            </p:extLst>
          </p:nvPr>
        </p:nvGraphicFramePr>
        <p:xfrm>
          <a:off x="2206853" y="4069550"/>
          <a:ext cx="1402152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52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CA" sz="1600" b="0" dirty="0">
                          <a:solidFill>
                            <a:schemeClr val="tx1"/>
                          </a:solidFill>
                        </a:rPr>
                        <a:t> (0)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62455" marR="62455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B21AB79-D7D2-F0F5-FE76-3EE28A6F0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483047"/>
              </p:ext>
            </p:extLst>
          </p:nvPr>
        </p:nvGraphicFramePr>
        <p:xfrm>
          <a:off x="5103307" y="4065196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CA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(0)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25" name="Table 19">
            <a:extLst>
              <a:ext uri="{FF2B5EF4-FFF2-40B4-BE49-F238E27FC236}">
                <a16:creationId xmlns:a16="http://schemas.microsoft.com/office/drawing/2014/main" id="{89501840-53C0-AE93-0E95-06DDF018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715516"/>
              </p:ext>
            </p:extLst>
          </p:nvPr>
        </p:nvGraphicFramePr>
        <p:xfrm>
          <a:off x="3646414" y="2209083"/>
          <a:ext cx="14021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52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</a:t>
                      </a:r>
                    </a:p>
                  </a:txBody>
                  <a:tcPr marL="62455" marR="62455"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T </a:t>
                      </a:r>
                      <a:r>
                        <a:rPr lang="en-CA" sz="1600" dirty="0"/>
                        <a:t>(nonzero)</a:t>
                      </a:r>
                      <a:endParaRPr lang="en-US" sz="2400" dirty="0"/>
                    </a:p>
                  </a:txBody>
                  <a:tcPr marL="62455" marR="62455"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44F7F2D-BC0C-8FCC-04EB-A5F33092A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256476"/>
              </p:ext>
            </p:extLst>
          </p:nvPr>
        </p:nvGraphicFramePr>
        <p:xfrm>
          <a:off x="3646414" y="3120396"/>
          <a:ext cx="1402152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52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(0)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62455" marR="62455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27" name="Table 25">
            <a:extLst>
              <a:ext uri="{FF2B5EF4-FFF2-40B4-BE49-F238E27FC236}">
                <a16:creationId xmlns:a16="http://schemas.microsoft.com/office/drawing/2014/main" id="{051B859F-AF34-65C4-D0A9-22A1C38E7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433985"/>
              </p:ext>
            </p:extLst>
          </p:nvPr>
        </p:nvGraphicFramePr>
        <p:xfrm>
          <a:off x="3644434" y="3595376"/>
          <a:ext cx="1402152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52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T </a:t>
                      </a:r>
                      <a:r>
                        <a:rPr lang="en-CA" sz="1600" b="0" dirty="0">
                          <a:solidFill>
                            <a:schemeClr val="tx1"/>
                          </a:solidFill>
                        </a:rPr>
                        <a:t>(nonzero)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62455" marR="62455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28" name="Table 25">
            <a:extLst>
              <a:ext uri="{FF2B5EF4-FFF2-40B4-BE49-F238E27FC236}">
                <a16:creationId xmlns:a16="http://schemas.microsoft.com/office/drawing/2014/main" id="{11E50DE5-E6D2-2316-8F84-330F22471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414962"/>
              </p:ext>
            </p:extLst>
          </p:nvPr>
        </p:nvGraphicFramePr>
        <p:xfrm>
          <a:off x="3644434" y="4069468"/>
          <a:ext cx="1402152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52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CA" sz="1600" b="0" dirty="0">
                          <a:solidFill>
                            <a:schemeClr val="tx1"/>
                          </a:solidFill>
                        </a:rPr>
                        <a:t> (0)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62455" marR="62455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4946837-DAD6-DBB2-22E4-9F7FE1D36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542838"/>
              </p:ext>
            </p:extLst>
          </p:nvPr>
        </p:nvGraphicFramePr>
        <p:xfrm>
          <a:off x="6473207" y="2209083"/>
          <a:ext cx="1320825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20825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X || 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T</a:t>
                      </a:r>
                      <a:r>
                        <a:rPr lang="en-CA" sz="1800" dirty="0"/>
                        <a:t> (1)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CF817BB-DE36-72E9-3954-996DF17D0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961146"/>
              </p:ext>
            </p:extLst>
          </p:nvPr>
        </p:nvGraphicFramePr>
        <p:xfrm>
          <a:off x="6472393" y="3124668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CA" sz="1600" b="0" dirty="0">
                          <a:solidFill>
                            <a:schemeClr val="tx1"/>
                          </a:solidFill>
                        </a:rPr>
                        <a:t> (1)</a:t>
                      </a:r>
                      <a:endParaRPr 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3E3BCAB-AC9B-625F-977F-5ED323A5F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86511"/>
              </p:ext>
            </p:extLst>
          </p:nvPr>
        </p:nvGraphicFramePr>
        <p:xfrm>
          <a:off x="6470413" y="3599648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CA" sz="1600" b="0" dirty="0">
                          <a:solidFill>
                            <a:schemeClr val="tx1"/>
                          </a:solidFill>
                        </a:rPr>
                        <a:t> (1)</a:t>
                      </a:r>
                      <a:endParaRPr 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2FA6983-84EE-4353-0137-22DAFB089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550474"/>
              </p:ext>
            </p:extLst>
          </p:nvPr>
        </p:nvGraphicFramePr>
        <p:xfrm>
          <a:off x="6470413" y="4073740"/>
          <a:ext cx="1313013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3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CA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(0)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3" name="Table 19">
            <a:extLst>
              <a:ext uri="{FF2B5EF4-FFF2-40B4-BE49-F238E27FC236}">
                <a16:creationId xmlns:a16="http://schemas.microsoft.com/office/drawing/2014/main" id="{8A4D1293-BECA-50AE-AF73-C63E97D4F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13209"/>
              </p:ext>
            </p:extLst>
          </p:nvPr>
        </p:nvGraphicFramePr>
        <p:xfrm>
          <a:off x="7990634" y="2209083"/>
          <a:ext cx="791478" cy="914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91478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!X</a:t>
                      </a:r>
                      <a:endParaRPr lang="en-US" sz="2400" dirty="0"/>
                    </a:p>
                  </a:txBody>
                  <a:tcPr marL="35254" marR="35254"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  <a:r>
                        <a:rPr lang="en-US" sz="1600" dirty="0"/>
                        <a:t> (0)</a:t>
                      </a:r>
                      <a:endParaRPr lang="en-US" sz="2400" dirty="0"/>
                    </a:p>
                  </a:txBody>
                  <a:tcPr marL="35254" marR="35254"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34" name="Table 25">
            <a:extLst>
              <a:ext uri="{FF2B5EF4-FFF2-40B4-BE49-F238E27FC236}">
                <a16:creationId xmlns:a16="http://schemas.microsoft.com/office/drawing/2014/main" id="{19F0A7B7-1CE9-677A-18CB-380C34A65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140751"/>
              </p:ext>
            </p:extLst>
          </p:nvPr>
        </p:nvGraphicFramePr>
        <p:xfrm>
          <a:off x="7990634" y="3120396"/>
          <a:ext cx="791478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78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(0)</a:t>
                      </a:r>
                    </a:p>
                  </a:txBody>
                  <a:tcPr marL="35254" marR="35254" anchor="ctr"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5" name="Table 25">
            <a:extLst>
              <a:ext uri="{FF2B5EF4-FFF2-40B4-BE49-F238E27FC236}">
                <a16:creationId xmlns:a16="http://schemas.microsoft.com/office/drawing/2014/main" id="{C5516D7F-72D6-E3A2-D6C3-EDF5FD269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422024"/>
              </p:ext>
            </p:extLst>
          </p:nvPr>
        </p:nvGraphicFramePr>
        <p:xfrm>
          <a:off x="7988654" y="3595376"/>
          <a:ext cx="791478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78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(1)</a:t>
                      </a:r>
                    </a:p>
                  </a:txBody>
                  <a:tcPr marL="35254" marR="35254" anchor="ctr"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6" name="Table 25">
            <a:extLst>
              <a:ext uri="{FF2B5EF4-FFF2-40B4-BE49-F238E27FC236}">
                <a16:creationId xmlns:a16="http://schemas.microsoft.com/office/drawing/2014/main" id="{F29E97A9-572C-06DD-AB1C-EC55A5838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80027"/>
              </p:ext>
            </p:extLst>
          </p:nvPr>
        </p:nvGraphicFramePr>
        <p:xfrm>
          <a:off x="7988654" y="4069468"/>
          <a:ext cx="791478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78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(1)</a:t>
                      </a:r>
                    </a:p>
                  </a:txBody>
                  <a:tcPr marL="35254" marR="35254" anchor="ctr"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7" name="Table 19">
            <a:extLst>
              <a:ext uri="{FF2B5EF4-FFF2-40B4-BE49-F238E27FC236}">
                <a16:creationId xmlns:a16="http://schemas.microsoft.com/office/drawing/2014/main" id="{66B2B2BE-5BB3-C658-34F0-FC6BCBE02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534873"/>
              </p:ext>
            </p:extLst>
          </p:nvPr>
        </p:nvGraphicFramePr>
        <p:xfrm>
          <a:off x="8826415" y="2209732"/>
          <a:ext cx="791478" cy="914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91478">
                  <a:extLst>
                    <a:ext uri="{9D8B030D-6E8A-4147-A177-3AD203B41FA5}">
                      <a16:colId xmlns:a16="http://schemas.microsoft.com/office/drawing/2014/main" val="1740628349"/>
                    </a:ext>
                  </a:extLst>
                </a:gridCol>
              </a:tblGrid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!Y</a:t>
                      </a:r>
                      <a:endParaRPr lang="en-US" sz="2400" dirty="0"/>
                    </a:p>
                  </a:txBody>
                  <a:tcPr marL="35254" marR="35254"/>
                </a:tc>
                <a:extLst>
                  <a:ext uri="{0D108BD9-81ED-4DB2-BD59-A6C34878D82A}">
                    <a16:rowId xmlns:a16="http://schemas.microsoft.com/office/drawing/2014/main" val="1771388440"/>
                  </a:ext>
                </a:extLst>
              </a:tr>
              <a:tr h="4401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  <a:r>
                        <a:rPr lang="en-US" sz="1600" dirty="0"/>
                        <a:t> (0)</a:t>
                      </a:r>
                    </a:p>
                  </a:txBody>
                  <a:tcPr marL="35254" marR="35254" anchor="ctr"/>
                </a:tc>
                <a:extLst>
                  <a:ext uri="{0D108BD9-81ED-4DB2-BD59-A6C34878D82A}">
                    <a16:rowId xmlns:a16="http://schemas.microsoft.com/office/drawing/2014/main" val="1306137739"/>
                  </a:ext>
                </a:extLst>
              </a:tr>
            </a:tbl>
          </a:graphicData>
        </a:graphic>
      </p:graphicFrame>
      <p:graphicFrame>
        <p:nvGraphicFramePr>
          <p:cNvPr id="38" name="Table 25">
            <a:extLst>
              <a:ext uri="{FF2B5EF4-FFF2-40B4-BE49-F238E27FC236}">
                <a16:creationId xmlns:a16="http://schemas.microsoft.com/office/drawing/2014/main" id="{BAB9B260-29C3-00A2-8950-6731F5BD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452999"/>
              </p:ext>
            </p:extLst>
          </p:nvPr>
        </p:nvGraphicFramePr>
        <p:xfrm>
          <a:off x="8826415" y="3121045"/>
          <a:ext cx="791478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78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(1)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35254" marR="35254" anchor="ctr"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39" name="Table 25">
            <a:extLst>
              <a:ext uri="{FF2B5EF4-FFF2-40B4-BE49-F238E27FC236}">
                <a16:creationId xmlns:a16="http://schemas.microsoft.com/office/drawing/2014/main" id="{611EFA58-8CC5-2402-04A5-94AF0CE4D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292251"/>
              </p:ext>
            </p:extLst>
          </p:nvPr>
        </p:nvGraphicFramePr>
        <p:xfrm>
          <a:off x="8824435" y="3596025"/>
          <a:ext cx="791478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78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(0)</a:t>
                      </a:r>
                    </a:p>
                  </a:txBody>
                  <a:tcPr marL="35254" marR="35254" anchor="ctr"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graphicFrame>
        <p:nvGraphicFramePr>
          <p:cNvPr id="40" name="Table 25">
            <a:extLst>
              <a:ext uri="{FF2B5EF4-FFF2-40B4-BE49-F238E27FC236}">
                <a16:creationId xmlns:a16="http://schemas.microsoft.com/office/drawing/2014/main" id="{6DC6F295-AFF7-75CC-B29D-2B0BD6643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638506"/>
              </p:ext>
            </p:extLst>
          </p:nvPr>
        </p:nvGraphicFramePr>
        <p:xfrm>
          <a:off x="8824435" y="4070117"/>
          <a:ext cx="791478" cy="46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78">
                  <a:extLst>
                    <a:ext uri="{9D8B030D-6E8A-4147-A177-3AD203B41FA5}">
                      <a16:colId xmlns:a16="http://schemas.microsoft.com/office/drawing/2014/main" val="1988894492"/>
                    </a:ext>
                  </a:extLst>
                </a:gridCol>
              </a:tblGrid>
              <a:tr h="461291">
                <a:tc>
                  <a:txBody>
                    <a:bodyPr/>
                    <a:lstStyle/>
                    <a:p>
                      <a:pPr algn="ctr"/>
                      <a:r>
                        <a:rPr lang="en-CA" sz="2400" b="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(1)</a:t>
                      </a:r>
                    </a:p>
                  </a:txBody>
                  <a:tcPr marL="35254" marR="35254" anchor="ctr"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9565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AEA99C5-3728-F8DF-275D-E89201426E42}"/>
              </a:ext>
            </a:extLst>
          </p:cNvPr>
          <p:cNvSpPr/>
          <p:nvPr/>
        </p:nvSpPr>
        <p:spPr>
          <a:xfrm>
            <a:off x="9456851" y="5431625"/>
            <a:ext cx="1755646" cy="37303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GNU C Manual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0325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6550"/>
            <a:ext cx="10526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 automatically converts the </a:t>
            </a:r>
            <a:r>
              <a:rPr lang="en-CA" sz="2200" b="1" dirty="0"/>
              <a:t>primitive</a:t>
            </a:r>
            <a:r>
              <a:rPr lang="en-CA" sz="2200" dirty="0"/>
              <a:t> data types according to the statement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+mj-lt"/>
              <a:buAutoNum type="alphaUcPeriod"/>
            </a:pPr>
            <a:r>
              <a:rPr lang="en-CA" dirty="0"/>
              <a:t>The operand values of type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CA" dirty="0"/>
              <a:t> or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  <a:r>
              <a:rPr lang="en-CA" dirty="0"/>
              <a:t> in </a:t>
            </a:r>
            <a:r>
              <a:rPr lang="en-CA" b="1" u="sng" dirty="0"/>
              <a:t>Arithmetic Expressions</a:t>
            </a:r>
            <a:r>
              <a:rPr lang="en-CA" dirty="0"/>
              <a:t> are automatically converted to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Ex. 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‘A’ + ‘a’</a:t>
            </a:r>
            <a:r>
              <a:rPr lang="en-CA" dirty="0"/>
              <a:t>  gives the result of type int (65 + 97 = 162)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27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7BA33-3AAA-6988-DA36-AFBAD4546B84}"/>
              </a:ext>
            </a:extLst>
          </p:cNvPr>
          <p:cNvSpPr txBox="1"/>
          <p:nvPr/>
        </p:nvSpPr>
        <p:spPr>
          <a:xfrm>
            <a:off x="2128922" y="3309662"/>
            <a:ext cx="6249968" cy="181588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x1 = ‘a’ + 3; 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x2 = x1 + 2;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"%c(%d) %c(%d) \n\n", x1, x1, x2, x2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9DE6873-4E47-A3FC-95FB-7714BDADEF85}"/>
              </a:ext>
            </a:extLst>
          </p:cNvPr>
          <p:cNvSpPr/>
          <p:nvPr/>
        </p:nvSpPr>
        <p:spPr>
          <a:xfrm>
            <a:off x="9527848" y="3561114"/>
            <a:ext cx="2169332" cy="673909"/>
          </a:xfrm>
          <a:prstGeom prst="wedgeRectCallout">
            <a:avLst>
              <a:gd name="adj1" fmla="val -102518"/>
              <a:gd name="adj2" fmla="val 8262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What is the output?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AFECF2CC-7399-D351-F37C-807A7CE9FF96}"/>
              </a:ext>
            </a:extLst>
          </p:cNvPr>
          <p:cNvSpPr/>
          <p:nvPr/>
        </p:nvSpPr>
        <p:spPr>
          <a:xfrm>
            <a:off x="9415297" y="5381417"/>
            <a:ext cx="1522880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L3Ex3-chars.c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41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0325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6550"/>
            <a:ext cx="105266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 automatically converts the </a:t>
            </a:r>
            <a:r>
              <a:rPr lang="en-CA" sz="2200" b="1" dirty="0"/>
              <a:t>primitive</a:t>
            </a:r>
            <a:r>
              <a:rPr lang="en-CA" sz="2200" dirty="0"/>
              <a:t> data types according to the statement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+mj-lt"/>
              <a:buAutoNum type="alphaUcPeriod" startAt="2"/>
            </a:pPr>
            <a:r>
              <a:rPr lang="en-CA" dirty="0"/>
              <a:t>If two operands of an arithmetic operator have different types…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i="1" dirty="0"/>
              <a:t>narrower</a:t>
            </a:r>
            <a:r>
              <a:rPr lang="en-CA" dirty="0"/>
              <a:t> type is converted to the </a:t>
            </a:r>
            <a:r>
              <a:rPr lang="en-CA" b="1" i="1" dirty="0"/>
              <a:t>wider</a:t>
            </a:r>
            <a:r>
              <a:rPr lang="en-CA" dirty="0"/>
              <a:t>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i.e.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char -&gt; short -&gt; int -&gt; long -&gt; float -&gt; double -&gt; long double…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28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7BA33-3AAA-6988-DA36-AFBAD4546B84}"/>
              </a:ext>
            </a:extLst>
          </p:cNvPr>
          <p:cNvSpPr txBox="1"/>
          <p:nvPr/>
        </p:nvSpPr>
        <p:spPr>
          <a:xfrm>
            <a:off x="3130407" y="3781013"/>
            <a:ext cx="1855531" cy="46166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12 / 5.0f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9DE6873-4E47-A3FC-95FB-7714BDADEF85}"/>
              </a:ext>
            </a:extLst>
          </p:cNvPr>
          <p:cNvSpPr/>
          <p:nvPr/>
        </p:nvSpPr>
        <p:spPr>
          <a:xfrm>
            <a:off x="5960736" y="3407494"/>
            <a:ext cx="3014566" cy="747037"/>
          </a:xfrm>
          <a:prstGeom prst="wedgeRectCallout">
            <a:avLst>
              <a:gd name="adj1" fmla="val -82585"/>
              <a:gd name="adj2" fmla="val 3482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type and value?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Result: 2.4f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94A0D-829F-D2BB-0CA2-B58DDBDFB4E1}"/>
              </a:ext>
            </a:extLst>
          </p:cNvPr>
          <p:cNvSpPr txBox="1"/>
          <p:nvPr/>
        </p:nvSpPr>
        <p:spPr>
          <a:xfrm>
            <a:off x="3130407" y="4946703"/>
            <a:ext cx="2059902" cy="46166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10.0 + 1/2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801014C9-CC48-CC74-4F7D-2BDEF501E99D}"/>
              </a:ext>
            </a:extLst>
          </p:cNvPr>
          <p:cNvSpPr/>
          <p:nvPr/>
        </p:nvSpPr>
        <p:spPr>
          <a:xfrm>
            <a:off x="5960736" y="4573184"/>
            <a:ext cx="3014566" cy="747037"/>
          </a:xfrm>
          <a:prstGeom prst="wedgeRectCallout">
            <a:avLst>
              <a:gd name="adj1" fmla="val -72763"/>
              <a:gd name="adj2" fmla="val 3249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type and value?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Result: 10.0 (double)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16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0325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6550"/>
            <a:ext cx="1052668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 automatically converts the </a:t>
            </a:r>
            <a:r>
              <a:rPr lang="en-CA" sz="2200" b="1" dirty="0"/>
              <a:t>primitive</a:t>
            </a:r>
            <a:r>
              <a:rPr lang="en-CA" sz="2200" dirty="0"/>
              <a:t> data types according to the statement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+mj-lt"/>
              <a:buAutoNum type="alphaUcPeriod" startAt="3"/>
            </a:pPr>
            <a:r>
              <a:rPr lang="en-CA" dirty="0"/>
              <a:t>In an assignment statement (</a:t>
            </a:r>
            <a:r>
              <a:rPr lang="en-CA" b="1" dirty="0"/>
              <a:t>var</a:t>
            </a:r>
            <a:r>
              <a:rPr lang="en-CA" dirty="0"/>
              <a:t> = </a:t>
            </a:r>
            <a:r>
              <a:rPr lang="en-CA" b="1" dirty="0"/>
              <a:t>expr</a:t>
            </a:r>
            <a:r>
              <a:rPr lang="en-CA" dirty="0"/>
              <a:t>), if the type of the right hand side value does not match the type of the left hand side variable, an implicit type conversion takes place.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type of the expression is converted to the type of the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If converted from floating point number to integer, round-down to the closest integer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29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7BA33-3AAA-6988-DA36-AFBAD4546B84}"/>
              </a:ext>
            </a:extLst>
          </p:cNvPr>
          <p:cNvSpPr txBox="1"/>
          <p:nvPr/>
        </p:nvSpPr>
        <p:spPr>
          <a:xfrm>
            <a:off x="3130407" y="3781013"/>
            <a:ext cx="1855531" cy="83099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k;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 = 2.5;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9DE6873-4E47-A3FC-95FB-7714BDADEF85}"/>
              </a:ext>
            </a:extLst>
          </p:cNvPr>
          <p:cNvSpPr/>
          <p:nvPr/>
        </p:nvSpPr>
        <p:spPr>
          <a:xfrm>
            <a:off x="6239409" y="4350949"/>
            <a:ext cx="3653527" cy="747037"/>
          </a:xfrm>
          <a:prstGeom prst="wedgeRectCallout">
            <a:avLst>
              <a:gd name="adj1" fmla="val -83148"/>
              <a:gd name="adj2" fmla="val -561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type and value saved into k?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2 (int)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35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0325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6550"/>
            <a:ext cx="1052668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 automatically converts the </a:t>
            </a:r>
            <a:r>
              <a:rPr lang="en-CA" sz="2200" b="1" dirty="0"/>
              <a:t>primitive</a:t>
            </a:r>
            <a:r>
              <a:rPr lang="en-CA" sz="2200" dirty="0"/>
              <a:t> data types according to the statement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+mj-lt"/>
              <a:buAutoNum type="alphaUcPeriod" startAt="3"/>
            </a:pPr>
            <a:r>
              <a:rPr lang="en-CA" dirty="0"/>
              <a:t>In an assignment statement (</a:t>
            </a:r>
            <a:r>
              <a:rPr lang="en-CA" b="1" dirty="0"/>
              <a:t>var</a:t>
            </a:r>
            <a:r>
              <a:rPr lang="en-CA" dirty="0"/>
              <a:t> = </a:t>
            </a:r>
            <a:r>
              <a:rPr lang="en-CA" b="1" dirty="0"/>
              <a:t>expr</a:t>
            </a:r>
            <a:r>
              <a:rPr lang="en-CA" dirty="0"/>
              <a:t>), if the type of the right hand side value does not match the type of the left hand side variable, an implicit type conversion takes place.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type of the expression is converted to the type of the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If converted from floating point number to integer, round-down to the closest integer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30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7BA33-3AAA-6988-DA36-AFBAD4546B84}"/>
              </a:ext>
            </a:extLst>
          </p:cNvPr>
          <p:cNvSpPr txBox="1"/>
          <p:nvPr/>
        </p:nvSpPr>
        <p:spPr>
          <a:xfrm>
            <a:off x="2111504" y="3519952"/>
            <a:ext cx="2225365" cy="92333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j;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 = x = 2.45;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9DE6873-4E47-A3FC-95FB-7714BDADEF85}"/>
              </a:ext>
            </a:extLst>
          </p:cNvPr>
          <p:cNvSpPr/>
          <p:nvPr/>
        </p:nvSpPr>
        <p:spPr>
          <a:xfrm>
            <a:off x="5159546" y="3690705"/>
            <a:ext cx="4202168" cy="747037"/>
          </a:xfrm>
          <a:prstGeom prst="wedgeRectCallout">
            <a:avLst>
              <a:gd name="adj1" fmla="val -67273"/>
              <a:gd name="adj2" fmla="val -1646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type and value saved into j and x?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 x = 2.45 (double), j = 2 (int)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E01698-CE80-C7AC-A796-FBF617AB5DF1}"/>
              </a:ext>
            </a:extLst>
          </p:cNvPr>
          <p:cNvSpPr txBox="1"/>
          <p:nvPr/>
        </p:nvSpPr>
        <p:spPr>
          <a:xfrm>
            <a:off x="2111503" y="4711888"/>
            <a:ext cx="2225365" cy="923330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k;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= k = 2.45;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E1B3B17-3E7F-CEAD-1F0A-61235B14F8EF}"/>
              </a:ext>
            </a:extLst>
          </p:cNvPr>
          <p:cNvSpPr/>
          <p:nvPr/>
        </p:nvSpPr>
        <p:spPr>
          <a:xfrm>
            <a:off x="5159546" y="4759646"/>
            <a:ext cx="4202168" cy="747037"/>
          </a:xfrm>
          <a:prstGeom prst="wedgeRectCallout">
            <a:avLst>
              <a:gd name="adj1" fmla="val -67273"/>
              <a:gd name="adj2" fmla="val -1646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type and value saved into y and k?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 y = 2.00 (double), k = 2 (int)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D191043B-3B26-0625-2C06-9ADE3B474EE8}"/>
              </a:ext>
            </a:extLst>
          </p:cNvPr>
          <p:cNvSpPr/>
          <p:nvPr/>
        </p:nvSpPr>
        <p:spPr>
          <a:xfrm>
            <a:off x="9689617" y="5425826"/>
            <a:ext cx="1522880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L3Ex4-conv.c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59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" grpId="0" animBg="1"/>
      <p:bldP spid="5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8439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Explicit Type Conversion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6550"/>
            <a:ext cx="10526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aka. </a:t>
            </a:r>
            <a:r>
              <a:rPr lang="en-CA" sz="2200" b="1" dirty="0"/>
              <a:t>Casting</a:t>
            </a:r>
            <a:r>
              <a:rPr lang="en-CA" sz="22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Allowing programmers to explicitly force a type conversion on a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Same level of precedence as the other unary operators – higher than binary operators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31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A30AE-3DE0-80EE-A276-225DA37E37A0}"/>
              </a:ext>
            </a:extLst>
          </p:cNvPr>
          <p:cNvSpPr txBox="1"/>
          <p:nvPr/>
        </p:nvSpPr>
        <p:spPr>
          <a:xfrm>
            <a:off x="2147803" y="3259639"/>
            <a:ext cx="2692693" cy="92333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17;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 = a / 3;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458A3AE-8FC5-C281-835F-59FBF370DB30}"/>
              </a:ext>
            </a:extLst>
          </p:cNvPr>
          <p:cNvSpPr/>
          <p:nvPr/>
        </p:nvSpPr>
        <p:spPr>
          <a:xfrm>
            <a:off x="5568849" y="3536514"/>
            <a:ext cx="4202168" cy="747037"/>
          </a:xfrm>
          <a:prstGeom prst="wedgeRectCallout">
            <a:avLst>
              <a:gd name="adj1" fmla="val -64787"/>
              <a:gd name="adj2" fmla="val -4094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type and value saved into m?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 m = 5.00 (double)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1FE62-E576-1904-260B-1039BD8181FE}"/>
              </a:ext>
            </a:extLst>
          </p:cNvPr>
          <p:cNvSpPr txBox="1"/>
          <p:nvPr/>
        </p:nvSpPr>
        <p:spPr>
          <a:xfrm>
            <a:off x="1766215" y="4551279"/>
            <a:ext cx="3455868" cy="923330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= 17;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(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)b / 3;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B768F76F-EB48-1DAF-11AD-2973E425F34C}"/>
              </a:ext>
            </a:extLst>
          </p:cNvPr>
          <p:cNvSpPr/>
          <p:nvPr/>
        </p:nvSpPr>
        <p:spPr>
          <a:xfrm>
            <a:off x="5690770" y="4499333"/>
            <a:ext cx="4202168" cy="747037"/>
          </a:xfrm>
          <a:prstGeom prst="wedgeRectCallout">
            <a:avLst>
              <a:gd name="adj1" fmla="val -67939"/>
              <a:gd name="adj2" fmla="val -7725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type and value saved into n?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 n = 5.6666… (double)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285023-D14F-FEC2-C53D-3B191588A147}"/>
              </a:ext>
            </a:extLst>
          </p:cNvPr>
          <p:cNvSpPr txBox="1"/>
          <p:nvPr/>
        </p:nvSpPr>
        <p:spPr>
          <a:xfrm>
            <a:off x="3885887" y="2686145"/>
            <a:ext cx="4282753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(type)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expression_or_value_or_var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22E976B0-17E7-5F33-F4BD-3C503734C1AE}"/>
              </a:ext>
            </a:extLst>
          </p:cNvPr>
          <p:cNvSpPr/>
          <p:nvPr/>
        </p:nvSpPr>
        <p:spPr>
          <a:xfrm>
            <a:off x="9689617" y="5425826"/>
            <a:ext cx="1522880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L3Ex4-conv.c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34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animBg="1"/>
      <p:bldP spid="11" grpId="0" animBg="1"/>
      <p:bldP spid="12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Control Structure - Selection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20CD9D-57FC-4D45-950B-7863375BDD1F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3-2] C Control Structures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424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286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if-else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Piece of cake by now…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Either way, there will be a set of actions to perform…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33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2464220" y="2446792"/>
            <a:ext cx="2326086" cy="224676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condition1 )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statements1;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1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statements2;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2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8A1B9E-D91E-FFE8-BB31-F394B96F8999}"/>
              </a:ext>
            </a:extLst>
          </p:cNvPr>
          <p:cNvSpPr/>
          <p:nvPr/>
        </p:nvSpPr>
        <p:spPr>
          <a:xfrm>
            <a:off x="8325066" y="2713586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69807B-5D72-14EF-0A64-C0872CBD3C71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8428641" y="2920736"/>
            <a:ext cx="0" cy="27224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116F72-DAA1-6139-DBF6-B08D26B7CFE4}"/>
              </a:ext>
            </a:extLst>
          </p:cNvPr>
          <p:cNvCxnSpPr>
            <a:cxnSpLocks/>
          </p:cNvCxnSpPr>
          <p:nvPr/>
        </p:nvCxnSpPr>
        <p:spPr>
          <a:xfrm>
            <a:off x="8428641" y="2920736"/>
            <a:ext cx="0" cy="27224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C1652B-CDDE-374E-B9F8-C842A4ADA24B}"/>
              </a:ext>
            </a:extLst>
          </p:cNvPr>
          <p:cNvSpPr txBox="1"/>
          <p:nvPr/>
        </p:nvSpPr>
        <p:spPr>
          <a:xfrm>
            <a:off x="8532216" y="2647459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1628774D-FAF0-1EE1-CE31-F8A566953AAB}"/>
              </a:ext>
            </a:extLst>
          </p:cNvPr>
          <p:cNvSpPr/>
          <p:nvPr/>
        </p:nvSpPr>
        <p:spPr>
          <a:xfrm>
            <a:off x="7516834" y="3192980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217B4-DF46-8CB7-4B99-5A551CA0B2B8}"/>
              </a:ext>
            </a:extLst>
          </p:cNvPr>
          <p:cNvSpPr txBox="1"/>
          <p:nvPr/>
        </p:nvSpPr>
        <p:spPr>
          <a:xfrm>
            <a:off x="9258332" y="3309492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0B538C-8CBB-7F28-E1B4-250FF94BD8EF}"/>
              </a:ext>
            </a:extLst>
          </p:cNvPr>
          <p:cNvSpPr txBox="1"/>
          <p:nvPr/>
        </p:nvSpPr>
        <p:spPr>
          <a:xfrm>
            <a:off x="7154031" y="3309798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D51E20-9D8F-9BAC-D4CB-3C21F7AFF948}"/>
              </a:ext>
            </a:extLst>
          </p:cNvPr>
          <p:cNvCxnSpPr>
            <a:cxnSpLocks/>
          </p:cNvCxnSpPr>
          <p:nvPr/>
        </p:nvCxnSpPr>
        <p:spPr>
          <a:xfrm>
            <a:off x="6888856" y="3648352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9D12B7-CB37-0204-7A9D-0A6E96B28EEB}"/>
              </a:ext>
            </a:extLst>
          </p:cNvPr>
          <p:cNvCxnSpPr>
            <a:cxnSpLocks/>
          </p:cNvCxnSpPr>
          <p:nvPr/>
        </p:nvCxnSpPr>
        <p:spPr>
          <a:xfrm>
            <a:off x="9349157" y="3648129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D19084-B789-F4FB-C55D-04D821137ACD}"/>
              </a:ext>
            </a:extLst>
          </p:cNvPr>
          <p:cNvCxnSpPr>
            <a:cxnSpLocks/>
          </p:cNvCxnSpPr>
          <p:nvPr/>
        </p:nvCxnSpPr>
        <p:spPr>
          <a:xfrm>
            <a:off x="6891260" y="3642551"/>
            <a:ext cx="0" cy="30591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8C52B3-23D2-85AB-084F-F621C4ADAC31}"/>
              </a:ext>
            </a:extLst>
          </p:cNvPr>
          <p:cNvSpPr/>
          <p:nvPr/>
        </p:nvSpPr>
        <p:spPr>
          <a:xfrm>
            <a:off x="6289649" y="3954679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B53C74-00F8-9AE7-10E4-3C9C6378ECCA}"/>
              </a:ext>
            </a:extLst>
          </p:cNvPr>
          <p:cNvCxnSpPr>
            <a:cxnSpLocks/>
          </p:cNvCxnSpPr>
          <p:nvPr/>
        </p:nvCxnSpPr>
        <p:spPr>
          <a:xfrm>
            <a:off x="9979540" y="3648422"/>
            <a:ext cx="0" cy="30591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5DA06A-868F-EC6F-110F-473F8B15A279}"/>
              </a:ext>
            </a:extLst>
          </p:cNvPr>
          <p:cNvSpPr/>
          <p:nvPr/>
        </p:nvSpPr>
        <p:spPr>
          <a:xfrm>
            <a:off x="9377929" y="3960550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00AB11-52D3-9127-E176-A99B1502B449}"/>
              </a:ext>
            </a:extLst>
          </p:cNvPr>
          <p:cNvSpPr txBox="1"/>
          <p:nvPr/>
        </p:nvSpPr>
        <p:spPr>
          <a:xfrm>
            <a:off x="7783162" y="5024040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88CA67-E1DD-01E3-AD88-23B0CC03C5E4}"/>
              </a:ext>
            </a:extLst>
          </p:cNvPr>
          <p:cNvSpPr/>
          <p:nvPr/>
        </p:nvSpPr>
        <p:spPr>
          <a:xfrm>
            <a:off x="8325066" y="5088276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04A3EE-06B7-3D75-6BFC-6EC875DFEE24}"/>
              </a:ext>
            </a:extLst>
          </p:cNvPr>
          <p:cNvCxnSpPr>
            <a:cxnSpLocks/>
          </p:cNvCxnSpPr>
          <p:nvPr/>
        </p:nvCxnSpPr>
        <p:spPr>
          <a:xfrm>
            <a:off x="8437785" y="4474071"/>
            <a:ext cx="0" cy="614205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EE5A77-E73F-4410-695E-D798DFAAF780}"/>
              </a:ext>
            </a:extLst>
          </p:cNvPr>
          <p:cNvCxnSpPr>
            <a:cxnSpLocks/>
          </p:cNvCxnSpPr>
          <p:nvPr/>
        </p:nvCxnSpPr>
        <p:spPr>
          <a:xfrm>
            <a:off x="6881564" y="4292658"/>
            <a:ext cx="0" cy="18141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1C8F59-93E4-7B2D-0AB1-2EAD0EEAE2B2}"/>
              </a:ext>
            </a:extLst>
          </p:cNvPr>
          <p:cNvCxnSpPr>
            <a:cxnSpLocks/>
          </p:cNvCxnSpPr>
          <p:nvPr/>
        </p:nvCxnSpPr>
        <p:spPr>
          <a:xfrm>
            <a:off x="6880310" y="4474071"/>
            <a:ext cx="1566184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E0C00F-2C18-668B-F94F-DE035AAE9624}"/>
              </a:ext>
            </a:extLst>
          </p:cNvPr>
          <p:cNvCxnSpPr>
            <a:cxnSpLocks/>
          </p:cNvCxnSpPr>
          <p:nvPr/>
        </p:nvCxnSpPr>
        <p:spPr>
          <a:xfrm>
            <a:off x="9978389" y="4298289"/>
            <a:ext cx="0" cy="18141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D33402-5CC3-9DB2-1621-D894B9AA35A3}"/>
              </a:ext>
            </a:extLst>
          </p:cNvPr>
          <p:cNvCxnSpPr>
            <a:cxnSpLocks/>
          </p:cNvCxnSpPr>
          <p:nvPr/>
        </p:nvCxnSpPr>
        <p:spPr>
          <a:xfrm>
            <a:off x="8418301" y="4470993"/>
            <a:ext cx="1566184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88CE03EF-9182-6120-0DE9-78881FC4D18E}"/>
              </a:ext>
            </a:extLst>
          </p:cNvPr>
          <p:cNvSpPr/>
          <p:nvPr/>
        </p:nvSpPr>
        <p:spPr>
          <a:xfrm>
            <a:off x="1440655" y="4836052"/>
            <a:ext cx="2626661" cy="896973"/>
          </a:xfrm>
          <a:prstGeom prst="wedgeRectCallout">
            <a:avLst>
              <a:gd name="adj1" fmla="val -2202"/>
              <a:gd name="adj2" fmla="val -7285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If Action 1 and/or 2 consist of only one statement, parentheses can be omitted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65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6" grpId="0"/>
      <p:bldP spid="17" grpId="0" animBg="1"/>
      <p:bldP spid="18" grpId="0"/>
      <p:bldP spid="19" grpId="0"/>
      <p:bldP spid="23" grpId="0" animBg="1"/>
      <p:bldP spid="25" grpId="0" animBg="1"/>
      <p:bldP spid="26" grpId="0"/>
      <p:bldP spid="27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1731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xample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Assume that x, y, and z are all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/>
              <a:t>.  What does each of the following pieces of code do?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35C19-7D8D-199B-5181-1D16FD66A238}"/>
              </a:ext>
            </a:extLst>
          </p:cNvPr>
          <p:cNvSpPr txBox="1"/>
          <p:nvPr/>
        </p:nvSpPr>
        <p:spPr>
          <a:xfrm>
            <a:off x="2400123" y="2297056"/>
            <a:ext cx="2326086" cy="267765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Variant 1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 &lt; y)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z = x;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z);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z = 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z);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B478F-677A-04F2-E5A2-66104DDDF860}"/>
              </a:ext>
            </a:extLst>
          </p:cNvPr>
          <p:cNvSpPr txBox="1"/>
          <p:nvPr/>
        </p:nvSpPr>
        <p:spPr>
          <a:xfrm>
            <a:off x="6201415" y="2297056"/>
            <a:ext cx="2326086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Variant 2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z = y;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 &lt; y)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z = x;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z);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B954C029-F1B8-9F92-0985-7D38A4BCC40D}"/>
              </a:ext>
            </a:extLst>
          </p:cNvPr>
          <p:cNvSpPr/>
          <p:nvPr/>
        </p:nvSpPr>
        <p:spPr>
          <a:xfrm>
            <a:off x="6528324" y="4648033"/>
            <a:ext cx="2626661" cy="896973"/>
          </a:xfrm>
          <a:prstGeom prst="wedgeRectCallout">
            <a:avLst>
              <a:gd name="adj1" fmla="val -42982"/>
              <a:gd name="adj2" fmla="val -7285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Different flow chart design</a:t>
            </a:r>
          </a:p>
          <a:p>
            <a:pPr algn="ctr"/>
            <a:r>
              <a:rPr lang="en-CA" b="1" dirty="0">
                <a:solidFill>
                  <a:srgbClr val="FF0000"/>
                </a:solidFill>
              </a:rPr>
              <a:t>Identical Functionalities!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5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7516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Nested if Statements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Piece of cake by now…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35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1759495" y="2049505"/>
            <a:ext cx="2316943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condition1 )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condition2 )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statements3;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3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statements4;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4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2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8A1B9E-D91E-FFE8-BB31-F394B96F8999}"/>
              </a:ext>
            </a:extLst>
          </p:cNvPr>
          <p:cNvSpPr/>
          <p:nvPr/>
        </p:nvSpPr>
        <p:spPr>
          <a:xfrm>
            <a:off x="8490526" y="1866327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69807B-5D72-14EF-0A64-C0872CBD3C71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8594101" y="2073477"/>
            <a:ext cx="0" cy="27224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116F72-DAA1-6139-DBF6-B08D26B7CFE4}"/>
              </a:ext>
            </a:extLst>
          </p:cNvPr>
          <p:cNvCxnSpPr>
            <a:cxnSpLocks/>
          </p:cNvCxnSpPr>
          <p:nvPr/>
        </p:nvCxnSpPr>
        <p:spPr>
          <a:xfrm>
            <a:off x="8594101" y="2073477"/>
            <a:ext cx="0" cy="27224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C1652B-CDDE-374E-B9F8-C842A4ADA24B}"/>
              </a:ext>
            </a:extLst>
          </p:cNvPr>
          <p:cNvSpPr txBox="1"/>
          <p:nvPr/>
        </p:nvSpPr>
        <p:spPr>
          <a:xfrm>
            <a:off x="8697676" y="1800200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1628774D-FAF0-1EE1-CE31-F8A566953AAB}"/>
              </a:ext>
            </a:extLst>
          </p:cNvPr>
          <p:cNvSpPr/>
          <p:nvPr/>
        </p:nvSpPr>
        <p:spPr>
          <a:xfrm>
            <a:off x="7682294" y="2345721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condition1?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217B4-DF46-8CB7-4B99-5A551CA0B2B8}"/>
              </a:ext>
            </a:extLst>
          </p:cNvPr>
          <p:cNvSpPr txBox="1"/>
          <p:nvPr/>
        </p:nvSpPr>
        <p:spPr>
          <a:xfrm>
            <a:off x="9423792" y="2462233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0B538C-8CBB-7F28-E1B4-250FF94BD8EF}"/>
              </a:ext>
            </a:extLst>
          </p:cNvPr>
          <p:cNvSpPr txBox="1"/>
          <p:nvPr/>
        </p:nvSpPr>
        <p:spPr>
          <a:xfrm>
            <a:off x="7319491" y="2462539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D51E20-9D8F-9BAC-D4CB-3C21F7AFF948}"/>
              </a:ext>
            </a:extLst>
          </p:cNvPr>
          <p:cNvCxnSpPr>
            <a:cxnSpLocks/>
          </p:cNvCxnSpPr>
          <p:nvPr/>
        </p:nvCxnSpPr>
        <p:spPr>
          <a:xfrm>
            <a:off x="7054316" y="2801093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9D12B7-CB37-0204-7A9D-0A6E96B28EEB}"/>
              </a:ext>
            </a:extLst>
          </p:cNvPr>
          <p:cNvCxnSpPr>
            <a:cxnSpLocks/>
          </p:cNvCxnSpPr>
          <p:nvPr/>
        </p:nvCxnSpPr>
        <p:spPr>
          <a:xfrm>
            <a:off x="9514617" y="2800870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D19084-B789-F4FB-C55D-04D821137ACD}"/>
              </a:ext>
            </a:extLst>
          </p:cNvPr>
          <p:cNvCxnSpPr>
            <a:cxnSpLocks/>
          </p:cNvCxnSpPr>
          <p:nvPr/>
        </p:nvCxnSpPr>
        <p:spPr>
          <a:xfrm>
            <a:off x="7056720" y="2795292"/>
            <a:ext cx="0" cy="30591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B53C74-00F8-9AE7-10E4-3C9C6378ECCA}"/>
              </a:ext>
            </a:extLst>
          </p:cNvPr>
          <p:cNvCxnSpPr>
            <a:cxnSpLocks/>
          </p:cNvCxnSpPr>
          <p:nvPr/>
        </p:nvCxnSpPr>
        <p:spPr>
          <a:xfrm>
            <a:off x="10145000" y="2801163"/>
            <a:ext cx="0" cy="824043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5DA06A-868F-EC6F-110F-473F8B15A279}"/>
              </a:ext>
            </a:extLst>
          </p:cNvPr>
          <p:cNvSpPr/>
          <p:nvPr/>
        </p:nvSpPr>
        <p:spPr>
          <a:xfrm>
            <a:off x="9543661" y="3625206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00AB11-52D3-9127-E176-A99B1502B449}"/>
              </a:ext>
            </a:extLst>
          </p:cNvPr>
          <p:cNvSpPr txBox="1"/>
          <p:nvPr/>
        </p:nvSpPr>
        <p:spPr>
          <a:xfrm>
            <a:off x="7958962" y="5411052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88CA67-E1DD-01E3-AD88-23B0CC03C5E4}"/>
              </a:ext>
            </a:extLst>
          </p:cNvPr>
          <p:cNvSpPr/>
          <p:nvPr/>
        </p:nvSpPr>
        <p:spPr>
          <a:xfrm>
            <a:off x="8500866" y="5475288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04A3EE-06B7-3D75-6BFC-6EC875DFEE24}"/>
              </a:ext>
            </a:extLst>
          </p:cNvPr>
          <p:cNvCxnSpPr>
            <a:cxnSpLocks/>
          </p:cNvCxnSpPr>
          <p:nvPr/>
        </p:nvCxnSpPr>
        <p:spPr>
          <a:xfrm>
            <a:off x="8613585" y="4861083"/>
            <a:ext cx="0" cy="614205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1C8F59-93E4-7B2D-0AB1-2EAD0EEAE2B2}"/>
              </a:ext>
            </a:extLst>
          </p:cNvPr>
          <p:cNvCxnSpPr>
            <a:cxnSpLocks/>
          </p:cNvCxnSpPr>
          <p:nvPr/>
        </p:nvCxnSpPr>
        <p:spPr>
          <a:xfrm>
            <a:off x="7056110" y="4861083"/>
            <a:ext cx="1566184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E0C00F-2C18-668B-F94F-DE035AAE9624}"/>
              </a:ext>
            </a:extLst>
          </p:cNvPr>
          <p:cNvCxnSpPr>
            <a:cxnSpLocks/>
          </p:cNvCxnSpPr>
          <p:nvPr/>
        </p:nvCxnSpPr>
        <p:spPr>
          <a:xfrm>
            <a:off x="10144121" y="3962945"/>
            <a:ext cx="0" cy="89506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D33402-5CC3-9DB2-1621-D894B9AA35A3}"/>
              </a:ext>
            </a:extLst>
          </p:cNvPr>
          <p:cNvCxnSpPr>
            <a:cxnSpLocks/>
          </p:cNvCxnSpPr>
          <p:nvPr/>
        </p:nvCxnSpPr>
        <p:spPr>
          <a:xfrm>
            <a:off x="8576683" y="4858005"/>
            <a:ext cx="1566184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85B81B85-A24B-3927-F721-E15FCCAE02B9}"/>
              </a:ext>
            </a:extLst>
          </p:cNvPr>
          <p:cNvSpPr/>
          <p:nvPr/>
        </p:nvSpPr>
        <p:spPr>
          <a:xfrm>
            <a:off x="6148813" y="3107036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condition2?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62043-EDA7-1EA8-CEED-C20761D84618}"/>
              </a:ext>
            </a:extLst>
          </p:cNvPr>
          <p:cNvSpPr txBox="1"/>
          <p:nvPr/>
        </p:nvSpPr>
        <p:spPr>
          <a:xfrm>
            <a:off x="7890311" y="3223548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1DC8D-D016-8A2F-EAB9-8C60F611C088}"/>
              </a:ext>
            </a:extLst>
          </p:cNvPr>
          <p:cNvSpPr txBox="1"/>
          <p:nvPr/>
        </p:nvSpPr>
        <p:spPr>
          <a:xfrm>
            <a:off x="5786010" y="3223854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74E7B7-77CA-67D0-2BE5-89D69BE89655}"/>
              </a:ext>
            </a:extLst>
          </p:cNvPr>
          <p:cNvCxnSpPr>
            <a:cxnSpLocks/>
          </p:cNvCxnSpPr>
          <p:nvPr/>
        </p:nvCxnSpPr>
        <p:spPr>
          <a:xfrm>
            <a:off x="5520835" y="3562408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FC8E91-A76D-4A8B-8EF3-3072AABC2F5B}"/>
              </a:ext>
            </a:extLst>
          </p:cNvPr>
          <p:cNvCxnSpPr>
            <a:cxnSpLocks/>
          </p:cNvCxnSpPr>
          <p:nvPr/>
        </p:nvCxnSpPr>
        <p:spPr>
          <a:xfrm>
            <a:off x="7981136" y="3562185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978B5E-16BF-717F-B5FA-070FD27182E2}"/>
              </a:ext>
            </a:extLst>
          </p:cNvPr>
          <p:cNvCxnSpPr>
            <a:cxnSpLocks/>
          </p:cNvCxnSpPr>
          <p:nvPr/>
        </p:nvCxnSpPr>
        <p:spPr>
          <a:xfrm>
            <a:off x="5523239" y="3556607"/>
            <a:ext cx="0" cy="30591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A97B3B-CFDE-81E5-94BA-87FF6D1AAE53}"/>
              </a:ext>
            </a:extLst>
          </p:cNvPr>
          <p:cNvCxnSpPr>
            <a:cxnSpLocks/>
          </p:cNvCxnSpPr>
          <p:nvPr/>
        </p:nvCxnSpPr>
        <p:spPr>
          <a:xfrm>
            <a:off x="8611519" y="3556607"/>
            <a:ext cx="0" cy="311787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8A3CF62-804C-1A97-1899-303A575880E3}"/>
              </a:ext>
            </a:extLst>
          </p:cNvPr>
          <p:cNvSpPr/>
          <p:nvPr/>
        </p:nvSpPr>
        <p:spPr>
          <a:xfrm>
            <a:off x="8009908" y="3874606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4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9DB39C-853B-35CF-93C0-A2C714CD1622}"/>
              </a:ext>
            </a:extLst>
          </p:cNvPr>
          <p:cNvCxnSpPr>
            <a:cxnSpLocks/>
          </p:cNvCxnSpPr>
          <p:nvPr/>
        </p:nvCxnSpPr>
        <p:spPr>
          <a:xfrm>
            <a:off x="8610368" y="4212345"/>
            <a:ext cx="0" cy="18141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72315BD-D732-FDE9-4201-180764D9198B}"/>
              </a:ext>
            </a:extLst>
          </p:cNvPr>
          <p:cNvSpPr/>
          <p:nvPr/>
        </p:nvSpPr>
        <p:spPr>
          <a:xfrm>
            <a:off x="4931661" y="3872913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3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AA406D4-6F17-B598-95EE-527F7E83B463}"/>
              </a:ext>
            </a:extLst>
          </p:cNvPr>
          <p:cNvCxnSpPr>
            <a:cxnSpLocks/>
          </p:cNvCxnSpPr>
          <p:nvPr/>
        </p:nvCxnSpPr>
        <p:spPr>
          <a:xfrm>
            <a:off x="5532121" y="4210652"/>
            <a:ext cx="0" cy="18141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7762053-4B85-AD30-682B-58FECC9E5669}"/>
              </a:ext>
            </a:extLst>
          </p:cNvPr>
          <p:cNvCxnSpPr>
            <a:cxnSpLocks/>
          </p:cNvCxnSpPr>
          <p:nvPr/>
        </p:nvCxnSpPr>
        <p:spPr>
          <a:xfrm>
            <a:off x="5520835" y="4392065"/>
            <a:ext cx="1543603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A2974DD-007D-755E-E02C-2D33FB6FB9E1}"/>
              </a:ext>
            </a:extLst>
          </p:cNvPr>
          <p:cNvCxnSpPr>
            <a:cxnSpLocks/>
          </p:cNvCxnSpPr>
          <p:nvPr/>
        </p:nvCxnSpPr>
        <p:spPr>
          <a:xfrm>
            <a:off x="7036245" y="4388987"/>
            <a:ext cx="1566184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60C6155-4F49-130C-4341-49F4B7D7953E}"/>
              </a:ext>
            </a:extLst>
          </p:cNvPr>
          <p:cNvCxnSpPr>
            <a:cxnSpLocks/>
          </p:cNvCxnSpPr>
          <p:nvPr/>
        </p:nvCxnSpPr>
        <p:spPr>
          <a:xfrm>
            <a:off x="7064438" y="4388987"/>
            <a:ext cx="0" cy="469018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4A229A2-226F-AC9F-053C-758B400BB4D7}"/>
              </a:ext>
            </a:extLst>
          </p:cNvPr>
          <p:cNvSpPr txBox="1"/>
          <p:nvPr/>
        </p:nvSpPr>
        <p:spPr>
          <a:xfrm>
            <a:off x="2086342" y="2287268"/>
            <a:ext cx="2316943" cy="360098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{} can be omitted</a:t>
            </a:r>
            <a:b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Think about why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condition1 )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condition2 )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statements3;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3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statements4;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4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2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158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6" grpId="0"/>
      <p:bldP spid="17" grpId="0" animBg="1"/>
      <p:bldP spid="18" grpId="0"/>
      <p:bldP spid="19" grpId="0"/>
      <p:bldP spid="25" grpId="0" animBg="1"/>
      <p:bldP spid="26" grpId="0"/>
      <p:bldP spid="27" grpId="0" animBg="1"/>
      <p:bldP spid="10" grpId="0" animBg="1"/>
      <p:bldP spid="11" grpId="0"/>
      <p:bldP spid="12" grpId="0"/>
      <p:bldP spid="38" grpId="0" animBg="1"/>
      <p:bldP spid="40" grpId="0" animBg="1"/>
      <p:bldP spid="5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7516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Nested if Statements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Piece of cake by now…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36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1759495" y="2136595"/>
            <a:ext cx="2316943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condition1 )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2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condition2 )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statements3;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3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statements4;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4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8A1B9E-D91E-FFE8-BB31-F394B96F8999}"/>
              </a:ext>
            </a:extLst>
          </p:cNvPr>
          <p:cNvSpPr/>
          <p:nvPr/>
        </p:nvSpPr>
        <p:spPr>
          <a:xfrm>
            <a:off x="7280032" y="1866327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69807B-5D72-14EF-0A64-C0872CBD3C71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7383607" y="2073477"/>
            <a:ext cx="0" cy="27224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116F72-DAA1-6139-DBF6-B08D26B7CFE4}"/>
              </a:ext>
            </a:extLst>
          </p:cNvPr>
          <p:cNvCxnSpPr>
            <a:cxnSpLocks/>
          </p:cNvCxnSpPr>
          <p:nvPr/>
        </p:nvCxnSpPr>
        <p:spPr>
          <a:xfrm>
            <a:off x="7383607" y="2073477"/>
            <a:ext cx="0" cy="27224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C1652B-CDDE-374E-B9F8-C842A4ADA24B}"/>
              </a:ext>
            </a:extLst>
          </p:cNvPr>
          <p:cNvSpPr txBox="1"/>
          <p:nvPr/>
        </p:nvSpPr>
        <p:spPr>
          <a:xfrm>
            <a:off x="7487182" y="1800200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1628774D-FAF0-1EE1-CE31-F8A566953AAB}"/>
              </a:ext>
            </a:extLst>
          </p:cNvPr>
          <p:cNvSpPr/>
          <p:nvPr/>
        </p:nvSpPr>
        <p:spPr>
          <a:xfrm>
            <a:off x="6471800" y="2345721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condition1?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217B4-DF46-8CB7-4B99-5A551CA0B2B8}"/>
              </a:ext>
            </a:extLst>
          </p:cNvPr>
          <p:cNvSpPr txBox="1"/>
          <p:nvPr/>
        </p:nvSpPr>
        <p:spPr>
          <a:xfrm>
            <a:off x="8213298" y="2462233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0B538C-8CBB-7F28-E1B4-250FF94BD8EF}"/>
              </a:ext>
            </a:extLst>
          </p:cNvPr>
          <p:cNvSpPr txBox="1"/>
          <p:nvPr/>
        </p:nvSpPr>
        <p:spPr>
          <a:xfrm>
            <a:off x="6108997" y="2462539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D51E20-9D8F-9BAC-D4CB-3C21F7AFF948}"/>
              </a:ext>
            </a:extLst>
          </p:cNvPr>
          <p:cNvCxnSpPr>
            <a:cxnSpLocks/>
          </p:cNvCxnSpPr>
          <p:nvPr/>
        </p:nvCxnSpPr>
        <p:spPr>
          <a:xfrm>
            <a:off x="5843822" y="2801093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9D12B7-CB37-0204-7A9D-0A6E96B28EEB}"/>
              </a:ext>
            </a:extLst>
          </p:cNvPr>
          <p:cNvCxnSpPr>
            <a:cxnSpLocks/>
          </p:cNvCxnSpPr>
          <p:nvPr/>
        </p:nvCxnSpPr>
        <p:spPr>
          <a:xfrm>
            <a:off x="8304123" y="2800870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D19084-B789-F4FB-C55D-04D821137ACD}"/>
              </a:ext>
            </a:extLst>
          </p:cNvPr>
          <p:cNvCxnSpPr>
            <a:cxnSpLocks/>
          </p:cNvCxnSpPr>
          <p:nvPr/>
        </p:nvCxnSpPr>
        <p:spPr>
          <a:xfrm>
            <a:off x="8933092" y="2805999"/>
            <a:ext cx="0" cy="30591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B53C74-00F8-9AE7-10E4-3C9C6378ECCA}"/>
              </a:ext>
            </a:extLst>
          </p:cNvPr>
          <p:cNvCxnSpPr>
            <a:cxnSpLocks/>
          </p:cNvCxnSpPr>
          <p:nvPr/>
        </p:nvCxnSpPr>
        <p:spPr>
          <a:xfrm>
            <a:off x="5852531" y="2800787"/>
            <a:ext cx="0" cy="824043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5DA06A-868F-EC6F-110F-473F8B15A279}"/>
              </a:ext>
            </a:extLst>
          </p:cNvPr>
          <p:cNvSpPr/>
          <p:nvPr/>
        </p:nvSpPr>
        <p:spPr>
          <a:xfrm>
            <a:off x="5251192" y="3624830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00AB11-52D3-9127-E176-A99B1502B449}"/>
              </a:ext>
            </a:extLst>
          </p:cNvPr>
          <p:cNvSpPr txBox="1"/>
          <p:nvPr/>
        </p:nvSpPr>
        <p:spPr>
          <a:xfrm>
            <a:off x="6748468" y="5411052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88CA67-E1DD-01E3-AD88-23B0CC03C5E4}"/>
              </a:ext>
            </a:extLst>
          </p:cNvPr>
          <p:cNvSpPr/>
          <p:nvPr/>
        </p:nvSpPr>
        <p:spPr>
          <a:xfrm>
            <a:off x="7290372" y="5475288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04A3EE-06B7-3D75-6BFC-6EC875DFEE24}"/>
              </a:ext>
            </a:extLst>
          </p:cNvPr>
          <p:cNvCxnSpPr>
            <a:cxnSpLocks/>
          </p:cNvCxnSpPr>
          <p:nvPr/>
        </p:nvCxnSpPr>
        <p:spPr>
          <a:xfrm>
            <a:off x="7403091" y="4861083"/>
            <a:ext cx="0" cy="614205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1C8F59-93E4-7B2D-0AB1-2EAD0EEAE2B2}"/>
              </a:ext>
            </a:extLst>
          </p:cNvPr>
          <p:cNvCxnSpPr>
            <a:cxnSpLocks/>
          </p:cNvCxnSpPr>
          <p:nvPr/>
        </p:nvCxnSpPr>
        <p:spPr>
          <a:xfrm>
            <a:off x="5845616" y="4861083"/>
            <a:ext cx="1566184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E0C00F-2C18-668B-F94F-DE035AAE9624}"/>
              </a:ext>
            </a:extLst>
          </p:cNvPr>
          <p:cNvCxnSpPr>
            <a:cxnSpLocks/>
          </p:cNvCxnSpPr>
          <p:nvPr/>
        </p:nvCxnSpPr>
        <p:spPr>
          <a:xfrm>
            <a:off x="5851652" y="3962569"/>
            <a:ext cx="0" cy="89506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D33402-5CC3-9DB2-1621-D894B9AA35A3}"/>
              </a:ext>
            </a:extLst>
          </p:cNvPr>
          <p:cNvCxnSpPr>
            <a:cxnSpLocks/>
          </p:cNvCxnSpPr>
          <p:nvPr/>
        </p:nvCxnSpPr>
        <p:spPr>
          <a:xfrm>
            <a:off x="7366189" y="4858005"/>
            <a:ext cx="1566184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85B81B85-A24B-3927-F721-E15FCCAE02B9}"/>
              </a:ext>
            </a:extLst>
          </p:cNvPr>
          <p:cNvSpPr/>
          <p:nvPr/>
        </p:nvSpPr>
        <p:spPr>
          <a:xfrm>
            <a:off x="8025185" y="3117743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condition2?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62043-EDA7-1EA8-CEED-C20761D84618}"/>
              </a:ext>
            </a:extLst>
          </p:cNvPr>
          <p:cNvSpPr txBox="1"/>
          <p:nvPr/>
        </p:nvSpPr>
        <p:spPr>
          <a:xfrm>
            <a:off x="9766683" y="3234255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1DC8D-D016-8A2F-EAB9-8C60F611C088}"/>
              </a:ext>
            </a:extLst>
          </p:cNvPr>
          <p:cNvSpPr txBox="1"/>
          <p:nvPr/>
        </p:nvSpPr>
        <p:spPr>
          <a:xfrm>
            <a:off x="7662382" y="3234561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74E7B7-77CA-67D0-2BE5-89D69BE89655}"/>
              </a:ext>
            </a:extLst>
          </p:cNvPr>
          <p:cNvCxnSpPr>
            <a:cxnSpLocks/>
          </p:cNvCxnSpPr>
          <p:nvPr/>
        </p:nvCxnSpPr>
        <p:spPr>
          <a:xfrm>
            <a:off x="7397207" y="3573115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FC8E91-A76D-4A8B-8EF3-3072AABC2F5B}"/>
              </a:ext>
            </a:extLst>
          </p:cNvPr>
          <p:cNvCxnSpPr>
            <a:cxnSpLocks/>
          </p:cNvCxnSpPr>
          <p:nvPr/>
        </p:nvCxnSpPr>
        <p:spPr>
          <a:xfrm>
            <a:off x="9857508" y="3572892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978B5E-16BF-717F-B5FA-070FD27182E2}"/>
              </a:ext>
            </a:extLst>
          </p:cNvPr>
          <p:cNvCxnSpPr>
            <a:cxnSpLocks/>
          </p:cNvCxnSpPr>
          <p:nvPr/>
        </p:nvCxnSpPr>
        <p:spPr>
          <a:xfrm>
            <a:off x="7399611" y="3567314"/>
            <a:ext cx="0" cy="30591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A97B3B-CFDE-81E5-94BA-87FF6D1AAE53}"/>
              </a:ext>
            </a:extLst>
          </p:cNvPr>
          <p:cNvCxnSpPr>
            <a:cxnSpLocks/>
          </p:cNvCxnSpPr>
          <p:nvPr/>
        </p:nvCxnSpPr>
        <p:spPr>
          <a:xfrm>
            <a:off x="10487891" y="3567314"/>
            <a:ext cx="0" cy="311787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8A3CF62-804C-1A97-1899-303A575880E3}"/>
              </a:ext>
            </a:extLst>
          </p:cNvPr>
          <p:cNvSpPr/>
          <p:nvPr/>
        </p:nvSpPr>
        <p:spPr>
          <a:xfrm>
            <a:off x="9886280" y="3885313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4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9DB39C-853B-35CF-93C0-A2C714CD1622}"/>
              </a:ext>
            </a:extLst>
          </p:cNvPr>
          <p:cNvCxnSpPr>
            <a:cxnSpLocks/>
          </p:cNvCxnSpPr>
          <p:nvPr/>
        </p:nvCxnSpPr>
        <p:spPr>
          <a:xfrm>
            <a:off x="10486740" y="4223052"/>
            <a:ext cx="0" cy="18141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72315BD-D732-FDE9-4201-180764D9198B}"/>
              </a:ext>
            </a:extLst>
          </p:cNvPr>
          <p:cNvSpPr/>
          <p:nvPr/>
        </p:nvSpPr>
        <p:spPr>
          <a:xfrm>
            <a:off x="6808033" y="3883620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3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AA406D4-6F17-B598-95EE-527F7E83B463}"/>
              </a:ext>
            </a:extLst>
          </p:cNvPr>
          <p:cNvCxnSpPr>
            <a:cxnSpLocks/>
          </p:cNvCxnSpPr>
          <p:nvPr/>
        </p:nvCxnSpPr>
        <p:spPr>
          <a:xfrm>
            <a:off x="7408493" y="4221359"/>
            <a:ext cx="0" cy="18141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7762053-4B85-AD30-682B-58FECC9E5669}"/>
              </a:ext>
            </a:extLst>
          </p:cNvPr>
          <p:cNvCxnSpPr>
            <a:cxnSpLocks/>
          </p:cNvCxnSpPr>
          <p:nvPr/>
        </p:nvCxnSpPr>
        <p:spPr>
          <a:xfrm>
            <a:off x="7397207" y="4402772"/>
            <a:ext cx="1543603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A2974DD-007D-755E-E02C-2D33FB6FB9E1}"/>
              </a:ext>
            </a:extLst>
          </p:cNvPr>
          <p:cNvCxnSpPr>
            <a:cxnSpLocks/>
          </p:cNvCxnSpPr>
          <p:nvPr/>
        </p:nvCxnSpPr>
        <p:spPr>
          <a:xfrm>
            <a:off x="8912617" y="4399694"/>
            <a:ext cx="1566184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60C6155-4F49-130C-4341-49F4B7D7953E}"/>
              </a:ext>
            </a:extLst>
          </p:cNvPr>
          <p:cNvCxnSpPr>
            <a:cxnSpLocks/>
          </p:cNvCxnSpPr>
          <p:nvPr/>
        </p:nvCxnSpPr>
        <p:spPr>
          <a:xfrm>
            <a:off x="8940810" y="4399694"/>
            <a:ext cx="0" cy="469018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17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6" grpId="0"/>
      <p:bldP spid="17" grpId="0" animBg="1"/>
      <p:bldP spid="18" grpId="0"/>
      <p:bldP spid="19" grpId="0"/>
      <p:bldP spid="25" grpId="0" animBg="1"/>
      <p:bldP spid="26" grpId="0"/>
      <p:bldP spid="27" grpId="0" animBg="1"/>
      <p:bldP spid="10" grpId="0" animBg="1"/>
      <p:bldP spid="11" grpId="0"/>
      <p:bldP spid="12" grpId="0"/>
      <p:bldP spid="38" grpId="0" animBg="1"/>
      <p:bldP spid="4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149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If - else if - else Statements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Piece of cake by now…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37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1759495" y="2136595"/>
            <a:ext cx="2316943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condition1 )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2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condition2 )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statements3;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3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statements4;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4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EEA1CE-9314-A55C-1661-4ECE171D1EC3}"/>
              </a:ext>
            </a:extLst>
          </p:cNvPr>
          <p:cNvSpPr txBox="1"/>
          <p:nvPr/>
        </p:nvSpPr>
        <p:spPr>
          <a:xfrm>
            <a:off x="4937527" y="2136595"/>
            <a:ext cx="2316943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{} can be omitted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condition1 )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2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condition2 )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statements3;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3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statements4;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4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  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40D5340-FB5D-B4F7-FBCE-89D7E6C83A36}"/>
              </a:ext>
            </a:extLst>
          </p:cNvPr>
          <p:cNvSpPr/>
          <p:nvPr/>
        </p:nvSpPr>
        <p:spPr>
          <a:xfrm>
            <a:off x="4258491" y="3596640"/>
            <a:ext cx="566058" cy="566057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9302CD-D868-A776-686C-C92D32C0C870}"/>
              </a:ext>
            </a:extLst>
          </p:cNvPr>
          <p:cNvSpPr txBox="1"/>
          <p:nvPr/>
        </p:nvSpPr>
        <p:spPr>
          <a:xfrm>
            <a:off x="8115562" y="2143338"/>
            <a:ext cx="2316943" cy="32316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else-if merged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condition1 )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2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condition2 )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statements3;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3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statements4;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4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   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487E452-F7F6-89C1-342A-4EADC115A64C}"/>
              </a:ext>
            </a:extLst>
          </p:cNvPr>
          <p:cNvSpPr/>
          <p:nvPr/>
        </p:nvSpPr>
        <p:spPr>
          <a:xfrm>
            <a:off x="7436526" y="3603383"/>
            <a:ext cx="566058" cy="566057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0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 animBg="1"/>
      <p:bldP spid="23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149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If - else if - else Statements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200" dirty="0"/>
              <a:t>Another Example for Multiple-Selection</a:t>
            </a: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38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1405634" y="1942533"/>
            <a:ext cx="2995976" cy="398570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80 )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(“Great!”);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70 )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(“Good”);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50 )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	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	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(“OK”);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	}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else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	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(“Fail”);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	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nDone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.”);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40D5340-FB5D-B4F7-FBCE-89D7E6C83A36}"/>
              </a:ext>
            </a:extLst>
          </p:cNvPr>
          <p:cNvSpPr/>
          <p:nvPr/>
        </p:nvSpPr>
        <p:spPr>
          <a:xfrm>
            <a:off x="4493619" y="3596640"/>
            <a:ext cx="566058" cy="566057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487E452-F7F6-89C1-342A-4EADC115A64C}"/>
              </a:ext>
            </a:extLst>
          </p:cNvPr>
          <p:cNvSpPr/>
          <p:nvPr/>
        </p:nvSpPr>
        <p:spPr>
          <a:xfrm>
            <a:off x="8011290" y="3577256"/>
            <a:ext cx="566058" cy="566057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8168E-D70A-31E3-C6D6-3E32BEBD462C}"/>
              </a:ext>
            </a:extLst>
          </p:cNvPr>
          <p:cNvSpPr txBox="1"/>
          <p:nvPr/>
        </p:nvSpPr>
        <p:spPr>
          <a:xfrm>
            <a:off x="5128341" y="2733175"/>
            <a:ext cx="2752919" cy="229293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{} can be omitted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80 )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(“Great!”);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70 )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(“Good”);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	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50 )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	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(“OK”);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else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(“Fail”);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nDone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.”);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6E48B-B266-0F7F-1975-E3AC63343158}"/>
              </a:ext>
            </a:extLst>
          </p:cNvPr>
          <p:cNvSpPr txBox="1"/>
          <p:nvPr/>
        </p:nvSpPr>
        <p:spPr>
          <a:xfrm>
            <a:off x="8673133" y="2833290"/>
            <a:ext cx="2139673" cy="212365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else and if merged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80 )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(“Great!”);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70 )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(“Good”);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score &gt; 50 )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(“OK”);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(“Fail”);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nDone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.”);</a:t>
            </a:r>
          </a:p>
        </p:txBody>
      </p:sp>
    </p:spTree>
    <p:extLst>
      <p:ext uri="{BB962C8B-B14F-4D97-AF65-F5344CB8AC3E}">
        <p14:creationId xmlns:p14="http://schemas.microsoft.com/office/powerpoint/2010/main" val="155616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30" grpId="0" animBg="1"/>
      <p:bldP spid="8" grpId="0" animBg="1"/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125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Switch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 more versatile if-else replacement with </a:t>
            </a:r>
            <a:r>
              <a:rPr lang="en-CA" sz="2200" b="1" i="1" u="sng" dirty="0"/>
              <a:t>Integer-based</a:t>
            </a:r>
            <a:r>
              <a:rPr lang="en-CA" sz="2200" dirty="0"/>
              <a:t> logical expressions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integer expression is evaluated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control goes down the list of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cases</a:t>
            </a:r>
            <a:r>
              <a:rPr lang="en-CA" dirty="0"/>
              <a:t>, attempting</a:t>
            </a:r>
            <a:br>
              <a:rPr lang="en-CA" dirty="0"/>
            </a:br>
            <a:r>
              <a:rPr lang="en-CA" dirty="0"/>
              <a:t>to match the evaluated value against the constants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When a match is found, the execution starts from</a:t>
            </a:r>
            <a:br>
              <a:rPr lang="en-CA" dirty="0"/>
            </a:br>
            <a:r>
              <a:rPr lang="en-CA" dirty="0"/>
              <a:t>the matched statement list onward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r>
              <a:rPr lang="en-CA" dirty="0"/>
              <a:t> causes control to exit the switch statement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[Question] </a:t>
            </a:r>
            <a:r>
              <a:rPr lang="en-CA" dirty="0"/>
              <a:t>what if we don’t put down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r>
              <a:rPr lang="en-CA" dirty="0"/>
              <a:t>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If no cases were matched, the execution starts from</a:t>
            </a:r>
            <a:br>
              <a:rPr lang="en-CA" dirty="0"/>
            </a:br>
            <a:r>
              <a:rPr lang="en-CA" dirty="0"/>
              <a:t>the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CA" dirty="0"/>
              <a:t> list of statements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If no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CA" dirty="0"/>
              <a:t> is supplied, the control will exit the</a:t>
            </a:r>
            <a:br>
              <a:rPr lang="en-CA" dirty="0"/>
            </a:br>
            <a:r>
              <a:rPr lang="en-CA" dirty="0"/>
              <a:t>switch without doing anything.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625D9-8DCC-1AC2-BF52-34135D002443}"/>
              </a:ext>
            </a:extLst>
          </p:cNvPr>
          <p:cNvSpPr txBox="1"/>
          <p:nvPr/>
        </p:nvSpPr>
        <p:spPr>
          <a:xfrm>
            <a:off x="7192975" y="2237437"/>
            <a:ext cx="3805951" cy="310854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integer_expr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constant1: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statement_list1;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constant2: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statement_list2;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constant3: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statement_list3;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default: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statement_list_default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53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 tmFilter="0, 0; .2, .5; .8, .5; 1, 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250" autoRev="1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125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Switch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switch statement vs. if-else statement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40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625D9-8DCC-1AC2-BF52-34135D002443}"/>
              </a:ext>
            </a:extLst>
          </p:cNvPr>
          <p:cNvSpPr txBox="1"/>
          <p:nvPr/>
        </p:nvSpPr>
        <p:spPr>
          <a:xfrm>
            <a:off x="1297272" y="2075934"/>
            <a:ext cx="3196352" cy="375487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‘A’: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 “A”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(“85-100\n”);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‘B’: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(“70-84\n”);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‘C’: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‘D’: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 &lt; 60\n”);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default: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DF1A3-38B5-7F0D-092D-38A9E232B1C0}"/>
              </a:ext>
            </a:extLst>
          </p:cNvPr>
          <p:cNvSpPr txBox="1"/>
          <p:nvPr/>
        </p:nvSpPr>
        <p:spPr>
          <a:xfrm>
            <a:off x="5592280" y="2070519"/>
            <a:ext cx="3196352" cy="224676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‘A’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(“85-100\n”);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‘B’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(“70-84\n”);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‘C’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‘D’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 &lt; 60\n”);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</p:txBody>
      </p:sp>
      <p:sp>
        <p:nvSpPr>
          <p:cNvPr id="8" name="Equals 7">
            <a:extLst>
              <a:ext uri="{FF2B5EF4-FFF2-40B4-BE49-F238E27FC236}">
                <a16:creationId xmlns:a16="http://schemas.microsoft.com/office/drawing/2014/main" id="{26869448-9CA8-31BE-39BC-2EBC9293635B}"/>
              </a:ext>
            </a:extLst>
          </p:cNvPr>
          <p:cNvSpPr/>
          <p:nvPr/>
        </p:nvSpPr>
        <p:spPr>
          <a:xfrm>
            <a:off x="4725089" y="2996211"/>
            <a:ext cx="635726" cy="50121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5535DF4-65F0-16D7-986D-EF334CCEA952}"/>
              </a:ext>
            </a:extLst>
          </p:cNvPr>
          <p:cNvSpPr/>
          <p:nvPr/>
        </p:nvSpPr>
        <p:spPr>
          <a:xfrm>
            <a:off x="6373245" y="4942084"/>
            <a:ext cx="3632903" cy="866728"/>
          </a:xfrm>
          <a:prstGeom prst="wedgeRectCallout">
            <a:avLst>
              <a:gd name="adj1" fmla="val -65970"/>
              <a:gd name="adj2" fmla="val -4904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output when 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</a:t>
            </a:r>
            <a:r>
              <a:rPr lang="en-US" sz="1600" dirty="0">
                <a:solidFill>
                  <a:schemeClr val="tx1"/>
                </a:solidFill>
              </a:rPr>
              <a:t> is 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‘B’</a:t>
            </a:r>
            <a:r>
              <a:rPr lang="en-US" sz="16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Answer: 70-84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E4C9EC2-37ED-C346-6B36-D52844838449}"/>
              </a:ext>
            </a:extLst>
          </p:cNvPr>
          <p:cNvSpPr/>
          <p:nvPr/>
        </p:nvSpPr>
        <p:spPr>
          <a:xfrm>
            <a:off x="9240914" y="1217384"/>
            <a:ext cx="1842685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L3Ex7-switch1.c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61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8" grpId="0" animBg="1"/>
      <p:bldP spid="9" grpId="0" animBg="1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125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Switch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switch statement vs. if-else statement – </a:t>
            </a:r>
            <a:r>
              <a:rPr lang="en-CA" sz="2200" b="1" dirty="0">
                <a:solidFill>
                  <a:srgbClr val="FF0000"/>
                </a:solidFill>
              </a:rPr>
              <a:t>WITHOUT BREAK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41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625D9-8DCC-1AC2-BF52-34135D002443}"/>
              </a:ext>
            </a:extLst>
          </p:cNvPr>
          <p:cNvSpPr txBox="1"/>
          <p:nvPr/>
        </p:nvSpPr>
        <p:spPr>
          <a:xfrm>
            <a:off x="1296272" y="2399142"/>
            <a:ext cx="3196352" cy="289310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‘A’: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 “A”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(“85-100\n”);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‘B’: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(“70-84\n”);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‘C’: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‘D’: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 &lt; 60\n”);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default: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DF1A3-38B5-7F0D-092D-38A9E232B1C0}"/>
              </a:ext>
            </a:extLst>
          </p:cNvPr>
          <p:cNvSpPr txBox="1"/>
          <p:nvPr/>
        </p:nvSpPr>
        <p:spPr>
          <a:xfrm>
            <a:off x="5557444" y="2000849"/>
            <a:ext cx="2365727" cy="397031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‘A’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(“85-100\n”);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(“70-84\n”);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 &lt; 60\n”);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‘B’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(“70-84\n”);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 &lt; 60\n”);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‘C’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 &lt; 60\n”);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Equals 7">
            <a:extLst>
              <a:ext uri="{FF2B5EF4-FFF2-40B4-BE49-F238E27FC236}">
                <a16:creationId xmlns:a16="http://schemas.microsoft.com/office/drawing/2014/main" id="{26869448-9CA8-31BE-39BC-2EBC9293635B}"/>
              </a:ext>
            </a:extLst>
          </p:cNvPr>
          <p:cNvSpPr/>
          <p:nvPr/>
        </p:nvSpPr>
        <p:spPr>
          <a:xfrm>
            <a:off x="4725089" y="2996211"/>
            <a:ext cx="635726" cy="50121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134227-7681-0DEA-6655-866DCD9C5BFC}"/>
              </a:ext>
            </a:extLst>
          </p:cNvPr>
          <p:cNvSpPr txBox="1"/>
          <p:nvPr/>
        </p:nvSpPr>
        <p:spPr>
          <a:xfrm>
            <a:off x="8078332" y="2000848"/>
            <a:ext cx="2365727" cy="138499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‘D’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 &lt; 60\n”);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(“60-69\n”);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743EB7D7-2F9A-BD4E-C2A7-A350680BB8A4}"/>
              </a:ext>
            </a:extLst>
          </p:cNvPr>
          <p:cNvSpPr/>
          <p:nvPr/>
        </p:nvSpPr>
        <p:spPr>
          <a:xfrm>
            <a:off x="8612005" y="3766124"/>
            <a:ext cx="2600492" cy="2150226"/>
          </a:xfrm>
          <a:prstGeom prst="wedgeRectCallout">
            <a:avLst>
              <a:gd name="adj1" fmla="val -66728"/>
              <a:gd name="adj2" fmla="val -4108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output when 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</a:t>
            </a:r>
            <a:r>
              <a:rPr lang="en-US" sz="1600" dirty="0">
                <a:solidFill>
                  <a:schemeClr val="tx1"/>
                </a:solidFill>
              </a:rPr>
              <a:t> is 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‘B’</a:t>
            </a:r>
            <a:r>
              <a:rPr lang="en-US" sz="16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70-84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60-69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 &lt; 60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60-69</a:t>
            </a:r>
          </a:p>
        </p:txBody>
      </p:sp>
    </p:spTree>
    <p:extLst>
      <p:ext uri="{BB962C8B-B14F-4D97-AF65-F5344CB8AC3E}">
        <p14:creationId xmlns:p14="http://schemas.microsoft.com/office/powerpoint/2010/main" val="198735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autoRev="1" fill="remov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remov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fill="remove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50" autoRev="1" fill="remove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250" autoRev="1" fill="remove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autoRev="1" fill="remove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50" autoRev="1" fill="remov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" dur="250" autoRev="1" fill="remov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250" autoRev="1" fill="remov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mph" presetSubtype="0" fill="remove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50" autoRev="1" fill="remov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" dur="250" autoRev="1" fill="remov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32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32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20000">
                                      <p:cBhvr>
                                        <p:cTn id="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" presetID="32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20000">
                                      <p:cBhvr>
                                        <p:cTn id="8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 tmFilter="0, 0; .2, .5; .8, .5; 1, 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4" dur="250" autoRev="1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 tmFilter="0, 0; .2, .5; .8, .5; 1, 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7" dur="250" autoRev="1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125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Switch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What’s so good about break;?  Why versatile?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Multiple cases can share the same entrance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can exploit the fall-through behaviour without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42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625D9-8DCC-1AC2-BF52-34135D002443}"/>
              </a:ext>
            </a:extLst>
          </p:cNvPr>
          <p:cNvSpPr txBox="1"/>
          <p:nvPr/>
        </p:nvSpPr>
        <p:spPr>
          <a:xfrm>
            <a:off x="1722329" y="2676098"/>
            <a:ext cx="4440727" cy="310854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input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‘A’: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(“Great Job!\n”);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‘B’: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(“You did well.\n”);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default: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‘C’: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(“You can do better!\n”);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‘D’: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(“Invest more time!\n”);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//Optional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CCC12-60E1-3FE3-0942-8B23BBA9B047}"/>
              </a:ext>
            </a:extLst>
          </p:cNvPr>
          <p:cNvSpPr txBox="1"/>
          <p:nvPr/>
        </p:nvSpPr>
        <p:spPr>
          <a:xfrm>
            <a:off x="7747328" y="1491590"/>
            <a:ext cx="3454072" cy="433965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‘A’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(“Great Job!\n”);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(“You did well.\n”);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‘B’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(“You did well.\n”);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‘C’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(“You can do better!\n”);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(“Invest more time!\n”);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grade == ‘D’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(“Invest more time!\n”);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(“You can do better!\n”);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(“Invest more time!\n”);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Equals 11">
            <a:extLst>
              <a:ext uri="{FF2B5EF4-FFF2-40B4-BE49-F238E27FC236}">
                <a16:creationId xmlns:a16="http://schemas.microsoft.com/office/drawing/2014/main" id="{22B597BD-3CA7-CD72-079A-8F3B262E9CF0}"/>
              </a:ext>
            </a:extLst>
          </p:cNvPr>
          <p:cNvSpPr/>
          <p:nvPr/>
        </p:nvSpPr>
        <p:spPr>
          <a:xfrm>
            <a:off x="6574536" y="3661415"/>
            <a:ext cx="758952" cy="480817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8D97293E-629D-4B94-A35B-82D25DDAD869}"/>
              </a:ext>
            </a:extLst>
          </p:cNvPr>
          <p:cNvSpPr/>
          <p:nvPr/>
        </p:nvSpPr>
        <p:spPr>
          <a:xfrm>
            <a:off x="4258323" y="2746545"/>
            <a:ext cx="1842685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L3Ex8-switch2.c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51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250" autoRev="1" fill="remov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" dur="250" autoRev="1" fill="remov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50" autoRev="1" fill="remov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250" autoRev="1" fill="remov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" dur="250" autoRev="1" fill="remov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autoRev="1" fill="remov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remove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remove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remove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remove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50" autoRev="1" fill="remov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0" dur="250" autoRev="1" fill="remov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250" autoRev="1" fill="remov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50" autoRev="1" fill="remov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5" dur="250" autoRev="1" fill="remov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250" autoRev="1" fill="remov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50" autoRev="1" fill="remov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8501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Tips for Switch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No two cases shall share the same constant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type of the expression MUST BE integer / char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[Question]</a:t>
            </a:r>
            <a:r>
              <a:rPr lang="en-CA" dirty="0"/>
              <a:t> Otherwise?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CA" dirty="0"/>
              <a:t> is optional, but as a good practice you should</a:t>
            </a:r>
            <a:br>
              <a:rPr lang="en-CA" dirty="0"/>
            </a:br>
            <a:r>
              <a:rPr lang="en-CA" dirty="0"/>
              <a:t>include it for code expandability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Case labels should be distinct (i.e. unique integer constants)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Multiple cases can share the same entrance for more</a:t>
            </a:r>
            <a:br>
              <a:rPr lang="en-CA" dirty="0"/>
            </a:br>
            <a:r>
              <a:rPr lang="en-CA" dirty="0"/>
              <a:t>versatile functional design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43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625D9-8DCC-1AC2-BF52-34135D002443}"/>
              </a:ext>
            </a:extLst>
          </p:cNvPr>
          <p:cNvSpPr txBox="1"/>
          <p:nvPr/>
        </p:nvSpPr>
        <p:spPr>
          <a:xfrm>
            <a:off x="7201713" y="1891267"/>
            <a:ext cx="3952250" cy="203132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input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‘A’: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(“Great Job!\n”);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65: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(“You did well.\n”);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F4F6704E-5A79-C3AF-B5F2-C0A556074EA1}"/>
              </a:ext>
            </a:extLst>
          </p:cNvPr>
          <p:cNvSpPr/>
          <p:nvPr/>
        </p:nvSpPr>
        <p:spPr>
          <a:xfrm>
            <a:off x="7417652" y="4364267"/>
            <a:ext cx="3646524" cy="1152442"/>
          </a:xfrm>
          <a:prstGeom prst="wedgeRectCallout">
            <a:avLst>
              <a:gd name="adj1" fmla="val -35431"/>
              <a:gd name="adj2" fmla="val -84989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 err="1">
                <a:solidFill>
                  <a:srgbClr val="FF0000"/>
                </a:solidFill>
              </a:rPr>
              <a:t>Syntatic</a:t>
            </a:r>
            <a:r>
              <a:rPr lang="en-US" sz="2000" b="1" u="sng" dirty="0">
                <a:solidFill>
                  <a:srgbClr val="FF0000"/>
                </a:solidFill>
              </a:rPr>
              <a:t> (Compilation) Error</a:t>
            </a:r>
            <a:br>
              <a:rPr lang="en-US" b="1" u="sng" dirty="0">
                <a:solidFill>
                  <a:srgbClr val="FF0000"/>
                </a:solidFill>
              </a:rPr>
            </a:br>
            <a:endParaRPr lang="en-US" sz="1050" b="1" u="sng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‘A’ and 65 have the same integer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Compiler hates it</a:t>
            </a:r>
          </a:p>
        </p:txBody>
      </p:sp>
    </p:spTree>
    <p:extLst>
      <p:ext uri="{BB962C8B-B14F-4D97-AF65-F5344CB8AC3E}">
        <p14:creationId xmlns:p14="http://schemas.microsoft.com/office/powerpoint/2010/main" val="94243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200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– Ternary Statement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Conditional Operator (</a:t>
            </a:r>
            <a:r>
              <a:rPr lang="en-CA" sz="2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?:</a:t>
            </a:r>
            <a:r>
              <a:rPr lang="en-CA" sz="22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be seen as a short form of single-line if-else statement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evaluated </a:t>
            </a:r>
            <a:r>
              <a:rPr lang="en-CA" b="1" dirty="0"/>
              <a:t>cond1</a:t>
            </a:r>
            <a:r>
              <a:rPr lang="en-CA" dirty="0"/>
              <a:t> is true, evaluate </a:t>
            </a:r>
            <a:r>
              <a:rPr lang="en-CA" b="1" dirty="0"/>
              <a:t>expr1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Otherwise, evaluate </a:t>
            </a:r>
            <a:r>
              <a:rPr lang="en-CA" b="1" dirty="0"/>
              <a:t>expr2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Precedence level immediately higher than assignment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A072C-9CA7-DFE2-1685-C908A60E28FF}"/>
              </a:ext>
            </a:extLst>
          </p:cNvPr>
          <p:cNvSpPr txBox="1"/>
          <p:nvPr/>
        </p:nvSpPr>
        <p:spPr>
          <a:xfrm>
            <a:off x="2533837" y="2433487"/>
            <a:ext cx="3159907" cy="369332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cond1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expr1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expr2;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A311A1-DB67-DD57-EF49-0F4C3B1F3130}"/>
              </a:ext>
            </a:extLst>
          </p:cNvPr>
          <p:cNvSpPr txBox="1"/>
          <p:nvPr/>
        </p:nvSpPr>
        <p:spPr>
          <a:xfrm>
            <a:off x="1562383" y="4170446"/>
            <a:ext cx="2326086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Standard if-else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(grade &gt; 60)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(“Pass”);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(“Fail”);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74405AE-524B-F66D-826B-9C6CD8FB5E07}"/>
              </a:ext>
            </a:extLst>
          </p:cNvPr>
          <p:cNvSpPr/>
          <p:nvPr/>
        </p:nvSpPr>
        <p:spPr>
          <a:xfrm>
            <a:off x="4052137" y="4896274"/>
            <a:ext cx="566058" cy="566057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C91FF-C7ED-C626-C892-C6DCEFBA0B13}"/>
              </a:ext>
            </a:extLst>
          </p:cNvPr>
          <p:cNvSpPr txBox="1"/>
          <p:nvPr/>
        </p:nvSpPr>
        <p:spPr>
          <a:xfrm>
            <a:off x="4779050" y="4809970"/>
            <a:ext cx="4879114" cy="73866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Ternary Form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grade &gt; 60?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(“Pass”) 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(“Fail”);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8E976F-34B5-3A2F-D045-DF68913324C6}"/>
              </a:ext>
            </a:extLst>
          </p:cNvPr>
          <p:cNvSpPr txBox="1"/>
          <p:nvPr/>
        </p:nvSpPr>
        <p:spPr>
          <a:xfrm>
            <a:off x="8295441" y="1354729"/>
            <a:ext cx="2326086" cy="138499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Standard if-else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 &gt; y)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min = y;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min = x;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D2AD2EB-767F-F5C5-8796-DFFA85B78FC1}"/>
              </a:ext>
            </a:extLst>
          </p:cNvPr>
          <p:cNvSpPr/>
          <p:nvPr/>
        </p:nvSpPr>
        <p:spPr>
          <a:xfrm rot="5400000">
            <a:off x="9175454" y="2918992"/>
            <a:ext cx="566058" cy="566057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88AC6D-6B73-5FD7-FE88-8EB146283290}"/>
              </a:ext>
            </a:extLst>
          </p:cNvPr>
          <p:cNvSpPr txBox="1"/>
          <p:nvPr/>
        </p:nvSpPr>
        <p:spPr>
          <a:xfrm>
            <a:off x="8331743" y="3636921"/>
            <a:ext cx="2253480" cy="7386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Ternary Form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min = x &gt; y? y : x;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0E42EF6-BBB5-A592-3C1B-71A6CC5C428B}"/>
              </a:ext>
            </a:extLst>
          </p:cNvPr>
          <p:cNvSpPr/>
          <p:nvPr/>
        </p:nvSpPr>
        <p:spPr>
          <a:xfrm>
            <a:off x="4772401" y="4202218"/>
            <a:ext cx="1842685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L3Ex9-ternary1.c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67B47CCF-F08E-B9AF-491C-282F8B7E74A0}"/>
              </a:ext>
            </a:extLst>
          </p:cNvPr>
          <p:cNvSpPr/>
          <p:nvPr/>
        </p:nvSpPr>
        <p:spPr>
          <a:xfrm>
            <a:off x="9175454" y="799084"/>
            <a:ext cx="2026954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L3Ex10-ternary2.c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48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6" grpId="0" animBg="1"/>
      <p:bldP spid="17" grpId="0" animBg="1"/>
      <p:bldP spid="18" grpId="0" animBg="1"/>
      <p:bldP spid="5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Control Structure - Repetition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0B5D74-0C76-5657-CD98-97902F3189CD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3-2] C Control Structures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9826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9383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Structure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 group of instructions that are repeatedly executed while a </a:t>
            </a:r>
            <a:r>
              <a:rPr lang="en-CA" sz="2200" b="1" i="1" dirty="0"/>
              <a:t>condition</a:t>
            </a:r>
            <a:r>
              <a:rPr lang="en-CA" sz="2200" dirty="0"/>
              <a:t> remains </a:t>
            </a:r>
            <a:r>
              <a:rPr lang="en-CA" sz="2200" b="1" dirty="0"/>
              <a:t>TRUE</a:t>
            </a:r>
            <a:r>
              <a:rPr lang="en-CA" sz="22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While Loop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Condition-controlled repetition structure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For Loop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Counter-controlled repetition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Do-While Loop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Guaranteed Execution</a:t>
            </a:r>
            <a:r>
              <a:rPr lang="en-CA" dirty="0"/>
              <a:t> condition-controlled repetition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176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4525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while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Repeat a set of statements WHILE the given condition remains true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47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2590270" y="2633001"/>
            <a:ext cx="2326086" cy="116955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condition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Action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8A1B9E-D91E-FFE8-BB31-F394B96F8999}"/>
              </a:ext>
            </a:extLst>
          </p:cNvPr>
          <p:cNvSpPr/>
          <p:nvPr/>
        </p:nvSpPr>
        <p:spPr>
          <a:xfrm>
            <a:off x="9348342" y="2408652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69807B-5D72-14EF-0A64-C0872CBD3C71}"/>
              </a:ext>
            </a:extLst>
          </p:cNvPr>
          <p:cNvCxnSpPr>
            <a:cxnSpLocks/>
            <a:stCxn id="8" idx="4"/>
            <a:endCxn id="17" idx="0"/>
          </p:cNvCxnSpPr>
          <p:nvPr/>
        </p:nvCxnSpPr>
        <p:spPr>
          <a:xfrm>
            <a:off x="9451917" y="2615802"/>
            <a:ext cx="0" cy="109384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C1652B-CDDE-374E-B9F8-C842A4ADA24B}"/>
              </a:ext>
            </a:extLst>
          </p:cNvPr>
          <p:cNvSpPr txBox="1"/>
          <p:nvPr/>
        </p:nvSpPr>
        <p:spPr>
          <a:xfrm>
            <a:off x="9555492" y="2342525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1628774D-FAF0-1EE1-CE31-F8A566953AAB}"/>
              </a:ext>
            </a:extLst>
          </p:cNvPr>
          <p:cNvSpPr/>
          <p:nvPr/>
        </p:nvSpPr>
        <p:spPr>
          <a:xfrm>
            <a:off x="8540110" y="3709646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217B4-DF46-8CB7-4B99-5A551CA0B2B8}"/>
              </a:ext>
            </a:extLst>
          </p:cNvPr>
          <p:cNvSpPr txBox="1"/>
          <p:nvPr/>
        </p:nvSpPr>
        <p:spPr>
          <a:xfrm>
            <a:off x="9469770" y="4523445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0B538C-8CBB-7F28-E1B4-250FF94BD8EF}"/>
              </a:ext>
            </a:extLst>
          </p:cNvPr>
          <p:cNvSpPr txBox="1"/>
          <p:nvPr/>
        </p:nvSpPr>
        <p:spPr>
          <a:xfrm>
            <a:off x="8177307" y="3826464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D51E20-9D8F-9BAC-D4CB-3C21F7AFF948}"/>
              </a:ext>
            </a:extLst>
          </p:cNvPr>
          <p:cNvCxnSpPr>
            <a:cxnSpLocks/>
          </p:cNvCxnSpPr>
          <p:nvPr/>
        </p:nvCxnSpPr>
        <p:spPr>
          <a:xfrm>
            <a:off x="7912132" y="4165018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D19084-B789-F4FB-C55D-04D821137ACD}"/>
              </a:ext>
            </a:extLst>
          </p:cNvPr>
          <p:cNvCxnSpPr>
            <a:cxnSpLocks/>
          </p:cNvCxnSpPr>
          <p:nvPr/>
        </p:nvCxnSpPr>
        <p:spPr>
          <a:xfrm flipV="1">
            <a:off x="7914536" y="3709646"/>
            <a:ext cx="0" cy="449571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8C52B3-23D2-85AB-084F-F621C4ADAC31}"/>
              </a:ext>
            </a:extLst>
          </p:cNvPr>
          <p:cNvSpPr/>
          <p:nvPr/>
        </p:nvSpPr>
        <p:spPr>
          <a:xfrm>
            <a:off x="7312926" y="3372617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B53C74-00F8-9AE7-10E4-3C9C6378ECCA}"/>
              </a:ext>
            </a:extLst>
          </p:cNvPr>
          <p:cNvCxnSpPr>
            <a:cxnSpLocks/>
          </p:cNvCxnSpPr>
          <p:nvPr/>
        </p:nvCxnSpPr>
        <p:spPr>
          <a:xfrm>
            <a:off x="9458995" y="4602527"/>
            <a:ext cx="0" cy="53776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400AB11-52D3-9127-E176-A99B1502B449}"/>
              </a:ext>
            </a:extLst>
          </p:cNvPr>
          <p:cNvSpPr txBox="1"/>
          <p:nvPr/>
        </p:nvSpPr>
        <p:spPr>
          <a:xfrm>
            <a:off x="8812797" y="5080565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88CA67-E1DD-01E3-AD88-23B0CC03C5E4}"/>
              </a:ext>
            </a:extLst>
          </p:cNvPr>
          <p:cNvSpPr/>
          <p:nvPr/>
        </p:nvSpPr>
        <p:spPr>
          <a:xfrm>
            <a:off x="9354701" y="5144801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EE5A77-E73F-4410-695E-D798DFAAF780}"/>
              </a:ext>
            </a:extLst>
          </p:cNvPr>
          <p:cNvCxnSpPr>
            <a:cxnSpLocks/>
          </p:cNvCxnSpPr>
          <p:nvPr/>
        </p:nvCxnSpPr>
        <p:spPr>
          <a:xfrm>
            <a:off x="7920058" y="3191204"/>
            <a:ext cx="0" cy="18141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7748A90B-BE3F-DD1B-1CDC-644893D12F79}"/>
              </a:ext>
            </a:extLst>
          </p:cNvPr>
          <p:cNvSpPr/>
          <p:nvPr/>
        </p:nvSpPr>
        <p:spPr>
          <a:xfrm>
            <a:off x="1520896" y="4141240"/>
            <a:ext cx="2626661" cy="896973"/>
          </a:xfrm>
          <a:prstGeom prst="wedgeRectCallout">
            <a:avLst>
              <a:gd name="adj1" fmla="val 42557"/>
              <a:gd name="adj2" fmla="val -11071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If Action consists of only one statement, parentheses can be omitted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67A93FFE-A465-BF4B-804E-A1C5680CFDA9}"/>
              </a:ext>
            </a:extLst>
          </p:cNvPr>
          <p:cNvSpPr/>
          <p:nvPr/>
        </p:nvSpPr>
        <p:spPr>
          <a:xfrm>
            <a:off x="4427571" y="4532015"/>
            <a:ext cx="2626661" cy="896973"/>
          </a:xfrm>
          <a:prstGeom prst="wedgeRectCallout">
            <a:avLst>
              <a:gd name="adj1" fmla="val -57900"/>
              <a:gd name="adj2" fmla="val -34016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[Question] Why some communities consider this a </a:t>
            </a:r>
            <a:r>
              <a:rPr lang="en-CA" sz="1600" b="1" dirty="0">
                <a:solidFill>
                  <a:srgbClr val="FF0000"/>
                </a:solidFill>
              </a:rPr>
              <a:t>BAD Practice</a:t>
            </a:r>
            <a:r>
              <a:rPr lang="en-CA" sz="1600" dirty="0">
                <a:solidFill>
                  <a:schemeClr val="tx1"/>
                </a:solidFill>
              </a:rPr>
              <a:t>?</a:t>
            </a:r>
            <a:endParaRPr lang="en-US" sz="1600" b="1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194FB1-E42E-CEE8-B294-33EF2B6BC5DE}"/>
              </a:ext>
            </a:extLst>
          </p:cNvPr>
          <p:cNvCxnSpPr>
            <a:cxnSpLocks/>
          </p:cNvCxnSpPr>
          <p:nvPr/>
        </p:nvCxnSpPr>
        <p:spPr>
          <a:xfrm>
            <a:off x="7914981" y="3191204"/>
            <a:ext cx="1536936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52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6" grpId="0"/>
      <p:bldP spid="17" grpId="0" animBg="1"/>
      <p:bldP spid="18" grpId="0"/>
      <p:bldP spid="19" grpId="0"/>
      <p:bldP spid="23" grpId="0" animBg="1"/>
      <p:bldP spid="26" grpId="0"/>
      <p:bldP spid="27" grpId="0" animBg="1"/>
      <p:bldP spid="10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4525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while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Repeat a set of statements WHILE the given condition remains true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general-purpose code iteration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be also used to drive code iteration with an index variable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48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1655065" y="3197502"/>
            <a:ext cx="3209535" cy="203132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 = 0;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x &lt; 10 )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(“x = %d\n”, x);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x += 1;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(“end”);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8A1B9E-D91E-FFE8-BB31-F394B96F8999}"/>
              </a:ext>
            </a:extLst>
          </p:cNvPr>
          <p:cNvSpPr/>
          <p:nvPr/>
        </p:nvSpPr>
        <p:spPr>
          <a:xfrm>
            <a:off x="10271886" y="2302184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69807B-5D72-14EF-0A64-C0872CBD3C71}"/>
              </a:ext>
            </a:extLst>
          </p:cNvPr>
          <p:cNvCxnSpPr>
            <a:cxnSpLocks/>
            <a:stCxn id="8" idx="4"/>
            <a:endCxn id="17" idx="0"/>
          </p:cNvCxnSpPr>
          <p:nvPr/>
        </p:nvCxnSpPr>
        <p:spPr>
          <a:xfrm>
            <a:off x="10375461" y="2509334"/>
            <a:ext cx="0" cy="125843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C1652B-CDDE-374E-B9F8-C842A4ADA24B}"/>
              </a:ext>
            </a:extLst>
          </p:cNvPr>
          <p:cNvSpPr txBox="1"/>
          <p:nvPr/>
        </p:nvSpPr>
        <p:spPr>
          <a:xfrm>
            <a:off x="10479036" y="2236057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1628774D-FAF0-1EE1-CE31-F8A566953AAB}"/>
              </a:ext>
            </a:extLst>
          </p:cNvPr>
          <p:cNvSpPr/>
          <p:nvPr/>
        </p:nvSpPr>
        <p:spPr>
          <a:xfrm>
            <a:off x="9463654" y="3767770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10?</a:t>
            </a:r>
            <a:endParaRPr lang="en-CA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217B4-DF46-8CB7-4B99-5A551CA0B2B8}"/>
              </a:ext>
            </a:extLst>
          </p:cNvPr>
          <p:cNvSpPr txBox="1"/>
          <p:nvPr/>
        </p:nvSpPr>
        <p:spPr>
          <a:xfrm>
            <a:off x="10393314" y="4581569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0B538C-8CBB-7F28-E1B4-250FF94BD8EF}"/>
              </a:ext>
            </a:extLst>
          </p:cNvPr>
          <p:cNvSpPr txBox="1"/>
          <p:nvPr/>
        </p:nvSpPr>
        <p:spPr>
          <a:xfrm>
            <a:off x="9100851" y="3884588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D19084-B789-F4FB-C55D-04D821137ACD}"/>
              </a:ext>
            </a:extLst>
          </p:cNvPr>
          <p:cNvCxnSpPr>
            <a:cxnSpLocks/>
            <a:stCxn id="17" idx="1"/>
            <a:endCxn id="23" idx="3"/>
          </p:cNvCxnSpPr>
          <p:nvPr/>
        </p:nvCxnSpPr>
        <p:spPr>
          <a:xfrm flipH="1">
            <a:off x="8820568" y="4214211"/>
            <a:ext cx="643086" cy="122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8C52B3-23D2-85AB-084F-F621C4ADAC31}"/>
              </a:ext>
            </a:extLst>
          </p:cNvPr>
          <p:cNvSpPr/>
          <p:nvPr/>
        </p:nvSpPr>
        <p:spPr>
          <a:xfrm>
            <a:off x="7502314" y="4034945"/>
            <a:ext cx="1318254" cy="36098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 x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B53C74-00F8-9AE7-10E4-3C9C6378ECCA}"/>
              </a:ext>
            </a:extLst>
          </p:cNvPr>
          <p:cNvCxnSpPr>
            <a:cxnSpLocks/>
          </p:cNvCxnSpPr>
          <p:nvPr/>
        </p:nvCxnSpPr>
        <p:spPr>
          <a:xfrm>
            <a:off x="10382539" y="4660651"/>
            <a:ext cx="0" cy="77087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400AB11-52D3-9127-E176-A99B1502B449}"/>
              </a:ext>
            </a:extLst>
          </p:cNvPr>
          <p:cNvSpPr txBox="1"/>
          <p:nvPr/>
        </p:nvSpPr>
        <p:spPr>
          <a:xfrm>
            <a:off x="9736341" y="5367289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88CA67-E1DD-01E3-AD88-23B0CC03C5E4}"/>
              </a:ext>
            </a:extLst>
          </p:cNvPr>
          <p:cNvSpPr/>
          <p:nvPr/>
        </p:nvSpPr>
        <p:spPr>
          <a:xfrm>
            <a:off x="10278245" y="5431525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EE5A77-E73F-4410-695E-D798DFAAF780}"/>
              </a:ext>
            </a:extLst>
          </p:cNvPr>
          <p:cNvCxnSpPr>
            <a:cxnSpLocks/>
          </p:cNvCxnSpPr>
          <p:nvPr/>
        </p:nvCxnSpPr>
        <p:spPr>
          <a:xfrm>
            <a:off x="6186497" y="3415722"/>
            <a:ext cx="0" cy="610455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194FB1-E42E-CEE8-B294-33EF2B6BC5DE}"/>
              </a:ext>
            </a:extLst>
          </p:cNvPr>
          <p:cNvCxnSpPr>
            <a:cxnSpLocks/>
          </p:cNvCxnSpPr>
          <p:nvPr/>
        </p:nvCxnSpPr>
        <p:spPr>
          <a:xfrm>
            <a:off x="6186497" y="3415722"/>
            <a:ext cx="4223383" cy="1505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C44643-80E0-C610-6C79-7C066EDF877E}"/>
              </a:ext>
            </a:extLst>
          </p:cNvPr>
          <p:cNvSpPr/>
          <p:nvPr/>
        </p:nvSpPr>
        <p:spPr>
          <a:xfrm>
            <a:off x="9806440" y="2740261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x = 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3BE1698-0FA5-4A6F-BD49-287D27862D72}"/>
              </a:ext>
            </a:extLst>
          </p:cNvPr>
          <p:cNvSpPr/>
          <p:nvPr/>
        </p:nvSpPr>
        <p:spPr>
          <a:xfrm>
            <a:off x="9794108" y="4908709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Prog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36FCB9-40C1-82E6-7FB8-F4A94904BE5B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6911537" y="4205443"/>
            <a:ext cx="577173" cy="122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1511FD-40A2-6AE4-199F-EE847E3721FF}"/>
              </a:ext>
            </a:extLst>
          </p:cNvPr>
          <p:cNvSpPr/>
          <p:nvPr/>
        </p:nvSpPr>
        <p:spPr>
          <a:xfrm>
            <a:off x="5461458" y="4026177"/>
            <a:ext cx="1450079" cy="36098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Increment x</a:t>
            </a:r>
          </a:p>
        </p:txBody>
      </p:sp>
    </p:spTree>
    <p:extLst>
      <p:ext uri="{BB962C8B-B14F-4D97-AF65-F5344CB8AC3E}">
        <p14:creationId xmlns:p14="http://schemas.microsoft.com/office/powerpoint/2010/main" val="321543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remov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remov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6" grpId="0"/>
      <p:bldP spid="17" grpId="0" animBg="1"/>
      <p:bldP spid="18" grpId="0"/>
      <p:bldP spid="19" grpId="0"/>
      <p:bldP spid="23" grpId="0" animBg="1"/>
      <p:bldP spid="26" grpId="0"/>
      <p:bldP spid="27" grpId="0" animBg="1"/>
      <p:bldP spid="9" grpId="0" animBg="1"/>
      <p:bldP spid="29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1359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from while to for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 loop is just a specialized while loop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While loop with 1) built-in counter variable and 2) built-in counter update rule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1658708" y="2767413"/>
            <a:ext cx="3209535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expression1;</a:t>
            </a:r>
            <a:endParaRPr lang="en-US" sz="14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expression2;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8A1B9E-D91E-FFE8-BB31-F394B96F8999}"/>
              </a:ext>
            </a:extLst>
          </p:cNvPr>
          <p:cNvSpPr/>
          <p:nvPr/>
        </p:nvSpPr>
        <p:spPr>
          <a:xfrm>
            <a:off x="10271886" y="2302184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69807B-5D72-14EF-0A64-C0872CBD3C71}"/>
              </a:ext>
            </a:extLst>
          </p:cNvPr>
          <p:cNvCxnSpPr>
            <a:cxnSpLocks/>
            <a:stCxn id="8" idx="4"/>
            <a:endCxn id="17" idx="0"/>
          </p:cNvCxnSpPr>
          <p:nvPr/>
        </p:nvCxnSpPr>
        <p:spPr>
          <a:xfrm>
            <a:off x="10375461" y="2509334"/>
            <a:ext cx="0" cy="125843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C1652B-CDDE-374E-B9F8-C842A4ADA24B}"/>
              </a:ext>
            </a:extLst>
          </p:cNvPr>
          <p:cNvSpPr txBox="1"/>
          <p:nvPr/>
        </p:nvSpPr>
        <p:spPr>
          <a:xfrm>
            <a:off x="10479036" y="2236057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1628774D-FAF0-1EE1-CE31-F8A566953AAB}"/>
              </a:ext>
            </a:extLst>
          </p:cNvPr>
          <p:cNvSpPr/>
          <p:nvPr/>
        </p:nvSpPr>
        <p:spPr>
          <a:xfrm>
            <a:off x="9463654" y="3767770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endParaRPr lang="en-CA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217B4-DF46-8CB7-4B99-5A551CA0B2B8}"/>
              </a:ext>
            </a:extLst>
          </p:cNvPr>
          <p:cNvSpPr txBox="1"/>
          <p:nvPr/>
        </p:nvSpPr>
        <p:spPr>
          <a:xfrm>
            <a:off x="10393314" y="4581569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0B538C-8CBB-7F28-E1B4-250FF94BD8EF}"/>
              </a:ext>
            </a:extLst>
          </p:cNvPr>
          <p:cNvSpPr txBox="1"/>
          <p:nvPr/>
        </p:nvSpPr>
        <p:spPr>
          <a:xfrm>
            <a:off x="9100851" y="3884588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D19084-B789-F4FB-C55D-04D821137ACD}"/>
              </a:ext>
            </a:extLst>
          </p:cNvPr>
          <p:cNvCxnSpPr>
            <a:cxnSpLocks/>
            <a:stCxn id="17" idx="1"/>
            <a:endCxn id="23" idx="3"/>
          </p:cNvCxnSpPr>
          <p:nvPr/>
        </p:nvCxnSpPr>
        <p:spPr>
          <a:xfrm flipH="1">
            <a:off x="8886481" y="4214211"/>
            <a:ext cx="577173" cy="122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8C52B3-23D2-85AB-084F-F621C4ADAC31}"/>
              </a:ext>
            </a:extLst>
          </p:cNvPr>
          <p:cNvSpPr/>
          <p:nvPr/>
        </p:nvSpPr>
        <p:spPr>
          <a:xfrm>
            <a:off x="7436402" y="4034945"/>
            <a:ext cx="1450079" cy="36098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statements;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B53C74-00F8-9AE7-10E4-3C9C6378ECCA}"/>
              </a:ext>
            </a:extLst>
          </p:cNvPr>
          <p:cNvCxnSpPr>
            <a:cxnSpLocks/>
          </p:cNvCxnSpPr>
          <p:nvPr/>
        </p:nvCxnSpPr>
        <p:spPr>
          <a:xfrm>
            <a:off x="10382539" y="4660651"/>
            <a:ext cx="0" cy="77087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400AB11-52D3-9127-E176-A99B1502B449}"/>
              </a:ext>
            </a:extLst>
          </p:cNvPr>
          <p:cNvSpPr txBox="1"/>
          <p:nvPr/>
        </p:nvSpPr>
        <p:spPr>
          <a:xfrm>
            <a:off x="9736341" y="5367289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88CA67-E1DD-01E3-AD88-23B0CC03C5E4}"/>
              </a:ext>
            </a:extLst>
          </p:cNvPr>
          <p:cNvSpPr/>
          <p:nvPr/>
        </p:nvSpPr>
        <p:spPr>
          <a:xfrm>
            <a:off x="10278245" y="5431525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EE5A77-E73F-4410-695E-D798DFAAF780}"/>
              </a:ext>
            </a:extLst>
          </p:cNvPr>
          <p:cNvCxnSpPr>
            <a:cxnSpLocks/>
          </p:cNvCxnSpPr>
          <p:nvPr/>
        </p:nvCxnSpPr>
        <p:spPr>
          <a:xfrm>
            <a:off x="6186497" y="3415722"/>
            <a:ext cx="0" cy="610455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194FB1-E42E-CEE8-B294-33EF2B6BC5DE}"/>
              </a:ext>
            </a:extLst>
          </p:cNvPr>
          <p:cNvCxnSpPr>
            <a:cxnSpLocks/>
          </p:cNvCxnSpPr>
          <p:nvPr/>
        </p:nvCxnSpPr>
        <p:spPr>
          <a:xfrm>
            <a:off x="6186497" y="3415722"/>
            <a:ext cx="4223383" cy="1505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C44643-80E0-C610-6C79-7C066EDF877E}"/>
              </a:ext>
            </a:extLst>
          </p:cNvPr>
          <p:cNvSpPr/>
          <p:nvPr/>
        </p:nvSpPr>
        <p:spPr>
          <a:xfrm>
            <a:off x="9528349" y="2740261"/>
            <a:ext cx="1754595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expression1;</a:t>
            </a:r>
            <a:endParaRPr lang="en-US" sz="14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36FCB9-40C1-82E6-7FB8-F4A94904BE5B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6984041" y="4206667"/>
            <a:ext cx="452361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1511FD-40A2-6AE4-199F-EE847E3721FF}"/>
              </a:ext>
            </a:extLst>
          </p:cNvPr>
          <p:cNvSpPr/>
          <p:nvPr/>
        </p:nvSpPr>
        <p:spPr>
          <a:xfrm>
            <a:off x="5388954" y="4026177"/>
            <a:ext cx="1595087" cy="36098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expression2;</a:t>
            </a:r>
            <a:endParaRPr 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FDB24-5D3E-36B0-F1C1-A26C420C8B01}"/>
              </a:ext>
            </a:extLst>
          </p:cNvPr>
          <p:cNvSpPr txBox="1"/>
          <p:nvPr/>
        </p:nvSpPr>
        <p:spPr>
          <a:xfrm>
            <a:off x="1653432" y="4805430"/>
            <a:ext cx="4866240" cy="95410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expression1; </a:t>
            </a:r>
            <a:r>
              <a:rPr lang="en-US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expression2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statements;    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0" name="Equals 19">
            <a:extLst>
              <a:ext uri="{FF2B5EF4-FFF2-40B4-BE49-F238E27FC236}">
                <a16:creationId xmlns:a16="http://schemas.microsoft.com/office/drawing/2014/main" id="{D3520769-19C7-3DF3-AB8A-A6708970D946}"/>
              </a:ext>
            </a:extLst>
          </p:cNvPr>
          <p:cNvSpPr/>
          <p:nvPr/>
        </p:nvSpPr>
        <p:spPr>
          <a:xfrm rot="5400000">
            <a:off x="2969443" y="4267346"/>
            <a:ext cx="557784" cy="43750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02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6" grpId="0"/>
      <p:bldP spid="17" grpId="0" animBg="1"/>
      <p:bldP spid="18" grpId="0"/>
      <p:bldP spid="19" grpId="0"/>
      <p:bldP spid="23" grpId="0" animBg="1"/>
      <p:bldP spid="26" grpId="0"/>
      <p:bldP spid="27" grpId="0" animBg="1"/>
      <p:bldP spid="9" grpId="0" animBg="1"/>
      <p:bldP spid="25" grpId="0" animBg="1"/>
      <p:bldP spid="12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1359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from while to for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 loop is just a specialized while loop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While loop with 1) built-in counter variable and 2) built-in counter update rule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50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D0F5B-D3A1-E1B9-F0E4-1313BA09459D}"/>
              </a:ext>
            </a:extLst>
          </p:cNvPr>
          <p:cNvSpPr txBox="1"/>
          <p:nvPr/>
        </p:nvSpPr>
        <p:spPr>
          <a:xfrm>
            <a:off x="1574664" y="3758165"/>
            <a:ext cx="3209535" cy="203132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while loop setup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4 )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 ”,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   </a:t>
            </a:r>
          </a:p>
          <a:p>
            <a:r>
              <a:rPr lang="en-US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FDB24-5D3E-36B0-F1C1-A26C420C8B01}"/>
              </a:ext>
            </a:extLst>
          </p:cNvPr>
          <p:cNvSpPr txBox="1"/>
          <p:nvPr/>
        </p:nvSpPr>
        <p:spPr>
          <a:xfrm>
            <a:off x="1574664" y="2314700"/>
            <a:ext cx="3209535" cy="138499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loop setup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4;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 ”,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   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C0459A5E-4676-4724-9555-3D60BEB94DE6}"/>
              </a:ext>
            </a:extLst>
          </p:cNvPr>
          <p:cNvSpPr/>
          <p:nvPr/>
        </p:nvSpPr>
        <p:spPr>
          <a:xfrm>
            <a:off x="6163685" y="2552656"/>
            <a:ext cx="2216518" cy="868270"/>
          </a:xfrm>
          <a:prstGeom prst="wedgeRectCallout">
            <a:avLst>
              <a:gd name="adj1" fmla="val -94941"/>
              <a:gd name="adj2" fmla="val -772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are their outputs?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1 2 3 4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FBB0DB-314C-B677-564F-7A8C731FEBC3}"/>
              </a:ext>
            </a:extLst>
          </p:cNvPr>
          <p:cNvSpPr/>
          <p:nvPr/>
        </p:nvSpPr>
        <p:spPr>
          <a:xfrm>
            <a:off x="10271886" y="2722808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811D03-94CF-2D6D-DECC-2FABE25BDD0B}"/>
              </a:ext>
            </a:extLst>
          </p:cNvPr>
          <p:cNvCxnSpPr>
            <a:cxnSpLocks/>
            <a:stCxn id="10" idx="4"/>
            <a:endCxn id="29" idx="0"/>
          </p:cNvCxnSpPr>
          <p:nvPr/>
        </p:nvCxnSpPr>
        <p:spPr>
          <a:xfrm>
            <a:off x="10375461" y="2929958"/>
            <a:ext cx="0" cy="125843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45717F2-EFAE-31D4-FB2E-1ADF4DCCC780}"/>
              </a:ext>
            </a:extLst>
          </p:cNvPr>
          <p:cNvSpPr txBox="1"/>
          <p:nvPr/>
        </p:nvSpPr>
        <p:spPr>
          <a:xfrm>
            <a:off x="10479036" y="2656681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B7746215-3023-13B3-288D-8CBAB622E8FC}"/>
              </a:ext>
            </a:extLst>
          </p:cNvPr>
          <p:cNvSpPr/>
          <p:nvPr/>
        </p:nvSpPr>
        <p:spPr>
          <a:xfrm>
            <a:off x="9463654" y="4188394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4?</a:t>
            </a:r>
            <a:endParaRPr lang="en-CA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D5DA57-F2C7-8FE8-A2E5-5A2CDA44E73E}"/>
              </a:ext>
            </a:extLst>
          </p:cNvPr>
          <p:cNvSpPr txBox="1"/>
          <p:nvPr/>
        </p:nvSpPr>
        <p:spPr>
          <a:xfrm>
            <a:off x="10393314" y="5002193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36A370-AF6D-524C-CA73-C2BE958AF089}"/>
              </a:ext>
            </a:extLst>
          </p:cNvPr>
          <p:cNvSpPr txBox="1"/>
          <p:nvPr/>
        </p:nvSpPr>
        <p:spPr>
          <a:xfrm>
            <a:off x="9100851" y="4305212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85BA1A-3BF4-E5FD-9C2A-DE2A6807BCE0}"/>
              </a:ext>
            </a:extLst>
          </p:cNvPr>
          <p:cNvCxnSpPr>
            <a:cxnSpLocks/>
            <a:stCxn id="29" idx="1"/>
            <a:endCxn id="34" idx="3"/>
          </p:cNvCxnSpPr>
          <p:nvPr/>
        </p:nvCxnSpPr>
        <p:spPr>
          <a:xfrm flipH="1">
            <a:off x="8820568" y="4634835"/>
            <a:ext cx="643086" cy="122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533D1AF-13A2-1053-0CB3-DE97B5C4FB63}"/>
              </a:ext>
            </a:extLst>
          </p:cNvPr>
          <p:cNvSpPr/>
          <p:nvPr/>
        </p:nvSpPr>
        <p:spPr>
          <a:xfrm>
            <a:off x="7502314" y="4455569"/>
            <a:ext cx="1318254" cy="36098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278E72-A338-5B01-6810-DB2544561D20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0381820" y="5081275"/>
            <a:ext cx="719" cy="39597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7378ADE-9A84-2A38-9842-1D3CF924FBAD}"/>
              </a:ext>
            </a:extLst>
          </p:cNvPr>
          <p:cNvSpPr txBox="1"/>
          <p:nvPr/>
        </p:nvSpPr>
        <p:spPr>
          <a:xfrm>
            <a:off x="9736341" y="5413009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9DD9BA-E554-7014-07F4-E02BCD27FEE9}"/>
              </a:ext>
            </a:extLst>
          </p:cNvPr>
          <p:cNvSpPr/>
          <p:nvPr/>
        </p:nvSpPr>
        <p:spPr>
          <a:xfrm>
            <a:off x="10278245" y="5477245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CF4D58-5CAD-FA70-5D25-EF8DDFC172BE}"/>
              </a:ext>
            </a:extLst>
          </p:cNvPr>
          <p:cNvCxnSpPr>
            <a:cxnSpLocks/>
          </p:cNvCxnSpPr>
          <p:nvPr/>
        </p:nvCxnSpPr>
        <p:spPr>
          <a:xfrm>
            <a:off x="6186497" y="3836346"/>
            <a:ext cx="0" cy="610455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9564969-41E4-C651-C588-1F0FF788D5C6}"/>
              </a:ext>
            </a:extLst>
          </p:cNvPr>
          <p:cNvCxnSpPr>
            <a:cxnSpLocks/>
          </p:cNvCxnSpPr>
          <p:nvPr/>
        </p:nvCxnSpPr>
        <p:spPr>
          <a:xfrm>
            <a:off x="6186497" y="3836346"/>
            <a:ext cx="4223383" cy="1505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FA1B599-E3E9-93EC-73FF-F5F38FA94D22}"/>
              </a:ext>
            </a:extLst>
          </p:cNvPr>
          <p:cNvSpPr/>
          <p:nvPr/>
        </p:nvSpPr>
        <p:spPr>
          <a:xfrm>
            <a:off x="9806440" y="3160885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C9B992-1C49-E2CA-A636-823C3DDDE157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6911537" y="4626067"/>
            <a:ext cx="577173" cy="122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2C71F56-32B9-9922-4492-2D84D7124672}"/>
              </a:ext>
            </a:extLst>
          </p:cNvPr>
          <p:cNvSpPr/>
          <p:nvPr/>
        </p:nvSpPr>
        <p:spPr>
          <a:xfrm>
            <a:off x="5461458" y="4446801"/>
            <a:ext cx="1450079" cy="36098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Increment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4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2" grpId="0" animBg="1"/>
      <p:bldP spid="10" grpId="0" animBg="1"/>
      <p:bldP spid="28" grpId="0"/>
      <p:bldP spid="29" grpId="0" animBg="1"/>
      <p:bldP spid="31" grpId="0"/>
      <p:bldP spid="32" grpId="0"/>
      <p:bldP spid="34" grpId="0" animBg="1"/>
      <p:bldP spid="36" grpId="0"/>
      <p:bldP spid="37" grpId="0" animBg="1"/>
      <p:bldP spid="40" grpId="0" animBg="1"/>
      <p:bldP spid="4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0179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for loop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Counter-Driven Code Repetition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1 – Using 3 different </a:t>
            </a:r>
            <a:r>
              <a:rPr lang="en-CA" b="1" dirty="0"/>
              <a:t>for</a:t>
            </a:r>
            <a:r>
              <a:rPr lang="en-CA" dirty="0"/>
              <a:t> loop configurations to print 20 stars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51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FDB24-5D3E-36B0-F1C1-A26C420C8B01}"/>
              </a:ext>
            </a:extLst>
          </p:cNvPr>
          <p:cNvSpPr txBox="1"/>
          <p:nvPr/>
        </p:nvSpPr>
        <p:spPr>
          <a:xfrm>
            <a:off x="1583808" y="2521242"/>
            <a:ext cx="3209535" cy="138499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20 stars - Variation 1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 20;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    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9247C-1EE2-4593-2CD1-A5EB72FF566B}"/>
              </a:ext>
            </a:extLst>
          </p:cNvPr>
          <p:cNvSpPr txBox="1"/>
          <p:nvPr/>
        </p:nvSpPr>
        <p:spPr>
          <a:xfrm>
            <a:off x="4283609" y="3339982"/>
            <a:ext cx="3209535" cy="138499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20 stars - Variation 2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20;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    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C108E8-0052-D37B-3517-DC267C3F99CA}"/>
              </a:ext>
            </a:extLst>
          </p:cNvPr>
          <p:cNvSpPr txBox="1"/>
          <p:nvPr/>
        </p:nvSpPr>
        <p:spPr>
          <a:xfrm>
            <a:off x="7010842" y="4166571"/>
            <a:ext cx="3209535" cy="1384995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20 stars - Variation 3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20;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&gt;= 1;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    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C15FEAF2-D4C0-0CCA-C279-9446796567E1}"/>
              </a:ext>
            </a:extLst>
          </p:cNvPr>
          <p:cNvSpPr/>
          <p:nvPr/>
        </p:nvSpPr>
        <p:spPr>
          <a:xfrm>
            <a:off x="1741188" y="4548330"/>
            <a:ext cx="2300460" cy="717578"/>
          </a:xfrm>
          <a:prstGeom prst="wedgeRectCallout">
            <a:avLst>
              <a:gd name="adj1" fmla="val -16971"/>
              <a:gd name="adj2" fmla="val -13515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range does </a:t>
            </a:r>
            <a:r>
              <a:rPr lang="en-US" sz="1600" i="1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cover?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[0, 19]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61C96E8D-4231-4669-565A-052E9CC8F955}"/>
              </a:ext>
            </a:extLst>
          </p:cNvPr>
          <p:cNvSpPr/>
          <p:nvPr/>
        </p:nvSpPr>
        <p:spPr>
          <a:xfrm>
            <a:off x="6026676" y="2462474"/>
            <a:ext cx="2300460" cy="652344"/>
          </a:xfrm>
          <a:prstGeom prst="wedgeRectCallout">
            <a:avLst>
              <a:gd name="adj1" fmla="val -37640"/>
              <a:gd name="adj2" fmla="val 8214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range does </a:t>
            </a:r>
            <a:r>
              <a:rPr lang="en-US" sz="1600" i="1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cover?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[1, 20]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20576C3F-BEB0-A95E-8B13-E0265A0F6851}"/>
              </a:ext>
            </a:extLst>
          </p:cNvPr>
          <p:cNvSpPr/>
          <p:nvPr/>
        </p:nvSpPr>
        <p:spPr>
          <a:xfrm>
            <a:off x="8615609" y="3009004"/>
            <a:ext cx="2300460" cy="868270"/>
          </a:xfrm>
          <a:prstGeom prst="wedgeRectCallout">
            <a:avLst>
              <a:gd name="adj1" fmla="val -65067"/>
              <a:gd name="adj2" fmla="val 8494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range does </a:t>
            </a:r>
            <a:r>
              <a:rPr lang="en-US" sz="1600" i="1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cover?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[20, 1]</a:t>
            </a:r>
          </a:p>
        </p:txBody>
      </p:sp>
    </p:spTree>
    <p:extLst>
      <p:ext uri="{BB962C8B-B14F-4D97-AF65-F5344CB8AC3E}">
        <p14:creationId xmlns:p14="http://schemas.microsoft.com/office/powerpoint/2010/main" val="415785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9" grpId="0" animBg="1"/>
      <p:bldP spid="14" grpId="0" animBg="1"/>
      <p:bldP spid="15" grpId="0" animBg="1"/>
      <p:bldP spid="1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0179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for loop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Counter-Driven Code Repetition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2 – How many stars will be printed?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52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FDB24-5D3E-36B0-F1C1-A26C420C8B01}"/>
              </a:ext>
            </a:extLst>
          </p:cNvPr>
          <p:cNvSpPr txBox="1"/>
          <p:nvPr/>
        </p:nvSpPr>
        <p:spPr>
          <a:xfrm>
            <a:off x="1299629" y="2779431"/>
            <a:ext cx="3306960" cy="138499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b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+= 2 )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    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FBB0DB-314C-B677-564F-7A8C731FEBC3}"/>
              </a:ext>
            </a:extLst>
          </p:cNvPr>
          <p:cNvSpPr/>
          <p:nvPr/>
        </p:nvSpPr>
        <p:spPr>
          <a:xfrm>
            <a:off x="10100559" y="2196141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811D03-94CF-2D6D-DECC-2FABE25BDD0B}"/>
              </a:ext>
            </a:extLst>
          </p:cNvPr>
          <p:cNvCxnSpPr>
            <a:cxnSpLocks/>
            <a:stCxn id="10" idx="4"/>
            <a:endCxn id="29" idx="0"/>
          </p:cNvCxnSpPr>
          <p:nvPr/>
        </p:nvCxnSpPr>
        <p:spPr>
          <a:xfrm>
            <a:off x="10204134" y="2403291"/>
            <a:ext cx="0" cy="1258436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45717F2-EFAE-31D4-FB2E-1ADF4DCCC780}"/>
              </a:ext>
            </a:extLst>
          </p:cNvPr>
          <p:cNvSpPr txBox="1"/>
          <p:nvPr/>
        </p:nvSpPr>
        <p:spPr>
          <a:xfrm>
            <a:off x="10307709" y="2130014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B7746215-3023-13B3-288D-8CBAB622E8FC}"/>
              </a:ext>
            </a:extLst>
          </p:cNvPr>
          <p:cNvSpPr/>
          <p:nvPr/>
        </p:nvSpPr>
        <p:spPr>
          <a:xfrm>
            <a:off x="9292327" y="3661727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10?</a:t>
            </a:r>
            <a:endParaRPr lang="en-CA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D5DA57-F2C7-8FE8-A2E5-5A2CDA44E73E}"/>
              </a:ext>
            </a:extLst>
          </p:cNvPr>
          <p:cNvSpPr txBox="1"/>
          <p:nvPr/>
        </p:nvSpPr>
        <p:spPr>
          <a:xfrm>
            <a:off x="10221987" y="4475526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36A370-AF6D-524C-CA73-C2BE958AF089}"/>
              </a:ext>
            </a:extLst>
          </p:cNvPr>
          <p:cNvSpPr txBox="1"/>
          <p:nvPr/>
        </p:nvSpPr>
        <p:spPr>
          <a:xfrm>
            <a:off x="8929524" y="3778545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85BA1A-3BF4-E5FD-9C2A-DE2A6807BCE0}"/>
              </a:ext>
            </a:extLst>
          </p:cNvPr>
          <p:cNvCxnSpPr>
            <a:cxnSpLocks/>
            <a:stCxn id="29" idx="1"/>
            <a:endCxn id="34" idx="3"/>
          </p:cNvCxnSpPr>
          <p:nvPr/>
        </p:nvCxnSpPr>
        <p:spPr>
          <a:xfrm flipH="1">
            <a:off x="8649241" y="4108168"/>
            <a:ext cx="643086" cy="122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533D1AF-13A2-1053-0CB3-DE97B5C4FB63}"/>
              </a:ext>
            </a:extLst>
          </p:cNvPr>
          <p:cNvSpPr/>
          <p:nvPr/>
        </p:nvSpPr>
        <p:spPr>
          <a:xfrm>
            <a:off x="7330987" y="3928902"/>
            <a:ext cx="1318254" cy="36098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 *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278E72-A338-5B01-6810-DB2544561D20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0210493" y="4554608"/>
            <a:ext cx="719" cy="39597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7378ADE-9A84-2A38-9842-1D3CF924FBAD}"/>
              </a:ext>
            </a:extLst>
          </p:cNvPr>
          <p:cNvSpPr txBox="1"/>
          <p:nvPr/>
        </p:nvSpPr>
        <p:spPr>
          <a:xfrm>
            <a:off x="9565014" y="4886342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9DD9BA-E554-7014-07F4-E02BCD27FEE9}"/>
              </a:ext>
            </a:extLst>
          </p:cNvPr>
          <p:cNvSpPr/>
          <p:nvPr/>
        </p:nvSpPr>
        <p:spPr>
          <a:xfrm>
            <a:off x="10106918" y="4950578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CF4D58-5CAD-FA70-5D25-EF8DDFC172BE}"/>
              </a:ext>
            </a:extLst>
          </p:cNvPr>
          <p:cNvCxnSpPr>
            <a:cxnSpLocks/>
          </p:cNvCxnSpPr>
          <p:nvPr/>
        </p:nvCxnSpPr>
        <p:spPr>
          <a:xfrm>
            <a:off x="6015170" y="3309679"/>
            <a:ext cx="0" cy="610455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9564969-41E4-C651-C588-1F0FF788D5C6}"/>
              </a:ext>
            </a:extLst>
          </p:cNvPr>
          <p:cNvCxnSpPr>
            <a:cxnSpLocks/>
          </p:cNvCxnSpPr>
          <p:nvPr/>
        </p:nvCxnSpPr>
        <p:spPr>
          <a:xfrm>
            <a:off x="6015170" y="3309679"/>
            <a:ext cx="4223383" cy="1505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FA1B599-E3E9-93EC-73FF-F5F38FA94D22}"/>
              </a:ext>
            </a:extLst>
          </p:cNvPr>
          <p:cNvSpPr/>
          <p:nvPr/>
        </p:nvSpPr>
        <p:spPr>
          <a:xfrm>
            <a:off x="9635113" y="2634218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C9B992-1C49-E2CA-A636-823C3DDDE157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6740210" y="4099400"/>
            <a:ext cx="577173" cy="122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2C71F56-32B9-9922-4492-2D84D7124672}"/>
              </a:ext>
            </a:extLst>
          </p:cNvPr>
          <p:cNvSpPr/>
          <p:nvPr/>
        </p:nvSpPr>
        <p:spPr>
          <a:xfrm>
            <a:off x="5290131" y="3920134"/>
            <a:ext cx="1450079" cy="36098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2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3CD32E31-1CA6-774F-ECC5-6013D1B1CAFE}"/>
              </a:ext>
            </a:extLst>
          </p:cNvPr>
          <p:cNvSpPr/>
          <p:nvPr/>
        </p:nvSpPr>
        <p:spPr>
          <a:xfrm>
            <a:off x="2191384" y="4842443"/>
            <a:ext cx="2300460" cy="717578"/>
          </a:xfrm>
          <a:prstGeom prst="wedgeRectCallout">
            <a:avLst>
              <a:gd name="adj1" fmla="val -16971"/>
              <a:gd name="adj2" fmla="val -13515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range does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cover?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[0, 2, 4, 6, 8]</a:t>
            </a:r>
          </a:p>
        </p:txBody>
      </p:sp>
    </p:spTree>
    <p:extLst>
      <p:ext uri="{BB962C8B-B14F-4D97-AF65-F5344CB8AC3E}">
        <p14:creationId xmlns:p14="http://schemas.microsoft.com/office/powerpoint/2010/main" val="90585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  <p:bldP spid="28" grpId="0"/>
      <p:bldP spid="29" grpId="0" animBg="1"/>
      <p:bldP spid="31" grpId="0"/>
      <p:bldP spid="32" grpId="0"/>
      <p:bldP spid="34" grpId="0" animBg="1"/>
      <p:bldP spid="36" grpId="0"/>
      <p:bldP spid="37" grpId="0" animBg="1"/>
      <p:bldP spid="40" grpId="0" animBg="1"/>
      <p:bldP spid="43" grpId="0" animBg="1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0179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for loop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Counter-Driven Code Repetition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Interesting Feature – </a:t>
            </a:r>
            <a:r>
              <a:rPr lang="en-CA" b="1" dirty="0"/>
              <a:t>for</a:t>
            </a:r>
            <a:r>
              <a:rPr lang="en-CA" dirty="0"/>
              <a:t> loop can also support general-purpose while loop functionality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53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FDB24-5D3E-36B0-F1C1-A26C420C8B01}"/>
              </a:ext>
            </a:extLst>
          </p:cNvPr>
          <p:cNvSpPr txBox="1"/>
          <p:nvPr/>
        </p:nvSpPr>
        <p:spPr>
          <a:xfrm>
            <a:off x="2954409" y="2696634"/>
            <a:ext cx="2484568" cy="116955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;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;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Action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1DE8B-0508-D1C8-D7CB-82F5D71C5926}"/>
              </a:ext>
            </a:extLst>
          </p:cNvPr>
          <p:cNvSpPr txBox="1"/>
          <p:nvPr/>
        </p:nvSpPr>
        <p:spPr>
          <a:xfrm>
            <a:off x="2954409" y="4185825"/>
            <a:ext cx="2484568" cy="1169551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Action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C906BA-C1FC-14AC-2CCE-5AC92ED60196}"/>
              </a:ext>
            </a:extLst>
          </p:cNvPr>
          <p:cNvSpPr/>
          <p:nvPr/>
        </p:nvSpPr>
        <p:spPr>
          <a:xfrm>
            <a:off x="8131416" y="2624751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00EE02-2E9E-B2C8-C3FC-1FAC6A800565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8234991" y="2831901"/>
            <a:ext cx="0" cy="109384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66D7C2-6E9C-D77C-62A6-7122F22A1E64}"/>
              </a:ext>
            </a:extLst>
          </p:cNvPr>
          <p:cNvSpPr txBox="1"/>
          <p:nvPr/>
        </p:nvSpPr>
        <p:spPr>
          <a:xfrm>
            <a:off x="8338566" y="2558624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1049D6FF-621C-D0C9-8489-3DC6259589A2}"/>
              </a:ext>
            </a:extLst>
          </p:cNvPr>
          <p:cNvSpPr/>
          <p:nvPr/>
        </p:nvSpPr>
        <p:spPr>
          <a:xfrm>
            <a:off x="7323184" y="3925745"/>
            <a:ext cx="1823614" cy="892881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2C27D3-5688-ADFD-F2C2-8F4B9F2C6FEC}"/>
              </a:ext>
            </a:extLst>
          </p:cNvPr>
          <p:cNvSpPr txBox="1"/>
          <p:nvPr/>
        </p:nvSpPr>
        <p:spPr>
          <a:xfrm>
            <a:off x="8252844" y="4739544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07AE24-E30A-93DA-0607-DE80106CD645}"/>
              </a:ext>
            </a:extLst>
          </p:cNvPr>
          <p:cNvSpPr txBox="1"/>
          <p:nvPr/>
        </p:nvSpPr>
        <p:spPr>
          <a:xfrm>
            <a:off x="6960381" y="4042563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9F5E83-7DE8-E538-F6DE-A88AB593F9DC}"/>
              </a:ext>
            </a:extLst>
          </p:cNvPr>
          <p:cNvCxnSpPr>
            <a:cxnSpLocks/>
          </p:cNvCxnSpPr>
          <p:nvPr/>
        </p:nvCxnSpPr>
        <p:spPr>
          <a:xfrm>
            <a:off x="6695206" y="4381117"/>
            <a:ext cx="627978" cy="0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AF53FD-A4B0-33E7-3EFE-7CA1AE9D24CD}"/>
              </a:ext>
            </a:extLst>
          </p:cNvPr>
          <p:cNvCxnSpPr>
            <a:cxnSpLocks/>
          </p:cNvCxnSpPr>
          <p:nvPr/>
        </p:nvCxnSpPr>
        <p:spPr>
          <a:xfrm flipV="1">
            <a:off x="6697610" y="3925745"/>
            <a:ext cx="0" cy="449571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117452-E3E4-F1D4-629B-180056079506}"/>
              </a:ext>
            </a:extLst>
          </p:cNvPr>
          <p:cNvSpPr/>
          <p:nvPr/>
        </p:nvSpPr>
        <p:spPr>
          <a:xfrm>
            <a:off x="6096000" y="3588716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1EFE6B-5F65-B45F-1A08-73ECDF52CDF9}"/>
              </a:ext>
            </a:extLst>
          </p:cNvPr>
          <p:cNvCxnSpPr>
            <a:cxnSpLocks/>
          </p:cNvCxnSpPr>
          <p:nvPr/>
        </p:nvCxnSpPr>
        <p:spPr>
          <a:xfrm>
            <a:off x="8242069" y="4818626"/>
            <a:ext cx="0" cy="53776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61E6F6E-9FC1-165A-CA15-D01925DC4AB9}"/>
              </a:ext>
            </a:extLst>
          </p:cNvPr>
          <p:cNvSpPr txBox="1"/>
          <p:nvPr/>
        </p:nvSpPr>
        <p:spPr>
          <a:xfrm>
            <a:off x="7595871" y="5296664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346CD3-73B9-1082-B281-6F00FE330DBB}"/>
              </a:ext>
            </a:extLst>
          </p:cNvPr>
          <p:cNvSpPr/>
          <p:nvPr/>
        </p:nvSpPr>
        <p:spPr>
          <a:xfrm>
            <a:off x="8137775" y="5360900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5B8BA94-029C-BB21-1FB0-A3F94C264653}"/>
              </a:ext>
            </a:extLst>
          </p:cNvPr>
          <p:cNvCxnSpPr>
            <a:cxnSpLocks/>
          </p:cNvCxnSpPr>
          <p:nvPr/>
        </p:nvCxnSpPr>
        <p:spPr>
          <a:xfrm>
            <a:off x="6703132" y="3407303"/>
            <a:ext cx="0" cy="18141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6ADC86-9EFE-CA57-7650-BE09B426B39A}"/>
              </a:ext>
            </a:extLst>
          </p:cNvPr>
          <p:cNvCxnSpPr>
            <a:cxnSpLocks/>
          </p:cNvCxnSpPr>
          <p:nvPr/>
        </p:nvCxnSpPr>
        <p:spPr>
          <a:xfrm>
            <a:off x="6698055" y="3407303"/>
            <a:ext cx="1536936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2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  <p:bldP spid="5" grpId="0" animBg="1"/>
      <p:bldP spid="14" grpId="0"/>
      <p:bldP spid="15" grpId="0" animBg="1"/>
      <p:bldP spid="16" grpId="0"/>
      <p:bldP spid="17" grpId="0"/>
      <p:bldP spid="20" grpId="0" animBg="1"/>
      <p:bldP spid="22" grpId="0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342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do…while loop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Guaranteed Execution Conditional Repetition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1DE8B-0508-D1C8-D7CB-82F5D71C5926}"/>
              </a:ext>
            </a:extLst>
          </p:cNvPr>
          <p:cNvSpPr txBox="1"/>
          <p:nvPr/>
        </p:nvSpPr>
        <p:spPr>
          <a:xfrm>
            <a:off x="1116273" y="2294681"/>
            <a:ext cx="2484568" cy="1169551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Action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C906BA-C1FC-14AC-2CCE-5AC92ED60196}"/>
              </a:ext>
            </a:extLst>
          </p:cNvPr>
          <p:cNvSpPr/>
          <p:nvPr/>
        </p:nvSpPr>
        <p:spPr>
          <a:xfrm>
            <a:off x="4865615" y="3490386"/>
            <a:ext cx="171198" cy="171198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00EE02-2E9E-B2C8-C3FC-1FAC6A800565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4951214" y="3661584"/>
            <a:ext cx="0" cy="313494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66D7C2-6E9C-D77C-62A6-7122F22A1E64}"/>
              </a:ext>
            </a:extLst>
          </p:cNvPr>
          <p:cNvSpPr txBox="1"/>
          <p:nvPr/>
        </p:nvSpPr>
        <p:spPr>
          <a:xfrm>
            <a:off x="5146046" y="3435662"/>
            <a:ext cx="869118" cy="279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1049D6FF-621C-D0C9-8489-3DC6259589A2}"/>
              </a:ext>
            </a:extLst>
          </p:cNvPr>
          <p:cNvSpPr/>
          <p:nvPr/>
        </p:nvSpPr>
        <p:spPr>
          <a:xfrm>
            <a:off x="4197654" y="3975078"/>
            <a:ext cx="1507119" cy="737918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2C27D3-5688-ADFD-F2C2-8F4B9F2C6FEC}"/>
              </a:ext>
            </a:extLst>
          </p:cNvPr>
          <p:cNvSpPr txBox="1"/>
          <p:nvPr/>
        </p:nvSpPr>
        <p:spPr>
          <a:xfrm>
            <a:off x="5002730" y="4594995"/>
            <a:ext cx="449084" cy="279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07AE24-E30A-93DA-0607-DE80106CD645}"/>
              </a:ext>
            </a:extLst>
          </p:cNvPr>
          <p:cNvSpPr txBox="1"/>
          <p:nvPr/>
        </p:nvSpPr>
        <p:spPr>
          <a:xfrm>
            <a:off x="4041836" y="3983864"/>
            <a:ext cx="489892" cy="279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9F5E83-7DE8-E538-F6DE-A88AB593F9DC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353363" y="3818331"/>
            <a:ext cx="0" cy="388097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AF53FD-A4B0-33E7-3EFE-7CA1AE9D24CD}"/>
              </a:ext>
            </a:extLst>
          </p:cNvPr>
          <p:cNvCxnSpPr>
            <a:cxnSpLocks/>
          </p:cNvCxnSpPr>
          <p:nvPr/>
        </p:nvCxnSpPr>
        <p:spPr>
          <a:xfrm flipH="1">
            <a:off x="3877056" y="4342033"/>
            <a:ext cx="298073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117452-E3E4-F1D4-629B-180056079506}"/>
              </a:ext>
            </a:extLst>
          </p:cNvPr>
          <p:cNvSpPr/>
          <p:nvPr/>
        </p:nvSpPr>
        <p:spPr>
          <a:xfrm>
            <a:off x="2858151" y="4206428"/>
            <a:ext cx="990423" cy="271210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1EFE6B-5F65-B45F-1A08-73ECDF52CDF9}"/>
              </a:ext>
            </a:extLst>
          </p:cNvPr>
          <p:cNvCxnSpPr>
            <a:cxnSpLocks/>
          </p:cNvCxnSpPr>
          <p:nvPr/>
        </p:nvCxnSpPr>
        <p:spPr>
          <a:xfrm>
            <a:off x="4969501" y="4691364"/>
            <a:ext cx="0" cy="273828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61E6F6E-9FC1-165A-CA15-D01925DC4AB9}"/>
              </a:ext>
            </a:extLst>
          </p:cNvPr>
          <p:cNvSpPr txBox="1"/>
          <p:nvPr/>
        </p:nvSpPr>
        <p:spPr>
          <a:xfrm>
            <a:off x="4358154" y="5039943"/>
            <a:ext cx="869118" cy="279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346CD3-73B9-1082-B281-6F00FE330DBB}"/>
              </a:ext>
            </a:extLst>
          </p:cNvPr>
          <p:cNvSpPr/>
          <p:nvPr/>
        </p:nvSpPr>
        <p:spPr>
          <a:xfrm>
            <a:off x="4883902" y="4963442"/>
            <a:ext cx="171198" cy="171198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6ADC86-9EFE-CA57-7650-BE09B426B39A}"/>
              </a:ext>
            </a:extLst>
          </p:cNvPr>
          <p:cNvCxnSpPr>
            <a:cxnSpLocks/>
          </p:cNvCxnSpPr>
          <p:nvPr/>
        </p:nvCxnSpPr>
        <p:spPr>
          <a:xfrm>
            <a:off x="3353362" y="3818331"/>
            <a:ext cx="1597851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Speech Bubble: Rectangle 31">
            <a:extLst>
              <a:ext uri="{FF2B5EF4-FFF2-40B4-BE49-F238E27FC236}">
                <a16:creationId xmlns:a16="http://schemas.microsoft.com/office/drawing/2014/main" id="{97F3CE84-CF7B-8F4B-BEBA-7431B0CF8D49}"/>
              </a:ext>
            </a:extLst>
          </p:cNvPr>
          <p:cNvSpPr/>
          <p:nvPr/>
        </p:nvSpPr>
        <p:spPr>
          <a:xfrm>
            <a:off x="1116273" y="4853669"/>
            <a:ext cx="2300460" cy="652344"/>
          </a:xfrm>
          <a:prstGeom prst="wedgeRectCallout">
            <a:avLst>
              <a:gd name="adj1" fmla="val 35895"/>
              <a:gd name="adj2" fmla="val -9447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Never executed if condition is initially false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8B4669-909F-1979-3DAE-EDB09BE1DB04}"/>
              </a:ext>
            </a:extLst>
          </p:cNvPr>
          <p:cNvSpPr txBox="1"/>
          <p:nvPr/>
        </p:nvSpPr>
        <p:spPr>
          <a:xfrm>
            <a:off x="6256890" y="2166665"/>
            <a:ext cx="2484568" cy="1384995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Action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890D503-1305-DCB6-30AA-59EADA71BBC6}"/>
              </a:ext>
            </a:extLst>
          </p:cNvPr>
          <p:cNvSpPr/>
          <p:nvPr/>
        </p:nvSpPr>
        <p:spPr>
          <a:xfrm>
            <a:off x="9053418" y="3606384"/>
            <a:ext cx="171198" cy="17119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070B4A3-9933-BB5B-D9F3-8C4E051FFE57}"/>
              </a:ext>
            </a:extLst>
          </p:cNvPr>
          <p:cNvCxnSpPr>
            <a:cxnSpLocks/>
          </p:cNvCxnSpPr>
          <p:nvPr/>
        </p:nvCxnSpPr>
        <p:spPr>
          <a:xfrm>
            <a:off x="9139016" y="3777582"/>
            <a:ext cx="0" cy="72879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6FED4BB-4617-FF0A-D92F-1EDC271D6835}"/>
              </a:ext>
            </a:extLst>
          </p:cNvPr>
          <p:cNvSpPr txBox="1"/>
          <p:nvPr/>
        </p:nvSpPr>
        <p:spPr>
          <a:xfrm>
            <a:off x="9333849" y="3551660"/>
            <a:ext cx="86911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</a:rPr>
              <a:t>START</a:t>
            </a:r>
            <a:endParaRPr lang="en-CA" b="1" dirty="0">
              <a:solidFill>
                <a:schemeClr val="accent6"/>
              </a:solidFill>
            </a:endParaRP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D3D0EC2F-1D2A-6157-5245-ECBE02336129}"/>
              </a:ext>
            </a:extLst>
          </p:cNvPr>
          <p:cNvSpPr/>
          <p:nvPr/>
        </p:nvSpPr>
        <p:spPr>
          <a:xfrm>
            <a:off x="6832971" y="4269030"/>
            <a:ext cx="1507119" cy="737918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condition?</a:t>
            </a:r>
            <a:endParaRPr lang="en-CA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D7C847-B225-AE19-BCAE-456DE18D8391}"/>
              </a:ext>
            </a:extLst>
          </p:cNvPr>
          <p:cNvSpPr txBox="1"/>
          <p:nvPr/>
        </p:nvSpPr>
        <p:spPr>
          <a:xfrm>
            <a:off x="7619759" y="4907235"/>
            <a:ext cx="44908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</a:rPr>
              <a:t>No</a:t>
            </a:r>
            <a:endParaRPr lang="en-CA" b="1" dirty="0">
              <a:solidFill>
                <a:schemeClr val="accent6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B40A88-E1D9-18C4-644C-ABD6284E97FC}"/>
              </a:ext>
            </a:extLst>
          </p:cNvPr>
          <p:cNvSpPr txBox="1"/>
          <p:nvPr/>
        </p:nvSpPr>
        <p:spPr>
          <a:xfrm>
            <a:off x="7114926" y="4001188"/>
            <a:ext cx="48989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accent6"/>
                </a:solidFill>
              </a:rPr>
              <a:t>Yes</a:t>
            </a:r>
            <a:endParaRPr lang="en-CA" b="1" dirty="0">
              <a:solidFill>
                <a:schemeClr val="accent6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D58DB0-BED1-0708-F30E-93AADC3EF478}"/>
              </a:ext>
            </a:extLst>
          </p:cNvPr>
          <p:cNvCxnSpPr>
            <a:cxnSpLocks/>
          </p:cNvCxnSpPr>
          <p:nvPr/>
        </p:nvCxnSpPr>
        <p:spPr>
          <a:xfrm flipV="1">
            <a:off x="7586530" y="3934329"/>
            <a:ext cx="0" cy="34384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9BF954-0772-0317-A809-CDBEAC8A95E9}"/>
              </a:ext>
            </a:extLst>
          </p:cNvPr>
          <p:cNvCxnSpPr>
            <a:cxnSpLocks/>
          </p:cNvCxnSpPr>
          <p:nvPr/>
        </p:nvCxnSpPr>
        <p:spPr>
          <a:xfrm flipH="1">
            <a:off x="8354297" y="4637989"/>
            <a:ext cx="298073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B8B1EB2-7404-CF2C-3AB6-A7666527CB59}"/>
              </a:ext>
            </a:extLst>
          </p:cNvPr>
          <p:cNvSpPr/>
          <p:nvPr/>
        </p:nvSpPr>
        <p:spPr>
          <a:xfrm>
            <a:off x="8652370" y="4506376"/>
            <a:ext cx="990423" cy="2712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A92F819-0082-7880-A55B-ACFD6CC5CECC}"/>
              </a:ext>
            </a:extLst>
          </p:cNvPr>
          <p:cNvCxnSpPr>
            <a:cxnSpLocks/>
          </p:cNvCxnSpPr>
          <p:nvPr/>
        </p:nvCxnSpPr>
        <p:spPr>
          <a:xfrm>
            <a:off x="7586530" y="5003604"/>
            <a:ext cx="0" cy="27382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AB94187-FB38-9A40-98EA-5E2185FCF5EE}"/>
              </a:ext>
            </a:extLst>
          </p:cNvPr>
          <p:cNvSpPr txBox="1"/>
          <p:nvPr/>
        </p:nvSpPr>
        <p:spPr>
          <a:xfrm>
            <a:off x="6975183" y="5352183"/>
            <a:ext cx="86911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</a:rPr>
              <a:t>END</a:t>
            </a:r>
            <a:endParaRPr lang="en-CA" b="1" dirty="0">
              <a:solidFill>
                <a:schemeClr val="accent6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A237E79-3B22-0B2A-60BF-707AF7235382}"/>
              </a:ext>
            </a:extLst>
          </p:cNvPr>
          <p:cNvSpPr/>
          <p:nvPr/>
        </p:nvSpPr>
        <p:spPr>
          <a:xfrm>
            <a:off x="7500931" y="5275682"/>
            <a:ext cx="171198" cy="17119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D22C6AA-7122-6FF1-5F84-0A24EAF8DCFF}"/>
              </a:ext>
            </a:extLst>
          </p:cNvPr>
          <p:cNvCxnSpPr>
            <a:cxnSpLocks/>
          </p:cNvCxnSpPr>
          <p:nvPr/>
        </p:nvCxnSpPr>
        <p:spPr>
          <a:xfrm>
            <a:off x="7586530" y="3934329"/>
            <a:ext cx="155248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Speech Bubble: Rectangle 70">
            <a:extLst>
              <a:ext uri="{FF2B5EF4-FFF2-40B4-BE49-F238E27FC236}">
                <a16:creationId xmlns:a16="http://schemas.microsoft.com/office/drawing/2014/main" id="{75DCC16F-2B5D-4AD0-D064-E8DDE7B5DA76}"/>
              </a:ext>
            </a:extLst>
          </p:cNvPr>
          <p:cNvSpPr/>
          <p:nvPr/>
        </p:nvSpPr>
        <p:spPr>
          <a:xfrm>
            <a:off x="8888626" y="5242108"/>
            <a:ext cx="2300460" cy="652344"/>
          </a:xfrm>
          <a:prstGeom prst="wedgeRectCallout">
            <a:avLst>
              <a:gd name="adj1" fmla="val -35652"/>
              <a:gd name="adj2" fmla="val -114095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Guaranteed minimally one execution!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54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4" grpId="0"/>
      <p:bldP spid="15" grpId="0" animBg="1"/>
      <p:bldP spid="16" grpId="0"/>
      <p:bldP spid="17" grpId="0"/>
      <p:bldP spid="20" grpId="0" animBg="1"/>
      <p:bldP spid="22" grpId="0"/>
      <p:bldP spid="23" grpId="0" animBg="1"/>
      <p:bldP spid="32" grpId="0" animBg="1"/>
      <p:bldP spid="47" grpId="0" animBg="1"/>
      <p:bldP spid="48" grpId="0" animBg="1"/>
      <p:bldP spid="50" grpId="0"/>
      <p:bldP spid="51" grpId="0" animBg="1"/>
      <p:bldP spid="52" grpId="0"/>
      <p:bldP spid="53" grpId="0"/>
      <p:bldP spid="56" grpId="0" animBg="1"/>
      <p:bldP spid="58" grpId="0"/>
      <p:bldP spid="59" grpId="0" animBg="1"/>
      <p:bldP spid="7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342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– do…while loop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Guaranteed Execution Conditional Repetition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– Do these two sets of code behave identically </a:t>
            </a:r>
            <a:r>
              <a:rPr lang="en-CA" b="1" u="sng" dirty="0"/>
              <a:t>all the time</a:t>
            </a:r>
            <a:r>
              <a:rPr lang="en-CA" dirty="0"/>
              <a:t>?  If not, when will they differ?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Assumption –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and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CA" dirty="0"/>
              <a:t>are both </a:t>
            </a: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/>
              <a:t>.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55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1DE8B-0508-D1C8-D7CB-82F5D71C5926}"/>
              </a:ext>
            </a:extLst>
          </p:cNvPr>
          <p:cNvSpPr txBox="1"/>
          <p:nvPr/>
        </p:nvSpPr>
        <p:spPr>
          <a:xfrm>
            <a:off x="2612002" y="3290247"/>
            <a:ext cx="2651055" cy="1600438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8B4669-909F-1979-3DAE-EDB09BE1DB04}"/>
              </a:ext>
            </a:extLst>
          </p:cNvPr>
          <p:cNvSpPr txBox="1"/>
          <p:nvPr/>
        </p:nvSpPr>
        <p:spPr>
          <a:xfrm>
            <a:off x="6033548" y="3264569"/>
            <a:ext cx="2631078" cy="181588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 );</a:t>
            </a:r>
          </a:p>
        </p:txBody>
      </p:sp>
    </p:spTree>
    <p:extLst>
      <p:ext uri="{BB962C8B-B14F-4D97-AF65-F5344CB8AC3E}">
        <p14:creationId xmlns:p14="http://schemas.microsoft.com/office/powerpoint/2010/main" val="39757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37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Controls – break;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765292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Forced-Exit from Loops / Switch Control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Applicable to </a:t>
            </a:r>
            <a:r>
              <a:rPr lang="en-CA" b="1" dirty="0"/>
              <a:t>for-loop</a:t>
            </a:r>
            <a:r>
              <a:rPr lang="en-CA" dirty="0"/>
              <a:t>, </a:t>
            </a:r>
            <a:r>
              <a:rPr lang="en-CA" b="1" dirty="0"/>
              <a:t>while-loop</a:t>
            </a:r>
            <a:r>
              <a:rPr lang="en-CA" dirty="0"/>
              <a:t>, </a:t>
            </a:r>
            <a:r>
              <a:rPr lang="en-CA" b="1" dirty="0"/>
              <a:t>do-while-loop</a:t>
            </a:r>
            <a:r>
              <a:rPr lang="en-CA" dirty="0"/>
              <a:t>, and </a:t>
            </a:r>
            <a:r>
              <a:rPr lang="en-CA" b="1" dirty="0"/>
              <a:t>switch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 does it work?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56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25CDD-2617-DD61-5528-4C44A96F5D57}"/>
              </a:ext>
            </a:extLst>
          </p:cNvPr>
          <p:cNvSpPr txBox="1"/>
          <p:nvPr/>
        </p:nvSpPr>
        <p:spPr>
          <a:xfrm>
            <a:off x="2156574" y="2858905"/>
            <a:ext cx="2872515" cy="246221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 = 0;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x != 99 )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(“Input: 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&amp;x);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if(x % 5 == 1)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(“x = %d ”, x);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(“end”);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D471B0-38CE-325F-04B0-5C0F773C98E7}"/>
              </a:ext>
            </a:extLst>
          </p:cNvPr>
          <p:cNvSpPr/>
          <p:nvPr/>
        </p:nvSpPr>
        <p:spPr>
          <a:xfrm>
            <a:off x="9706360" y="2335157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C32E31-35C2-11B8-2CE6-E4DDA82809BC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9809935" y="2542307"/>
            <a:ext cx="1" cy="1179168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218827-FC6A-D93C-A03A-4EA86062A4F7}"/>
              </a:ext>
            </a:extLst>
          </p:cNvPr>
          <p:cNvSpPr txBox="1"/>
          <p:nvPr/>
        </p:nvSpPr>
        <p:spPr>
          <a:xfrm>
            <a:off x="9913510" y="2269030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EB6EA39B-0EB3-0D41-A0B1-95C2CC6D85E5}"/>
              </a:ext>
            </a:extLst>
          </p:cNvPr>
          <p:cNvSpPr/>
          <p:nvPr/>
        </p:nvSpPr>
        <p:spPr>
          <a:xfrm>
            <a:off x="9056376" y="3721475"/>
            <a:ext cx="1507119" cy="737918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!= 99?</a:t>
            </a:r>
            <a:endParaRPr lang="en-CA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792D54-86AA-0705-0439-4D6BBB407CFE}"/>
              </a:ext>
            </a:extLst>
          </p:cNvPr>
          <p:cNvSpPr txBox="1"/>
          <p:nvPr/>
        </p:nvSpPr>
        <p:spPr>
          <a:xfrm>
            <a:off x="9827788" y="4379415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1EAA1-E865-754F-6E9C-A670DF9D782C}"/>
              </a:ext>
            </a:extLst>
          </p:cNvPr>
          <p:cNvSpPr txBox="1"/>
          <p:nvPr/>
        </p:nvSpPr>
        <p:spPr>
          <a:xfrm>
            <a:off x="8699685" y="3699559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F79729-F487-105B-A890-4CC105219326}"/>
              </a:ext>
            </a:extLst>
          </p:cNvPr>
          <p:cNvCxnSpPr>
            <a:cxnSpLocks/>
          </p:cNvCxnSpPr>
          <p:nvPr/>
        </p:nvCxnSpPr>
        <p:spPr>
          <a:xfrm flipH="1">
            <a:off x="8577943" y="4091732"/>
            <a:ext cx="473435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A3DBC7-AE75-6137-87C5-B919275A910F}"/>
              </a:ext>
            </a:extLst>
          </p:cNvPr>
          <p:cNvSpPr/>
          <p:nvPr/>
        </p:nvSpPr>
        <p:spPr>
          <a:xfrm>
            <a:off x="7374533" y="3932551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Input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0DBDC3-2C36-CCF4-6E1C-5577AEE4B5B6}"/>
              </a:ext>
            </a:extLst>
          </p:cNvPr>
          <p:cNvCxnSpPr>
            <a:cxnSpLocks/>
          </p:cNvCxnSpPr>
          <p:nvPr/>
        </p:nvCxnSpPr>
        <p:spPr>
          <a:xfrm>
            <a:off x="9817013" y="4458497"/>
            <a:ext cx="0" cy="1032131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760F2D-C556-8BC2-6DF7-BBE6D71D9567}"/>
              </a:ext>
            </a:extLst>
          </p:cNvPr>
          <p:cNvSpPr txBox="1"/>
          <p:nvPr/>
        </p:nvSpPr>
        <p:spPr>
          <a:xfrm>
            <a:off x="9170815" y="5426392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26571C-4E79-44EE-9525-1779482629FA}"/>
              </a:ext>
            </a:extLst>
          </p:cNvPr>
          <p:cNvSpPr/>
          <p:nvPr/>
        </p:nvSpPr>
        <p:spPr>
          <a:xfrm>
            <a:off x="9712719" y="5490628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6631D3-BA5E-66BC-5F87-0A4E97C04237}"/>
              </a:ext>
            </a:extLst>
          </p:cNvPr>
          <p:cNvCxnSpPr>
            <a:cxnSpLocks/>
          </p:cNvCxnSpPr>
          <p:nvPr/>
        </p:nvCxnSpPr>
        <p:spPr>
          <a:xfrm>
            <a:off x="6283746" y="3423319"/>
            <a:ext cx="0" cy="31857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CD0410-4EF1-A7A4-3408-FFCADA39BEDC}"/>
              </a:ext>
            </a:extLst>
          </p:cNvPr>
          <p:cNvCxnSpPr>
            <a:cxnSpLocks/>
          </p:cNvCxnSpPr>
          <p:nvPr/>
        </p:nvCxnSpPr>
        <p:spPr>
          <a:xfrm>
            <a:off x="6285764" y="3423319"/>
            <a:ext cx="967829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D13D71E-693D-73CE-46AE-F3F1AA271E21}"/>
              </a:ext>
            </a:extLst>
          </p:cNvPr>
          <p:cNvSpPr/>
          <p:nvPr/>
        </p:nvSpPr>
        <p:spPr>
          <a:xfrm>
            <a:off x="9186726" y="2783330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x = 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BD49883-7D3E-A4D2-E010-7CD976561389}"/>
              </a:ext>
            </a:extLst>
          </p:cNvPr>
          <p:cNvSpPr/>
          <p:nvPr/>
        </p:nvSpPr>
        <p:spPr>
          <a:xfrm>
            <a:off x="9210729" y="4985711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Prog</a:t>
            </a: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23A3D625-EF42-0CFB-18E0-43D8FE276DAD}"/>
              </a:ext>
            </a:extLst>
          </p:cNvPr>
          <p:cNvSpPr/>
          <p:nvPr/>
        </p:nvSpPr>
        <p:spPr>
          <a:xfrm>
            <a:off x="5533962" y="3741892"/>
            <a:ext cx="1507119" cy="737918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% 5 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 1?</a:t>
            </a:r>
            <a:endParaRPr lang="en-CA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6A4258-CE12-8947-CF39-95E05718CBDB}"/>
              </a:ext>
            </a:extLst>
          </p:cNvPr>
          <p:cNvCxnSpPr>
            <a:cxnSpLocks/>
          </p:cNvCxnSpPr>
          <p:nvPr/>
        </p:nvCxnSpPr>
        <p:spPr>
          <a:xfrm flipH="1">
            <a:off x="7054232" y="4110851"/>
            <a:ext cx="320301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57D6032-32DE-51F7-2679-5C53447F2AFB}"/>
              </a:ext>
            </a:extLst>
          </p:cNvPr>
          <p:cNvCxnSpPr>
            <a:cxnSpLocks/>
          </p:cNvCxnSpPr>
          <p:nvPr/>
        </p:nvCxnSpPr>
        <p:spPr>
          <a:xfrm>
            <a:off x="6292455" y="4458497"/>
            <a:ext cx="0" cy="1918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7F8DDF-9AD3-5AAC-CEE0-4A2117DA29BA}"/>
              </a:ext>
            </a:extLst>
          </p:cNvPr>
          <p:cNvCxnSpPr>
            <a:cxnSpLocks/>
          </p:cNvCxnSpPr>
          <p:nvPr/>
        </p:nvCxnSpPr>
        <p:spPr>
          <a:xfrm>
            <a:off x="6293805" y="4659086"/>
            <a:ext cx="35241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032923B-D05A-AB5E-CCE0-69CA92EC9B26}"/>
              </a:ext>
            </a:extLst>
          </p:cNvPr>
          <p:cNvSpPr txBox="1"/>
          <p:nvPr/>
        </p:nvSpPr>
        <p:spPr>
          <a:xfrm>
            <a:off x="5782649" y="4389323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4B068B-AC7F-31C8-A27F-9353C179BD34}"/>
              </a:ext>
            </a:extLst>
          </p:cNvPr>
          <p:cNvSpPr txBox="1"/>
          <p:nvPr/>
        </p:nvSpPr>
        <p:spPr>
          <a:xfrm>
            <a:off x="5849003" y="3418537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6EB3454-EAEC-C447-D840-B61E99EB729B}"/>
              </a:ext>
            </a:extLst>
          </p:cNvPr>
          <p:cNvSpPr/>
          <p:nvPr/>
        </p:nvSpPr>
        <p:spPr>
          <a:xfrm>
            <a:off x="7253593" y="3241928"/>
            <a:ext cx="1450078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 Input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F5D0BB7-9DB0-9962-4402-5D6F9E5B5507}"/>
              </a:ext>
            </a:extLst>
          </p:cNvPr>
          <p:cNvCxnSpPr>
            <a:cxnSpLocks/>
          </p:cNvCxnSpPr>
          <p:nvPr/>
        </p:nvCxnSpPr>
        <p:spPr>
          <a:xfrm>
            <a:off x="8702811" y="3406010"/>
            <a:ext cx="1083121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E21FD21B-15B3-29C5-7990-75F08903017A}"/>
              </a:ext>
            </a:extLst>
          </p:cNvPr>
          <p:cNvSpPr/>
          <p:nvPr/>
        </p:nvSpPr>
        <p:spPr>
          <a:xfrm>
            <a:off x="5948100" y="4990342"/>
            <a:ext cx="2300460" cy="652344"/>
          </a:xfrm>
          <a:prstGeom prst="wedgeRectCallout">
            <a:avLst>
              <a:gd name="adj1" fmla="val 35895"/>
              <a:gd name="adj2" fmla="val -94471"/>
            </a:avLst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r>
              <a:rPr lang="en-US" sz="1600" dirty="0">
                <a:solidFill>
                  <a:schemeClr val="tx1"/>
                </a:solidFill>
              </a:rPr>
              <a:t> leads to early escape of the loop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0" name="Arrow: Curved Right 49">
            <a:extLst>
              <a:ext uri="{FF2B5EF4-FFF2-40B4-BE49-F238E27FC236}">
                <a16:creationId xmlns:a16="http://schemas.microsoft.com/office/drawing/2014/main" id="{53481118-043B-566A-CFD0-359190F24781}"/>
              </a:ext>
            </a:extLst>
          </p:cNvPr>
          <p:cNvSpPr/>
          <p:nvPr/>
        </p:nvSpPr>
        <p:spPr>
          <a:xfrm flipH="1">
            <a:off x="3875358" y="4479810"/>
            <a:ext cx="466268" cy="741414"/>
          </a:xfrm>
          <a:prstGeom prst="curvedRightArrow">
            <a:avLst>
              <a:gd name="adj1" fmla="val 25000"/>
              <a:gd name="adj2" fmla="val 35999"/>
              <a:gd name="adj3" fmla="val 387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663CB2-EA4D-1021-56BF-DFAB7AD4931A}"/>
              </a:ext>
            </a:extLst>
          </p:cNvPr>
          <p:cNvCxnSpPr/>
          <p:nvPr/>
        </p:nvCxnSpPr>
        <p:spPr>
          <a:xfrm>
            <a:off x="2612002" y="4727877"/>
            <a:ext cx="230747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28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/>
      <p:bldP spid="11" grpId="0" animBg="1"/>
      <p:bldP spid="12" grpId="0"/>
      <p:bldP spid="14" grpId="0"/>
      <p:bldP spid="17" grpId="0" animBg="1"/>
      <p:bldP spid="19" grpId="0"/>
      <p:bldP spid="20" grpId="0" animBg="1"/>
      <p:bldP spid="23" grpId="0" animBg="1"/>
      <p:bldP spid="24" grpId="0" animBg="1"/>
      <p:bldP spid="27" grpId="0" animBg="1"/>
      <p:bldP spid="39" grpId="0"/>
      <p:bldP spid="40" grpId="0"/>
      <p:bldP spid="42" grpId="0" animBg="1"/>
      <p:bldP spid="49" grpId="0" animBg="1"/>
      <p:bldP spid="5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637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Controls – continue;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765292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Forced-Exit from Loops / Switch Control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Applicable to </a:t>
            </a:r>
            <a:r>
              <a:rPr lang="en-CA" b="1" dirty="0"/>
              <a:t>for-loop</a:t>
            </a:r>
            <a:r>
              <a:rPr lang="en-CA" dirty="0"/>
              <a:t>, </a:t>
            </a:r>
            <a:r>
              <a:rPr lang="en-CA" b="1" dirty="0"/>
              <a:t>while-loop</a:t>
            </a:r>
            <a:r>
              <a:rPr lang="en-CA" dirty="0"/>
              <a:t>, </a:t>
            </a:r>
            <a:r>
              <a:rPr lang="en-CA" b="1" dirty="0"/>
              <a:t>do-while-loop</a:t>
            </a:r>
            <a:r>
              <a:rPr lang="en-CA" dirty="0"/>
              <a:t>, and </a:t>
            </a:r>
            <a:r>
              <a:rPr lang="en-CA" b="1" dirty="0"/>
              <a:t>switch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 does it work?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57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25CDD-2617-DD61-5528-4C44A96F5D57}"/>
              </a:ext>
            </a:extLst>
          </p:cNvPr>
          <p:cNvSpPr txBox="1"/>
          <p:nvPr/>
        </p:nvSpPr>
        <p:spPr>
          <a:xfrm>
            <a:off x="2156574" y="2858905"/>
            <a:ext cx="2872515" cy="246221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 = 0;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x != 99 )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(“Input: 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&amp;x);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if(x % 5 == 1)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(“x = %d ”, x);</a:t>
            </a:r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(“end”);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D471B0-38CE-325F-04B0-5C0F773C98E7}"/>
              </a:ext>
            </a:extLst>
          </p:cNvPr>
          <p:cNvSpPr/>
          <p:nvPr/>
        </p:nvSpPr>
        <p:spPr>
          <a:xfrm>
            <a:off x="10113095" y="2507128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C32E31-35C2-11B8-2CE6-E4DDA82809BC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10216670" y="2714278"/>
            <a:ext cx="1" cy="1462632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218827-FC6A-D93C-A03A-4EA86062A4F7}"/>
              </a:ext>
            </a:extLst>
          </p:cNvPr>
          <p:cNvSpPr txBox="1"/>
          <p:nvPr/>
        </p:nvSpPr>
        <p:spPr>
          <a:xfrm>
            <a:off x="10320245" y="2441001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START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EB6EA39B-0EB3-0D41-A0B1-95C2CC6D85E5}"/>
              </a:ext>
            </a:extLst>
          </p:cNvPr>
          <p:cNvSpPr/>
          <p:nvPr/>
        </p:nvSpPr>
        <p:spPr>
          <a:xfrm>
            <a:off x="9463111" y="4176910"/>
            <a:ext cx="1507119" cy="737918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!= 99?</a:t>
            </a:r>
            <a:endParaRPr lang="en-CA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792D54-86AA-0705-0439-4D6BBB407CFE}"/>
              </a:ext>
            </a:extLst>
          </p:cNvPr>
          <p:cNvSpPr txBox="1"/>
          <p:nvPr/>
        </p:nvSpPr>
        <p:spPr>
          <a:xfrm>
            <a:off x="10234523" y="4834850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1EAA1-E865-754F-6E9C-A670DF9D782C}"/>
              </a:ext>
            </a:extLst>
          </p:cNvPr>
          <p:cNvSpPr txBox="1"/>
          <p:nvPr/>
        </p:nvSpPr>
        <p:spPr>
          <a:xfrm>
            <a:off x="9106420" y="4154994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F79729-F487-105B-A890-4CC105219326}"/>
              </a:ext>
            </a:extLst>
          </p:cNvPr>
          <p:cNvCxnSpPr>
            <a:cxnSpLocks/>
          </p:cNvCxnSpPr>
          <p:nvPr/>
        </p:nvCxnSpPr>
        <p:spPr>
          <a:xfrm flipH="1">
            <a:off x="8984678" y="4547167"/>
            <a:ext cx="473435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A3DBC7-AE75-6137-87C5-B919275A910F}"/>
              </a:ext>
            </a:extLst>
          </p:cNvPr>
          <p:cNvSpPr/>
          <p:nvPr/>
        </p:nvSpPr>
        <p:spPr>
          <a:xfrm>
            <a:off x="7781268" y="4387986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Input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0DBDC3-2C36-CCF4-6E1C-5577AEE4B5B6}"/>
              </a:ext>
            </a:extLst>
          </p:cNvPr>
          <p:cNvCxnSpPr>
            <a:cxnSpLocks/>
          </p:cNvCxnSpPr>
          <p:nvPr/>
        </p:nvCxnSpPr>
        <p:spPr>
          <a:xfrm>
            <a:off x="10223748" y="4913932"/>
            <a:ext cx="0" cy="1032131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760F2D-C556-8BC2-6DF7-BBE6D71D9567}"/>
              </a:ext>
            </a:extLst>
          </p:cNvPr>
          <p:cNvSpPr txBox="1"/>
          <p:nvPr/>
        </p:nvSpPr>
        <p:spPr>
          <a:xfrm>
            <a:off x="9577550" y="5644083"/>
            <a:ext cx="1051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END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26571C-4E79-44EE-9525-1779482629FA}"/>
              </a:ext>
            </a:extLst>
          </p:cNvPr>
          <p:cNvSpPr/>
          <p:nvPr/>
        </p:nvSpPr>
        <p:spPr>
          <a:xfrm>
            <a:off x="10119454" y="5708319"/>
            <a:ext cx="207150" cy="207150"/>
          </a:xfrm>
          <a:prstGeom prst="ellipse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6631D3-BA5E-66BC-5F87-0A4E97C04237}"/>
              </a:ext>
            </a:extLst>
          </p:cNvPr>
          <p:cNvCxnSpPr>
            <a:cxnSpLocks/>
          </p:cNvCxnSpPr>
          <p:nvPr/>
        </p:nvCxnSpPr>
        <p:spPr>
          <a:xfrm>
            <a:off x="6690481" y="3878754"/>
            <a:ext cx="0" cy="318573"/>
          </a:xfrm>
          <a:prstGeom prst="line">
            <a:avLst/>
          </a:prstGeom>
          <a:ln>
            <a:solidFill>
              <a:srgbClr val="7F1F1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CD0410-4EF1-A7A4-3408-FFCADA39BEDC}"/>
              </a:ext>
            </a:extLst>
          </p:cNvPr>
          <p:cNvCxnSpPr>
            <a:cxnSpLocks/>
          </p:cNvCxnSpPr>
          <p:nvPr/>
        </p:nvCxnSpPr>
        <p:spPr>
          <a:xfrm>
            <a:off x="6692499" y="3878754"/>
            <a:ext cx="967829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D13D71E-693D-73CE-46AE-F3F1AA271E21}"/>
              </a:ext>
            </a:extLst>
          </p:cNvPr>
          <p:cNvSpPr/>
          <p:nvPr/>
        </p:nvSpPr>
        <p:spPr>
          <a:xfrm>
            <a:off x="9593461" y="2955301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x = 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BD49883-7D3E-A4D2-E010-7CD976561389}"/>
              </a:ext>
            </a:extLst>
          </p:cNvPr>
          <p:cNvSpPr/>
          <p:nvPr/>
        </p:nvSpPr>
        <p:spPr>
          <a:xfrm>
            <a:off x="9617464" y="5203402"/>
            <a:ext cx="1198412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Prog</a:t>
            </a: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23A3D625-EF42-0CFB-18E0-43D8FE276DAD}"/>
              </a:ext>
            </a:extLst>
          </p:cNvPr>
          <p:cNvSpPr/>
          <p:nvPr/>
        </p:nvSpPr>
        <p:spPr>
          <a:xfrm>
            <a:off x="5940697" y="4197327"/>
            <a:ext cx="1507119" cy="737918"/>
          </a:xfrm>
          <a:prstGeom prst="diamond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% 5 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 1?</a:t>
            </a:r>
            <a:endParaRPr lang="en-CA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6A4258-CE12-8947-CF39-95E05718CBDB}"/>
              </a:ext>
            </a:extLst>
          </p:cNvPr>
          <p:cNvCxnSpPr>
            <a:cxnSpLocks/>
          </p:cNvCxnSpPr>
          <p:nvPr/>
        </p:nvCxnSpPr>
        <p:spPr>
          <a:xfrm flipH="1">
            <a:off x="7460967" y="4566286"/>
            <a:ext cx="320301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57D6032-32DE-51F7-2679-5C53447F2AFB}"/>
              </a:ext>
            </a:extLst>
          </p:cNvPr>
          <p:cNvCxnSpPr>
            <a:cxnSpLocks/>
          </p:cNvCxnSpPr>
          <p:nvPr/>
        </p:nvCxnSpPr>
        <p:spPr>
          <a:xfrm>
            <a:off x="5720782" y="3526169"/>
            <a:ext cx="0" cy="1040117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7F8DDF-9AD3-5AAC-CEE0-4A2117DA29BA}"/>
              </a:ext>
            </a:extLst>
          </p:cNvPr>
          <p:cNvCxnSpPr>
            <a:cxnSpLocks/>
          </p:cNvCxnSpPr>
          <p:nvPr/>
        </p:nvCxnSpPr>
        <p:spPr>
          <a:xfrm>
            <a:off x="5710255" y="3526169"/>
            <a:ext cx="45242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032923B-D05A-AB5E-CCE0-69CA92EC9B26}"/>
              </a:ext>
            </a:extLst>
          </p:cNvPr>
          <p:cNvSpPr txBox="1"/>
          <p:nvPr/>
        </p:nvSpPr>
        <p:spPr>
          <a:xfrm>
            <a:off x="5748772" y="4204770"/>
            <a:ext cx="53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7F1F1F"/>
                </a:solidFill>
              </a:rPr>
              <a:t>Yes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4B068B-AC7F-31C8-A27F-9353C179BD34}"/>
              </a:ext>
            </a:extLst>
          </p:cNvPr>
          <p:cNvSpPr txBox="1"/>
          <p:nvPr/>
        </p:nvSpPr>
        <p:spPr>
          <a:xfrm>
            <a:off x="6255738" y="3873972"/>
            <a:ext cx="49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F1F1F"/>
                </a:solidFill>
              </a:rPr>
              <a:t>No</a:t>
            </a:r>
            <a:endParaRPr lang="en-CA" b="1" dirty="0">
              <a:solidFill>
                <a:srgbClr val="7F1F1F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6EB3454-EAEC-C447-D840-B61E99EB729B}"/>
              </a:ext>
            </a:extLst>
          </p:cNvPr>
          <p:cNvSpPr/>
          <p:nvPr/>
        </p:nvSpPr>
        <p:spPr>
          <a:xfrm>
            <a:off x="7660328" y="3697363"/>
            <a:ext cx="1450078" cy="32816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 Input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F5D0BB7-9DB0-9962-4402-5D6F9E5B5507}"/>
              </a:ext>
            </a:extLst>
          </p:cNvPr>
          <p:cNvCxnSpPr>
            <a:cxnSpLocks/>
          </p:cNvCxnSpPr>
          <p:nvPr/>
        </p:nvCxnSpPr>
        <p:spPr>
          <a:xfrm>
            <a:off x="9109546" y="3861445"/>
            <a:ext cx="1083121" cy="0"/>
          </a:xfrm>
          <a:prstGeom prst="straightConnector1">
            <a:avLst/>
          </a:prstGeom>
          <a:ln>
            <a:solidFill>
              <a:srgbClr val="7F1F1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E21FD21B-15B3-29C5-7990-75F08903017A}"/>
              </a:ext>
            </a:extLst>
          </p:cNvPr>
          <p:cNvSpPr/>
          <p:nvPr/>
        </p:nvSpPr>
        <p:spPr>
          <a:xfrm>
            <a:off x="5480808" y="2530519"/>
            <a:ext cx="2300460" cy="652344"/>
          </a:xfrm>
          <a:prstGeom prst="wedgeRectCallout">
            <a:avLst>
              <a:gd name="adj1" fmla="val 33908"/>
              <a:gd name="adj2" fmla="val 93359"/>
            </a:avLst>
          </a:prstGeom>
          <a:solidFill>
            <a:srgbClr val="FFDDDD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continue;</a:t>
            </a:r>
            <a:r>
              <a:rPr lang="en-US" sz="1600" dirty="0">
                <a:solidFill>
                  <a:schemeClr val="tx1"/>
                </a:solidFill>
              </a:rPr>
              <a:t> leads to early fast-track of the iteration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0" name="Arrow: Curved Right 49">
            <a:extLst>
              <a:ext uri="{FF2B5EF4-FFF2-40B4-BE49-F238E27FC236}">
                <a16:creationId xmlns:a16="http://schemas.microsoft.com/office/drawing/2014/main" id="{53481118-043B-566A-CFD0-359190F24781}"/>
              </a:ext>
            </a:extLst>
          </p:cNvPr>
          <p:cNvSpPr/>
          <p:nvPr/>
        </p:nvSpPr>
        <p:spPr>
          <a:xfrm flipH="1" flipV="1">
            <a:off x="4438221" y="3406010"/>
            <a:ext cx="466268" cy="1073800"/>
          </a:xfrm>
          <a:prstGeom prst="curvedRightArrow">
            <a:avLst>
              <a:gd name="adj1" fmla="val 25000"/>
              <a:gd name="adj2" fmla="val 35999"/>
              <a:gd name="adj3" fmla="val 387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663CB2-EA4D-1021-56BF-DFAB7AD4931A}"/>
              </a:ext>
            </a:extLst>
          </p:cNvPr>
          <p:cNvCxnSpPr/>
          <p:nvPr/>
        </p:nvCxnSpPr>
        <p:spPr>
          <a:xfrm>
            <a:off x="2612002" y="4727877"/>
            <a:ext cx="230747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F3372D-1EB8-81ED-F717-856B8E8B847D}"/>
              </a:ext>
            </a:extLst>
          </p:cNvPr>
          <p:cNvCxnSpPr>
            <a:cxnSpLocks/>
          </p:cNvCxnSpPr>
          <p:nvPr/>
        </p:nvCxnSpPr>
        <p:spPr>
          <a:xfrm flipH="1">
            <a:off x="5719399" y="4572878"/>
            <a:ext cx="228777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55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/>
      <p:bldP spid="11" grpId="0" animBg="1"/>
      <p:bldP spid="12" grpId="0"/>
      <p:bldP spid="14" grpId="0"/>
      <p:bldP spid="17" grpId="0" animBg="1"/>
      <p:bldP spid="19" grpId="0"/>
      <p:bldP spid="20" grpId="0" animBg="1"/>
      <p:bldP spid="23" grpId="0" animBg="1"/>
      <p:bldP spid="24" grpId="0" animBg="1"/>
      <p:bldP spid="27" grpId="0" animBg="1"/>
      <p:bldP spid="39" grpId="0"/>
      <p:bldP spid="40" grpId="0"/>
      <p:bldP spid="42" grpId="0" animBg="1"/>
      <p:bldP spid="49" grpId="0" animBg="1"/>
      <p:bldP spid="5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8473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Controls – break; vs. continue;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1 – What are the outputs?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58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1DE8B-0508-D1C8-D7CB-82F5D71C5926}"/>
              </a:ext>
            </a:extLst>
          </p:cNvPr>
          <p:cNvSpPr txBox="1"/>
          <p:nvPr/>
        </p:nvSpPr>
        <p:spPr>
          <a:xfrm>
            <a:off x="2295848" y="2278154"/>
            <a:ext cx="2687632" cy="2031325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&lt; 4 )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 2 == 0 )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(“Done”);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95A07-CB9F-F42A-091F-34027F3EB6EC}"/>
              </a:ext>
            </a:extLst>
          </p:cNvPr>
          <p:cNvSpPr txBox="1"/>
          <p:nvPr/>
        </p:nvSpPr>
        <p:spPr>
          <a:xfrm>
            <a:off x="5968688" y="2278153"/>
            <a:ext cx="2687632" cy="2031325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&lt; 4 )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% 2 == 0 )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(“Done”);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6D636675-AE0C-1F83-7258-54C63723F6FC}"/>
              </a:ext>
            </a:extLst>
          </p:cNvPr>
          <p:cNvSpPr/>
          <p:nvPr/>
        </p:nvSpPr>
        <p:spPr>
          <a:xfrm>
            <a:off x="9185543" y="5425826"/>
            <a:ext cx="2026954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L3Ex11-bvcEx1.c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05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8473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Controls – break; vs. continue;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2 – What are the outputs?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59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1DE8B-0508-D1C8-D7CB-82F5D71C5926}"/>
              </a:ext>
            </a:extLst>
          </p:cNvPr>
          <p:cNvSpPr txBox="1"/>
          <p:nvPr/>
        </p:nvSpPr>
        <p:spPr>
          <a:xfrm>
            <a:off x="1120115" y="2510515"/>
            <a:ext cx="2983774" cy="138499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3, j;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j = 1; j &lt;= 5;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C528C8-A143-EAE2-83E4-265227DBE506}"/>
              </a:ext>
            </a:extLst>
          </p:cNvPr>
          <p:cNvSpPr txBox="1"/>
          <p:nvPr/>
        </p:nvSpPr>
        <p:spPr>
          <a:xfrm>
            <a:off x="4391347" y="2510515"/>
            <a:ext cx="2983774" cy="1815882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3, j;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j = 1; j &lt;= 5;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(j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76A0D-E068-B52C-F993-89A6D3D2B436}"/>
              </a:ext>
            </a:extLst>
          </p:cNvPr>
          <p:cNvSpPr txBox="1"/>
          <p:nvPr/>
        </p:nvSpPr>
        <p:spPr>
          <a:xfrm>
            <a:off x="7749027" y="2529519"/>
            <a:ext cx="2983774" cy="181588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3, j;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j = 1; j &lt;= 5;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(j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13297392-141C-A4B9-CF8D-535C952A5BAF}"/>
              </a:ext>
            </a:extLst>
          </p:cNvPr>
          <p:cNvSpPr/>
          <p:nvPr/>
        </p:nvSpPr>
        <p:spPr>
          <a:xfrm>
            <a:off x="9185543" y="5425826"/>
            <a:ext cx="2026954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L3Ex12-bvcEx2.c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29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8473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Controls – break; vs. continue;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3 – What are the outputs?</a:t>
            </a:r>
          </a:p>
          <a:p>
            <a:pPr lvl="1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60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C528C8-A143-EAE2-83E4-265227DBE506}"/>
              </a:ext>
            </a:extLst>
          </p:cNvPr>
          <p:cNvSpPr txBox="1"/>
          <p:nvPr/>
        </p:nvSpPr>
        <p:spPr>
          <a:xfrm>
            <a:off x="2046109" y="2194826"/>
            <a:ext cx="3513443" cy="2677656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5;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j = 1; j &lt;= 10;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(j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(“\n”);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30E5B-4B0C-1E4A-8D51-8A27FC04D402}"/>
              </a:ext>
            </a:extLst>
          </p:cNvPr>
          <p:cNvSpPr txBox="1"/>
          <p:nvPr/>
        </p:nvSpPr>
        <p:spPr>
          <a:xfrm>
            <a:off x="5846965" y="2194826"/>
            <a:ext cx="3513443" cy="2677656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5;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j = 1; j &lt;= 10;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(j ==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(“*”);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(“\n”);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9C436178-BBFC-713C-C7AE-FDDAE9C3E542}"/>
              </a:ext>
            </a:extLst>
          </p:cNvPr>
          <p:cNvSpPr/>
          <p:nvPr/>
        </p:nvSpPr>
        <p:spPr>
          <a:xfrm>
            <a:off x="9185543" y="5425826"/>
            <a:ext cx="2026954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L3Ex13-bvcEx3.c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99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Console I/O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B23B60-83C2-D555-E32E-E200DE465A8D}"/>
              </a:ext>
            </a:extLst>
          </p:cNvPr>
          <p:cNvSpPr txBox="1"/>
          <p:nvPr/>
        </p:nvSpPr>
        <p:spPr>
          <a:xfrm>
            <a:off x="831850" y="551471"/>
            <a:ext cx="590485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it-IT" sz="2000" b="1" dirty="0">
                <a:solidFill>
                  <a:srgbClr val="7F1F1F"/>
                </a:solidFill>
              </a:rPr>
              <a:t>[PLV 3-3 Part I] Console IO and Sync vs Async IO</a:t>
            </a:r>
            <a:endParaRPr lang="en-CA" sz="2000" b="1" dirty="0">
              <a:solidFill>
                <a:srgbClr val="7F1F1F"/>
              </a:solidFill>
            </a:endParaRPr>
          </a:p>
          <a:p>
            <a:r>
              <a:rPr lang="en-US" sz="2000" b="1" dirty="0">
                <a:solidFill>
                  <a:srgbClr val="7F1F1F"/>
                </a:solidFill>
              </a:rPr>
              <a:t>[PLV 3-3 Part II] Coding Demo of Sync and Async IO</a:t>
            </a:r>
          </a:p>
        </p:txBody>
      </p:sp>
    </p:spTree>
    <p:extLst>
      <p:ext uri="{BB962C8B-B14F-4D97-AF65-F5344CB8AC3E}">
        <p14:creationId xmlns:p14="http://schemas.microsoft.com/office/powerpoint/2010/main" val="13083947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2440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onsole</a:t>
            </a:r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Input and Output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CA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Formatted console input and output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/>
              <a:t>	prints on the console screen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/>
              <a:t>	reads character input from keyboard, performs type conversion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Character input and output through console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putchar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/>
              <a:t>	outputs a single character on to the </a:t>
            </a:r>
            <a:r>
              <a:rPr lang="en-CA" b="1" dirty="0">
                <a:cs typeface="Courier New" panose="02070309020205020404" pitchFamily="49" charset="0"/>
              </a:rPr>
              <a:t>standard output stream</a:t>
            </a:r>
            <a:r>
              <a:rPr lang="en-CA" dirty="0">
                <a:cs typeface="Courier New" panose="02070309020205020404" pitchFamily="49" charset="0"/>
              </a:rPr>
              <a:t> (</a:t>
            </a:r>
            <a:r>
              <a:rPr lang="en-CA" dirty="0"/>
              <a:t>console screen)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/>
              <a:t>	reads a single character input from </a:t>
            </a:r>
            <a:r>
              <a:rPr lang="en-CA" b="1" dirty="0">
                <a:cs typeface="Courier New" panose="02070309020205020404" pitchFamily="49" charset="0"/>
              </a:rPr>
              <a:t>standard input stream</a:t>
            </a:r>
            <a:r>
              <a:rPr lang="en-CA" dirty="0">
                <a:cs typeface="Courier New" panose="02070309020205020404" pitchFamily="49" charset="0"/>
              </a:rPr>
              <a:t> (keyboard)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/>
              <a:t> and 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/>
              <a:t> use conversion specifiers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	%d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	%c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	%f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	%f (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), %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HEX	%x (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ONLY)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Pointer	%p (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ONLY)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754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3684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Console IO – Closer look at </a:t>
            </a:r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format-control-string, argument-list 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Example: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(“sum = %d, avg = %f”, 2 + 3, (2 + 3.0) / 2);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Format Control String (FCS)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Ordinary ASCII characters and conversion specifiers enclosed within “ 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Argument List (AL)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Expressions separated by commas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number of expressions in AL </a:t>
            </a:r>
            <a:r>
              <a:rPr lang="en-CA" b="1" u="sng" dirty="0"/>
              <a:t>MUST MATCH</a:t>
            </a:r>
            <a:r>
              <a:rPr lang="en-CA" dirty="0"/>
              <a:t> the number of conversion specifiers in FCS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End Result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Ordinary characters in FCS are printed as is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Conversion specifiers are replaced with the values of their corresponding expression in 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8080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344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Console IO – Closer look at printf()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101324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latin typeface="Calibri "/>
                <a:cs typeface="Courier New" panose="02070309020205020404" pitchFamily="49" charset="0"/>
              </a:rPr>
              <a:t>Control </a:t>
            </a:r>
            <a:r>
              <a:rPr lang="en-CA" sz="2200" b="1" dirty="0">
                <a:latin typeface="Calibri "/>
                <a:cs typeface="Courier New" panose="02070309020205020404" pitchFamily="49" charset="0"/>
              </a:rPr>
              <a:t>Field Width</a:t>
            </a:r>
            <a:r>
              <a:rPr lang="en-CA" sz="2200" dirty="0">
                <a:latin typeface="Calibri "/>
                <a:cs typeface="Courier New" panose="02070309020205020404" pitchFamily="49" charset="0"/>
              </a:rPr>
              <a:t> for 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2200" dirty="0">
                <a:latin typeface="Calibri "/>
                <a:cs typeface="Courier New" panose="02070309020205020404" pitchFamily="49" charset="0"/>
              </a:rPr>
              <a:t> and 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CA" sz="2200" dirty="0">
                <a:latin typeface="Calibri "/>
                <a:cs typeface="Courier New" panose="02070309020205020404" pitchFamily="49" charset="0"/>
              </a:rPr>
              <a:t> specifiers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alibri "/>
                <a:cs typeface="Courier New" panose="02070309020205020404" pitchFamily="49" charset="0"/>
              </a:rPr>
              <a:t>Ex.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(“%4d%5c”, 34, ‘b’);</a:t>
            </a:r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alibri "/>
                <a:cs typeface="Courier New" panose="02070309020205020404" pitchFamily="49" charset="0"/>
              </a:rPr>
              <a:t>Output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_ _ 3 4 _ _ _ _ b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latin typeface="Calibri "/>
                <a:cs typeface="Courier New" panose="02070309020205020404" pitchFamily="49" charset="0"/>
              </a:rPr>
              <a:t>Control </a:t>
            </a:r>
            <a:r>
              <a:rPr lang="en-CA" sz="2200" b="1" dirty="0">
                <a:latin typeface="Calibri "/>
                <a:cs typeface="Courier New" panose="02070309020205020404" pitchFamily="49" charset="0"/>
              </a:rPr>
              <a:t>Precision </a:t>
            </a:r>
            <a:r>
              <a:rPr lang="en-CA" sz="2200" dirty="0">
                <a:latin typeface="Calibri "/>
                <a:cs typeface="Courier New" panose="02070309020205020404" pitchFamily="49" charset="0"/>
              </a:rPr>
              <a:t>for 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CA" sz="2200" dirty="0">
                <a:latin typeface="Calibri "/>
                <a:cs typeface="Courier New" panose="02070309020205020404" pitchFamily="49" charset="0"/>
              </a:rPr>
              <a:t> and 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sz="2200" dirty="0">
                <a:latin typeface="Calibri "/>
                <a:cs typeface="Courier New" panose="02070309020205020404" pitchFamily="49" charset="0"/>
              </a:rPr>
              <a:t> specifiers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alibri "/>
                <a:cs typeface="Courier New" panose="02070309020205020404" pitchFamily="49" charset="0"/>
              </a:rPr>
              <a:t>Ex.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(“%8.3f,%.2f”, 1.23678, 7.238);</a:t>
            </a:r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alibri "/>
                <a:cs typeface="Courier New" panose="02070309020205020404" pitchFamily="49" charset="0"/>
              </a:rPr>
              <a:t>Output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_ _ _ 1 . 2 3 7 , 7 . 2 4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default precision for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%f</a:t>
            </a:r>
            <a:r>
              <a:rPr lang="en-CA" dirty="0"/>
              <a:t> is 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64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7E9970-C2EC-9211-4C39-AA3B4688B5AE}"/>
              </a:ext>
            </a:extLst>
          </p:cNvPr>
          <p:cNvSpPr/>
          <p:nvPr/>
        </p:nvSpPr>
        <p:spPr>
          <a:xfrm>
            <a:off x="8951638" y="4236234"/>
            <a:ext cx="1691640" cy="74066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CA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CA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CA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22EB69F4-E63A-45FF-69D9-96F13B9C26D4}"/>
              </a:ext>
            </a:extLst>
          </p:cNvPr>
          <p:cNvSpPr/>
          <p:nvPr/>
        </p:nvSpPr>
        <p:spPr>
          <a:xfrm>
            <a:off x="7738951" y="3634481"/>
            <a:ext cx="3003924" cy="346129"/>
          </a:xfrm>
          <a:prstGeom prst="wedgeRectCallout">
            <a:avLst>
              <a:gd name="adj1" fmla="val 14842"/>
              <a:gd name="adj2" fmla="val 19051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B0F0"/>
                </a:solidFill>
              </a:rPr>
              <a:t>m</a:t>
            </a:r>
            <a:r>
              <a:rPr lang="en-US" sz="1600" dirty="0">
                <a:solidFill>
                  <a:schemeClr val="tx1"/>
                </a:solidFill>
              </a:rPr>
              <a:t>: mandate # of total characters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F3887C0-F0BB-12D6-E7D0-F31FC7C51A34}"/>
              </a:ext>
            </a:extLst>
          </p:cNvPr>
          <p:cNvSpPr/>
          <p:nvPr/>
        </p:nvSpPr>
        <p:spPr>
          <a:xfrm>
            <a:off x="8351078" y="5242845"/>
            <a:ext cx="2398414" cy="346129"/>
          </a:xfrm>
          <a:prstGeom prst="wedgeRectCallout">
            <a:avLst>
              <a:gd name="adj1" fmla="val 17181"/>
              <a:gd name="adj2" fmla="val -18462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: # of decimal digits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0BF90-EA64-B0AC-E447-43B169A66E06}"/>
              </a:ext>
            </a:extLst>
          </p:cNvPr>
          <p:cNvSpPr/>
          <p:nvPr/>
        </p:nvSpPr>
        <p:spPr>
          <a:xfrm>
            <a:off x="8777902" y="2454854"/>
            <a:ext cx="2021162" cy="740664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CA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CA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CA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%</a:t>
            </a:r>
            <a:r>
              <a:rPr lang="en-CA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CA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75A740C7-6877-26B0-32EE-8DEFEF923EB4}"/>
              </a:ext>
            </a:extLst>
          </p:cNvPr>
          <p:cNvSpPr/>
          <p:nvPr/>
        </p:nvSpPr>
        <p:spPr>
          <a:xfrm>
            <a:off x="7423539" y="1853101"/>
            <a:ext cx="3634748" cy="346129"/>
          </a:xfrm>
          <a:prstGeom prst="wedgeRectCallout">
            <a:avLst>
              <a:gd name="adj1" fmla="val 17609"/>
              <a:gd name="adj2" fmla="val 16409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k</a:t>
            </a:r>
            <a:r>
              <a:rPr lang="en-US" sz="1600" dirty="0">
                <a:solidFill>
                  <a:schemeClr val="tx1"/>
                </a:solidFill>
              </a:rPr>
              <a:t>: mandate # of total digits / characters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BBE8CDB-70D6-8C6C-EAB6-F679DFD10716}"/>
              </a:ext>
            </a:extLst>
          </p:cNvPr>
          <p:cNvSpPr/>
          <p:nvPr/>
        </p:nvSpPr>
        <p:spPr>
          <a:xfrm>
            <a:off x="5396585" y="5379582"/>
            <a:ext cx="2026954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L3Ex14-printf.c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3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9" grpId="0" animBg="1"/>
      <p:bldP spid="10" grpId="0" animBg="1"/>
      <p:bldP spid="11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2457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Console IO – Closer look at </a:t>
            </a:r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format-control-string, argument-list 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Example: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(“%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d%lf%c%c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”, &amp;v1, &amp;v2, &amp;v3, &amp;v4);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CA" dirty="0"/>
              <a:t> is known informally as the “</a:t>
            </a:r>
            <a:r>
              <a:rPr lang="en-CA" b="1" dirty="0"/>
              <a:t>address operator</a:t>
            </a:r>
            <a:r>
              <a:rPr lang="en-CA" dirty="0"/>
              <a:t>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Gives </a:t>
            </a:r>
            <a:r>
              <a:rPr lang="en-C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/>
              <a:t> the addresses of where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v1 – v4</a:t>
            </a:r>
            <a:r>
              <a:rPr lang="en-CA" dirty="0"/>
              <a:t> are located in memory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Official name is coming in a few weeks…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Numerical Conversion Specifiers -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en-CA" dirty="0"/>
              <a:t>,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%f</a:t>
            </a:r>
            <a:r>
              <a:rPr lang="en-CA" dirty="0"/>
              <a:t>, and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lf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 sequence of characters </a:t>
            </a:r>
            <a:r>
              <a:rPr lang="en-CA" b="1" u="sng" dirty="0"/>
              <a:t>up to the first whitespace</a:t>
            </a:r>
            <a:r>
              <a:rPr lang="en-CA" dirty="0"/>
              <a:t> is read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Then, it’s converted into the values of the corresponding type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Finally, the value is assigned to the corresponding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Character Conversion Specifier -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%c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Next character is read – </a:t>
            </a:r>
            <a:r>
              <a:rPr lang="en-CA" b="1" u="sng" dirty="0"/>
              <a:t>whitespace also counts as a character!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65</a:t>
            </a:fld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FAA17CA-42AF-40F3-ABBB-D6E7A85D84A4}"/>
              </a:ext>
            </a:extLst>
          </p:cNvPr>
          <p:cNvSpPr/>
          <p:nvPr/>
        </p:nvSpPr>
        <p:spPr>
          <a:xfrm>
            <a:off x="8242776" y="4484873"/>
            <a:ext cx="2482582" cy="346129"/>
          </a:xfrm>
          <a:prstGeom prst="wedgeRectCallout">
            <a:avLst>
              <a:gd name="adj1" fmla="val -56245"/>
              <a:gd name="adj2" fmla="val 18522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Do you see any problem?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13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3740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Console IO – Closer look at scanf()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690465" y="1563637"/>
            <a:ext cx="1076752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cs typeface="Courier New" panose="02070309020205020404" pitchFamily="49" charset="0"/>
              </a:rPr>
              <a:t>Heed the Whitespace Character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Example: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(“%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d%lf%c%c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”, &amp;v1, &amp;v2, &amp;v3, &amp;v4);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Input:  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-567 45.8 gf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What are the values stored into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v1-v4</a:t>
            </a:r>
            <a:r>
              <a:rPr lang="en-CA" dirty="0"/>
              <a:t>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Answer: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v1 = -567, v2 = 45.8, v3 = ‘ ‘, v4 = ‘g’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Why this outcome?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 err="1"/>
              <a:t>scanf</a:t>
            </a:r>
            <a:r>
              <a:rPr lang="en-CA" dirty="0"/>
              <a:t>() reads up to the first ‘ ’ for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en-CA" dirty="0"/>
              <a:t> and stores -567 in v1.  The remnant ‘ ’ stays in </a:t>
            </a:r>
            <a:r>
              <a:rPr lang="en-CA" b="1" dirty="0"/>
              <a:t>input stream buffer</a:t>
            </a:r>
            <a:r>
              <a:rPr lang="en-CA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 err="1"/>
              <a:t>scanf</a:t>
            </a:r>
            <a:r>
              <a:rPr lang="en-CA" dirty="0"/>
              <a:t>() reads up to the next ‘ ’ for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lf</a:t>
            </a:r>
            <a:r>
              <a:rPr lang="en-CA" dirty="0"/>
              <a:t>, overwriting anything in the input stream buffer, then stores 45.8 into v2.  The remnant second ‘ ’ stays in </a:t>
            </a:r>
            <a:r>
              <a:rPr lang="en-CA" b="1" dirty="0"/>
              <a:t>input stream buffer</a:t>
            </a:r>
            <a:r>
              <a:rPr lang="en-CA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 err="1"/>
              <a:t>scanf</a:t>
            </a:r>
            <a:r>
              <a:rPr lang="en-CA" dirty="0"/>
              <a:t>() then reads the next character for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%c</a:t>
            </a:r>
            <a:r>
              <a:rPr lang="en-CA" dirty="0"/>
              <a:t>, which happens to be the remnant ‘ ’ already in the input stream buffer.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 err="1"/>
              <a:t>scanf</a:t>
            </a:r>
            <a:r>
              <a:rPr lang="en-CA" dirty="0"/>
              <a:t>() then reads the next character for the second %c, which turns out to be ‘g’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‘f’ is discarded because </a:t>
            </a:r>
            <a:r>
              <a:rPr lang="en-CA" dirty="0" err="1"/>
              <a:t>scanf</a:t>
            </a:r>
            <a:r>
              <a:rPr lang="en-CA" dirty="0"/>
              <a:t>() has filled all four variables through the conversion specifier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773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3740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Console IO – Closer look at scanf()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cs typeface="Courier New" panose="02070309020205020404" pitchFamily="49" charset="0"/>
              </a:rPr>
              <a:t>Heed the Whitespace Character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Example: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(“%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d%lf%c%c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”, &amp;v1, &amp;v2, &amp;v3, &amp;v4);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Input:  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-567 45.8 gf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What are the values stored into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v1-v4</a:t>
            </a:r>
            <a:r>
              <a:rPr lang="en-CA" dirty="0"/>
              <a:t>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Answer: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v1 = -567, v2 = 45.8, v3 = ‘ ‘, v4 = ‘g’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How to fix this behaviour?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Force </a:t>
            </a:r>
            <a:r>
              <a:rPr lang="en-CA" dirty="0" err="1"/>
              <a:t>scanf</a:t>
            </a:r>
            <a:r>
              <a:rPr lang="en-CA" dirty="0"/>
              <a:t>() to expect a </a:t>
            </a:r>
            <a:r>
              <a:rPr lang="en-CA" b="1" dirty="0">
                <a:highlight>
                  <a:srgbClr val="00FFFF"/>
                </a:highlight>
              </a:rPr>
              <a:t>whitespace</a:t>
            </a:r>
            <a:r>
              <a:rPr lang="en-CA" dirty="0"/>
              <a:t> character between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lf</a:t>
            </a:r>
            <a:r>
              <a:rPr lang="en-CA" dirty="0"/>
              <a:t> and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%c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Solution: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(“%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d%lf</a:t>
            </a:r>
            <a:r>
              <a:rPr lang="en-CA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c%c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”, &amp;v1, &amp;v2, &amp;v3, &amp;v4);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Input:  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-567 45.8 gf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Result:	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v1 = -567, v2 = 45.8, v3 = ‘g‘, v4 = ‘f’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cs typeface="Courier New" panose="02070309020205020404" pitchFamily="49" charset="0"/>
              </a:rPr>
              <a:t>General Tip: </a:t>
            </a:r>
            <a:r>
              <a:rPr lang="en-CA" dirty="0">
                <a:cs typeface="Courier New" panose="02070309020205020404" pitchFamily="49" charset="0"/>
              </a:rPr>
              <a:t>For any input characters to be discarded, include them in the FCS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67</a:t>
            </a:fld>
            <a:endParaRPr lang="en-CA" dirty="0"/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2D719A65-09A3-817C-1DDF-02009A70C00A}"/>
              </a:ext>
            </a:extLst>
          </p:cNvPr>
          <p:cNvSpPr/>
          <p:nvPr/>
        </p:nvSpPr>
        <p:spPr>
          <a:xfrm>
            <a:off x="9078441" y="1831710"/>
            <a:ext cx="2026954" cy="418784"/>
          </a:xfrm>
          <a:prstGeom prst="flowChartAlternateProcess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L3Ex15-scanf.c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62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More on C Primitive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Declaration, Initialization, and Usages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Bounds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Passing Arrays into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CA" dirty="0"/>
              <a:t> Qualifier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Multidimensional 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68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26942</TotalTime>
  <Words>7553</Words>
  <Application>Microsoft Office PowerPoint</Application>
  <PresentationFormat>Widescreen</PresentationFormat>
  <Paragraphs>1483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5" baseType="lpstr">
      <vt:lpstr>Arial</vt:lpstr>
      <vt:lpstr>Calibri</vt:lpstr>
      <vt:lpstr>Calibri 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Operators and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Structure - Selection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Structure - Repetition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Console I/O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3 - C Theories</dc:title>
  <dc:creator>Shahrukh Athar</dc:creator>
  <cp:lastModifiedBy>Shahrukh Athar</cp:lastModifiedBy>
  <cp:revision>482</cp:revision>
  <dcterms:created xsi:type="dcterms:W3CDTF">2018-10-02T00:35:18Z</dcterms:created>
  <dcterms:modified xsi:type="dcterms:W3CDTF">2024-09-16T03:04:51Z</dcterms:modified>
</cp:coreProperties>
</file>