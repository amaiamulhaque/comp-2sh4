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64" r:id="rId3"/>
    <p:sldId id="270" r:id="rId4"/>
    <p:sldId id="380" r:id="rId5"/>
    <p:sldId id="381" r:id="rId6"/>
    <p:sldId id="382" r:id="rId7"/>
    <p:sldId id="379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1" r:id="rId16"/>
    <p:sldId id="392" r:id="rId17"/>
    <p:sldId id="393" r:id="rId18"/>
    <p:sldId id="394" r:id="rId19"/>
    <p:sldId id="395" r:id="rId20"/>
    <p:sldId id="408" r:id="rId21"/>
    <p:sldId id="409" r:id="rId22"/>
    <p:sldId id="407" r:id="rId23"/>
    <p:sldId id="369" r:id="rId24"/>
    <p:sldId id="396" r:id="rId25"/>
    <p:sldId id="397" r:id="rId26"/>
    <p:sldId id="461" r:id="rId27"/>
    <p:sldId id="399" r:id="rId28"/>
    <p:sldId id="400" r:id="rId29"/>
    <p:sldId id="402" r:id="rId30"/>
    <p:sldId id="406" r:id="rId31"/>
    <p:sldId id="377" r:id="rId32"/>
    <p:sldId id="31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7F1F1F"/>
    <a:srgbClr val="FFDDDD"/>
    <a:srgbClr val="A870D2"/>
    <a:srgbClr val="FF7D7D"/>
    <a:srgbClr val="FFC000"/>
    <a:srgbClr val="E8D9F3"/>
    <a:srgbClr val="D1B3E7"/>
    <a:srgbClr val="AF7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2024-09-11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4167455" y="2611819"/>
            <a:ext cx="38571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</a:t>
            </a:r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975701" y="1867574"/>
            <a:ext cx="4225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9A4344-62AC-E876-C26C-0015DEBB4E92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F23). I am using these slides with his permission and have made only slight modifications.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522E7B-B37D-6C4F-668B-AD6B4F5A4527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Invocation, Parameter Passing and Returning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More on Prototyping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Invoking functions in other libraries / modules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Scope Rules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Local vs. Global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Scope of Identifiers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Static vs. Automatic Storage Duration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Static vs. Extern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More Coding Practice</a:t>
            </a:r>
            <a:endParaRPr lang="en-CA" sz="2200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Function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Simple Control Structures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F12D2C-C9EC-74B3-188F-CA5400DFC0E3}"/>
              </a:ext>
            </a:extLst>
          </p:cNvPr>
          <p:cNvSpPr txBox="1"/>
          <p:nvPr/>
        </p:nvSpPr>
        <p:spPr>
          <a:xfrm>
            <a:off x="831850" y="551471"/>
            <a:ext cx="48635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2-1] Basic C Program Structure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2-2] C Functions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92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685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Definition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3256951"/>
            <a:ext cx="1016626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Function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Any valid identifier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Return Value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data type of the result returned to the caller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CA" dirty="0"/>
              <a:t> – if the function intends to returns nothing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function can return </a:t>
            </a:r>
            <a:r>
              <a:rPr lang="en-CA" b="1" i="1" dirty="0"/>
              <a:t>at most</a:t>
            </a:r>
            <a:r>
              <a:rPr lang="en-CA" dirty="0"/>
              <a:t> one value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…but NOT just one piece of data (we will talk about it later)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2075B-D2B5-E504-993D-4F4034CB2922}"/>
              </a:ext>
            </a:extLst>
          </p:cNvPr>
          <p:cNvSpPr txBox="1"/>
          <p:nvPr/>
        </p:nvSpPr>
        <p:spPr>
          <a:xfrm>
            <a:off x="2227686" y="1622220"/>
            <a:ext cx="6358965" cy="1354217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return_value_type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parameter_list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optional_variable_declarations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optional_statement_list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772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685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Definition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3256951"/>
            <a:ext cx="10166268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Parameter 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comma-separated list of parameters expected by the function as inputs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Each parameter is a variable representing an input, of which the value is provided by the caller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type must be specified for each parameter in the 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CA" dirty="0"/>
              <a:t> – if the function accepts no input parameters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No Nested Function Definition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Function definition must be outside of any other function</a:t>
            </a:r>
          </a:p>
          <a:p>
            <a:pPr lvl="1"/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2075B-D2B5-E504-993D-4F4034CB2922}"/>
              </a:ext>
            </a:extLst>
          </p:cNvPr>
          <p:cNvSpPr txBox="1"/>
          <p:nvPr/>
        </p:nvSpPr>
        <p:spPr>
          <a:xfrm>
            <a:off x="2227686" y="1622220"/>
            <a:ext cx="6358965" cy="1354217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return_value_type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parameter_list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optional_variable_declarations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optional_statement_list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548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692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Prototype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2270535"/>
            <a:ext cx="1016626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Function Declaration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You don’t have to provide the names of the parameters; but </a:t>
            </a:r>
            <a:r>
              <a:rPr lang="en-CA" b="1" u="sng" dirty="0"/>
              <a:t>parameter types are mandatory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Example – both are valid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max(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y );   	</a:t>
            </a:r>
            <a:r>
              <a:rPr lang="en-CA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with param names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max(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);  	</a:t>
            </a:r>
            <a:r>
              <a:rPr lang="en-CA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without param names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Function prototype must match the function definition (i.e., signature must match)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Return type must be identical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Number of parameters and their respective types must be identical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Well, name too…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Prototype is used by compiler to validate function calls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2075B-D2B5-E504-993D-4F4034CB2922}"/>
              </a:ext>
            </a:extLst>
          </p:cNvPr>
          <p:cNvSpPr txBox="1"/>
          <p:nvPr/>
        </p:nvSpPr>
        <p:spPr>
          <a:xfrm>
            <a:off x="2612002" y="1647074"/>
            <a:ext cx="6467652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return_value_type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parameter_list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4093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867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307605"/>
            <a:ext cx="883966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Closer look at this program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EBFEE7-4A23-CF6C-5827-BA168FCEDAE4}"/>
              </a:ext>
            </a:extLst>
          </p:cNvPr>
          <p:cNvSpPr txBox="1"/>
          <p:nvPr/>
        </p:nvSpPr>
        <p:spPr>
          <a:xfrm>
            <a:off x="6415515" y="1354729"/>
            <a:ext cx="4416524" cy="360098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 );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 = 10.0, b = 20.0, c;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(a, b);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* x;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y = y * y;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z = ( x + y ) / 2.0;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A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838DD6-AAEE-2D6B-24AE-47A45DD8BD37}"/>
              </a:ext>
            </a:extLst>
          </p:cNvPr>
          <p:cNvSpPr txBox="1"/>
          <p:nvPr/>
        </p:nvSpPr>
        <p:spPr>
          <a:xfrm>
            <a:off x="1106628" y="1894166"/>
            <a:ext cx="4149168" cy="280076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y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* x;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y = y * y;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z = ( x + y ) / 2.0;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10.0, b = 20.0, c;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c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(a, b);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CF499BD3-ECE2-127F-EDFF-CDE23E1F4CEF}"/>
              </a:ext>
            </a:extLst>
          </p:cNvPr>
          <p:cNvSpPr/>
          <p:nvPr/>
        </p:nvSpPr>
        <p:spPr>
          <a:xfrm>
            <a:off x="1106627" y="4941153"/>
            <a:ext cx="4050675" cy="826001"/>
          </a:xfrm>
          <a:prstGeom prst="wedgeRectCallout">
            <a:avLst>
              <a:gd name="adj1" fmla="val 9431"/>
              <a:gd name="adj2" fmla="val -7589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Still respects the “Define before Use” Rule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But code readability is compromised. 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Not Recommended</a:t>
            </a:r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562B8BF9-4EB2-3F54-68A7-79D6B9AFE36A}"/>
              </a:ext>
            </a:extLst>
          </p:cNvPr>
          <p:cNvSpPr/>
          <p:nvPr/>
        </p:nvSpPr>
        <p:spPr>
          <a:xfrm>
            <a:off x="7868526" y="627517"/>
            <a:ext cx="1803794" cy="654984"/>
          </a:xfrm>
          <a:prstGeom prst="wedgeRectCallout">
            <a:avLst>
              <a:gd name="adj1" fmla="val 22886"/>
              <a:gd name="adj2" fmla="val 114039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Function Prototype</a:t>
            </a:r>
          </a:p>
          <a:p>
            <a:pPr algn="ctr"/>
            <a:r>
              <a:rPr lang="en-CA" sz="1600" b="1" dirty="0">
                <a:solidFill>
                  <a:schemeClr val="tx1"/>
                </a:solidFill>
              </a:rPr>
              <a:t>“Declaration”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61ECA0-EB05-BC6D-6347-E655609E6229}"/>
              </a:ext>
            </a:extLst>
          </p:cNvPr>
          <p:cNvSpPr/>
          <p:nvPr/>
        </p:nvSpPr>
        <p:spPr>
          <a:xfrm>
            <a:off x="6368214" y="1711008"/>
            <a:ext cx="4264951" cy="320494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peech Bubble: Rectangle 40">
            <a:extLst>
              <a:ext uri="{FF2B5EF4-FFF2-40B4-BE49-F238E27FC236}">
                <a16:creationId xmlns:a16="http://schemas.microsoft.com/office/drawing/2014/main" id="{AEBFBAAE-6214-312C-FB37-A032346C168F}"/>
              </a:ext>
            </a:extLst>
          </p:cNvPr>
          <p:cNvSpPr/>
          <p:nvPr/>
        </p:nvSpPr>
        <p:spPr>
          <a:xfrm>
            <a:off x="9719620" y="2709036"/>
            <a:ext cx="1339661" cy="654984"/>
          </a:xfrm>
          <a:prstGeom prst="wedgeRectCallout">
            <a:avLst>
              <a:gd name="adj1" fmla="val -76593"/>
              <a:gd name="adj2" fmla="val -38863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Function Call</a:t>
            </a:r>
          </a:p>
          <a:p>
            <a:pPr algn="ctr"/>
            <a:r>
              <a:rPr lang="en-CA" sz="1600" b="1" dirty="0">
                <a:solidFill>
                  <a:schemeClr val="tx1"/>
                </a:solidFill>
              </a:rPr>
              <a:t>“Invocation”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0A5EAD-C1F2-0DEF-6A12-C182BB83BDED}"/>
              </a:ext>
            </a:extLst>
          </p:cNvPr>
          <p:cNvSpPr/>
          <p:nvPr/>
        </p:nvSpPr>
        <p:spPr>
          <a:xfrm>
            <a:off x="6789974" y="2621474"/>
            <a:ext cx="2519490" cy="320494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peech Bubble: Rectangle 42">
            <a:extLst>
              <a:ext uri="{FF2B5EF4-FFF2-40B4-BE49-F238E27FC236}">
                <a16:creationId xmlns:a16="http://schemas.microsoft.com/office/drawing/2014/main" id="{D8202AAC-C103-F19B-BE4F-474EEF9196D5}"/>
              </a:ext>
            </a:extLst>
          </p:cNvPr>
          <p:cNvSpPr/>
          <p:nvPr/>
        </p:nvSpPr>
        <p:spPr>
          <a:xfrm>
            <a:off x="5912287" y="5090403"/>
            <a:ext cx="1884412" cy="654984"/>
          </a:xfrm>
          <a:prstGeom prst="wedgeRectCallout">
            <a:avLst>
              <a:gd name="adj1" fmla="val -10603"/>
              <a:gd name="adj2" fmla="val -89387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Function Definition</a:t>
            </a:r>
          </a:p>
          <a:p>
            <a:pPr algn="ctr"/>
            <a:r>
              <a:rPr lang="en-CA" sz="1600" b="1" dirty="0">
                <a:solidFill>
                  <a:schemeClr val="tx1"/>
                </a:solidFill>
              </a:rPr>
              <a:t>“Implementation”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E860F7E-2935-55BE-3C3C-0A2A1D41E92A}"/>
              </a:ext>
            </a:extLst>
          </p:cNvPr>
          <p:cNvSpPr/>
          <p:nvPr/>
        </p:nvSpPr>
        <p:spPr>
          <a:xfrm>
            <a:off x="6282725" y="3340634"/>
            <a:ext cx="4149168" cy="1500624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Speech Bubble: Rectangle 44">
            <a:extLst>
              <a:ext uri="{FF2B5EF4-FFF2-40B4-BE49-F238E27FC236}">
                <a16:creationId xmlns:a16="http://schemas.microsoft.com/office/drawing/2014/main" id="{3937A3AF-AE07-F247-B819-11C5E88A9061}"/>
              </a:ext>
            </a:extLst>
          </p:cNvPr>
          <p:cNvSpPr/>
          <p:nvPr/>
        </p:nvSpPr>
        <p:spPr>
          <a:xfrm>
            <a:off x="8141326" y="5162985"/>
            <a:ext cx="2690714" cy="551021"/>
          </a:xfrm>
          <a:prstGeom prst="wedgeRectCallout">
            <a:avLst>
              <a:gd name="adj1" fmla="val 8528"/>
              <a:gd name="adj2" fmla="val -8254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We recommend this style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A3FBD40-42AF-16D7-5B5E-82809C8A8B8B}"/>
              </a:ext>
            </a:extLst>
          </p:cNvPr>
          <p:cNvSpPr/>
          <p:nvPr/>
        </p:nvSpPr>
        <p:spPr>
          <a:xfrm>
            <a:off x="3754068" y="3364020"/>
            <a:ext cx="169225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L2Ex1-Avoid.c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2AC337-633D-9AF7-6590-EFDE57D55BCA}"/>
              </a:ext>
            </a:extLst>
          </p:cNvPr>
          <p:cNvSpPr/>
          <p:nvPr/>
        </p:nvSpPr>
        <p:spPr>
          <a:xfrm>
            <a:off x="8844015" y="4107188"/>
            <a:ext cx="247763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L2Ex1-Recommended.c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97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1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2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692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Prototype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2748636"/>
            <a:ext cx="101662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Coercion of Arguments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If the input values do not match the types of their corresponding parameters,</a:t>
            </a:r>
            <a:br>
              <a:rPr lang="en-CA" dirty="0"/>
            </a:br>
            <a:r>
              <a:rPr lang="en-CA" dirty="0"/>
              <a:t>the program will attempt to convert them to the appropriate types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In other words, the computer will attempt to interpret the binary information using the specified data type in the parameter list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[Question]</a:t>
            </a:r>
            <a:r>
              <a:rPr lang="en-CA" dirty="0"/>
              <a:t> Is it going to work? 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Generally, don’t rely on this effect.  C is a “typed” language, so we must remain </a:t>
            </a:r>
            <a:r>
              <a:rPr lang="en-CA" b="1" i="1" dirty="0"/>
              <a:t>type-strong</a:t>
            </a:r>
            <a:r>
              <a:rPr lang="en-CA" dirty="0"/>
              <a:t>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2075B-D2B5-E504-993D-4F4034CB2922}"/>
              </a:ext>
            </a:extLst>
          </p:cNvPr>
          <p:cNvSpPr txBox="1"/>
          <p:nvPr/>
        </p:nvSpPr>
        <p:spPr>
          <a:xfrm>
            <a:off x="2612002" y="1647074"/>
            <a:ext cx="6467652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return_value_type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parameter_list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2891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9381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Invocation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2254822"/>
            <a:ext cx="1016626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aka. Function Call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function call itself is an expression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[Question]</a:t>
            </a:r>
            <a:r>
              <a:rPr lang="en-CA" dirty="0"/>
              <a:t> expression vs. statement?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Arguments in the argument list are ALSO expressions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In C, arguments are passed to functions by value (i.e. </a:t>
            </a:r>
            <a:r>
              <a:rPr lang="en-CA" sz="2200" b="1" u="sng" dirty="0"/>
              <a:t>Pass-by-Value</a:t>
            </a:r>
            <a:r>
              <a:rPr lang="en-CA" sz="22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expression in each argument is first evaluated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Its resultant value is then </a:t>
            </a:r>
            <a:r>
              <a:rPr lang="en-CA" b="1" i="1" dirty="0"/>
              <a:t>COPIED</a:t>
            </a:r>
            <a:r>
              <a:rPr lang="en-CA" dirty="0"/>
              <a:t> into the corresponding function parameter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Type conversion takes place during this process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2075B-D2B5-E504-993D-4F4034CB2922}"/>
              </a:ext>
            </a:extLst>
          </p:cNvPr>
          <p:cNvSpPr txBox="1"/>
          <p:nvPr/>
        </p:nvSpPr>
        <p:spPr>
          <a:xfrm>
            <a:off x="3805078" y="1647074"/>
            <a:ext cx="4119724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argument_list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E57426-62B0-D916-6661-0A773E30ACBD}"/>
              </a:ext>
            </a:extLst>
          </p:cNvPr>
          <p:cNvSpPr txBox="1"/>
          <p:nvPr/>
        </p:nvSpPr>
        <p:spPr>
          <a:xfrm>
            <a:off x="1506583" y="518142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=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a, b );</a:t>
            </a:r>
            <a:endParaRPr lang="en-CA" sz="16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“Hello” );</a:t>
            </a:r>
            <a:endParaRPr lang="en-CA" sz="16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0EA26D8E-FA64-2EC7-703A-42521799542B}"/>
              </a:ext>
            </a:extLst>
          </p:cNvPr>
          <p:cNvSpPr/>
          <p:nvPr/>
        </p:nvSpPr>
        <p:spPr>
          <a:xfrm>
            <a:off x="7924802" y="2654916"/>
            <a:ext cx="2933364" cy="551021"/>
          </a:xfrm>
          <a:prstGeom prst="wedgeRectCallout">
            <a:avLst>
              <a:gd name="adj1" fmla="val -35489"/>
              <a:gd name="adj2" fmla="val 14820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Let’s take a look at how it works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79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4932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Invocation – Pass by Value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66546"/>
            <a:ext cx="101662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Consider executing the function call – </a:t>
            </a:r>
            <a:r>
              <a:rPr lang="en-CA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 a, b 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Execution control is passed to the function </a:t>
            </a:r>
            <a:r>
              <a:rPr lang="en-CA" dirty="0" err="1"/>
              <a:t>my_mean_square</a:t>
            </a:r>
            <a:r>
              <a:rPr lang="en-CA" dirty="0"/>
              <a:t>()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b="1" i="1" dirty="0"/>
              <a:t>Temporary</a:t>
            </a:r>
            <a:r>
              <a:rPr lang="en-CA" dirty="0"/>
              <a:t> storage memory (Auto / Stack) is allocated for </a:t>
            </a:r>
            <a:r>
              <a:rPr lang="en-CA" b="1" dirty="0"/>
              <a:t>local variables x, y, and z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Values of arguments are </a:t>
            </a:r>
            <a:r>
              <a:rPr lang="en-CA" b="1" i="1" dirty="0"/>
              <a:t>copied</a:t>
            </a:r>
            <a:r>
              <a:rPr lang="en-CA" dirty="0"/>
              <a:t> to the respective parameters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The code in the function body is executed</a:t>
            </a:r>
            <a:br>
              <a:rPr lang="en-CA" dirty="0"/>
            </a:b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“Pass by Value” because only the </a:t>
            </a:r>
            <a:r>
              <a:rPr lang="en-CA" sz="2000" b="1" u="sng" dirty="0"/>
              <a:t>copied values </a:t>
            </a:r>
            <a:r>
              <a:rPr lang="en-CA" sz="2000" dirty="0"/>
              <a:t>are passed into the function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A7413E-08DA-BF47-A1C0-75225EC21AF8}"/>
              </a:ext>
            </a:extLst>
          </p:cNvPr>
          <p:cNvSpPr txBox="1"/>
          <p:nvPr/>
        </p:nvSpPr>
        <p:spPr>
          <a:xfrm>
            <a:off x="752177" y="4082525"/>
            <a:ext cx="3300549" cy="1492716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10.0;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 = 20.0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c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(a, b);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DDE916-78A2-BDA1-42CA-FD4E530D4A22}"/>
              </a:ext>
            </a:extLst>
          </p:cNvPr>
          <p:cNvSpPr txBox="1"/>
          <p:nvPr/>
        </p:nvSpPr>
        <p:spPr>
          <a:xfrm>
            <a:off x="7105110" y="4082525"/>
            <a:ext cx="4171406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* x;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y = y * y;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z = ( x + y ) / 2.0;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E539A6-E2ED-9ACB-1A66-F578A5890823}"/>
              </a:ext>
            </a:extLst>
          </p:cNvPr>
          <p:cNvSpPr/>
          <p:nvPr/>
        </p:nvSpPr>
        <p:spPr>
          <a:xfrm>
            <a:off x="1074962" y="4884773"/>
            <a:ext cx="2794318" cy="366039"/>
          </a:xfrm>
          <a:prstGeom prst="rect">
            <a:avLst/>
          </a:prstGeom>
          <a:noFill/>
          <a:ln w="38100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U-Turn 14">
            <a:extLst>
              <a:ext uri="{FF2B5EF4-FFF2-40B4-BE49-F238E27FC236}">
                <a16:creationId xmlns:a16="http://schemas.microsoft.com/office/drawing/2014/main" id="{496D2C62-B85F-DAB8-7E0F-0AAC53B9A3CE}"/>
              </a:ext>
            </a:extLst>
          </p:cNvPr>
          <p:cNvSpPr/>
          <p:nvPr/>
        </p:nvSpPr>
        <p:spPr>
          <a:xfrm>
            <a:off x="3326674" y="3706773"/>
            <a:ext cx="5495109" cy="1177999"/>
          </a:xfrm>
          <a:prstGeom prst="uturnArrow">
            <a:avLst>
              <a:gd name="adj1" fmla="val 5939"/>
              <a:gd name="adj2" fmla="val 9740"/>
              <a:gd name="adj3" fmla="val 11845"/>
              <a:gd name="adj4" fmla="val 15270"/>
              <a:gd name="adj5" fmla="val 30680"/>
            </a:avLst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5FDC4AF8-1D78-B3B3-61B3-D80301F49955}"/>
              </a:ext>
            </a:extLst>
          </p:cNvPr>
          <p:cNvSpPr/>
          <p:nvPr/>
        </p:nvSpPr>
        <p:spPr>
          <a:xfrm>
            <a:off x="9928372" y="4586148"/>
            <a:ext cx="530352" cy="8662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F914C8-20F6-53AD-AFBC-137FF58C858B}"/>
              </a:ext>
            </a:extLst>
          </p:cNvPr>
          <p:cNvSpPr/>
          <p:nvPr/>
        </p:nvSpPr>
        <p:spPr>
          <a:xfrm>
            <a:off x="4502384" y="4321553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?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1FCDE6-9F57-2404-5D32-FEB81DA3D617}"/>
              </a:ext>
            </a:extLst>
          </p:cNvPr>
          <p:cNvSpPr/>
          <p:nvPr/>
        </p:nvSpPr>
        <p:spPr>
          <a:xfrm>
            <a:off x="4502384" y="4721222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20.0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E4C3998-2272-C31A-EE75-0C6E82BFE7D6}"/>
              </a:ext>
            </a:extLst>
          </p:cNvPr>
          <p:cNvSpPr/>
          <p:nvPr/>
        </p:nvSpPr>
        <p:spPr>
          <a:xfrm>
            <a:off x="4499336" y="5136512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10.0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6F18DD-6AB9-E316-2118-EB59AE9CFC7D}"/>
              </a:ext>
            </a:extLst>
          </p:cNvPr>
          <p:cNvSpPr txBox="1"/>
          <p:nvPr/>
        </p:nvSpPr>
        <p:spPr>
          <a:xfrm>
            <a:off x="4210178" y="3865956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FCBBAE-674C-73F4-4275-A08130A94D02}"/>
              </a:ext>
            </a:extLst>
          </p:cNvPr>
          <p:cNvSpPr txBox="1"/>
          <p:nvPr/>
        </p:nvSpPr>
        <p:spPr>
          <a:xfrm>
            <a:off x="4195071" y="5110863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20CFDF-BE58-85E0-25A1-24057169A111}"/>
              </a:ext>
            </a:extLst>
          </p:cNvPr>
          <p:cNvSpPr txBox="1"/>
          <p:nvPr/>
        </p:nvSpPr>
        <p:spPr>
          <a:xfrm>
            <a:off x="4195071" y="4687984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9F8D91-6CA5-FD93-CB28-AADFE63DEE5B}"/>
              </a:ext>
            </a:extLst>
          </p:cNvPr>
          <p:cNvSpPr txBox="1"/>
          <p:nvPr/>
        </p:nvSpPr>
        <p:spPr>
          <a:xfrm>
            <a:off x="4199137" y="4263936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3325B1-7120-5E1E-852F-BEE09DAEB80B}"/>
              </a:ext>
            </a:extLst>
          </p:cNvPr>
          <p:cNvSpPr txBox="1"/>
          <p:nvPr/>
        </p:nvSpPr>
        <p:spPr>
          <a:xfrm>
            <a:off x="5667169" y="3891380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9F7EFA2-779C-68D9-7735-B1AF9BD8949F}"/>
              </a:ext>
            </a:extLst>
          </p:cNvPr>
          <p:cNvSpPr/>
          <p:nvPr/>
        </p:nvSpPr>
        <p:spPr>
          <a:xfrm>
            <a:off x="5936115" y="4321553"/>
            <a:ext cx="654285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03254B2-6CFB-0C15-624B-9F7E26C65309}"/>
              </a:ext>
            </a:extLst>
          </p:cNvPr>
          <p:cNvSpPr/>
          <p:nvPr/>
        </p:nvSpPr>
        <p:spPr>
          <a:xfrm>
            <a:off x="5936115" y="4721222"/>
            <a:ext cx="654285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20.0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202DB7D-D47D-1C5F-9F4C-B16208EC137E}"/>
              </a:ext>
            </a:extLst>
          </p:cNvPr>
          <p:cNvSpPr/>
          <p:nvPr/>
        </p:nvSpPr>
        <p:spPr>
          <a:xfrm>
            <a:off x="5933067" y="5136512"/>
            <a:ext cx="654285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10.0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09FC7E-59E2-4B83-1A2A-54B7DB59500E}"/>
              </a:ext>
            </a:extLst>
          </p:cNvPr>
          <p:cNvSpPr txBox="1"/>
          <p:nvPr/>
        </p:nvSpPr>
        <p:spPr>
          <a:xfrm>
            <a:off x="6613404" y="5110863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A5C58E-B4C1-2511-AE1B-853200DC900B}"/>
              </a:ext>
            </a:extLst>
          </p:cNvPr>
          <p:cNvSpPr txBox="1"/>
          <p:nvPr/>
        </p:nvSpPr>
        <p:spPr>
          <a:xfrm>
            <a:off x="6613404" y="4687984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47428D-DED2-7740-7EB6-36E953C442CC}"/>
              </a:ext>
            </a:extLst>
          </p:cNvPr>
          <p:cNvSpPr txBox="1"/>
          <p:nvPr/>
        </p:nvSpPr>
        <p:spPr>
          <a:xfrm>
            <a:off x="6617470" y="4263936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z</a:t>
            </a: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1A384C98-FFB3-8106-8D29-5C41C9F5D6FA}"/>
              </a:ext>
            </a:extLst>
          </p:cNvPr>
          <p:cNvSpPr/>
          <p:nvPr/>
        </p:nvSpPr>
        <p:spPr>
          <a:xfrm>
            <a:off x="5153621" y="5174612"/>
            <a:ext cx="753394" cy="249530"/>
          </a:xfrm>
          <a:prstGeom prst="rightArrow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C3D20D15-B53B-3729-003B-453E76866FA8}"/>
              </a:ext>
            </a:extLst>
          </p:cNvPr>
          <p:cNvSpPr/>
          <p:nvPr/>
        </p:nvSpPr>
        <p:spPr>
          <a:xfrm>
            <a:off x="5153621" y="4747885"/>
            <a:ext cx="753394" cy="249530"/>
          </a:xfrm>
          <a:prstGeom prst="rightArrow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6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4" grpId="0" animBg="1"/>
      <p:bldP spid="15" grpId="0" animBg="1"/>
      <p:bldP spid="30" grpId="0" animBg="1"/>
      <p:bldP spid="32" grpId="0" animBg="1"/>
      <p:bldP spid="33" grpId="0" animBg="1"/>
      <p:bldP spid="34" grpId="0" animBg="1"/>
      <p:bldP spid="36" grpId="0"/>
      <p:bldP spid="37" grpId="0"/>
      <p:bldP spid="38" grpId="0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 animBg="1"/>
      <p:bldP spid="5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4932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Invocation – Pass by Value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366546"/>
            <a:ext cx="1064306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Consider executing the function call – </a:t>
            </a:r>
            <a:r>
              <a:rPr lang="en-CA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 a, b )</a:t>
            </a:r>
          </a:p>
          <a:p>
            <a:pPr marL="1257300" lvl="2" indent="-342900">
              <a:buFont typeface="+mj-lt"/>
              <a:buAutoNum type="arabicPeriod" startAt="5"/>
            </a:pPr>
            <a:r>
              <a:rPr lang="en-CA" dirty="0"/>
              <a:t>During execution, the values of x and y are modified – on the </a:t>
            </a:r>
            <a:r>
              <a:rPr lang="en-CA" b="1" i="1" dirty="0">
                <a:solidFill>
                  <a:srgbClr val="FF0000"/>
                </a:solidFill>
              </a:rPr>
              <a:t>LOCAL COPIES ONLY!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[IMPORTANT!!]	in Pass by Value, only local copies are modified.  </a:t>
            </a:r>
            <a:br>
              <a:rPr lang="en-CA" b="1" dirty="0">
                <a:solidFill>
                  <a:srgbClr val="FF0000"/>
                </a:solidFill>
              </a:rPr>
            </a:br>
            <a:r>
              <a:rPr lang="en-CA" b="1" dirty="0">
                <a:solidFill>
                  <a:srgbClr val="FF0000"/>
                </a:solidFill>
              </a:rPr>
              <a:t> 		Genuine values remain unchanged!!</a:t>
            </a:r>
          </a:p>
          <a:p>
            <a:pPr marL="1257300" lvl="2" indent="-342900">
              <a:buFont typeface="+mj-lt"/>
              <a:buAutoNum type="arabicPeriod" startAt="6"/>
            </a:pPr>
            <a:r>
              <a:rPr lang="en-CA" dirty="0"/>
              <a:t>Function execution ends when return or closing parenthesis } is reached.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If the function return type is 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CA" dirty="0"/>
              <a:t>, the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CA" dirty="0"/>
              <a:t> statement can then be omitted.</a:t>
            </a:r>
          </a:p>
          <a:p>
            <a:pPr lvl="2"/>
            <a:endParaRPr lang="en-CA" b="1" i="1" dirty="0">
              <a:solidFill>
                <a:srgbClr val="FF0000"/>
              </a:solidFill>
            </a:endParaRPr>
          </a:p>
          <a:p>
            <a:pPr marL="1257300" lvl="2" indent="-342900">
              <a:buFont typeface="+mj-lt"/>
              <a:buAutoNum type="arabicPeriod" startAt="7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A7413E-08DA-BF47-A1C0-75225EC21AF8}"/>
              </a:ext>
            </a:extLst>
          </p:cNvPr>
          <p:cNvSpPr txBox="1"/>
          <p:nvPr/>
        </p:nvSpPr>
        <p:spPr>
          <a:xfrm>
            <a:off x="752177" y="4082525"/>
            <a:ext cx="3300549" cy="1492716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10.0;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 = 20.0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c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(a, b);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DDE916-78A2-BDA1-42CA-FD4E530D4A22}"/>
              </a:ext>
            </a:extLst>
          </p:cNvPr>
          <p:cNvSpPr txBox="1"/>
          <p:nvPr/>
        </p:nvSpPr>
        <p:spPr>
          <a:xfrm>
            <a:off x="7105110" y="4082525"/>
            <a:ext cx="4171406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* x;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y = y * y;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z = ( x + y ) / 2.0;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E539A6-E2ED-9ACB-1A66-F578A5890823}"/>
              </a:ext>
            </a:extLst>
          </p:cNvPr>
          <p:cNvSpPr/>
          <p:nvPr/>
        </p:nvSpPr>
        <p:spPr>
          <a:xfrm>
            <a:off x="1074962" y="4884773"/>
            <a:ext cx="2794318" cy="366039"/>
          </a:xfrm>
          <a:prstGeom prst="rect">
            <a:avLst/>
          </a:prstGeom>
          <a:noFill/>
          <a:ln w="38100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5FDC4AF8-1D78-B3B3-61B3-D80301F49955}"/>
              </a:ext>
            </a:extLst>
          </p:cNvPr>
          <p:cNvSpPr/>
          <p:nvPr/>
        </p:nvSpPr>
        <p:spPr>
          <a:xfrm>
            <a:off x="9928372" y="4586148"/>
            <a:ext cx="530352" cy="8662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F914C8-20F6-53AD-AFBC-137FF58C858B}"/>
              </a:ext>
            </a:extLst>
          </p:cNvPr>
          <p:cNvSpPr/>
          <p:nvPr/>
        </p:nvSpPr>
        <p:spPr>
          <a:xfrm>
            <a:off x="4502384" y="4321553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?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1FCDE6-9F57-2404-5D32-FEB81DA3D617}"/>
              </a:ext>
            </a:extLst>
          </p:cNvPr>
          <p:cNvSpPr/>
          <p:nvPr/>
        </p:nvSpPr>
        <p:spPr>
          <a:xfrm>
            <a:off x="4502384" y="4721222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20.0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E4C3998-2272-C31A-EE75-0C6E82BFE7D6}"/>
              </a:ext>
            </a:extLst>
          </p:cNvPr>
          <p:cNvSpPr/>
          <p:nvPr/>
        </p:nvSpPr>
        <p:spPr>
          <a:xfrm>
            <a:off x="4499336" y="5136512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10.0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6F18DD-6AB9-E316-2118-EB59AE9CFC7D}"/>
              </a:ext>
            </a:extLst>
          </p:cNvPr>
          <p:cNvSpPr txBox="1"/>
          <p:nvPr/>
        </p:nvSpPr>
        <p:spPr>
          <a:xfrm>
            <a:off x="4210178" y="3865956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FCBBAE-674C-73F4-4275-A08130A94D02}"/>
              </a:ext>
            </a:extLst>
          </p:cNvPr>
          <p:cNvSpPr txBox="1"/>
          <p:nvPr/>
        </p:nvSpPr>
        <p:spPr>
          <a:xfrm>
            <a:off x="4195071" y="5110863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20CFDF-BE58-85E0-25A1-24057169A111}"/>
              </a:ext>
            </a:extLst>
          </p:cNvPr>
          <p:cNvSpPr txBox="1"/>
          <p:nvPr/>
        </p:nvSpPr>
        <p:spPr>
          <a:xfrm>
            <a:off x="4195071" y="4687984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9F8D91-6CA5-FD93-CB28-AADFE63DEE5B}"/>
              </a:ext>
            </a:extLst>
          </p:cNvPr>
          <p:cNvSpPr txBox="1"/>
          <p:nvPr/>
        </p:nvSpPr>
        <p:spPr>
          <a:xfrm>
            <a:off x="4199137" y="4263936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3325B1-7120-5E1E-852F-BEE09DAEB80B}"/>
              </a:ext>
            </a:extLst>
          </p:cNvPr>
          <p:cNvSpPr txBox="1"/>
          <p:nvPr/>
        </p:nvSpPr>
        <p:spPr>
          <a:xfrm>
            <a:off x="5667169" y="3891380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9F7EFA2-779C-68D9-7735-B1AF9BD8949F}"/>
              </a:ext>
            </a:extLst>
          </p:cNvPr>
          <p:cNvSpPr/>
          <p:nvPr/>
        </p:nvSpPr>
        <p:spPr>
          <a:xfrm>
            <a:off x="5936115" y="4321553"/>
            <a:ext cx="654285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03254B2-6CFB-0C15-624B-9F7E26C65309}"/>
              </a:ext>
            </a:extLst>
          </p:cNvPr>
          <p:cNvSpPr/>
          <p:nvPr/>
        </p:nvSpPr>
        <p:spPr>
          <a:xfrm>
            <a:off x="5936115" y="4721222"/>
            <a:ext cx="654285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20.0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202DB7D-D47D-1C5F-9F4C-B16208EC137E}"/>
              </a:ext>
            </a:extLst>
          </p:cNvPr>
          <p:cNvSpPr/>
          <p:nvPr/>
        </p:nvSpPr>
        <p:spPr>
          <a:xfrm>
            <a:off x="5933067" y="5136512"/>
            <a:ext cx="654285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10.0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09FC7E-59E2-4B83-1A2A-54B7DB59500E}"/>
              </a:ext>
            </a:extLst>
          </p:cNvPr>
          <p:cNvSpPr txBox="1"/>
          <p:nvPr/>
        </p:nvSpPr>
        <p:spPr>
          <a:xfrm>
            <a:off x="6613404" y="5110863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A5C58E-B4C1-2511-AE1B-853200DC900B}"/>
              </a:ext>
            </a:extLst>
          </p:cNvPr>
          <p:cNvSpPr txBox="1"/>
          <p:nvPr/>
        </p:nvSpPr>
        <p:spPr>
          <a:xfrm>
            <a:off x="6613404" y="4687984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47428D-DED2-7740-7EB6-36E953C442CC}"/>
              </a:ext>
            </a:extLst>
          </p:cNvPr>
          <p:cNvSpPr txBox="1"/>
          <p:nvPr/>
        </p:nvSpPr>
        <p:spPr>
          <a:xfrm>
            <a:off x="6617470" y="4263936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z</a:t>
            </a: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1A384C98-FFB3-8106-8D29-5C41C9F5D6FA}"/>
              </a:ext>
            </a:extLst>
          </p:cNvPr>
          <p:cNvSpPr/>
          <p:nvPr/>
        </p:nvSpPr>
        <p:spPr>
          <a:xfrm>
            <a:off x="5153621" y="5174612"/>
            <a:ext cx="753394" cy="249530"/>
          </a:xfrm>
          <a:prstGeom prst="rightArrow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C3D20D15-B53B-3729-003B-453E76866FA8}"/>
              </a:ext>
            </a:extLst>
          </p:cNvPr>
          <p:cNvSpPr/>
          <p:nvPr/>
        </p:nvSpPr>
        <p:spPr>
          <a:xfrm>
            <a:off x="5153621" y="4747885"/>
            <a:ext cx="753394" cy="249530"/>
          </a:xfrm>
          <a:prstGeom prst="rightArrow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2D525-7676-DF6C-E501-7BE7D4795850}"/>
              </a:ext>
            </a:extLst>
          </p:cNvPr>
          <p:cNvSpPr txBox="1"/>
          <p:nvPr/>
        </p:nvSpPr>
        <p:spPr>
          <a:xfrm>
            <a:off x="8530410" y="4630288"/>
            <a:ext cx="5289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100.0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3D12E8-70F9-B699-997E-8B8C01641EDE}"/>
              </a:ext>
            </a:extLst>
          </p:cNvPr>
          <p:cNvSpPr txBox="1"/>
          <p:nvPr/>
        </p:nvSpPr>
        <p:spPr>
          <a:xfrm>
            <a:off x="8523261" y="4799701"/>
            <a:ext cx="5289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400.0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2DD60D-A19E-31BF-8110-36BE8ACB7F77}"/>
              </a:ext>
            </a:extLst>
          </p:cNvPr>
          <p:cNvSpPr txBox="1"/>
          <p:nvPr/>
        </p:nvSpPr>
        <p:spPr>
          <a:xfrm>
            <a:off x="9134845" y="5199896"/>
            <a:ext cx="5289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250.0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509078-AE66-79C7-E4C2-5032A23F2FE9}"/>
              </a:ext>
            </a:extLst>
          </p:cNvPr>
          <p:cNvSpPr/>
          <p:nvPr/>
        </p:nvSpPr>
        <p:spPr>
          <a:xfrm>
            <a:off x="7012908" y="5210645"/>
            <a:ext cx="1464634" cy="550075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2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7 L -0.20794 0.0761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04" y="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59259E-6 L -0.20703 -0.00764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52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-0.25742 -0.1254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78" y="-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1" grpId="0" animBg="1"/>
      <p:bldP spid="11" grpId="1" animBg="1"/>
      <p:bldP spid="16" grpId="0" animBg="1"/>
      <p:bldP spid="16" grpId="1" animBg="1"/>
      <p:bldP spid="17" grpId="0" animBg="1"/>
      <p:bldP spid="17" grpId="1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4932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Invocation – Pass by Value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366546"/>
            <a:ext cx="1064306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Consider executing the function call – </a:t>
            </a:r>
            <a:r>
              <a:rPr lang="en-CA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 a, b )</a:t>
            </a:r>
          </a:p>
          <a:p>
            <a:pPr marL="1257300" lvl="2" indent="-342900">
              <a:buFont typeface="+mj-lt"/>
              <a:buAutoNum type="arabicPeriod" startAt="7"/>
            </a:pPr>
            <a:r>
              <a:rPr lang="en-CA" dirty="0"/>
              <a:t>Upon the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CA" dirty="0"/>
              <a:t> statement, the value of z is passed back to the main function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The variable c captures the return value through the assignment statement.</a:t>
            </a:r>
          </a:p>
          <a:p>
            <a:pPr marL="1257300" lvl="2" indent="-342900">
              <a:buFont typeface="+mj-lt"/>
              <a:buAutoNum type="arabicPeriod" startAt="8"/>
            </a:pPr>
            <a:r>
              <a:rPr lang="en-CA" dirty="0"/>
              <a:t>The local variables of the function are </a:t>
            </a:r>
            <a:r>
              <a:rPr lang="en-CA" b="1" i="1" dirty="0"/>
              <a:t>destroyed</a:t>
            </a:r>
            <a:r>
              <a:rPr lang="en-CA" dirty="0"/>
              <a:t> (Temporary memory gets deallocated)</a:t>
            </a:r>
          </a:p>
          <a:p>
            <a:pPr marL="1257300" lvl="2" indent="-342900">
              <a:buFont typeface="+mj-lt"/>
              <a:buAutoNum type="arabicPeriod" startAt="8"/>
            </a:pPr>
            <a:r>
              <a:rPr lang="en-CA" dirty="0"/>
              <a:t>Control goes back to main</a:t>
            </a:r>
          </a:p>
          <a:p>
            <a:pPr marL="1257300" lvl="2" indent="-342900">
              <a:buFont typeface="+mj-lt"/>
              <a:buAutoNum type="arabicPeriod" startAt="8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If the return value was never captured in the same statement the function was invoked…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The return value will be destroyed, no longer available in the next statement!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A7413E-08DA-BF47-A1C0-75225EC21AF8}"/>
              </a:ext>
            </a:extLst>
          </p:cNvPr>
          <p:cNvSpPr txBox="1"/>
          <p:nvPr/>
        </p:nvSpPr>
        <p:spPr>
          <a:xfrm>
            <a:off x="752177" y="4082525"/>
            <a:ext cx="3300549" cy="1492716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10.0;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 = 20.0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c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(a, b);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DDE916-78A2-BDA1-42CA-FD4E530D4A22}"/>
              </a:ext>
            </a:extLst>
          </p:cNvPr>
          <p:cNvSpPr txBox="1"/>
          <p:nvPr/>
        </p:nvSpPr>
        <p:spPr>
          <a:xfrm>
            <a:off x="7105110" y="4082525"/>
            <a:ext cx="4171406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* x;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y = y * y;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z = ( x + y ) / 2.0;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E539A6-E2ED-9ACB-1A66-F578A5890823}"/>
              </a:ext>
            </a:extLst>
          </p:cNvPr>
          <p:cNvSpPr/>
          <p:nvPr/>
        </p:nvSpPr>
        <p:spPr>
          <a:xfrm>
            <a:off x="1074962" y="4884773"/>
            <a:ext cx="2794318" cy="366039"/>
          </a:xfrm>
          <a:prstGeom prst="rect">
            <a:avLst/>
          </a:prstGeom>
          <a:noFill/>
          <a:ln w="38100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5FDC4AF8-1D78-B3B3-61B3-D80301F49955}"/>
              </a:ext>
            </a:extLst>
          </p:cNvPr>
          <p:cNvSpPr/>
          <p:nvPr/>
        </p:nvSpPr>
        <p:spPr>
          <a:xfrm>
            <a:off x="9928372" y="4586148"/>
            <a:ext cx="530352" cy="8662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F914C8-20F6-53AD-AFBC-137FF58C858B}"/>
              </a:ext>
            </a:extLst>
          </p:cNvPr>
          <p:cNvSpPr/>
          <p:nvPr/>
        </p:nvSpPr>
        <p:spPr>
          <a:xfrm>
            <a:off x="4502384" y="4321553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?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1FCDE6-9F57-2404-5D32-FEB81DA3D617}"/>
              </a:ext>
            </a:extLst>
          </p:cNvPr>
          <p:cNvSpPr/>
          <p:nvPr/>
        </p:nvSpPr>
        <p:spPr>
          <a:xfrm>
            <a:off x="4502384" y="4721222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20.0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E4C3998-2272-C31A-EE75-0C6E82BFE7D6}"/>
              </a:ext>
            </a:extLst>
          </p:cNvPr>
          <p:cNvSpPr/>
          <p:nvPr/>
        </p:nvSpPr>
        <p:spPr>
          <a:xfrm>
            <a:off x="4499336" y="5136512"/>
            <a:ext cx="654285" cy="318035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10.0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6F18DD-6AB9-E316-2118-EB59AE9CFC7D}"/>
              </a:ext>
            </a:extLst>
          </p:cNvPr>
          <p:cNvSpPr txBox="1"/>
          <p:nvPr/>
        </p:nvSpPr>
        <p:spPr>
          <a:xfrm>
            <a:off x="4210178" y="3865956"/>
            <a:ext cx="102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Memory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FCBBAE-674C-73F4-4275-A08130A94D02}"/>
              </a:ext>
            </a:extLst>
          </p:cNvPr>
          <p:cNvSpPr txBox="1"/>
          <p:nvPr/>
        </p:nvSpPr>
        <p:spPr>
          <a:xfrm>
            <a:off x="4195071" y="5110863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20CFDF-BE58-85E0-25A1-24057169A111}"/>
              </a:ext>
            </a:extLst>
          </p:cNvPr>
          <p:cNvSpPr txBox="1"/>
          <p:nvPr/>
        </p:nvSpPr>
        <p:spPr>
          <a:xfrm>
            <a:off x="4195071" y="4687984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9F8D91-6CA5-FD93-CB28-AADFE63DEE5B}"/>
              </a:ext>
            </a:extLst>
          </p:cNvPr>
          <p:cNvSpPr txBox="1"/>
          <p:nvPr/>
        </p:nvSpPr>
        <p:spPr>
          <a:xfrm>
            <a:off x="4199137" y="4263936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1F1F"/>
                </a:solidFill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3325B1-7120-5E1E-852F-BEE09DAEB80B}"/>
              </a:ext>
            </a:extLst>
          </p:cNvPr>
          <p:cNvSpPr txBox="1"/>
          <p:nvPr/>
        </p:nvSpPr>
        <p:spPr>
          <a:xfrm>
            <a:off x="5667169" y="3891380"/>
            <a:ext cx="129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Temp Mem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9F7EFA2-779C-68D9-7735-B1AF9BD8949F}"/>
              </a:ext>
            </a:extLst>
          </p:cNvPr>
          <p:cNvSpPr/>
          <p:nvPr/>
        </p:nvSpPr>
        <p:spPr>
          <a:xfrm>
            <a:off x="5936115" y="4321553"/>
            <a:ext cx="654285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03254B2-6CFB-0C15-624B-9F7E26C65309}"/>
              </a:ext>
            </a:extLst>
          </p:cNvPr>
          <p:cNvSpPr/>
          <p:nvPr/>
        </p:nvSpPr>
        <p:spPr>
          <a:xfrm>
            <a:off x="5936115" y="4721222"/>
            <a:ext cx="654285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20.0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202DB7D-D47D-1C5F-9F4C-B16208EC137E}"/>
              </a:ext>
            </a:extLst>
          </p:cNvPr>
          <p:cNvSpPr/>
          <p:nvPr/>
        </p:nvSpPr>
        <p:spPr>
          <a:xfrm>
            <a:off x="5933067" y="5136512"/>
            <a:ext cx="654285" cy="318035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10.0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09FC7E-59E2-4B83-1A2A-54B7DB59500E}"/>
              </a:ext>
            </a:extLst>
          </p:cNvPr>
          <p:cNvSpPr txBox="1"/>
          <p:nvPr/>
        </p:nvSpPr>
        <p:spPr>
          <a:xfrm>
            <a:off x="6613404" y="5110863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A5C58E-B4C1-2511-AE1B-853200DC900B}"/>
              </a:ext>
            </a:extLst>
          </p:cNvPr>
          <p:cNvSpPr txBox="1"/>
          <p:nvPr/>
        </p:nvSpPr>
        <p:spPr>
          <a:xfrm>
            <a:off x="6613404" y="4687984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47428D-DED2-7740-7EB6-36E953C442CC}"/>
              </a:ext>
            </a:extLst>
          </p:cNvPr>
          <p:cNvSpPr txBox="1"/>
          <p:nvPr/>
        </p:nvSpPr>
        <p:spPr>
          <a:xfrm>
            <a:off x="6617470" y="4263936"/>
            <a:ext cx="25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z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2D525-7676-DF6C-E501-7BE7D4795850}"/>
              </a:ext>
            </a:extLst>
          </p:cNvPr>
          <p:cNvSpPr txBox="1"/>
          <p:nvPr/>
        </p:nvSpPr>
        <p:spPr>
          <a:xfrm>
            <a:off x="5998207" y="5160847"/>
            <a:ext cx="5289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100.0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3D12E8-70F9-B699-997E-8B8C01641EDE}"/>
              </a:ext>
            </a:extLst>
          </p:cNvPr>
          <p:cNvSpPr txBox="1"/>
          <p:nvPr/>
        </p:nvSpPr>
        <p:spPr>
          <a:xfrm>
            <a:off x="6007351" y="4745987"/>
            <a:ext cx="5289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400.0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2DD60D-A19E-31BF-8110-36BE8ACB7F77}"/>
              </a:ext>
            </a:extLst>
          </p:cNvPr>
          <p:cNvSpPr txBox="1"/>
          <p:nvPr/>
        </p:nvSpPr>
        <p:spPr>
          <a:xfrm>
            <a:off x="6016495" y="4339742"/>
            <a:ext cx="5289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250.0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532947F-9F0F-D629-2084-64968475C191}"/>
              </a:ext>
            </a:extLst>
          </p:cNvPr>
          <p:cNvSpPr/>
          <p:nvPr/>
        </p:nvSpPr>
        <p:spPr>
          <a:xfrm flipH="1">
            <a:off x="5162765" y="4351176"/>
            <a:ext cx="753394" cy="249530"/>
          </a:xfrm>
          <a:prstGeom prst="rightArrow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6D1B4-457E-64E7-F4DA-792BED7C396C}"/>
              </a:ext>
            </a:extLst>
          </p:cNvPr>
          <p:cNvSpPr txBox="1"/>
          <p:nvPr/>
        </p:nvSpPr>
        <p:spPr>
          <a:xfrm>
            <a:off x="6016495" y="4346677"/>
            <a:ext cx="5289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lang="en-CA" b="1" dirty="0">
                <a:solidFill>
                  <a:srgbClr val="7F1F1F"/>
                </a:solidFill>
              </a:rPr>
              <a:t>250.0</a:t>
            </a:r>
          </a:p>
        </p:txBody>
      </p:sp>
      <p:sp>
        <p:nvSpPr>
          <p:cNvPr id="10" name="Arrow: Bent-Up 9">
            <a:extLst>
              <a:ext uri="{FF2B5EF4-FFF2-40B4-BE49-F238E27FC236}">
                <a16:creationId xmlns:a16="http://schemas.microsoft.com/office/drawing/2014/main" id="{C66C8593-8A57-76DA-7982-2365AA63D2DD}"/>
              </a:ext>
            </a:extLst>
          </p:cNvPr>
          <p:cNvSpPr/>
          <p:nvPr/>
        </p:nvSpPr>
        <p:spPr>
          <a:xfrm flipH="1">
            <a:off x="2770632" y="5246663"/>
            <a:ext cx="4334478" cy="38656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7" presetClass="emph" presetSubtype="0" fill="remove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autoRev="1" fill="remove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" dur="250" autoRev="1" fill="remove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50" autoRev="1" fill="remove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7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16667E-6 4.81481E-6 L -0.03177 -0.0338 C -0.03828 -0.04144 -0.04817 -0.04538 -0.05859 -0.04538 C -0.07044 -0.04538 -0.07994 -0.04144 -0.08645 -0.0338 L -0.11809 4.81481E-6 " pathEditMode="relative" rAng="0" ptsTypes="AAAAA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11" y="-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3" grpId="0" animBg="1"/>
      <p:bldP spid="44" grpId="0" animBg="1"/>
      <p:bldP spid="45" grpId="0" animBg="1"/>
      <p:bldP spid="46" grpId="0"/>
      <p:bldP spid="47" grpId="0"/>
      <p:bldP spid="48" grpId="0"/>
      <p:bldP spid="11" grpId="0" animBg="1"/>
      <p:bldP spid="16" grpId="0" animBg="1"/>
      <p:bldP spid="17" grpId="0" animBg="1"/>
      <p:bldP spid="2" grpId="0" animBg="1"/>
      <p:bldP spid="2" grpId="1" animBg="1"/>
      <p:bldP spid="8" grpId="0" animBg="1"/>
      <p:bldP spid="8" grpId="1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307605"/>
            <a:ext cx="8839662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main() function is the first called function.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When a function is called, control flow</a:t>
            </a:r>
            <a:br>
              <a:rPr lang="en-CA" dirty="0"/>
            </a:br>
            <a:r>
              <a:rPr lang="en-CA" dirty="0"/>
              <a:t>goes to the invoked function.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When the invoked function ends, control</a:t>
            </a:r>
            <a:br>
              <a:rPr lang="en-CA" dirty="0"/>
            </a:br>
            <a:r>
              <a:rPr lang="en-CA" dirty="0"/>
              <a:t>flow goes back to the invoker (or calling) function.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CA" dirty="0"/>
              <a:t> – returns back to the invoker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Functions with non-void return value type</a:t>
            </a:r>
            <a:br>
              <a:rPr lang="en-CA" dirty="0"/>
            </a:br>
            <a:r>
              <a:rPr lang="en-CA" dirty="0"/>
              <a:t>must return one value, and ONLY ONE value</a:t>
            </a:r>
            <a:br>
              <a:rPr lang="en-CA" dirty="0"/>
            </a:br>
            <a:r>
              <a:rPr lang="en-CA" dirty="0"/>
              <a:t>back to the invoker (or calling) function.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EBFEE7-4A23-CF6C-5827-BA168FCEDAE4}"/>
              </a:ext>
            </a:extLst>
          </p:cNvPr>
          <p:cNvSpPr txBox="1"/>
          <p:nvPr/>
        </p:nvSpPr>
        <p:spPr>
          <a:xfrm>
            <a:off x="6543531" y="1215633"/>
            <a:ext cx="4416524" cy="433965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more concise version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 );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 = 10.0, b = 20.0</a:t>
            </a:r>
            <a:r>
              <a:rPr lang="en-US" sz="1200" b="1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, 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 =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 b);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(“c = %f\n”,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(a, b));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my_mean_square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double z;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x = x * x;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y = y * y;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z = ( x + y ) / 2.0;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return z;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 x * x + y * y ) / 2.0;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17934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More on Functions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Libraries / Modules, Scope of Variables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74E81B-324D-A0E3-F6B2-F7477949A1DA}"/>
              </a:ext>
            </a:extLst>
          </p:cNvPr>
          <p:cNvSpPr txBox="1"/>
          <p:nvPr/>
        </p:nvSpPr>
        <p:spPr>
          <a:xfrm>
            <a:off x="831850" y="551471"/>
            <a:ext cx="48635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2-3] C Compilation Process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778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245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in Other Source Files (Modules)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08189"/>
            <a:ext cx="10606487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Functions defined in different source files may call each other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To call function </a:t>
            </a:r>
            <a:r>
              <a:rPr lang="en-CA" b="1" dirty="0">
                <a:solidFill>
                  <a:schemeClr val="accent6"/>
                </a:solidFill>
              </a:rPr>
              <a:t>B</a:t>
            </a:r>
            <a:r>
              <a:rPr lang="en-CA" dirty="0"/>
              <a:t> in source file </a:t>
            </a:r>
            <a:r>
              <a:rPr lang="en-CA" b="1" dirty="0">
                <a:solidFill>
                  <a:schemeClr val="accent6"/>
                </a:solidFill>
              </a:rPr>
              <a:t>B</a:t>
            </a:r>
            <a:r>
              <a:rPr lang="en-CA" dirty="0"/>
              <a:t> from function </a:t>
            </a:r>
            <a:r>
              <a:rPr lang="en-CA" b="1" dirty="0">
                <a:solidFill>
                  <a:schemeClr val="accent2"/>
                </a:solidFill>
              </a:rPr>
              <a:t>A</a:t>
            </a:r>
            <a:r>
              <a:rPr lang="en-CA" dirty="0"/>
              <a:t> in source file </a:t>
            </a:r>
            <a:r>
              <a:rPr lang="en-CA" b="1" dirty="0">
                <a:solidFill>
                  <a:schemeClr val="accent2"/>
                </a:solidFill>
              </a:rPr>
              <a:t>A</a:t>
            </a:r>
            <a:r>
              <a:rPr lang="en-CA" dirty="0"/>
              <a:t>…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 In source file </a:t>
            </a:r>
            <a:r>
              <a:rPr lang="en-CA" b="1" dirty="0">
                <a:solidFill>
                  <a:schemeClr val="accent2"/>
                </a:solidFill>
              </a:rPr>
              <a:t>A</a:t>
            </a:r>
            <a:r>
              <a:rPr lang="en-CA" dirty="0"/>
              <a:t> where function </a:t>
            </a:r>
            <a:r>
              <a:rPr lang="en-CA" b="1" dirty="0">
                <a:solidFill>
                  <a:schemeClr val="accent2"/>
                </a:solidFill>
              </a:rPr>
              <a:t>A</a:t>
            </a:r>
            <a:r>
              <a:rPr lang="en-CA" dirty="0"/>
              <a:t> is implemented, include the prototype of function </a:t>
            </a:r>
            <a:r>
              <a:rPr lang="en-CA" b="1" dirty="0">
                <a:solidFill>
                  <a:schemeClr val="accent6"/>
                </a:solidFill>
              </a:rPr>
              <a:t>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Create Multiple Source Files / Modules / Libraries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Benefit – Improve code organization and maintainability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Procedure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Put all function implementations (definitions) in the </a:t>
            </a:r>
            <a:r>
              <a:rPr lang="en-CA" b="1" dirty="0"/>
              <a:t>Source File (.c)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Put all function prototypes, global variables, and symbolic constants into </a:t>
            </a:r>
            <a:r>
              <a:rPr lang="en-CA" b="1" dirty="0"/>
              <a:t>Header File (.h)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These two files should always share the same name for ease of code management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These two files should be in the same folder (same directory) as your </a:t>
            </a:r>
            <a:r>
              <a:rPr lang="en-CA" b="1" dirty="0"/>
              <a:t>Main File </a:t>
            </a:r>
            <a:r>
              <a:rPr lang="en-CA" dirty="0"/>
              <a:t>(for now)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Usage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CA" dirty="0"/>
              <a:t>all required header files into main source code.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   // includes header file from default library folder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mymath.h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”  // includes header file from the current directory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During compilation, leave the difficult job to preprocessor and linker!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8104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9049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Our Own 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08189"/>
            <a:ext cx="5074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Let’s start with a monolith program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C6384F-C062-716A-AFE8-AC239F57C695}"/>
              </a:ext>
            </a:extLst>
          </p:cNvPr>
          <p:cNvSpPr txBox="1"/>
          <p:nvPr/>
        </p:nvSpPr>
        <p:spPr>
          <a:xfrm>
            <a:off x="1220636" y="1866899"/>
            <a:ext cx="4393780" cy="398570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Prototype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add_num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y 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sub_num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y );</a:t>
            </a:r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 = 10, b = 20; 	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(“%d + %d = %d\n”, a, b,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add_num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(a, b));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(“%d - %d = %d\n”, a, b,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sub_num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(a, b));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Implementation (Definition)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add_num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y )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x + y;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sub_num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y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x - y;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5D286-B7E7-21EF-CA5A-287EE76E52DD}"/>
              </a:ext>
            </a:extLst>
          </p:cNvPr>
          <p:cNvSpPr txBox="1"/>
          <p:nvPr/>
        </p:nvSpPr>
        <p:spPr>
          <a:xfrm>
            <a:off x="6284976" y="1408189"/>
            <a:ext cx="5074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And build our own </a:t>
            </a:r>
            <a:r>
              <a:rPr lang="en-CA" sz="2200" b="1" dirty="0" err="1"/>
              <a:t>MyMath</a:t>
            </a:r>
            <a:r>
              <a:rPr lang="en-CA" sz="2200" b="1" dirty="0"/>
              <a:t> Module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9B7BC4-12F4-5FAA-5BFD-14A1A10D748A}"/>
              </a:ext>
            </a:extLst>
          </p:cNvPr>
          <p:cNvSpPr/>
          <p:nvPr/>
        </p:nvSpPr>
        <p:spPr>
          <a:xfrm>
            <a:off x="1138970" y="2208746"/>
            <a:ext cx="2765518" cy="616750"/>
          </a:xfrm>
          <a:prstGeom prst="rect">
            <a:avLst/>
          </a:prstGeom>
          <a:noFill/>
          <a:ln w="38100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80BFD2-BC3A-0613-32DB-0114583AB6E1}"/>
              </a:ext>
            </a:extLst>
          </p:cNvPr>
          <p:cNvSpPr txBox="1"/>
          <p:nvPr/>
        </p:nvSpPr>
        <p:spPr>
          <a:xfrm>
            <a:off x="6810760" y="1892810"/>
            <a:ext cx="3300549" cy="1169551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Header File -- 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mymath.h</a:t>
            </a:r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Prototype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add_num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 );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sub_num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 );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0B4650B-6DDB-E89A-A163-A94C83F3AC99}"/>
              </a:ext>
            </a:extLst>
          </p:cNvPr>
          <p:cNvSpPr/>
          <p:nvPr/>
        </p:nvSpPr>
        <p:spPr>
          <a:xfrm>
            <a:off x="3904488" y="2291407"/>
            <a:ext cx="2906272" cy="283378"/>
          </a:xfrm>
          <a:prstGeom prst="rightArrow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BC1AA1-A8A5-D9F2-4660-ED340F2BE67B}"/>
              </a:ext>
            </a:extLst>
          </p:cNvPr>
          <p:cNvSpPr txBox="1"/>
          <p:nvPr/>
        </p:nvSpPr>
        <p:spPr>
          <a:xfrm>
            <a:off x="6810760" y="3359776"/>
            <a:ext cx="4393780" cy="2462213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Source File -- 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mymath.c</a:t>
            </a:r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Implementation (Definition)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add_num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 )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x + y;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sub_num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x - y;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0BB109-9AB0-7385-E869-357318A79298}"/>
              </a:ext>
            </a:extLst>
          </p:cNvPr>
          <p:cNvSpPr/>
          <p:nvPr/>
        </p:nvSpPr>
        <p:spPr>
          <a:xfrm>
            <a:off x="1138970" y="4135782"/>
            <a:ext cx="3497038" cy="1799484"/>
          </a:xfrm>
          <a:prstGeom prst="rect">
            <a:avLst/>
          </a:prstGeom>
          <a:noFill/>
          <a:ln w="38100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C0C85CC-E5D1-B65F-7EE6-3925C806C5F2}"/>
              </a:ext>
            </a:extLst>
          </p:cNvPr>
          <p:cNvSpPr/>
          <p:nvPr/>
        </p:nvSpPr>
        <p:spPr>
          <a:xfrm>
            <a:off x="4636008" y="4178616"/>
            <a:ext cx="2174752" cy="283378"/>
          </a:xfrm>
          <a:prstGeom prst="rightArrow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7D4638B-5EE8-E6BF-1409-85D791635D75}"/>
              </a:ext>
            </a:extLst>
          </p:cNvPr>
          <p:cNvSpPr/>
          <p:nvPr/>
        </p:nvSpPr>
        <p:spPr>
          <a:xfrm>
            <a:off x="4114880" y="5465062"/>
            <a:ext cx="198112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L2Ex2-Monolith.c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9C767A5-2B98-2F96-C816-CA944798FFDB}"/>
              </a:ext>
            </a:extLst>
          </p:cNvPr>
          <p:cNvSpPr/>
          <p:nvPr/>
        </p:nvSpPr>
        <p:spPr>
          <a:xfrm>
            <a:off x="8822159" y="1860545"/>
            <a:ext cx="198112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solidFill>
                  <a:schemeClr val="tx1"/>
                </a:solidFill>
              </a:rPr>
              <a:t>mymath.h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6A6DEAB-4D0F-55FD-C8EF-693575FD2C99}"/>
              </a:ext>
            </a:extLst>
          </p:cNvPr>
          <p:cNvSpPr/>
          <p:nvPr/>
        </p:nvSpPr>
        <p:spPr>
          <a:xfrm>
            <a:off x="8822159" y="3277780"/>
            <a:ext cx="198112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solidFill>
                  <a:schemeClr val="tx1"/>
                </a:solidFill>
              </a:rPr>
              <a:t>mymath.c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7D0D64-771B-3823-2A4F-52B00D38E859}"/>
              </a:ext>
            </a:extLst>
          </p:cNvPr>
          <p:cNvSpPr/>
          <p:nvPr/>
        </p:nvSpPr>
        <p:spPr>
          <a:xfrm>
            <a:off x="1307374" y="2249180"/>
            <a:ext cx="2825496" cy="374976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“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mymath.h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8928DF-05BC-C918-0365-22790D3A161B}"/>
              </a:ext>
            </a:extLst>
          </p:cNvPr>
          <p:cNvSpPr/>
          <p:nvPr/>
        </p:nvSpPr>
        <p:spPr>
          <a:xfrm>
            <a:off x="4325192" y="5219837"/>
            <a:ext cx="2252393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L2Ex2-Modularized.c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26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3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6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9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5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8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1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8" grpId="0" animBg="1"/>
      <p:bldP spid="9" grpId="0" animBg="1"/>
      <p:bldP spid="10" grpId="0" animBg="1"/>
      <p:bldP spid="10" grpId="1" animBg="1"/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9049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Our Own 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08189"/>
            <a:ext cx="6281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Our modularized C program now looks like this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C6384F-C062-716A-AFE8-AC239F57C695}"/>
              </a:ext>
            </a:extLst>
          </p:cNvPr>
          <p:cNvSpPr txBox="1"/>
          <p:nvPr/>
        </p:nvSpPr>
        <p:spPr>
          <a:xfrm>
            <a:off x="1238924" y="2680371"/>
            <a:ext cx="4933276" cy="230832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“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mymath.h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Our own math library in current directory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 = 10, b = 20; 	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 + %d = %d\n”, a, b,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add_num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(a, b));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 - %d = %d\n”, a, b,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sub_num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(a, b));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80BFD2-BC3A-0613-32DB-0114583AB6E1}"/>
              </a:ext>
            </a:extLst>
          </p:cNvPr>
          <p:cNvSpPr txBox="1"/>
          <p:nvPr/>
        </p:nvSpPr>
        <p:spPr>
          <a:xfrm>
            <a:off x="6810761" y="1947463"/>
            <a:ext cx="2790440" cy="1015663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Header File --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mymath.h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Prototype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add_num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 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sub_num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 );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BC1AA1-A8A5-D9F2-4660-ED340F2BE67B}"/>
              </a:ext>
            </a:extLst>
          </p:cNvPr>
          <p:cNvSpPr txBox="1"/>
          <p:nvPr/>
        </p:nvSpPr>
        <p:spPr>
          <a:xfrm>
            <a:off x="6810760" y="3359776"/>
            <a:ext cx="3915152" cy="2123658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Source File --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mymath.c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Implementation (Definition)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add_num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 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x + y;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sub_num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x - y;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9C767A5-2B98-2F96-C816-CA944798FFDB}"/>
              </a:ext>
            </a:extLst>
          </p:cNvPr>
          <p:cNvSpPr/>
          <p:nvPr/>
        </p:nvSpPr>
        <p:spPr>
          <a:xfrm>
            <a:off x="8250354" y="1813528"/>
            <a:ext cx="198112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solidFill>
                  <a:schemeClr val="tx1"/>
                </a:solidFill>
              </a:rPr>
              <a:t>mymath.h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6A6DEAB-4D0F-55FD-C8EF-693575FD2C99}"/>
              </a:ext>
            </a:extLst>
          </p:cNvPr>
          <p:cNvSpPr/>
          <p:nvPr/>
        </p:nvSpPr>
        <p:spPr>
          <a:xfrm>
            <a:off x="8250354" y="3243159"/>
            <a:ext cx="198112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solidFill>
                  <a:schemeClr val="tx1"/>
                </a:solidFill>
              </a:rPr>
              <a:t>mymath.c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8928DF-05BC-C918-0365-22790D3A161B}"/>
              </a:ext>
            </a:extLst>
          </p:cNvPr>
          <p:cNvSpPr/>
          <p:nvPr/>
        </p:nvSpPr>
        <p:spPr>
          <a:xfrm>
            <a:off x="4118590" y="4831301"/>
            <a:ext cx="2252393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L2Ex2-Modularized.c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73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8487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Standard Libraries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08188"/>
            <a:ext cx="1037984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All C libraries are packaged exactly the same way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Except the included functions are built, tested, and validated for reliability and reusability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Some handy ones are:   (Use GNU C Manual to learn how to use them)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CA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CA" dirty="0"/>
              <a:t>	for input/output functions</a:t>
            </a:r>
            <a:endParaRPr lang="en-CA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CA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math.h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CA" dirty="0"/>
              <a:t>	for math library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CA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CA" dirty="0"/>
              <a:t>	for string processing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CA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CA" dirty="0"/>
              <a:t>	for utility functions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Conversion of numbers to text, and vice versa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Dynamic memory allocation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Sorting, searching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Random number generation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CA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ctype.h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CA" dirty="0"/>
              <a:t>	for character handling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CA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time.h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CA" dirty="0"/>
              <a:t>	for manipulating time and date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1021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0700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Standard Libraries – </a:t>
            </a:r>
            <a:r>
              <a:rPr lang="en-CA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math.h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08188"/>
            <a:ext cx="103798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Let’s look at some handy functions in Math Library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will delve deeper into </a:t>
            </a:r>
            <a:r>
              <a:rPr lang="en-CA" dirty="0" err="1"/>
              <a:t>stdio.h</a:t>
            </a:r>
            <a:r>
              <a:rPr lang="en-CA" dirty="0"/>
              <a:t>, </a:t>
            </a:r>
            <a:r>
              <a:rPr lang="en-CA" dirty="0" err="1"/>
              <a:t>string.h</a:t>
            </a:r>
            <a:r>
              <a:rPr lang="en-CA" dirty="0"/>
              <a:t>, and </a:t>
            </a:r>
            <a:r>
              <a:rPr lang="en-CA" dirty="0" err="1"/>
              <a:t>stdlib.h</a:t>
            </a:r>
            <a:r>
              <a:rPr lang="en-CA" dirty="0"/>
              <a:t> in later topics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The following functions return </a:t>
            </a:r>
            <a:r>
              <a:rPr lang="en-CA" sz="2200" b="1" i="1" dirty="0"/>
              <a:t>double</a:t>
            </a:r>
            <a:r>
              <a:rPr lang="en-CA" sz="2200" dirty="0"/>
              <a:t> and accept </a:t>
            </a:r>
            <a:r>
              <a:rPr lang="en-CA" sz="2200" b="1" i="1" dirty="0"/>
              <a:t>double</a:t>
            </a:r>
            <a:r>
              <a:rPr lang="en-CA" sz="2200" dirty="0"/>
              <a:t> as input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sqrt( x )</a:t>
            </a:r>
            <a:r>
              <a:rPr lang="en-CA" dirty="0"/>
              <a:t>	square root of x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exp( x )</a:t>
            </a:r>
            <a:r>
              <a:rPr lang="en-CA" dirty="0"/>
              <a:t>	e</a:t>
            </a:r>
            <a:r>
              <a:rPr lang="en-CA" baseline="30000" dirty="0"/>
              <a:t>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log( x )</a:t>
            </a:r>
            <a:r>
              <a:rPr lang="en-CA" dirty="0"/>
              <a:t>	</a:t>
            </a:r>
            <a:r>
              <a:rPr lang="en-CA" dirty="0" err="1"/>
              <a:t>log</a:t>
            </a:r>
            <a:r>
              <a:rPr lang="en-CA" baseline="-25000" dirty="0" err="1"/>
              <a:t>e</a:t>
            </a:r>
            <a:r>
              <a:rPr lang="en-CA" dirty="0" err="1"/>
              <a:t>x</a:t>
            </a: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log10( x )</a:t>
            </a:r>
            <a:r>
              <a:rPr lang="en-CA" dirty="0"/>
              <a:t>	log</a:t>
            </a:r>
            <a:r>
              <a:rPr lang="en-CA" baseline="-25000" dirty="0"/>
              <a:t>10</a:t>
            </a:r>
            <a:r>
              <a:rPr lang="en-CA" dirty="0"/>
              <a:t>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abs( x )</a:t>
            </a:r>
            <a:r>
              <a:rPr lang="en-CA" dirty="0"/>
              <a:t>	absolute value of x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pow( x , y )</a:t>
            </a:r>
            <a:r>
              <a:rPr lang="en-CA" dirty="0"/>
              <a:t>	</a:t>
            </a:r>
            <a:r>
              <a:rPr lang="en-CA" dirty="0" err="1"/>
              <a:t>x</a:t>
            </a:r>
            <a:r>
              <a:rPr lang="en-CA" baseline="30000" dirty="0" err="1"/>
              <a:t>y</a:t>
            </a:r>
            <a:endParaRPr lang="en-CA" baseline="30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ceil( x )</a:t>
            </a:r>
            <a:r>
              <a:rPr lang="en-CA" dirty="0"/>
              <a:t>	round x up to the closest integer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floor( x )</a:t>
            </a:r>
            <a:r>
              <a:rPr lang="en-CA" dirty="0"/>
              <a:t>	round x down to the closest integer</a:t>
            </a:r>
            <a:br>
              <a:rPr lang="en-CA" dirty="0"/>
            </a:br>
            <a:endParaRPr lang="en-CA" b="1" baseline="30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sin( x ), cos( x ), tan( x ) </a:t>
            </a:r>
            <a:r>
              <a:rPr lang="en-CA" dirty="0"/>
              <a:t>	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cbrt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 x )</a:t>
            </a:r>
            <a:r>
              <a:rPr lang="en-CA" dirty="0"/>
              <a:t>	cubic root of x  </a:t>
            </a:r>
            <a:r>
              <a:rPr lang="en-CA" dirty="0">
                <a:solidFill>
                  <a:srgbClr val="C00000"/>
                </a:solidFill>
              </a:rPr>
              <a:t>(for C99 and C11 only)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4134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More Coding Practice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81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5169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-  McMaster UI Library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883966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Preview of Project Preparation Activity 1 (PPA1) that happens with Lab 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Preview of </a:t>
            </a:r>
            <a:r>
              <a:rPr lang="en-CA" sz="1600" dirty="0" err="1"/>
              <a:t>MacUILib</a:t>
            </a:r>
            <a:r>
              <a:rPr lang="en-CA" sz="1600" dirty="0"/>
              <a:t>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Preview of PPA program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chemeClr val="accent6">
                    <a:lumMod val="75000"/>
                  </a:schemeClr>
                </a:solidFill>
              </a:rPr>
              <a:t>Let’s make a constantly-changing character slot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>
                    <a:lumMod val="75000"/>
                  </a:schemeClr>
                </a:solidFill>
              </a:rPr>
              <a:t>And program will end with a spacebar keypress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This will be the focus of Tutorial 2 (Thursday, Sept. 19, 2024)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38076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Scope Rules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3048F4-FE0F-797A-15FC-06722B84EA00}"/>
              </a:ext>
            </a:extLst>
          </p:cNvPr>
          <p:cNvSpPr txBox="1"/>
          <p:nvPr/>
        </p:nvSpPr>
        <p:spPr>
          <a:xfrm>
            <a:off x="831850" y="551471"/>
            <a:ext cx="48635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  <a:endParaRPr lang="en-CA" dirty="0">
              <a:highlight>
                <a:srgbClr val="FFFF00"/>
              </a:highlight>
            </a:endParaRPr>
          </a:p>
          <a:p>
            <a:r>
              <a:rPr lang="en-CA" sz="2000" b="1" dirty="0">
                <a:solidFill>
                  <a:srgbClr val="7F1F1F"/>
                </a:solidFill>
              </a:rPr>
              <a:t>[PLV 2-3] C Compilation Process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2-4] Scopes and Qualifiers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36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458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of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89901"/>
            <a:ext cx="658312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Local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Variables defined inside the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Input parameter(s) of the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These variables can only be referenced within the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These variables get destroyed at the end of the function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Global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Variables defined outside of any functions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Usually at the top of the source code, immediately above/below the function prototypes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Or, defined in the header file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These variables can be referenced anywhere within the program with proper declarations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Not Recommended! Not that much in 2SH4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/>
              <a:t>We may touch on the reason in later topics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23</a:t>
            </a:fld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793E6-E70B-996E-C325-3BF27B934491}"/>
              </a:ext>
            </a:extLst>
          </p:cNvPr>
          <p:cNvSpPr txBox="1"/>
          <p:nvPr/>
        </p:nvSpPr>
        <p:spPr>
          <a:xfrm>
            <a:off x="8197812" y="2619004"/>
            <a:ext cx="2226348" cy="1754326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Scope of Variables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pi = 3.14;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 =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DE4C6EF9-BD0D-6F9D-FCD4-AA7167987469}"/>
              </a:ext>
            </a:extLst>
          </p:cNvPr>
          <p:cNvSpPr/>
          <p:nvPr/>
        </p:nvSpPr>
        <p:spPr>
          <a:xfrm>
            <a:off x="8549640" y="1597993"/>
            <a:ext cx="2483498" cy="499977"/>
          </a:xfrm>
          <a:prstGeom prst="wedgeRectCallout">
            <a:avLst>
              <a:gd name="adj1" fmla="val 2598"/>
              <a:gd name="adj2" fmla="val 14715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en-US" sz="1600" dirty="0">
                <a:solidFill>
                  <a:schemeClr val="tx1"/>
                </a:solidFill>
              </a:rPr>
              <a:t> is a Global Variable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19F9C11B-7CA9-AEA2-D77A-DE352383F56F}"/>
              </a:ext>
            </a:extLst>
          </p:cNvPr>
          <p:cNvSpPr/>
          <p:nvPr/>
        </p:nvSpPr>
        <p:spPr>
          <a:xfrm>
            <a:off x="7466978" y="4800302"/>
            <a:ext cx="2483498" cy="499977"/>
          </a:xfrm>
          <a:prstGeom prst="wedgeRectCallout">
            <a:avLst>
              <a:gd name="adj1" fmla="val 27635"/>
              <a:gd name="adj2" fmla="val -130837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sz="1600" dirty="0">
                <a:solidFill>
                  <a:schemeClr val="tx1"/>
                </a:solidFill>
              </a:rPr>
              <a:t> is a Local Variable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647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458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of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89901"/>
            <a:ext cx="658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Two More Examples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8EDA99-4932-F226-3D47-53E9499E7206}"/>
              </a:ext>
            </a:extLst>
          </p:cNvPr>
          <p:cNvSpPr txBox="1"/>
          <p:nvPr/>
        </p:nvSpPr>
        <p:spPr>
          <a:xfrm>
            <a:off x="1212246" y="1855960"/>
            <a:ext cx="3871817" cy="378565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Prototype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square(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alpha = 1.5;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a; 	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(“alpha = %f\n”, alpha);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 = square( 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(“alpha^2 = %f\n”, a);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Implementation (Definition)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square(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alpha * alpha;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0165FD-8B0C-9672-10B7-0F195A9C96A4}"/>
              </a:ext>
            </a:extLst>
          </p:cNvPr>
          <p:cNvSpPr/>
          <p:nvPr/>
        </p:nvSpPr>
        <p:spPr>
          <a:xfrm>
            <a:off x="3502152" y="1820788"/>
            <a:ext cx="1865376" cy="1536192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n-US" dirty="0">
                <a:solidFill>
                  <a:schemeClr val="tx1"/>
                </a:solidFill>
              </a:rPr>
              <a:t> is?</a:t>
            </a:r>
          </a:p>
          <a:p>
            <a:r>
              <a:rPr lang="en-US" dirty="0">
                <a:solidFill>
                  <a:schemeClr val="tx1"/>
                </a:solidFill>
              </a:rPr>
              <a:t>    Global Variable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 is?</a:t>
            </a:r>
          </a:p>
          <a:p>
            <a:r>
              <a:rPr lang="en-US" dirty="0">
                <a:solidFill>
                  <a:schemeClr val="tx1"/>
                </a:solidFill>
              </a:rPr>
              <a:t>    Local Variable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9AE13-920B-9FEB-7510-8FBB21EEC959}"/>
              </a:ext>
            </a:extLst>
          </p:cNvPr>
          <p:cNvSpPr txBox="1"/>
          <p:nvPr/>
        </p:nvSpPr>
        <p:spPr>
          <a:xfrm>
            <a:off x="6105866" y="1855960"/>
            <a:ext cx="3961677" cy="378565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Prototype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square(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alpha = 1.5;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a; 	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(“alpha = %f\n”, alpha);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 = square( 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(“alpha2 = %f\n”, a);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Implementation (Definition)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square(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alpha * alpha;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543FCB-95EF-1555-031B-303321577FF6}"/>
              </a:ext>
            </a:extLst>
          </p:cNvPr>
          <p:cNvSpPr/>
          <p:nvPr/>
        </p:nvSpPr>
        <p:spPr>
          <a:xfrm>
            <a:off x="8437587" y="1803093"/>
            <a:ext cx="2904271" cy="1059572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What happens if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n-US" dirty="0">
                <a:solidFill>
                  <a:schemeClr val="tx1"/>
                </a:solidFill>
              </a:rPr>
              <a:t> is made Local Variable?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      Compilation Error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FE79FBC-24D6-0A7F-8F7B-D0EF80BD2F7E}"/>
              </a:ext>
            </a:extLst>
          </p:cNvPr>
          <p:cNvSpPr/>
          <p:nvPr/>
        </p:nvSpPr>
        <p:spPr>
          <a:xfrm>
            <a:off x="3752192" y="5439001"/>
            <a:ext cx="1692257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L2Ex3-Scope.c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0061699-8686-725D-2904-EB4309AC6E05}"/>
              </a:ext>
            </a:extLst>
          </p:cNvPr>
          <p:cNvSpPr/>
          <p:nvPr/>
        </p:nvSpPr>
        <p:spPr>
          <a:xfrm>
            <a:off x="9013772" y="5430537"/>
            <a:ext cx="2047631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L2Ex3-ScopeFail.c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81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2913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Rules – both Variables and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89901"/>
            <a:ext cx="850336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Scope of an identifier</a:t>
            </a:r>
            <a:r>
              <a:rPr lang="en-CA" sz="2200" dirty="0"/>
              <a:t> (name of the variables / functions)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portion of the program where the identifier can be referenced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457200" indent="-457200">
              <a:buFont typeface="+mj-lt"/>
              <a:buAutoNum type="alphaUcPeriod"/>
            </a:pPr>
            <a:r>
              <a:rPr lang="en-CA" sz="2400" dirty="0"/>
              <a:t>File Scope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dirty="0"/>
              <a:t>Global Variables and Function Names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dirty="0"/>
              <a:t>Can be referenced anywhere in the file after their definition or declaration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/>
              <a:t>Block Scope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dirty="0"/>
              <a:t>Variables defined inside a code block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dirty="0"/>
              <a:t>Can be referenced only within that block, or in the inner blocks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dirty="0"/>
              <a:t>Local Variables have block scope</a:t>
            </a:r>
            <a:endParaRPr lang="en-CA" sz="2400" dirty="0"/>
          </a:p>
          <a:p>
            <a:pPr marL="457200" indent="-457200">
              <a:buFont typeface="+mj-lt"/>
              <a:buAutoNum type="alphaUcPeriod"/>
            </a:pPr>
            <a:r>
              <a:rPr lang="en-CA" sz="2400" dirty="0"/>
              <a:t>Function Scope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dirty="0"/>
              <a:t>Labels (like case labels used in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CA" dirty="0"/>
              <a:t> statement)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/>
              <a:t>Function Prototype Scope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dirty="0"/>
              <a:t>Identifiers in the parameter list of the prototype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25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8A52EE-1159-CCAA-6AAA-E4FF9359B17B}"/>
              </a:ext>
            </a:extLst>
          </p:cNvPr>
          <p:cNvSpPr/>
          <p:nvPr/>
        </p:nvSpPr>
        <p:spPr>
          <a:xfrm rot="21014688">
            <a:off x="7873886" y="4645152"/>
            <a:ext cx="2734056" cy="493776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F1F1F"/>
                </a:solidFill>
              </a:rPr>
              <a:t>Why do all these exist?</a:t>
            </a:r>
          </a:p>
        </p:txBody>
      </p:sp>
    </p:spTree>
    <p:extLst>
      <p:ext uri="{BB962C8B-B14F-4D97-AF65-F5344CB8AC3E}">
        <p14:creationId xmlns:p14="http://schemas.microsoft.com/office/powerpoint/2010/main" val="92468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 Qualifier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2668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 variable declared with 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CA" sz="2200" dirty="0"/>
              <a:t> qualifier can be initialized</a:t>
            </a:r>
            <a:br>
              <a:rPr lang="en-CA" sz="2200" dirty="0"/>
            </a:br>
            <a:r>
              <a:rPr lang="en-CA" sz="2200" dirty="0"/>
              <a:t>but its value cannot be changed thereafter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When to use it?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Declaring program-wide constants </a:t>
            </a:r>
            <a:br>
              <a:rPr lang="en-CA" dirty="0"/>
            </a:br>
            <a:r>
              <a:rPr lang="en-CA" dirty="0"/>
              <a:t>(but preprocessor constant definition can replace this)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Ensuring parameters passed into a function </a:t>
            </a:r>
            <a:br>
              <a:rPr lang="en-CA" dirty="0"/>
            </a:br>
            <a:r>
              <a:rPr lang="en-CA" dirty="0"/>
              <a:t>will not be accidentally altered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Safeguarding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26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E4B1C-CB77-2983-EB64-48271BE26F68}"/>
              </a:ext>
            </a:extLst>
          </p:cNvPr>
          <p:cNvSpPr txBox="1"/>
          <p:nvPr/>
        </p:nvSpPr>
        <p:spPr>
          <a:xfrm>
            <a:off x="5616018" y="2531980"/>
            <a:ext cx="3624896" cy="646331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int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44;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53;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Syntax Error!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46D4AF-C8CB-4AAF-73F9-F6D7DAF1C8C3}"/>
              </a:ext>
            </a:extLst>
          </p:cNvPr>
          <p:cNvSpPr txBox="1"/>
          <p:nvPr/>
        </p:nvSpPr>
        <p:spPr>
          <a:xfrm>
            <a:off x="7107119" y="3880892"/>
            <a:ext cx="4084711" cy="175432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int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a = 53;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Syntax Error!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465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2723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 Duration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53325"/>
            <a:ext cx="1037984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 is memory efficiency-minded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All non-global variables are by default “automatically deallocated” at the end of their scope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They are stored in </a:t>
            </a:r>
            <a:r>
              <a:rPr lang="en-CA" b="1" i="1" dirty="0"/>
              <a:t>Auto Storage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Benefit: Program stays memory-lean as much as possible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Only global variables and functions will persist throughout the entire program runtime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They are stored in </a:t>
            </a:r>
            <a:r>
              <a:rPr lang="en-CA" b="1" i="1" dirty="0"/>
              <a:t>Static Storage</a:t>
            </a:r>
            <a:endParaRPr lang="en-CA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Storage Duration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period for which an identifier exists in the memory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Automatic Storage Duration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Lifetime of the identifier spans only across the code block in which it is defined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Default for all local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Static Storage Duration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Lifetime of the identifier spans across the entire program runtime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Default for all global variables and functions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27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1700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2723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 Duration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53325"/>
            <a:ext cx="1037984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Storage Duration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Automatic Storage Duration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Lifetime of the identifier spans only across the code block in which it is defined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Default for all local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Static Storage Duration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Lifetime of the identifier spans across the entire program runtime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Default for all global variables and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Altering Storage Duration for Local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Local variables can acquire static storage duration through the storage modifier keyword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This will ensure that a local variable can retain its values throughout multiple function calls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i.e. holding persistent value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Ex.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letter;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All static variables are implicitly initialized to 0</a:t>
            </a:r>
            <a:r>
              <a:rPr lang="en-CA" dirty="0"/>
              <a:t>, if not explicitly initialized by programmer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static != global </a:t>
            </a:r>
            <a:r>
              <a:rPr lang="en-CA" dirty="0"/>
              <a:t>(Think about why)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28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3625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9664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 Duration – Example (Problem Set)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53325"/>
            <a:ext cx="1037984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Altering Storage Duration for Local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Local variables can acquire static storage duration through the storage modifier keyword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This will ensure that a local variable can retain its values throughout multiple function calls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i.e., holding persistent value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Ex.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letter;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29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072CA3-90A4-6150-F154-BFCF5473149D}"/>
              </a:ext>
            </a:extLst>
          </p:cNvPr>
          <p:cNvSpPr txBox="1"/>
          <p:nvPr/>
        </p:nvSpPr>
        <p:spPr>
          <a:xfrm>
            <a:off x="6927246" y="2450028"/>
            <a:ext cx="3871817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function(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a1 )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 =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b++;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(a1 + b + c);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 = 2,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	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3;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 ”, function(a));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86A707-A28C-C08B-709D-BAD7018651E9}"/>
              </a:ext>
            </a:extLst>
          </p:cNvPr>
          <p:cNvSpPr/>
          <p:nvPr/>
        </p:nvSpPr>
        <p:spPr>
          <a:xfrm>
            <a:off x="9467365" y="2929874"/>
            <a:ext cx="153841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L2Ex4-Static.c</a:t>
            </a:r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42E8C-CDC8-6B09-763A-12AA5F146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216961"/>
              </p:ext>
            </p:extLst>
          </p:nvPr>
        </p:nvGraphicFramePr>
        <p:xfrm>
          <a:off x="983590" y="3038692"/>
          <a:ext cx="5417208" cy="2749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514">
                  <a:extLst>
                    <a:ext uri="{9D8B030D-6E8A-4147-A177-3AD203B41FA5}">
                      <a16:colId xmlns:a16="http://schemas.microsoft.com/office/drawing/2014/main" val="2422887794"/>
                    </a:ext>
                  </a:extLst>
                </a:gridCol>
                <a:gridCol w="858545">
                  <a:extLst>
                    <a:ext uri="{9D8B030D-6E8A-4147-A177-3AD203B41FA5}">
                      <a16:colId xmlns:a16="http://schemas.microsoft.com/office/drawing/2014/main" val="203383762"/>
                    </a:ext>
                  </a:extLst>
                </a:gridCol>
                <a:gridCol w="858545">
                  <a:extLst>
                    <a:ext uri="{9D8B030D-6E8A-4147-A177-3AD203B41FA5}">
                      <a16:colId xmlns:a16="http://schemas.microsoft.com/office/drawing/2014/main" val="3126709948"/>
                    </a:ext>
                  </a:extLst>
                </a:gridCol>
                <a:gridCol w="814807">
                  <a:extLst>
                    <a:ext uri="{9D8B030D-6E8A-4147-A177-3AD203B41FA5}">
                      <a16:colId xmlns:a16="http://schemas.microsoft.com/office/drawing/2014/main" val="4128573053"/>
                    </a:ext>
                  </a:extLst>
                </a:gridCol>
                <a:gridCol w="814807">
                  <a:extLst>
                    <a:ext uri="{9D8B030D-6E8A-4147-A177-3AD203B41FA5}">
                      <a16:colId xmlns:a16="http://schemas.microsoft.com/office/drawing/2014/main" val="1226578999"/>
                    </a:ext>
                  </a:extLst>
                </a:gridCol>
                <a:gridCol w="1078990">
                  <a:extLst>
                    <a:ext uri="{9D8B030D-6E8A-4147-A177-3AD203B41FA5}">
                      <a16:colId xmlns:a16="http://schemas.microsoft.com/office/drawing/2014/main" val="1984006675"/>
                    </a:ext>
                  </a:extLst>
                </a:gridCol>
              </a:tblGrid>
              <a:tr h="5498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Start of the call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End of the call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848646"/>
                  </a:ext>
                </a:extLst>
              </a:tr>
              <a:tr h="5498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return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3042240"/>
                  </a:ext>
                </a:extLst>
              </a:tr>
              <a:tr h="54989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1851331"/>
                  </a:ext>
                </a:extLst>
              </a:tr>
              <a:tr h="54989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374905"/>
                  </a:ext>
                </a:extLst>
              </a:tr>
              <a:tr h="54989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407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67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6516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Global Variable Linkage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53325"/>
            <a:ext cx="1037984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We can further control the global variable visibility among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Internal Linkage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Global variables with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CA" dirty="0"/>
              <a:t> specifier in </a:t>
            </a:r>
            <a:r>
              <a:rPr lang="en-CA" b="1" dirty="0"/>
              <a:t>file A</a:t>
            </a:r>
            <a:r>
              <a:rPr lang="en-CA" dirty="0"/>
              <a:t> cannot be referenced from outside of </a:t>
            </a:r>
            <a:r>
              <a:rPr lang="en-CA" b="1" dirty="0"/>
              <a:t>file 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Function declared / defined with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CA" dirty="0"/>
              <a:t> specifier also cannot be called from another file.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Static functions must have the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CA" dirty="0"/>
              <a:t> specifier appended to their function signature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In their prototype or implementation, whichever comes first</a:t>
            </a: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External Linkage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Global variable </a:t>
            </a:r>
            <a:r>
              <a:rPr lang="en-CA" b="1" dirty="0"/>
              <a:t>g</a:t>
            </a:r>
            <a:r>
              <a:rPr lang="en-CA" dirty="0"/>
              <a:t> defined in </a:t>
            </a:r>
            <a:r>
              <a:rPr lang="en-CA" b="1" dirty="0"/>
              <a:t>file A</a:t>
            </a:r>
            <a:r>
              <a:rPr lang="en-CA" dirty="0"/>
              <a:t> can be referenced from </a:t>
            </a:r>
            <a:r>
              <a:rPr lang="en-CA" b="1" dirty="0"/>
              <a:t>file B</a:t>
            </a:r>
            <a:r>
              <a:rPr lang="en-CA" dirty="0"/>
              <a:t>, as long as </a:t>
            </a:r>
            <a:r>
              <a:rPr lang="en-CA" b="1" dirty="0"/>
              <a:t>g</a:t>
            </a:r>
            <a:r>
              <a:rPr lang="en-CA" dirty="0"/>
              <a:t> is declared in file B with the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extern</a:t>
            </a:r>
            <a:r>
              <a:rPr lang="en-CA" dirty="0"/>
              <a:t> specifier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Functions are by default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extern</a:t>
            </a:r>
            <a:r>
              <a:rPr lang="en-CA" dirty="0"/>
              <a:t>, as long as its prototype is included in other files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Some communities consider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extern</a:t>
            </a:r>
            <a:r>
              <a:rPr lang="en-CA" dirty="0"/>
              <a:t> redundant in function signatures.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We may come back to this topic later…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30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3428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05582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Modularization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 Modularization is great for code management</a:t>
            </a:r>
          </a:p>
          <a:p>
            <a:pPr lvl="1"/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Scope Rules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Local vs. Global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Auto vs. Static Storage Duration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Internal vs. External Linkage</a:t>
            </a:r>
          </a:p>
          <a:p>
            <a:pPr lvl="1"/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31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C Basic Theories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Variables and Data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Type Conversion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Operators, Expressions, Operator Precedence and Associativity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Control Statements – Selection and Iteration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Ternary Operator (Conditional Operator)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Iteration Control Statements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Standard Input /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Will span over multiple lectures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32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19847</TotalTime>
  <Words>3844</Words>
  <Application>Microsoft Office PowerPoint</Application>
  <PresentationFormat>Widescreen</PresentationFormat>
  <Paragraphs>673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on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Coding Practice</vt:lpstr>
      <vt:lpstr>PowerPoint Presentation</vt:lpstr>
      <vt:lpstr>Scope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2 - C Functions</dc:title>
  <dc:creator>Shahrukh Athar</dc:creator>
  <cp:lastModifiedBy>Shahrukh Athar</cp:lastModifiedBy>
  <cp:revision>346</cp:revision>
  <dcterms:created xsi:type="dcterms:W3CDTF">2018-10-02T00:35:18Z</dcterms:created>
  <dcterms:modified xsi:type="dcterms:W3CDTF">2024-09-11T19:50:10Z</dcterms:modified>
</cp:coreProperties>
</file>