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6" r:id="rId2"/>
    <p:sldId id="264" r:id="rId3"/>
    <p:sldId id="460" r:id="rId4"/>
    <p:sldId id="462" r:id="rId5"/>
    <p:sldId id="463" r:id="rId6"/>
    <p:sldId id="464" r:id="rId7"/>
    <p:sldId id="433" r:id="rId8"/>
    <p:sldId id="465" r:id="rId9"/>
    <p:sldId id="466" r:id="rId10"/>
    <p:sldId id="467" r:id="rId11"/>
    <p:sldId id="469" r:id="rId12"/>
    <p:sldId id="407" r:id="rId13"/>
    <p:sldId id="470" r:id="rId14"/>
    <p:sldId id="471" r:id="rId15"/>
    <p:sldId id="436" r:id="rId16"/>
    <p:sldId id="414" r:id="rId17"/>
    <p:sldId id="472" r:id="rId18"/>
    <p:sldId id="474" r:id="rId19"/>
    <p:sldId id="475" r:id="rId20"/>
    <p:sldId id="476" r:id="rId21"/>
    <p:sldId id="477" r:id="rId22"/>
    <p:sldId id="478" r:id="rId23"/>
    <p:sldId id="479" r:id="rId24"/>
    <p:sldId id="481" r:id="rId25"/>
    <p:sldId id="482" r:id="rId26"/>
    <p:sldId id="483" r:id="rId27"/>
    <p:sldId id="484" r:id="rId28"/>
    <p:sldId id="485" r:id="rId29"/>
    <p:sldId id="486" r:id="rId30"/>
    <p:sldId id="487" r:id="rId31"/>
    <p:sldId id="488" r:id="rId32"/>
    <p:sldId id="489" r:id="rId33"/>
    <p:sldId id="377" r:id="rId34"/>
    <p:sldId id="313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7D7D"/>
    <a:srgbClr val="7F1F1F"/>
    <a:srgbClr val="FFDDDD"/>
    <a:srgbClr val="E8D9F3"/>
    <a:srgbClr val="AF7CD6"/>
    <a:srgbClr val="E9EBF5"/>
    <a:srgbClr val="A870D2"/>
    <a:srgbClr val="EBF1E9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A49FD1-C801-49A5-8B3B-7E4466140B0B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5F8C59-6400-4A47-9B68-202DC97D1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741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F0B6A-6EA8-48B1-890E-DBE9F55C93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041BC4-FC72-4C99-A6E3-D36F48E005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B7F54-454F-4230-BCD0-7E298954C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2024-10-06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61BE9-5CD9-4798-8B28-41A7B3B21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723F6D-6949-4755-9EB3-0B4CF3682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86534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C3B6A-6FB6-43A1-923B-948DA708E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2D120-9635-40F5-BD6A-8B18A091E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A2D18D-D540-45BC-92C8-5C043E6BE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2024-10-06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09A943-3396-4512-9E17-E9C48D404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3FB98-9712-4920-84AA-67299297C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87841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FC0B3-F2E8-4150-9C9F-249EA1EEB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B89AC4-4CCA-41C9-8CD3-FDA4F8BFD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67CB5-DCF0-4F91-A3A4-AC18FA8DC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2024-10-06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D0D37-7F5D-4DA2-928A-A46FC161A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35497-1021-4F40-B052-5FDB6EA00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81710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8113F-9A27-4454-9066-1D4816CBA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7B618-A31F-4B60-9C62-B8612EFF3C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596AB5-6DB6-442F-A300-81550E203D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BFC75A-6003-426C-9DB2-9B39A4B0D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2024-10-06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B4B50-F363-4912-A26C-0359D566C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216A83-7103-44F3-87B3-CEE5D964D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24262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81195-ACB2-4934-8F4E-F2958669E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758A89-F5A9-4F9B-A223-97C13BC231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16795C-363C-48DB-AD3D-2F9C61E1EB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E36750-9C96-4B01-9805-33AC964663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1DC454-D419-49C4-8D63-67A4795D95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43FABF-0142-467C-AE89-DE5CD45B0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2024-10-06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DB3F96-5224-4C13-AD6F-1105B1ADA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A5A20E-F42A-4D9D-B91C-6088C1DCA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70123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B7978-81C5-4AE1-8616-9BD6D82E9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3CD8A4-8B49-41C6-B266-DDCE9828A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2024-10-06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0EAF09-62CD-4D41-A12D-7A187B158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916380-B9B6-4A57-92A4-92928B666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68800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B50F4B-56DD-47FF-8723-5B8E812DB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2024-10-06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0A2383-5FD6-4CA9-B869-66F36C29F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D04989-A74B-47B9-BBF3-7E03ED0AF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94822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FE9DE-5FE6-448D-8017-76CEB79B7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F5170-09A8-4802-948A-2FC134249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03ADFF-B73A-409D-B75B-F2CD7B6DDE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410021-EAD0-4B81-B79C-468DFF640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2024-10-06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38279-373B-4DD6-9B4D-8391BC7BD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87FDA3-5AFE-4A11-A0BE-334D33D89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06948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59788-A568-4DD7-ADA9-9ABF1663C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FC9A0F-20B9-4F4D-8494-51CC0F0F15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3D0EFE-BCFC-4795-81FA-C1868FB99C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A51377-1691-4253-8517-5C1042A92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2024-10-06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94FC9-DA1F-4922-BE56-216E722BA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32F70E-C891-4B2C-90E2-48DF1E698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83696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A1662-B2C5-4D3D-A91F-576556E37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D83262-9C38-48C2-92DD-DFF488E745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F95AE-11FE-461F-86AA-DD7226E11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2024-10-06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E4B16A-019A-4707-B5FE-6A7A4FAA5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9DE2A-7C3E-4387-BD36-F66C7D0C2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9342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34312D-85D8-4F4E-9225-EE35F67774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6A2784-F633-44EE-8524-4C659B6A1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F275D-A9E9-4573-A113-62A0D463E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2024-10-06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45AB9-9C02-4C46-A2F5-EA99128AA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DAC47-ACD1-475E-929F-BEA3913CD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40229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561F7F-5C44-431A-8DF8-3CE3DE3D3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51CD12-5D97-4A00-9D87-C774CAFD4A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F3DE7A-C95D-4242-B510-AF0B312622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7BFC9D-8A37-4207-9EED-DA2ABD1734E0}" type="datetimeFigureOut">
              <a:rPr lang="en-CA" smtClean="0"/>
              <a:t>2024-10-06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80F37-BB84-4C94-94FA-DF32380325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C9D4C-3C3D-49C6-9E5A-9FEE72A28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7099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B39D983-FBB4-420A-9D1B-9D486DEE0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4" y="0"/>
            <a:ext cx="3158763" cy="18707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12BEA56-DD51-434A-8A58-1499DABCDB67}"/>
              </a:ext>
            </a:extLst>
          </p:cNvPr>
          <p:cNvSpPr txBox="1"/>
          <p:nvPr/>
        </p:nvSpPr>
        <p:spPr>
          <a:xfrm>
            <a:off x="4402176" y="2611819"/>
            <a:ext cx="338772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60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 Pointers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32D380-33B6-48EC-8744-F89F20911832}"/>
              </a:ext>
            </a:extLst>
          </p:cNvPr>
          <p:cNvSpPr txBox="1"/>
          <p:nvPr/>
        </p:nvSpPr>
        <p:spPr>
          <a:xfrm>
            <a:off x="3975701" y="1867574"/>
            <a:ext cx="4225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32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COMPENG 2SH4 Topic 7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1FBD2B-6139-A284-7C0D-3C9B845EC189}"/>
              </a:ext>
            </a:extLst>
          </p:cNvPr>
          <p:cNvSpPr txBox="1"/>
          <p:nvPr/>
        </p:nvSpPr>
        <p:spPr>
          <a:xfrm>
            <a:off x="4185188" y="5068547"/>
            <a:ext cx="38216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b="1" dirty="0"/>
              <a:t>Dr. Shahrukh Athar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C57E29-7263-1F80-1438-29A14B3D73BD}"/>
              </a:ext>
            </a:extLst>
          </p:cNvPr>
          <p:cNvSpPr txBox="1"/>
          <p:nvPr/>
        </p:nvSpPr>
        <p:spPr>
          <a:xfrm>
            <a:off x="1388853" y="6596390"/>
            <a:ext cx="108031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Credit: The current version of these slides has been developed by Dr. Scott Chen (2SH4 F23 C02). I am using these slides with his permission and have made only slight modifications.</a:t>
            </a:r>
          </a:p>
        </p:txBody>
      </p:sp>
    </p:spTree>
    <p:extLst>
      <p:ext uri="{BB962C8B-B14F-4D97-AF65-F5344CB8AC3E}">
        <p14:creationId xmlns:p14="http://schemas.microsoft.com/office/powerpoint/2010/main" val="1957787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195630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Agenda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8" y="1563637"/>
            <a:ext cx="6543502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Address-Data Duality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Reference (Address) Operator </a:t>
            </a:r>
            <a:r>
              <a:rPr lang="en-CA" b="1" dirty="0">
                <a:latin typeface="Courier"/>
              </a:rPr>
              <a:t>&amp;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Dereference (Indirection) Operator </a:t>
            </a:r>
            <a:r>
              <a:rPr lang="en-CA" b="1" dirty="0">
                <a:latin typeface="Courier"/>
              </a:rPr>
              <a:t>*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2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Pointers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Working with Pointers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Pass-by-Reference vs. Pass-by-Value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Simulating Multiple Return Values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pic>
        <p:nvPicPr>
          <p:cNvPr id="12" name="Graphic 11" descr="Three circles each containing concentric circles.">
            <a:extLst>
              <a:ext uri="{FF2B5EF4-FFF2-40B4-BE49-F238E27FC236}">
                <a16:creationId xmlns:a16="http://schemas.microsoft.com/office/drawing/2014/main" id="{A4D28325-1E70-41A7-BF16-E0919AFAD5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8020" y="776106"/>
            <a:ext cx="5305788" cy="5305788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58952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 descr="One solid circle, one ring, and one circle filled with diagonal lines">
            <a:extLst>
              <a:ext uri="{FF2B5EF4-FFF2-40B4-BE49-F238E27FC236}">
                <a16:creationId xmlns:a16="http://schemas.microsoft.com/office/drawing/2014/main" id="{117B1E9F-05A5-4510-8587-80B34F83D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8254" y="747419"/>
            <a:ext cx="5363162" cy="536316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14B5F53-76BB-4185-819B-0CE94A358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Address-Data Duality</a:t>
            </a:r>
            <a:endParaRPr lang="en-US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699E1B-6ADB-4F72-95A0-4AA7EB020B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Reference and Dereference Operators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1EE999-66AE-40DE-9FC3-57D08FF72800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1EEE44-5A53-4177-97CB-790B8F12F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3EE8E67-A2E4-663B-A952-0B9DEB1D8A2E}"/>
              </a:ext>
            </a:extLst>
          </p:cNvPr>
          <p:cNvSpPr txBox="1"/>
          <p:nvPr/>
        </p:nvSpPr>
        <p:spPr>
          <a:xfrm>
            <a:off x="831850" y="551471"/>
            <a:ext cx="526415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Watch Before Lecture:</a:t>
            </a:r>
          </a:p>
          <a:p>
            <a:r>
              <a:rPr lang="en-CA" sz="2000" b="1" dirty="0">
                <a:solidFill>
                  <a:srgbClr val="7F1F1F"/>
                </a:solidFill>
              </a:rPr>
              <a:t>[PLV 7-1] Computer Memory Structure</a:t>
            </a:r>
          </a:p>
          <a:p>
            <a:r>
              <a:rPr lang="en-CA" sz="2000" b="1" dirty="0">
                <a:solidFill>
                  <a:srgbClr val="7F1F1F"/>
                </a:solidFill>
              </a:rPr>
              <a:t>[PLV 7-2] Address-Data Duality</a:t>
            </a:r>
            <a:endParaRPr lang="en-US" sz="2000" b="1" dirty="0">
              <a:solidFill>
                <a:srgbClr val="7F1F1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2560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169331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dirty="0"/>
              <a:t>C allows us to refer to the address of a memory location of a variable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Address Operator (aka. Referencing Operator):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Conversion Specifier for Hexadecimal-Formatted Memory Address - </a:t>
            </a:r>
            <a:r>
              <a:rPr lang="en-CA" b="1" dirty="0">
                <a:latin typeface="Courier"/>
              </a:rPr>
              <a:t>%p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Can also use </a:t>
            </a:r>
            <a:r>
              <a:rPr lang="en-CA" dirty="0">
                <a:latin typeface="Courier"/>
              </a:rPr>
              <a:t>%x </a:t>
            </a:r>
            <a:r>
              <a:rPr lang="en-CA" dirty="0"/>
              <a:t>(Hex-Formatted Integer), but most compilers will complain with warning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99686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Address (Referencing) Operator &amp;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4</a:t>
            </a:fld>
            <a:endParaRPr lang="en-C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983E4A-8BA1-4DD5-7BCE-75369A12655A}"/>
              </a:ext>
            </a:extLst>
          </p:cNvPr>
          <p:cNvSpPr txBox="1"/>
          <p:nvPr/>
        </p:nvSpPr>
        <p:spPr>
          <a:xfrm>
            <a:off x="1683752" y="2693068"/>
            <a:ext cx="5631431" cy="1754326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main(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n = 6;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(“Variable n is located at address: %p\n”, 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(“Variable n holds a value of: %d\n”, n);  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// end of main()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27352794-ECC6-F9C5-DAEA-DD19D1B651F3}"/>
              </a:ext>
            </a:extLst>
          </p:cNvPr>
          <p:cNvSpPr/>
          <p:nvPr/>
        </p:nvSpPr>
        <p:spPr>
          <a:xfrm>
            <a:off x="6096001" y="2171125"/>
            <a:ext cx="2242832" cy="951845"/>
          </a:xfrm>
          <a:prstGeom prst="wedgeRectCallout">
            <a:avLst>
              <a:gd name="adj1" fmla="val -21739"/>
              <a:gd name="adj2" fmla="val 83736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u="sng" dirty="0">
                <a:solidFill>
                  <a:schemeClr val="tx1"/>
                </a:solidFill>
              </a:rPr>
              <a:t>Referencing Operator </a:t>
            </a:r>
            <a:r>
              <a:rPr lang="en-US" b="1" u="sng" dirty="0">
                <a:solidFill>
                  <a:srgbClr val="FF0000"/>
                </a:solidFill>
              </a:rPr>
              <a:t>&amp;</a:t>
            </a:r>
            <a:endParaRPr lang="en-US" sz="1600" b="1" u="sng" dirty="0">
              <a:solidFill>
                <a:srgbClr val="FF0000"/>
              </a:solidFill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Request for memory address of a variable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D3BA304-7AB2-792D-69F9-EA2F6AF0ECBB}"/>
              </a:ext>
            </a:extLst>
          </p:cNvPr>
          <p:cNvSpPr/>
          <p:nvPr/>
        </p:nvSpPr>
        <p:spPr>
          <a:xfrm>
            <a:off x="6123491" y="4313706"/>
            <a:ext cx="1861482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L7Ex1-RefOp.c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366E101-E6A3-36D1-D83F-1346611D784B}"/>
              </a:ext>
            </a:extLst>
          </p:cNvPr>
          <p:cNvSpPr/>
          <p:nvPr/>
        </p:nvSpPr>
        <p:spPr>
          <a:xfrm>
            <a:off x="8515826" y="2333625"/>
            <a:ext cx="2663155" cy="240199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A" sz="2000" b="1" u="sng" dirty="0">
                <a:solidFill>
                  <a:schemeClr val="tx1"/>
                </a:solidFill>
              </a:rPr>
              <a:t>Assuming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&amp;n =  0x 0061FF1C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 = 6 (0x 00000006)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60F281E-3F75-8563-6E0C-CDFAB04DE0BC}"/>
              </a:ext>
            </a:extLst>
          </p:cNvPr>
          <p:cNvSpPr/>
          <p:nvPr/>
        </p:nvSpPr>
        <p:spPr>
          <a:xfrm>
            <a:off x="9591340" y="3979644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00 </a:t>
            </a:r>
            <a:r>
              <a:rPr lang="en-CA" sz="1200" b="1" dirty="0">
                <a:solidFill>
                  <a:schemeClr val="tx1"/>
                </a:solidFill>
              </a:rPr>
              <a:t>(0b 00000000)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361954B-442B-3F20-1A0C-0B6AFABB1216}"/>
              </a:ext>
            </a:extLst>
          </p:cNvPr>
          <p:cNvSpPr/>
          <p:nvPr/>
        </p:nvSpPr>
        <p:spPr>
          <a:xfrm>
            <a:off x="9591340" y="3698166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00 </a:t>
            </a:r>
            <a:r>
              <a:rPr lang="en-CA" sz="1200" b="1" dirty="0">
                <a:solidFill>
                  <a:schemeClr val="tx1"/>
                </a:solidFill>
              </a:rPr>
              <a:t>(0b 00000000)</a:t>
            </a:r>
            <a:endParaRPr lang="en-CA" b="1" dirty="0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FA9DE71-F46D-9CE4-6AD7-BBC02BECC690}"/>
              </a:ext>
            </a:extLst>
          </p:cNvPr>
          <p:cNvSpPr/>
          <p:nvPr/>
        </p:nvSpPr>
        <p:spPr>
          <a:xfrm>
            <a:off x="9591340" y="4270649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06 </a:t>
            </a:r>
            <a:r>
              <a:rPr lang="en-CA" sz="1200" b="1" dirty="0">
                <a:solidFill>
                  <a:schemeClr val="tx1"/>
                </a:solidFill>
              </a:rPr>
              <a:t>(0b 00000110)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460AF3-5E6F-BD49-1DB9-8EA0D043D2E4}"/>
              </a:ext>
            </a:extLst>
          </p:cNvPr>
          <p:cNvSpPr txBox="1"/>
          <p:nvPr/>
        </p:nvSpPr>
        <p:spPr>
          <a:xfrm>
            <a:off x="8507069" y="4286342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0061FF1C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D9F2FA-8249-32A7-AC47-C094310F51DD}"/>
              </a:ext>
            </a:extLst>
          </p:cNvPr>
          <p:cNvSpPr txBox="1"/>
          <p:nvPr/>
        </p:nvSpPr>
        <p:spPr>
          <a:xfrm>
            <a:off x="8503744" y="4003557"/>
            <a:ext cx="11655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0061FF1D</a:t>
            </a:r>
            <a:endParaRPr lang="en-CA" sz="1600" b="1" dirty="0">
              <a:solidFill>
                <a:srgbClr val="7030A0"/>
              </a:solidFill>
            </a:endParaRPr>
          </a:p>
          <a:p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D32BB1-636E-4B6F-EAC8-22A2320D4FB9}"/>
              </a:ext>
            </a:extLst>
          </p:cNvPr>
          <p:cNvSpPr txBox="1"/>
          <p:nvPr/>
        </p:nvSpPr>
        <p:spPr>
          <a:xfrm>
            <a:off x="8503744" y="3703930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0061FF1E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A465524-BA69-2430-E5BE-42D8DDFF6E92}"/>
              </a:ext>
            </a:extLst>
          </p:cNvPr>
          <p:cNvSpPr/>
          <p:nvPr/>
        </p:nvSpPr>
        <p:spPr>
          <a:xfrm>
            <a:off x="9594054" y="3407467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00 </a:t>
            </a:r>
            <a:r>
              <a:rPr lang="en-CA" sz="1200" b="1" dirty="0">
                <a:solidFill>
                  <a:schemeClr val="tx1"/>
                </a:solidFill>
              </a:rPr>
              <a:t>(0b 00000000)</a:t>
            </a:r>
            <a:endParaRPr lang="en-CA" b="1" dirty="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E7BE58-6BE8-31B4-1D86-150922C84F2A}"/>
              </a:ext>
            </a:extLst>
          </p:cNvPr>
          <p:cNvSpPr txBox="1"/>
          <p:nvPr/>
        </p:nvSpPr>
        <p:spPr>
          <a:xfrm>
            <a:off x="8522794" y="3401709"/>
            <a:ext cx="1165596" cy="313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0061FF1F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24" name="Speech Bubble: Rectangle 23">
            <a:extLst>
              <a:ext uri="{FF2B5EF4-FFF2-40B4-BE49-F238E27FC236}">
                <a16:creationId xmlns:a16="http://schemas.microsoft.com/office/drawing/2014/main" id="{CEC481D5-C667-6BF4-8558-135F42249C56}"/>
              </a:ext>
            </a:extLst>
          </p:cNvPr>
          <p:cNvSpPr/>
          <p:nvPr/>
        </p:nvSpPr>
        <p:spPr>
          <a:xfrm>
            <a:off x="9828353" y="669044"/>
            <a:ext cx="1681191" cy="850722"/>
          </a:xfrm>
          <a:prstGeom prst="wedgeRectCallout">
            <a:avLst>
              <a:gd name="adj1" fmla="val 3827"/>
              <a:gd name="adj2" fmla="val 277899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0b (0%) </a:t>
            </a:r>
            <a:r>
              <a:rPr lang="en-US" sz="1600" dirty="0">
                <a:solidFill>
                  <a:schemeClr val="tx1"/>
                </a:solidFill>
              </a:rPr>
              <a:t>prefix indicates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Binary Number</a:t>
            </a:r>
          </a:p>
        </p:txBody>
      </p:sp>
    </p:spTree>
    <p:extLst>
      <p:ext uri="{BB962C8B-B14F-4D97-AF65-F5344CB8AC3E}">
        <p14:creationId xmlns:p14="http://schemas.microsoft.com/office/powerpoint/2010/main" val="668642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  <p:bldP spid="10" grpId="0" animBg="1"/>
      <p:bldP spid="22" grpId="0" animBg="1"/>
      <p:bldP spid="11" grpId="0" animBg="1"/>
      <p:bldP spid="12" grpId="0" animBg="1"/>
      <p:bldP spid="14" grpId="0" animBg="1"/>
      <p:bldP spid="15" grpId="0"/>
      <p:bldP spid="16" grpId="0"/>
      <p:bldP spid="17" grpId="0"/>
      <p:bldP spid="18" grpId="0" animBg="1"/>
      <p:bldP spid="19" grpId="0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16933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dirty="0"/>
              <a:t>C allows us to refer to the address of a memory location of a variable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400" b="1" dirty="0">
                <a:solidFill>
                  <a:srgbClr val="FF0000"/>
                </a:solidFill>
                <a:latin typeface="Algerian" panose="04020705040A02060702" pitchFamily="82" charset="0"/>
              </a:rPr>
              <a:t>GOTCHA!</a:t>
            </a:r>
            <a:endParaRPr lang="en-CA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Referencing Operator cannot be applied to </a:t>
            </a:r>
            <a:r>
              <a:rPr lang="en-CA" i="1" dirty="0" err="1"/>
              <a:t>rvalues</a:t>
            </a:r>
            <a:r>
              <a:rPr lang="en-CA" dirty="0"/>
              <a:t> </a:t>
            </a:r>
            <a:br>
              <a:rPr lang="en-CA" dirty="0"/>
            </a:br>
            <a:r>
              <a:rPr lang="en-CA" dirty="0"/>
              <a:t>(i.e. constants, constant expressions)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dirty="0">
                <a:latin typeface="Courier"/>
              </a:rPr>
              <a:t>&amp;1934    // Syntax Error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dirty="0">
                <a:latin typeface="Courier"/>
              </a:rPr>
              <a:t>&amp;(y + 5) // Syntax Error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Answer: 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i="1" dirty="0" err="1"/>
              <a:t>rvalues</a:t>
            </a:r>
            <a:r>
              <a:rPr lang="en-CA" dirty="0"/>
              <a:t> are temporarily stored on Stack </a:t>
            </a:r>
          </a:p>
          <a:p>
            <a:pPr marL="2171700" lvl="4" indent="-342900">
              <a:buFont typeface="Arial" panose="020B0604020202020204" pitchFamily="34" charset="0"/>
              <a:buChar char="•"/>
            </a:pPr>
            <a:r>
              <a:rPr lang="en-CA" dirty="0"/>
              <a:t>Address available, but access not permitted by C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dirty="0"/>
              <a:t>Some </a:t>
            </a:r>
            <a:r>
              <a:rPr lang="en-CA" i="1" dirty="0" err="1"/>
              <a:t>rvalues</a:t>
            </a:r>
            <a:r>
              <a:rPr lang="en-CA" dirty="0"/>
              <a:t> are stored inside the CPU registers </a:t>
            </a:r>
          </a:p>
          <a:p>
            <a:pPr marL="2171700" lvl="4" indent="-342900">
              <a:buFont typeface="Arial" panose="020B0604020202020204" pitchFamily="34" charset="0"/>
              <a:buChar char="•"/>
            </a:pPr>
            <a:r>
              <a:rPr lang="en-CA" dirty="0"/>
              <a:t>No address available whatsoever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dirty="0"/>
              <a:t>Therefore, &amp; can only be applied to an </a:t>
            </a:r>
            <a:r>
              <a:rPr lang="en-CA" i="1" dirty="0" err="1"/>
              <a:t>lvalue</a:t>
            </a:r>
            <a:r>
              <a:rPr lang="en-CA" dirty="0"/>
              <a:t> (value-holding variables)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99686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Address (Referencing) Operator &amp;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5</a:t>
            </a:fld>
            <a:endParaRPr lang="en-CA" dirty="0"/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E7F158BE-366E-1D5F-3B8C-6B3A6558A2A3}"/>
              </a:ext>
            </a:extLst>
          </p:cNvPr>
          <p:cNvSpPr/>
          <p:nvPr/>
        </p:nvSpPr>
        <p:spPr>
          <a:xfrm>
            <a:off x="6671009" y="3069405"/>
            <a:ext cx="1681191" cy="446752"/>
          </a:xfrm>
          <a:prstGeom prst="wedgeRectCallout">
            <a:avLst>
              <a:gd name="adj1" fmla="val -40785"/>
              <a:gd name="adj2" fmla="val -80685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Think about why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95ED13-FE42-F954-9A78-082970EEED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4451" y="2126086"/>
            <a:ext cx="2550235" cy="3168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8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16933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dirty="0"/>
              <a:t>Address-Data Duality Diagram (Part I)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More to come…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99686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Address (Referencing) Operator &amp;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6</a:t>
            </a:fld>
            <a:endParaRPr lang="en-C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3A76B3-8526-4B45-E638-BEAF0205849C}"/>
              </a:ext>
            </a:extLst>
          </p:cNvPr>
          <p:cNvSpPr txBox="1"/>
          <p:nvPr/>
        </p:nvSpPr>
        <p:spPr>
          <a:xfrm>
            <a:off x="9269472" y="707188"/>
            <a:ext cx="1943025" cy="369332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var = 3;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3E991AC-3E21-E9A6-A37A-76EDC35FCAB5}"/>
              </a:ext>
            </a:extLst>
          </p:cNvPr>
          <p:cNvSpPr/>
          <p:nvPr/>
        </p:nvSpPr>
        <p:spPr>
          <a:xfrm>
            <a:off x="9669727" y="1700553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“var”     </a:t>
            </a:r>
            <a:r>
              <a:rPr lang="en-US" b="1" dirty="0">
                <a:solidFill>
                  <a:srgbClr val="7030A0"/>
                </a:solidFill>
              </a:rPr>
              <a:t>3</a:t>
            </a:r>
            <a:endParaRPr lang="en-CA" sz="1200" b="1" dirty="0">
              <a:solidFill>
                <a:srgbClr val="7030A0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45932FE-DBC6-2F31-EB3C-94CBFF36CDD8}"/>
              </a:ext>
            </a:extLst>
          </p:cNvPr>
          <p:cNvSpPr/>
          <p:nvPr/>
        </p:nvSpPr>
        <p:spPr>
          <a:xfrm>
            <a:off x="9669727" y="1419075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??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E767F1E-9AD7-84B0-9770-A69F3A22A85C}"/>
              </a:ext>
            </a:extLst>
          </p:cNvPr>
          <p:cNvSpPr/>
          <p:nvPr/>
        </p:nvSpPr>
        <p:spPr>
          <a:xfrm>
            <a:off x="9669727" y="1991558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??</a:t>
            </a:r>
            <a:endParaRPr lang="en-CA" sz="1200" b="1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35C481-360E-CD4D-F5C5-49D96F949653}"/>
              </a:ext>
            </a:extLst>
          </p:cNvPr>
          <p:cNvSpPr txBox="1"/>
          <p:nvPr/>
        </p:nvSpPr>
        <p:spPr>
          <a:xfrm>
            <a:off x="8585456" y="2007251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0061FF1C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DCB455-1C79-8369-B671-20F568B35A58}"/>
              </a:ext>
            </a:extLst>
          </p:cNvPr>
          <p:cNvSpPr txBox="1"/>
          <p:nvPr/>
        </p:nvSpPr>
        <p:spPr>
          <a:xfrm>
            <a:off x="8582131" y="1724466"/>
            <a:ext cx="11655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0061FF20</a:t>
            </a:r>
            <a:endParaRPr lang="en-CA" sz="1600" b="1" dirty="0">
              <a:solidFill>
                <a:srgbClr val="7030A0"/>
              </a:solidFill>
            </a:endParaRPr>
          </a:p>
          <a:p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5418B4-E3FD-BB60-71AE-9F05D0595028}"/>
              </a:ext>
            </a:extLst>
          </p:cNvPr>
          <p:cNvSpPr txBox="1"/>
          <p:nvPr/>
        </p:nvSpPr>
        <p:spPr>
          <a:xfrm>
            <a:off x="8582131" y="1424839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0061FF24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9" name="Rounded Rectangle 3">
            <a:extLst>
              <a:ext uri="{FF2B5EF4-FFF2-40B4-BE49-F238E27FC236}">
                <a16:creationId xmlns:a16="http://schemas.microsoft.com/office/drawing/2014/main" id="{F9B8070C-952C-9DE2-1F5E-D30702FB8834}"/>
              </a:ext>
            </a:extLst>
          </p:cNvPr>
          <p:cNvSpPr/>
          <p:nvPr/>
        </p:nvSpPr>
        <p:spPr>
          <a:xfrm>
            <a:off x="1672937" y="3420073"/>
            <a:ext cx="2975956" cy="1374371"/>
          </a:xfrm>
          <a:prstGeom prst="roundRect">
            <a:avLst/>
          </a:prstGeom>
          <a:solidFill>
            <a:srgbClr val="C00000"/>
          </a:solidFill>
          <a:ln w="38100">
            <a:solidFill>
              <a:srgbClr val="7F1F1F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800" b="1" dirty="0"/>
              <a:t>Data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0D98BF-A1E5-9ED1-A920-B856FD9C1371}"/>
              </a:ext>
            </a:extLst>
          </p:cNvPr>
          <p:cNvSpPr txBox="1"/>
          <p:nvPr/>
        </p:nvSpPr>
        <p:spPr>
          <a:xfrm>
            <a:off x="1741217" y="2738076"/>
            <a:ext cx="2818848" cy="523220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(“%d”, var);</a:t>
            </a:r>
          </a:p>
          <a:p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prints “3” (value)</a:t>
            </a:r>
            <a:endParaRPr lang="en-US" sz="105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1" name="Rounded Rectangle 4">
            <a:extLst>
              <a:ext uri="{FF2B5EF4-FFF2-40B4-BE49-F238E27FC236}">
                <a16:creationId xmlns:a16="http://schemas.microsoft.com/office/drawing/2014/main" id="{1BF6B2A1-B93C-A1E8-C10B-FE3CB49A3629}"/>
              </a:ext>
            </a:extLst>
          </p:cNvPr>
          <p:cNvSpPr/>
          <p:nvPr/>
        </p:nvSpPr>
        <p:spPr>
          <a:xfrm>
            <a:off x="7629039" y="3455779"/>
            <a:ext cx="2975956" cy="1374371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381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800" b="1" dirty="0"/>
              <a:t>Address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15C2AA29-FA70-BDFA-A62E-636B7D9AB34C}"/>
              </a:ext>
            </a:extLst>
          </p:cNvPr>
          <p:cNvSpPr/>
          <p:nvPr/>
        </p:nvSpPr>
        <p:spPr>
          <a:xfrm>
            <a:off x="4700739" y="3687405"/>
            <a:ext cx="2842370" cy="2612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F8C1C05-2B7A-A7A3-AB0F-D49FF324CFCE}"/>
              </a:ext>
            </a:extLst>
          </p:cNvPr>
          <p:cNvSpPr txBox="1"/>
          <p:nvPr/>
        </p:nvSpPr>
        <p:spPr>
          <a:xfrm>
            <a:off x="4686827" y="2896423"/>
            <a:ext cx="277119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Referencing Operator</a:t>
            </a:r>
          </a:p>
          <a:p>
            <a:pPr algn="ctr"/>
            <a:r>
              <a:rPr lang="en-US" sz="3200" b="1" dirty="0">
                <a:solidFill>
                  <a:schemeClr val="accent1"/>
                </a:solidFill>
                <a:latin typeface="Courier"/>
                <a:cs typeface="Courier New" panose="02070309020205020404" pitchFamily="49" charset="0"/>
              </a:rPr>
              <a:t>&amp;</a:t>
            </a:r>
            <a:endParaRPr lang="en-CA" b="1" dirty="0">
              <a:solidFill>
                <a:schemeClr val="accent1"/>
              </a:solidFill>
              <a:latin typeface="Courier"/>
              <a:cs typeface="Courier New" panose="020703090202050204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E80F90B-5D65-90FC-2F7B-093E2D7DAD15}"/>
              </a:ext>
            </a:extLst>
          </p:cNvPr>
          <p:cNvSpPr txBox="1"/>
          <p:nvPr/>
        </p:nvSpPr>
        <p:spPr>
          <a:xfrm>
            <a:off x="7452710" y="2735300"/>
            <a:ext cx="3410806" cy="615553"/>
          </a:xfrm>
          <a:prstGeom prst="rect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(“%p”, </a:t>
            </a:r>
            <a:r>
              <a:rPr lang="en-US" sz="20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var);</a:t>
            </a:r>
          </a:p>
          <a:p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prints “0061FF20” (address)</a:t>
            </a:r>
            <a:endParaRPr lang="en-US" sz="105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5976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4" grpId="0"/>
      <p:bldP spid="15" grpId="0"/>
      <p:bldP spid="16" grpId="0"/>
      <p:bldP spid="19" grpId="0" animBg="1"/>
      <p:bldP spid="20" grpId="0" animBg="1"/>
      <p:bldP spid="21" grpId="0" animBg="1"/>
      <p:bldP spid="22" grpId="0" animBg="1"/>
      <p:bldP spid="23" grpId="0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43785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Arrays in Memory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169331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>
                <a:solidFill>
                  <a:schemeClr val="accent6"/>
                </a:solidFill>
                <a:latin typeface="Amasis MT Pro Black" panose="020B0604020202020204" pitchFamily="18" charset="0"/>
              </a:rPr>
              <a:t>Recall!</a:t>
            </a:r>
            <a:r>
              <a:rPr lang="en-CA" sz="2200" dirty="0"/>
              <a:t> – Array Name is the Address of the First Element of the Array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Let’s now validate this claim with the Reference Operator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22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22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22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22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22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22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>
                <a:solidFill>
                  <a:schemeClr val="accent6"/>
                </a:solidFill>
                <a:latin typeface="Amasis MT Pro Black" panose="020B0604020202020204" pitchFamily="18" charset="0"/>
              </a:rPr>
              <a:t>Recall!</a:t>
            </a:r>
            <a:r>
              <a:rPr lang="en-CA" sz="2200" dirty="0"/>
              <a:t> – Array subscript is the offset index from the first element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>
                <a:solidFill>
                  <a:srgbClr val="FF0000"/>
                </a:solidFill>
                <a:latin typeface="Algerian" panose="04020705040A02060702" pitchFamily="82" charset="0"/>
              </a:rPr>
              <a:t>Recall!</a:t>
            </a:r>
            <a:r>
              <a:rPr lang="en-CA" sz="2200" dirty="0"/>
              <a:t> – C does not stop you from accessing array out of bounds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>
                <a:latin typeface="Courier"/>
              </a:rPr>
              <a:t>b[3] 	</a:t>
            </a:r>
            <a:r>
              <a:rPr lang="en-CA" dirty="0"/>
              <a:t> Accessing 3 locations positively offset from the first element (</a:t>
            </a:r>
            <a:r>
              <a:rPr lang="en-CA" b="1" dirty="0">
                <a:solidFill>
                  <a:srgbClr val="FF0000"/>
                </a:solidFill>
              </a:rPr>
              <a:t>will compile</a:t>
            </a:r>
            <a:r>
              <a:rPr lang="en-CA" dirty="0"/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>
                <a:latin typeface="Courier"/>
              </a:rPr>
              <a:t>b[-2] 	</a:t>
            </a:r>
            <a:r>
              <a:rPr lang="en-CA" dirty="0"/>
              <a:t> Accessing 2 locations negatively offset from the first element (</a:t>
            </a:r>
            <a:r>
              <a:rPr lang="en-CA" b="1" dirty="0">
                <a:solidFill>
                  <a:srgbClr val="FF0000"/>
                </a:solidFill>
              </a:rPr>
              <a:t>will compile</a:t>
            </a:r>
            <a:r>
              <a:rPr lang="en-CA" dirty="0"/>
              <a:t>)</a:t>
            </a:r>
            <a:endParaRPr lang="en-CA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7</a:t>
            </a:fld>
            <a:endParaRPr lang="en-C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6D66E-95E9-988C-F653-3B1567BF935B}"/>
              </a:ext>
            </a:extLst>
          </p:cNvPr>
          <p:cNvSpPr txBox="1"/>
          <p:nvPr/>
        </p:nvSpPr>
        <p:spPr>
          <a:xfrm>
            <a:off x="1933885" y="2332335"/>
            <a:ext cx="6554557" cy="2123658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main(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b[3] = {1, 2, 3};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(“b[0] has a value of %d at Address 0x%p\n”, b[0], &amp;b[0]);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(“b[1] has a value of %d at Address 0x%p\n”, b[1], &amp;b[1]);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(“b[2] has a value of %d at Address 0x%p\n”, b[2], &amp;b[2]);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(“Array Name points to Address 0x%p\n”, b);  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// end of main()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9CE5B72-BB14-0DD1-5FC4-38192423E627}"/>
              </a:ext>
            </a:extLst>
          </p:cNvPr>
          <p:cNvSpPr/>
          <p:nvPr/>
        </p:nvSpPr>
        <p:spPr>
          <a:xfrm>
            <a:off x="6180584" y="2423941"/>
            <a:ext cx="2252393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L7Ex2-ArrayName.c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81247658-B6AF-9631-9CA0-1D52A0FF08B6}"/>
              </a:ext>
            </a:extLst>
          </p:cNvPr>
          <p:cNvSpPr/>
          <p:nvPr/>
        </p:nvSpPr>
        <p:spPr>
          <a:xfrm>
            <a:off x="9369417" y="3204577"/>
            <a:ext cx="2486194" cy="1026992"/>
          </a:xfrm>
          <a:prstGeom prst="wedgeRectCallout">
            <a:avLst>
              <a:gd name="adj1" fmla="val -34503"/>
              <a:gd name="adj2" fmla="val 170679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If lucky, it works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Typically, garbage result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If unlucky, </a:t>
            </a:r>
            <a:r>
              <a:rPr lang="en-US" sz="1600" b="1" dirty="0">
                <a:solidFill>
                  <a:srgbClr val="FF0000"/>
                </a:solidFill>
              </a:rPr>
              <a:t>seg fault</a:t>
            </a:r>
          </a:p>
        </p:txBody>
      </p:sp>
    </p:spTree>
    <p:extLst>
      <p:ext uri="{BB962C8B-B14F-4D97-AF65-F5344CB8AC3E}">
        <p14:creationId xmlns:p14="http://schemas.microsoft.com/office/powerpoint/2010/main" val="1691993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83301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Pointer – Address-Holding Variable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169331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Address-Holding Variable </a:t>
            </a:r>
            <a:r>
              <a:rPr lang="en-CA" sz="2200" b="1" dirty="0"/>
              <a:t>“Pointer”</a:t>
            </a:r>
            <a:r>
              <a:rPr lang="en-CA" sz="2200" dirty="0"/>
              <a:t> – holding addresses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 new data type - </a:t>
            </a:r>
            <a:r>
              <a:rPr lang="en-CA" b="1" dirty="0"/>
              <a:t>with different variations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Integer Pointer 	Holds address of an </a:t>
            </a:r>
            <a:r>
              <a:rPr lang="en-CA" i="1" dirty="0"/>
              <a:t>integer</a:t>
            </a:r>
            <a:r>
              <a:rPr lang="en-CA" dirty="0"/>
              <a:t> variable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Float Pointer	Holds address of a </a:t>
            </a:r>
            <a:r>
              <a:rPr lang="en-CA" i="1" dirty="0"/>
              <a:t>float</a:t>
            </a:r>
            <a:r>
              <a:rPr lang="en-CA" dirty="0"/>
              <a:t> variable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Character Pointer	Holds address of a </a:t>
            </a:r>
            <a:r>
              <a:rPr lang="en-CA" i="1" dirty="0"/>
              <a:t>character</a:t>
            </a:r>
            <a:r>
              <a:rPr lang="en-CA" dirty="0"/>
              <a:t> variable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Double Pointer	Holds address of a </a:t>
            </a:r>
            <a:r>
              <a:rPr lang="en-CA" i="1" dirty="0"/>
              <a:t>double</a:t>
            </a:r>
            <a:r>
              <a:rPr lang="en-CA" dirty="0"/>
              <a:t> variable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 more precise definition of Pointer variable type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Its allowed value is the memory address of a memory slot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This memory slot </a:t>
            </a:r>
            <a:r>
              <a:rPr lang="en-CA" b="1" i="1" dirty="0"/>
              <a:t>may or may not</a:t>
            </a:r>
            <a:r>
              <a:rPr lang="en-CA" dirty="0"/>
              <a:t> be used by a variable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8</a:t>
            </a:fld>
            <a:endParaRPr lang="en-CA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DB76429-9B0B-C06C-C89D-B22DAD7B308D}"/>
              </a:ext>
            </a:extLst>
          </p:cNvPr>
          <p:cNvSpPr/>
          <p:nvPr/>
        </p:nvSpPr>
        <p:spPr>
          <a:xfrm>
            <a:off x="8939796" y="2456022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(int)   3</a:t>
            </a:r>
            <a:endParaRPr lang="en-CA" sz="1200" b="1" dirty="0">
              <a:solidFill>
                <a:srgbClr val="7030A0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2B475D3-1F78-E316-8105-33418C6657AB}"/>
              </a:ext>
            </a:extLst>
          </p:cNvPr>
          <p:cNvSpPr/>
          <p:nvPr/>
        </p:nvSpPr>
        <p:spPr>
          <a:xfrm>
            <a:off x="8939796" y="2174544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??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7CB4260-0E84-7FDA-CC02-B336EEB90199}"/>
              </a:ext>
            </a:extLst>
          </p:cNvPr>
          <p:cNvSpPr/>
          <p:nvPr/>
        </p:nvSpPr>
        <p:spPr>
          <a:xfrm>
            <a:off x="8939796" y="2747027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??</a:t>
            </a:r>
            <a:endParaRPr lang="en-CA" sz="1200" b="1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E045CD-840C-37D3-7A8F-2C9BEEFDA762}"/>
              </a:ext>
            </a:extLst>
          </p:cNvPr>
          <p:cNvSpPr txBox="1"/>
          <p:nvPr/>
        </p:nvSpPr>
        <p:spPr>
          <a:xfrm>
            <a:off x="7855525" y="2762720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0061FF1C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8E1FA9-BCFF-410F-E96A-09AB82014239}"/>
              </a:ext>
            </a:extLst>
          </p:cNvPr>
          <p:cNvSpPr txBox="1"/>
          <p:nvPr/>
        </p:nvSpPr>
        <p:spPr>
          <a:xfrm>
            <a:off x="7852200" y="2479935"/>
            <a:ext cx="11655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0061FF20</a:t>
            </a:r>
            <a:endParaRPr lang="en-CA" sz="1600" b="1" dirty="0">
              <a:solidFill>
                <a:srgbClr val="7030A0"/>
              </a:solidFill>
            </a:endParaRPr>
          </a:p>
          <a:p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0380D0-1118-8242-DA1C-F912D3DCA0D5}"/>
              </a:ext>
            </a:extLst>
          </p:cNvPr>
          <p:cNvSpPr txBox="1"/>
          <p:nvPr/>
        </p:nvSpPr>
        <p:spPr>
          <a:xfrm>
            <a:off x="7852200" y="2180308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0061FF24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B04D2E-49A4-207F-3D4C-0E6BAAD1CC04}"/>
              </a:ext>
            </a:extLst>
          </p:cNvPr>
          <p:cNvSpPr txBox="1"/>
          <p:nvPr/>
        </p:nvSpPr>
        <p:spPr>
          <a:xfrm>
            <a:off x="10563501" y="2412477"/>
            <a:ext cx="6966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“var” </a:t>
            </a:r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BD0184C-EBBB-2DD0-3C4B-8220DDEA7E44}"/>
              </a:ext>
            </a:extLst>
          </p:cNvPr>
          <p:cNvSpPr/>
          <p:nvPr/>
        </p:nvSpPr>
        <p:spPr>
          <a:xfrm>
            <a:off x="8951480" y="4517279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0x0061FF20</a:t>
            </a:r>
            <a:endParaRPr lang="en-CA" sz="1200" b="1" dirty="0">
              <a:solidFill>
                <a:schemeClr val="accent6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FE976BD-D331-7968-BB8F-7C330689BB6B}"/>
              </a:ext>
            </a:extLst>
          </p:cNvPr>
          <p:cNvSpPr/>
          <p:nvPr/>
        </p:nvSpPr>
        <p:spPr>
          <a:xfrm>
            <a:off x="8951480" y="4235801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??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78031FF-7FD6-21F1-D7E7-BAE5D8B06303}"/>
              </a:ext>
            </a:extLst>
          </p:cNvPr>
          <p:cNvSpPr/>
          <p:nvPr/>
        </p:nvSpPr>
        <p:spPr>
          <a:xfrm>
            <a:off x="8951480" y="4808284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??</a:t>
            </a:r>
            <a:endParaRPr lang="en-CA" sz="1200" b="1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35A5651-0E46-F24A-82D0-C2E1C9FB89EB}"/>
              </a:ext>
            </a:extLst>
          </p:cNvPr>
          <p:cNvSpPr txBox="1"/>
          <p:nvPr/>
        </p:nvSpPr>
        <p:spPr>
          <a:xfrm>
            <a:off x="7867209" y="4823977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0061F002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0B455B5-7CB5-2C8C-EC10-3E897E2EB2A9}"/>
              </a:ext>
            </a:extLst>
          </p:cNvPr>
          <p:cNvSpPr txBox="1"/>
          <p:nvPr/>
        </p:nvSpPr>
        <p:spPr>
          <a:xfrm>
            <a:off x="7863884" y="4536706"/>
            <a:ext cx="1165596" cy="284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0061F006</a:t>
            </a:r>
            <a:endParaRPr lang="en-CA" sz="1600" b="1" dirty="0">
              <a:solidFill>
                <a:srgbClr val="7030A0"/>
              </a:solidFill>
            </a:endParaRPr>
          </a:p>
          <a:p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8FB783-DEB3-6ED7-8F3B-21A81E3468AC}"/>
              </a:ext>
            </a:extLst>
          </p:cNvPr>
          <p:cNvSpPr txBox="1"/>
          <p:nvPr/>
        </p:nvSpPr>
        <p:spPr>
          <a:xfrm>
            <a:off x="7863884" y="4241565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0061F00A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FADCCD-9DEB-EAB6-5A03-6DFBBE2C3B0A}"/>
              </a:ext>
            </a:extLst>
          </p:cNvPr>
          <p:cNvSpPr txBox="1"/>
          <p:nvPr/>
        </p:nvSpPr>
        <p:spPr>
          <a:xfrm>
            <a:off x="10575185" y="4473734"/>
            <a:ext cx="6966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“</a:t>
            </a:r>
            <a:r>
              <a:rPr lang="en-US" b="1" dirty="0" err="1">
                <a:solidFill>
                  <a:schemeClr val="tx1"/>
                </a:solidFill>
              </a:rPr>
              <a:t>ptr</a:t>
            </a:r>
            <a:r>
              <a:rPr lang="en-US" b="1" dirty="0">
                <a:solidFill>
                  <a:schemeClr val="tx1"/>
                </a:solidFill>
              </a:rPr>
              <a:t>” </a:t>
            </a:r>
            <a:endParaRPr lang="en-US" dirty="0"/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6D0F8A16-AF3B-33D9-9B2B-9DCD3E2988F4}"/>
              </a:ext>
            </a:extLst>
          </p:cNvPr>
          <p:cNvCxnSpPr>
            <a:cxnSpLocks/>
          </p:cNvCxnSpPr>
          <p:nvPr/>
        </p:nvCxnSpPr>
        <p:spPr>
          <a:xfrm rot="16200000" flipV="1">
            <a:off x="8434349" y="2742775"/>
            <a:ext cx="1950553" cy="1837536"/>
          </a:xfrm>
          <a:prstGeom prst="bentConnector3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peech Bubble: Rectangle 26">
            <a:extLst>
              <a:ext uri="{FF2B5EF4-FFF2-40B4-BE49-F238E27FC236}">
                <a16:creationId xmlns:a16="http://schemas.microsoft.com/office/drawing/2014/main" id="{F5C10BAE-F1AC-F680-8664-8ECBEAEF3975}"/>
              </a:ext>
            </a:extLst>
          </p:cNvPr>
          <p:cNvSpPr/>
          <p:nvPr/>
        </p:nvSpPr>
        <p:spPr>
          <a:xfrm>
            <a:off x="8459080" y="1554487"/>
            <a:ext cx="2464448" cy="426127"/>
          </a:xfrm>
          <a:prstGeom prst="wedgeRectCallout">
            <a:avLst>
              <a:gd name="adj1" fmla="val 41576"/>
              <a:gd name="adj2" fmla="val 139855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>
                <a:solidFill>
                  <a:schemeClr val="tx1"/>
                </a:solidFill>
                <a:latin typeface="Courier"/>
              </a:rPr>
              <a:t>var </a:t>
            </a:r>
            <a:r>
              <a:rPr lang="en-CA" sz="1600" dirty="0">
                <a:solidFill>
                  <a:schemeClr val="tx1"/>
                </a:solidFill>
              </a:rPr>
              <a:t>is an </a:t>
            </a:r>
            <a:r>
              <a:rPr lang="en-CA" sz="1600" b="1" dirty="0">
                <a:solidFill>
                  <a:schemeClr val="tx1"/>
                </a:solidFill>
              </a:rPr>
              <a:t>Integer Variable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28" name="Speech Bubble: Rectangle 27">
            <a:extLst>
              <a:ext uri="{FF2B5EF4-FFF2-40B4-BE49-F238E27FC236}">
                <a16:creationId xmlns:a16="http://schemas.microsoft.com/office/drawing/2014/main" id="{F3B5FC13-6806-697D-154B-177FEFD3EB62}"/>
              </a:ext>
            </a:extLst>
          </p:cNvPr>
          <p:cNvSpPr/>
          <p:nvPr/>
        </p:nvSpPr>
        <p:spPr>
          <a:xfrm>
            <a:off x="8459080" y="5330170"/>
            <a:ext cx="2464448" cy="426127"/>
          </a:xfrm>
          <a:prstGeom prst="wedgeRectCallout">
            <a:avLst>
              <a:gd name="adj1" fmla="val 39456"/>
              <a:gd name="adj2" fmla="val -148301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 err="1">
                <a:solidFill>
                  <a:schemeClr val="tx1"/>
                </a:solidFill>
                <a:latin typeface="Courier"/>
              </a:rPr>
              <a:t>ptr</a:t>
            </a:r>
            <a:r>
              <a:rPr lang="en-CA" sz="1600" dirty="0">
                <a:solidFill>
                  <a:schemeClr val="tx1"/>
                </a:solidFill>
                <a:latin typeface="Courier"/>
              </a:rPr>
              <a:t> </a:t>
            </a:r>
            <a:r>
              <a:rPr lang="en-CA" sz="1600" dirty="0">
                <a:solidFill>
                  <a:schemeClr val="tx1"/>
                </a:solidFill>
              </a:rPr>
              <a:t>is an </a:t>
            </a:r>
            <a:r>
              <a:rPr lang="en-CA" sz="1600" b="1" dirty="0">
                <a:solidFill>
                  <a:schemeClr val="tx1"/>
                </a:solidFill>
              </a:rPr>
              <a:t>Integer </a:t>
            </a:r>
            <a:r>
              <a:rPr lang="en-CA" sz="1600" b="1" dirty="0">
                <a:solidFill>
                  <a:srgbClr val="FF0000"/>
                </a:solidFill>
              </a:rPr>
              <a:t>Pointer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9D019B74-255F-77E8-998B-4A44E1531D0C}"/>
              </a:ext>
            </a:extLst>
          </p:cNvPr>
          <p:cNvSpPr/>
          <p:nvPr/>
        </p:nvSpPr>
        <p:spPr>
          <a:xfrm>
            <a:off x="1870355" y="3954236"/>
            <a:ext cx="5667631" cy="426127"/>
          </a:xfrm>
          <a:prstGeom prst="wedgeRectCallout">
            <a:avLst>
              <a:gd name="adj1" fmla="val -38248"/>
              <a:gd name="adj2" fmla="val -99253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>
                <a:solidFill>
                  <a:schemeClr val="tx1"/>
                </a:solidFill>
              </a:rPr>
              <a:t>This name is tricky… </a:t>
            </a:r>
            <a:r>
              <a:rPr lang="en-CA" sz="1600" b="1" dirty="0">
                <a:solidFill>
                  <a:schemeClr val="tx1"/>
                </a:solidFill>
              </a:rPr>
              <a:t>Double Precision Float Pointer</a:t>
            </a:r>
            <a:r>
              <a:rPr lang="en-CA" sz="1600" dirty="0">
                <a:solidFill>
                  <a:schemeClr val="tx1"/>
                </a:solidFill>
              </a:rPr>
              <a:t> to be clear</a:t>
            </a:r>
            <a:endParaRPr 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1245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83301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Pointer – Address-Holding Variable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16933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Address-Holding Variable </a:t>
            </a:r>
            <a:r>
              <a:rPr lang="en-CA" sz="2200" b="1" dirty="0"/>
              <a:t>“Pointer”</a:t>
            </a:r>
            <a:r>
              <a:rPr lang="en-CA" sz="2200" dirty="0"/>
              <a:t> – holding addresses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Its allowed value is the memory address of a memory slot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How to define and assign value to </a:t>
            </a:r>
            <a:r>
              <a:rPr lang="en-CA" dirty="0" err="1">
                <a:latin typeface="Courier"/>
              </a:rPr>
              <a:t>ptr</a:t>
            </a:r>
            <a:r>
              <a:rPr lang="en-CA" dirty="0"/>
              <a:t> from </a:t>
            </a:r>
            <a:r>
              <a:rPr lang="en-CA" dirty="0">
                <a:latin typeface="Courier"/>
              </a:rPr>
              <a:t>var</a:t>
            </a:r>
            <a:r>
              <a:rPr lang="en-CA" dirty="0"/>
              <a:t>?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CA" dirty="0"/>
              <a:t>Declare the </a:t>
            </a:r>
            <a:r>
              <a:rPr lang="en-CA" b="1" u="sng" dirty="0"/>
              <a:t>integer pointer variable</a:t>
            </a:r>
            <a:r>
              <a:rPr lang="en-CA" b="1" dirty="0"/>
              <a:t> </a:t>
            </a:r>
            <a:r>
              <a:rPr lang="en-CA" dirty="0" err="1">
                <a:latin typeface="Courier"/>
              </a:rPr>
              <a:t>ptr</a:t>
            </a:r>
            <a:endParaRPr lang="en-CA" dirty="0">
              <a:latin typeface="Courier"/>
            </a:endParaRPr>
          </a:p>
          <a:p>
            <a:pPr marL="1257300" lvl="2" indent="-342900">
              <a:buFont typeface="+mj-lt"/>
              <a:buAutoNum type="arabicPeriod"/>
            </a:pPr>
            <a:endParaRPr lang="en-CA" dirty="0"/>
          </a:p>
          <a:p>
            <a:pPr marL="1257300" lvl="2" indent="-342900">
              <a:buFont typeface="+mj-lt"/>
              <a:buAutoNum type="arabicPeriod"/>
            </a:pPr>
            <a:endParaRPr lang="en-CA" dirty="0"/>
          </a:p>
          <a:p>
            <a:pPr marL="1257300" lvl="2" indent="-342900">
              <a:buFont typeface="+mj-lt"/>
              <a:buAutoNum type="arabicPeriod"/>
            </a:pPr>
            <a:r>
              <a:rPr lang="en-CA" dirty="0"/>
              <a:t>Assign address of </a:t>
            </a:r>
            <a:r>
              <a:rPr lang="en-CA" dirty="0">
                <a:latin typeface="Courier"/>
              </a:rPr>
              <a:t>var</a:t>
            </a:r>
            <a:r>
              <a:rPr lang="en-CA" dirty="0"/>
              <a:t> as the value to </a:t>
            </a:r>
            <a:r>
              <a:rPr lang="en-CA" dirty="0" err="1">
                <a:latin typeface="Courier"/>
              </a:rPr>
              <a:t>ptr</a:t>
            </a:r>
            <a:endParaRPr lang="en-CA" dirty="0">
              <a:latin typeface="Courier"/>
            </a:endParaRPr>
          </a:p>
          <a:p>
            <a:pPr marL="1257300" lvl="2" indent="-342900">
              <a:buFont typeface="+mj-lt"/>
              <a:buAutoNum type="arabicPeriod"/>
            </a:pPr>
            <a:endParaRPr lang="en-CA" dirty="0"/>
          </a:p>
          <a:p>
            <a:pPr marL="1257300" lvl="2" indent="-342900">
              <a:buFont typeface="+mj-lt"/>
              <a:buAutoNum type="arabicPeriod"/>
            </a:pPr>
            <a:endParaRPr lang="en-CA" dirty="0"/>
          </a:p>
          <a:p>
            <a:pPr marL="1257300" lvl="2" indent="-342900">
              <a:buFont typeface="+mj-lt"/>
              <a:buAutoNum type="arabicPeriod"/>
            </a:pPr>
            <a:r>
              <a:rPr lang="en-CA" dirty="0"/>
              <a:t>Verify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9</a:t>
            </a:fld>
            <a:endParaRPr lang="en-CA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DB76429-9B0B-C06C-C89D-B22DAD7B308D}"/>
              </a:ext>
            </a:extLst>
          </p:cNvPr>
          <p:cNvSpPr/>
          <p:nvPr/>
        </p:nvSpPr>
        <p:spPr>
          <a:xfrm>
            <a:off x="8939796" y="2456022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(int)   3</a:t>
            </a:r>
            <a:endParaRPr lang="en-CA" sz="1200" b="1" dirty="0">
              <a:solidFill>
                <a:srgbClr val="7030A0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2B475D3-1F78-E316-8105-33418C6657AB}"/>
              </a:ext>
            </a:extLst>
          </p:cNvPr>
          <p:cNvSpPr/>
          <p:nvPr/>
        </p:nvSpPr>
        <p:spPr>
          <a:xfrm>
            <a:off x="8939796" y="2174544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??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7CB4260-0E84-7FDA-CC02-B336EEB90199}"/>
              </a:ext>
            </a:extLst>
          </p:cNvPr>
          <p:cNvSpPr/>
          <p:nvPr/>
        </p:nvSpPr>
        <p:spPr>
          <a:xfrm>
            <a:off x="8939796" y="2747027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??</a:t>
            </a:r>
            <a:endParaRPr lang="en-CA" sz="1200" b="1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E045CD-840C-37D3-7A8F-2C9BEEFDA762}"/>
              </a:ext>
            </a:extLst>
          </p:cNvPr>
          <p:cNvSpPr txBox="1"/>
          <p:nvPr/>
        </p:nvSpPr>
        <p:spPr>
          <a:xfrm>
            <a:off x="7855525" y="2762720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0061FF1C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8E1FA9-BCFF-410F-E96A-09AB82014239}"/>
              </a:ext>
            </a:extLst>
          </p:cNvPr>
          <p:cNvSpPr txBox="1"/>
          <p:nvPr/>
        </p:nvSpPr>
        <p:spPr>
          <a:xfrm>
            <a:off x="7852200" y="2479935"/>
            <a:ext cx="11655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0061FF20</a:t>
            </a:r>
            <a:endParaRPr lang="en-CA" sz="1600" b="1" dirty="0">
              <a:solidFill>
                <a:srgbClr val="7030A0"/>
              </a:solidFill>
            </a:endParaRPr>
          </a:p>
          <a:p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0380D0-1118-8242-DA1C-F912D3DCA0D5}"/>
              </a:ext>
            </a:extLst>
          </p:cNvPr>
          <p:cNvSpPr txBox="1"/>
          <p:nvPr/>
        </p:nvSpPr>
        <p:spPr>
          <a:xfrm>
            <a:off x="7852200" y="2180308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0061FF24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B04D2E-49A4-207F-3D4C-0E6BAAD1CC04}"/>
              </a:ext>
            </a:extLst>
          </p:cNvPr>
          <p:cNvSpPr txBox="1"/>
          <p:nvPr/>
        </p:nvSpPr>
        <p:spPr>
          <a:xfrm>
            <a:off x="10563501" y="2412477"/>
            <a:ext cx="6966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“var” </a:t>
            </a:r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BD0184C-EBBB-2DD0-3C4B-8220DDEA7E44}"/>
              </a:ext>
            </a:extLst>
          </p:cNvPr>
          <p:cNvSpPr/>
          <p:nvPr/>
        </p:nvSpPr>
        <p:spPr>
          <a:xfrm>
            <a:off x="8951480" y="4517279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0x0061FF20</a:t>
            </a:r>
            <a:endParaRPr lang="en-CA" sz="1200" b="1" dirty="0">
              <a:solidFill>
                <a:schemeClr val="accent6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FE976BD-D331-7968-BB8F-7C330689BB6B}"/>
              </a:ext>
            </a:extLst>
          </p:cNvPr>
          <p:cNvSpPr/>
          <p:nvPr/>
        </p:nvSpPr>
        <p:spPr>
          <a:xfrm>
            <a:off x="8951480" y="4235801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??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78031FF-7FD6-21F1-D7E7-BAE5D8B06303}"/>
              </a:ext>
            </a:extLst>
          </p:cNvPr>
          <p:cNvSpPr/>
          <p:nvPr/>
        </p:nvSpPr>
        <p:spPr>
          <a:xfrm>
            <a:off x="8951480" y="4808284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??</a:t>
            </a:r>
            <a:endParaRPr lang="en-CA" sz="1200" b="1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35A5651-0E46-F24A-82D0-C2E1C9FB89EB}"/>
              </a:ext>
            </a:extLst>
          </p:cNvPr>
          <p:cNvSpPr txBox="1"/>
          <p:nvPr/>
        </p:nvSpPr>
        <p:spPr>
          <a:xfrm>
            <a:off x="7867209" y="4823977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0061F002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0B455B5-7CB5-2C8C-EC10-3E897E2EB2A9}"/>
              </a:ext>
            </a:extLst>
          </p:cNvPr>
          <p:cNvSpPr txBox="1"/>
          <p:nvPr/>
        </p:nvSpPr>
        <p:spPr>
          <a:xfrm>
            <a:off x="7863884" y="4536706"/>
            <a:ext cx="1165596" cy="284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0061F006</a:t>
            </a:r>
            <a:endParaRPr lang="en-CA" sz="1600" b="1" dirty="0">
              <a:solidFill>
                <a:srgbClr val="7030A0"/>
              </a:solidFill>
            </a:endParaRPr>
          </a:p>
          <a:p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8FB783-DEB3-6ED7-8F3B-21A81E3468AC}"/>
              </a:ext>
            </a:extLst>
          </p:cNvPr>
          <p:cNvSpPr txBox="1"/>
          <p:nvPr/>
        </p:nvSpPr>
        <p:spPr>
          <a:xfrm>
            <a:off x="7863884" y="4241565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0061F00A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FADCCD-9DEB-EAB6-5A03-6DFBBE2C3B0A}"/>
              </a:ext>
            </a:extLst>
          </p:cNvPr>
          <p:cNvSpPr txBox="1"/>
          <p:nvPr/>
        </p:nvSpPr>
        <p:spPr>
          <a:xfrm>
            <a:off x="10575185" y="4473734"/>
            <a:ext cx="6966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“</a:t>
            </a:r>
            <a:r>
              <a:rPr lang="en-US" b="1" dirty="0" err="1">
                <a:solidFill>
                  <a:schemeClr val="tx1"/>
                </a:solidFill>
              </a:rPr>
              <a:t>ptr</a:t>
            </a:r>
            <a:r>
              <a:rPr lang="en-US" b="1" dirty="0">
                <a:solidFill>
                  <a:schemeClr val="tx1"/>
                </a:solidFill>
              </a:rPr>
              <a:t>” </a:t>
            </a:r>
            <a:endParaRPr lang="en-US" dirty="0"/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6D0F8A16-AF3B-33D9-9B2B-9DCD3E2988F4}"/>
              </a:ext>
            </a:extLst>
          </p:cNvPr>
          <p:cNvCxnSpPr>
            <a:cxnSpLocks/>
          </p:cNvCxnSpPr>
          <p:nvPr/>
        </p:nvCxnSpPr>
        <p:spPr>
          <a:xfrm rot="16200000" flipV="1">
            <a:off x="8434349" y="2742775"/>
            <a:ext cx="1950553" cy="1837536"/>
          </a:xfrm>
          <a:prstGeom prst="bentConnector3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peech Bubble: Rectangle 26">
            <a:extLst>
              <a:ext uri="{FF2B5EF4-FFF2-40B4-BE49-F238E27FC236}">
                <a16:creationId xmlns:a16="http://schemas.microsoft.com/office/drawing/2014/main" id="{F5C10BAE-F1AC-F680-8664-8ECBEAEF3975}"/>
              </a:ext>
            </a:extLst>
          </p:cNvPr>
          <p:cNvSpPr/>
          <p:nvPr/>
        </p:nvSpPr>
        <p:spPr>
          <a:xfrm>
            <a:off x="8459080" y="1554487"/>
            <a:ext cx="2464448" cy="426127"/>
          </a:xfrm>
          <a:prstGeom prst="wedgeRectCallout">
            <a:avLst>
              <a:gd name="adj1" fmla="val 41576"/>
              <a:gd name="adj2" fmla="val 139855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>
                <a:solidFill>
                  <a:schemeClr val="tx1"/>
                </a:solidFill>
                <a:latin typeface="Courier"/>
              </a:rPr>
              <a:t>var </a:t>
            </a:r>
            <a:r>
              <a:rPr lang="en-CA" sz="1600" dirty="0">
                <a:solidFill>
                  <a:schemeClr val="tx1"/>
                </a:solidFill>
              </a:rPr>
              <a:t>is an </a:t>
            </a:r>
            <a:r>
              <a:rPr lang="en-CA" sz="1600" b="1" dirty="0">
                <a:solidFill>
                  <a:schemeClr val="tx1"/>
                </a:solidFill>
              </a:rPr>
              <a:t>Integer Variable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28" name="Speech Bubble: Rectangle 27">
            <a:extLst>
              <a:ext uri="{FF2B5EF4-FFF2-40B4-BE49-F238E27FC236}">
                <a16:creationId xmlns:a16="http://schemas.microsoft.com/office/drawing/2014/main" id="{F3B5FC13-6806-697D-154B-177FEFD3EB62}"/>
              </a:ext>
            </a:extLst>
          </p:cNvPr>
          <p:cNvSpPr/>
          <p:nvPr/>
        </p:nvSpPr>
        <p:spPr>
          <a:xfrm>
            <a:off x="8459080" y="5330170"/>
            <a:ext cx="2464448" cy="426127"/>
          </a:xfrm>
          <a:prstGeom prst="wedgeRectCallout">
            <a:avLst>
              <a:gd name="adj1" fmla="val 39456"/>
              <a:gd name="adj2" fmla="val -148301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 err="1">
                <a:solidFill>
                  <a:schemeClr val="tx1"/>
                </a:solidFill>
                <a:latin typeface="Courier"/>
              </a:rPr>
              <a:t>ptr</a:t>
            </a:r>
            <a:r>
              <a:rPr lang="en-CA" sz="1600" dirty="0">
                <a:solidFill>
                  <a:schemeClr val="tx1"/>
                </a:solidFill>
                <a:latin typeface="Courier"/>
              </a:rPr>
              <a:t> </a:t>
            </a:r>
            <a:r>
              <a:rPr lang="en-CA" sz="1600" dirty="0">
                <a:solidFill>
                  <a:schemeClr val="tx1"/>
                </a:solidFill>
              </a:rPr>
              <a:t>is an </a:t>
            </a:r>
            <a:r>
              <a:rPr lang="en-CA" sz="1600" b="1" dirty="0">
                <a:solidFill>
                  <a:schemeClr val="tx1"/>
                </a:solidFill>
              </a:rPr>
              <a:t>Integer </a:t>
            </a:r>
            <a:r>
              <a:rPr lang="en-CA" sz="1600" b="1" dirty="0">
                <a:solidFill>
                  <a:srgbClr val="FF0000"/>
                </a:solidFill>
              </a:rPr>
              <a:t>Pointer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E244B2-6A02-F6E2-B170-4685C826C4ED}"/>
              </a:ext>
            </a:extLst>
          </p:cNvPr>
          <p:cNvSpPr txBox="1"/>
          <p:nvPr/>
        </p:nvSpPr>
        <p:spPr>
          <a:xfrm>
            <a:off x="2160193" y="3092726"/>
            <a:ext cx="4693453" cy="461665"/>
          </a:xfrm>
          <a:prstGeom prst="rect">
            <a:avLst/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sz="16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  </a:t>
            </a:r>
            <a:r>
              <a:rPr lang="en-US" sz="1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can also be int </a:t>
            </a:r>
            <a:r>
              <a:rPr lang="en-US" sz="2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sz="16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1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433824-E8EB-B5C7-7D98-12D4237C3EF2}"/>
              </a:ext>
            </a:extLst>
          </p:cNvPr>
          <p:cNvSpPr txBox="1"/>
          <p:nvPr/>
        </p:nvSpPr>
        <p:spPr>
          <a:xfrm>
            <a:off x="2168902" y="3923376"/>
            <a:ext cx="4693453" cy="338554"/>
          </a:xfrm>
          <a:prstGeom prst="rect">
            <a:avLst/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&amp;var;  </a:t>
            </a:r>
            <a:r>
              <a:rPr lang="en-US" sz="1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&amp; gives address!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0704C5F-F8D1-BDDC-969C-5DA1B1C0FD3A}"/>
              </a:ext>
            </a:extLst>
          </p:cNvPr>
          <p:cNvSpPr txBox="1"/>
          <p:nvPr/>
        </p:nvSpPr>
        <p:spPr>
          <a:xfrm>
            <a:off x="2168902" y="4820994"/>
            <a:ext cx="4379829" cy="1015663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var = 3;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int*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&amp;var;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(“var = %d at 0x%p\n”, var, &amp;var);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points to Address 0x%p\n”,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8B8E27A-448E-B845-1374-0E7E6AF098F0}"/>
              </a:ext>
            </a:extLst>
          </p:cNvPr>
          <p:cNvSpPr/>
          <p:nvPr/>
        </p:nvSpPr>
        <p:spPr>
          <a:xfrm>
            <a:off x="5161783" y="4604284"/>
            <a:ext cx="2252393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L7Ex3-PtrBasic.c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3182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24" grpId="0" animBg="1"/>
      <p:bldP spid="2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83301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Pointer – Address-Holding Variable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169331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Address-Holding Variable </a:t>
            </a:r>
            <a:r>
              <a:rPr lang="en-CA" sz="2200" b="1" dirty="0"/>
              <a:t>“Pointer”</a:t>
            </a:r>
            <a:r>
              <a:rPr lang="en-CA" sz="2200" dirty="0"/>
              <a:t> – holding addresses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Its allowed value is the memory address of a memory slot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A new data type - </a:t>
            </a:r>
            <a:r>
              <a:rPr lang="en-CA" b="1" dirty="0"/>
              <a:t>with different variations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How to declare different pointer variables?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data type keyword + * (Dereferencing Operator)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dirty="0">
                <a:latin typeface="Courier"/>
              </a:rPr>
              <a:t> </a:t>
            </a:r>
            <a:r>
              <a:rPr lang="en-CA" b="1" dirty="0">
                <a:solidFill>
                  <a:schemeClr val="accent1"/>
                </a:solidFill>
                <a:latin typeface="Courier"/>
              </a:rPr>
              <a:t>*</a:t>
            </a:r>
            <a:r>
              <a:rPr lang="en-CA" dirty="0" err="1">
                <a:latin typeface="Courier"/>
              </a:rPr>
              <a:t>nPtr</a:t>
            </a:r>
            <a:r>
              <a:rPr lang="en-CA" dirty="0">
                <a:latin typeface="Courier"/>
              </a:rPr>
              <a:t>;</a:t>
            </a:r>
            <a:r>
              <a:rPr lang="en-CA" dirty="0"/>
              <a:t>		Declare an integer pointer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1"/>
                </a:solidFill>
                <a:latin typeface="Courier"/>
              </a:rPr>
              <a:t>int*</a:t>
            </a:r>
            <a:r>
              <a:rPr lang="en-CA" dirty="0">
                <a:latin typeface="Courier"/>
              </a:rPr>
              <a:t> </a:t>
            </a:r>
            <a:r>
              <a:rPr lang="en-CA" dirty="0" err="1">
                <a:latin typeface="Courier"/>
              </a:rPr>
              <a:t>nPtr</a:t>
            </a:r>
            <a:r>
              <a:rPr lang="en-CA" dirty="0">
                <a:latin typeface="Courier"/>
              </a:rPr>
              <a:t>;</a:t>
            </a:r>
            <a:r>
              <a:rPr lang="en-CA" dirty="0"/>
              <a:t>  		Same as above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1"/>
                </a:solidFill>
                <a:latin typeface="Courier"/>
              </a:rPr>
              <a:t>char*</a:t>
            </a:r>
            <a:r>
              <a:rPr lang="en-CA" dirty="0">
                <a:latin typeface="Courier"/>
              </a:rPr>
              <a:t> </a:t>
            </a:r>
            <a:r>
              <a:rPr lang="en-CA" dirty="0" err="1">
                <a:latin typeface="Courier"/>
              </a:rPr>
              <a:t>chPtr</a:t>
            </a:r>
            <a:r>
              <a:rPr lang="en-CA" dirty="0">
                <a:latin typeface="Courier"/>
              </a:rPr>
              <a:t>;</a:t>
            </a:r>
            <a:r>
              <a:rPr lang="en-CA" dirty="0"/>
              <a:t>	Declare a character pointer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1"/>
                </a:solidFill>
                <a:latin typeface="Courier"/>
              </a:rPr>
              <a:t>float *</a:t>
            </a:r>
            <a:r>
              <a:rPr lang="en-CA" dirty="0" err="1">
                <a:latin typeface="Courier"/>
              </a:rPr>
              <a:t>fPtr</a:t>
            </a:r>
            <a:r>
              <a:rPr lang="en-CA" dirty="0">
                <a:latin typeface="Courier"/>
              </a:rPr>
              <a:t>;</a:t>
            </a:r>
            <a:r>
              <a:rPr lang="en-CA" dirty="0"/>
              <a:t>	Declare a float pointer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1"/>
                </a:solidFill>
                <a:latin typeface="Courier"/>
              </a:rPr>
              <a:t>double *</a:t>
            </a:r>
            <a:r>
              <a:rPr lang="en-CA" dirty="0" err="1">
                <a:latin typeface="Courier"/>
              </a:rPr>
              <a:t>dPtr</a:t>
            </a:r>
            <a:r>
              <a:rPr lang="en-CA" dirty="0">
                <a:latin typeface="Courier"/>
              </a:rPr>
              <a:t>;</a:t>
            </a:r>
            <a:r>
              <a:rPr lang="en-CA" dirty="0"/>
              <a:t>	</a:t>
            </a:r>
            <a:r>
              <a:rPr lang="en-CA" sz="1600" dirty="0"/>
              <a:t>Declare a double (precision) pointer</a:t>
            </a:r>
            <a:endParaRPr lang="en-CA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When assigning address to a variable…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10</a:t>
            </a:fld>
            <a:endParaRPr lang="en-CA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DB76429-9B0B-C06C-C89D-B22DAD7B308D}"/>
              </a:ext>
            </a:extLst>
          </p:cNvPr>
          <p:cNvSpPr/>
          <p:nvPr/>
        </p:nvSpPr>
        <p:spPr>
          <a:xfrm>
            <a:off x="8939796" y="2456022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(int)   3</a:t>
            </a:r>
            <a:endParaRPr lang="en-CA" sz="1200" b="1" dirty="0">
              <a:solidFill>
                <a:srgbClr val="7030A0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2B475D3-1F78-E316-8105-33418C6657AB}"/>
              </a:ext>
            </a:extLst>
          </p:cNvPr>
          <p:cNvSpPr/>
          <p:nvPr/>
        </p:nvSpPr>
        <p:spPr>
          <a:xfrm>
            <a:off x="8939796" y="2174544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??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7CB4260-0E84-7FDA-CC02-B336EEB90199}"/>
              </a:ext>
            </a:extLst>
          </p:cNvPr>
          <p:cNvSpPr/>
          <p:nvPr/>
        </p:nvSpPr>
        <p:spPr>
          <a:xfrm>
            <a:off x="8939796" y="2747027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??</a:t>
            </a:r>
            <a:endParaRPr lang="en-CA" sz="1200" b="1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E045CD-840C-37D3-7A8F-2C9BEEFDA762}"/>
              </a:ext>
            </a:extLst>
          </p:cNvPr>
          <p:cNvSpPr txBox="1"/>
          <p:nvPr/>
        </p:nvSpPr>
        <p:spPr>
          <a:xfrm>
            <a:off x="7855525" y="2762720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0061FF1C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8E1FA9-BCFF-410F-E96A-09AB82014239}"/>
              </a:ext>
            </a:extLst>
          </p:cNvPr>
          <p:cNvSpPr txBox="1"/>
          <p:nvPr/>
        </p:nvSpPr>
        <p:spPr>
          <a:xfrm>
            <a:off x="7852200" y="2479935"/>
            <a:ext cx="11655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0061FF20</a:t>
            </a:r>
            <a:endParaRPr lang="en-CA" sz="1600" b="1" dirty="0">
              <a:solidFill>
                <a:srgbClr val="7030A0"/>
              </a:solidFill>
            </a:endParaRPr>
          </a:p>
          <a:p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0380D0-1118-8242-DA1C-F912D3DCA0D5}"/>
              </a:ext>
            </a:extLst>
          </p:cNvPr>
          <p:cNvSpPr txBox="1"/>
          <p:nvPr/>
        </p:nvSpPr>
        <p:spPr>
          <a:xfrm>
            <a:off x="7852200" y="2180308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0061FF24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B04D2E-49A4-207F-3D4C-0E6BAAD1CC04}"/>
              </a:ext>
            </a:extLst>
          </p:cNvPr>
          <p:cNvSpPr txBox="1"/>
          <p:nvPr/>
        </p:nvSpPr>
        <p:spPr>
          <a:xfrm>
            <a:off x="10563501" y="2412477"/>
            <a:ext cx="6966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“var” </a:t>
            </a:r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BD0184C-EBBB-2DD0-3C4B-8220DDEA7E44}"/>
              </a:ext>
            </a:extLst>
          </p:cNvPr>
          <p:cNvSpPr/>
          <p:nvPr/>
        </p:nvSpPr>
        <p:spPr>
          <a:xfrm>
            <a:off x="8951480" y="4517279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0x0061FF20</a:t>
            </a:r>
            <a:endParaRPr lang="en-CA" sz="1200" b="1" dirty="0">
              <a:solidFill>
                <a:schemeClr val="accent6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FE976BD-D331-7968-BB8F-7C330689BB6B}"/>
              </a:ext>
            </a:extLst>
          </p:cNvPr>
          <p:cNvSpPr/>
          <p:nvPr/>
        </p:nvSpPr>
        <p:spPr>
          <a:xfrm>
            <a:off x="8951480" y="4235801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??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78031FF-7FD6-21F1-D7E7-BAE5D8B06303}"/>
              </a:ext>
            </a:extLst>
          </p:cNvPr>
          <p:cNvSpPr/>
          <p:nvPr/>
        </p:nvSpPr>
        <p:spPr>
          <a:xfrm>
            <a:off x="8951480" y="4808284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??</a:t>
            </a:r>
            <a:endParaRPr lang="en-CA" sz="1200" b="1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35A5651-0E46-F24A-82D0-C2E1C9FB89EB}"/>
              </a:ext>
            </a:extLst>
          </p:cNvPr>
          <p:cNvSpPr txBox="1"/>
          <p:nvPr/>
        </p:nvSpPr>
        <p:spPr>
          <a:xfrm>
            <a:off x="7867209" y="4823977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0061F002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0B455B5-7CB5-2C8C-EC10-3E897E2EB2A9}"/>
              </a:ext>
            </a:extLst>
          </p:cNvPr>
          <p:cNvSpPr txBox="1"/>
          <p:nvPr/>
        </p:nvSpPr>
        <p:spPr>
          <a:xfrm>
            <a:off x="7863884" y="4536706"/>
            <a:ext cx="1165596" cy="284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0061F006</a:t>
            </a:r>
            <a:endParaRPr lang="en-CA" sz="1600" b="1" dirty="0">
              <a:solidFill>
                <a:srgbClr val="7030A0"/>
              </a:solidFill>
            </a:endParaRPr>
          </a:p>
          <a:p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8FB783-DEB3-6ED7-8F3B-21A81E3468AC}"/>
              </a:ext>
            </a:extLst>
          </p:cNvPr>
          <p:cNvSpPr txBox="1"/>
          <p:nvPr/>
        </p:nvSpPr>
        <p:spPr>
          <a:xfrm>
            <a:off x="7863884" y="4241565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0061F00A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FADCCD-9DEB-EAB6-5A03-6DFBBE2C3B0A}"/>
              </a:ext>
            </a:extLst>
          </p:cNvPr>
          <p:cNvSpPr txBox="1"/>
          <p:nvPr/>
        </p:nvSpPr>
        <p:spPr>
          <a:xfrm>
            <a:off x="10575185" y="4473734"/>
            <a:ext cx="6966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“</a:t>
            </a:r>
            <a:r>
              <a:rPr lang="en-US" b="1" dirty="0" err="1">
                <a:solidFill>
                  <a:schemeClr val="tx1"/>
                </a:solidFill>
              </a:rPr>
              <a:t>ptr</a:t>
            </a:r>
            <a:r>
              <a:rPr lang="en-US" b="1" dirty="0">
                <a:solidFill>
                  <a:schemeClr val="tx1"/>
                </a:solidFill>
              </a:rPr>
              <a:t>” </a:t>
            </a:r>
            <a:endParaRPr lang="en-US" dirty="0"/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6D0F8A16-AF3B-33D9-9B2B-9DCD3E2988F4}"/>
              </a:ext>
            </a:extLst>
          </p:cNvPr>
          <p:cNvCxnSpPr>
            <a:cxnSpLocks/>
          </p:cNvCxnSpPr>
          <p:nvPr/>
        </p:nvCxnSpPr>
        <p:spPr>
          <a:xfrm rot="16200000" flipV="1">
            <a:off x="8434349" y="2742775"/>
            <a:ext cx="1950553" cy="1837536"/>
          </a:xfrm>
          <a:prstGeom prst="bentConnector3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peech Bubble: Rectangle 26">
            <a:extLst>
              <a:ext uri="{FF2B5EF4-FFF2-40B4-BE49-F238E27FC236}">
                <a16:creationId xmlns:a16="http://schemas.microsoft.com/office/drawing/2014/main" id="{F5C10BAE-F1AC-F680-8664-8ECBEAEF3975}"/>
              </a:ext>
            </a:extLst>
          </p:cNvPr>
          <p:cNvSpPr/>
          <p:nvPr/>
        </p:nvSpPr>
        <p:spPr>
          <a:xfrm>
            <a:off x="8459080" y="1554487"/>
            <a:ext cx="2464448" cy="426127"/>
          </a:xfrm>
          <a:prstGeom prst="wedgeRectCallout">
            <a:avLst>
              <a:gd name="adj1" fmla="val 41576"/>
              <a:gd name="adj2" fmla="val 139855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>
                <a:solidFill>
                  <a:schemeClr val="tx1"/>
                </a:solidFill>
                <a:latin typeface="Courier"/>
              </a:rPr>
              <a:t>var </a:t>
            </a:r>
            <a:r>
              <a:rPr lang="en-CA" sz="1600" dirty="0">
                <a:solidFill>
                  <a:schemeClr val="tx1"/>
                </a:solidFill>
              </a:rPr>
              <a:t>is an </a:t>
            </a:r>
            <a:r>
              <a:rPr lang="en-CA" sz="1600" b="1" dirty="0">
                <a:solidFill>
                  <a:schemeClr val="tx1"/>
                </a:solidFill>
              </a:rPr>
              <a:t>Integer Variable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28" name="Speech Bubble: Rectangle 27">
            <a:extLst>
              <a:ext uri="{FF2B5EF4-FFF2-40B4-BE49-F238E27FC236}">
                <a16:creationId xmlns:a16="http://schemas.microsoft.com/office/drawing/2014/main" id="{F3B5FC13-6806-697D-154B-177FEFD3EB62}"/>
              </a:ext>
            </a:extLst>
          </p:cNvPr>
          <p:cNvSpPr/>
          <p:nvPr/>
        </p:nvSpPr>
        <p:spPr>
          <a:xfrm>
            <a:off x="8459080" y="5330170"/>
            <a:ext cx="2464448" cy="426127"/>
          </a:xfrm>
          <a:prstGeom prst="wedgeRectCallout">
            <a:avLst>
              <a:gd name="adj1" fmla="val 39456"/>
              <a:gd name="adj2" fmla="val -148301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 err="1">
                <a:solidFill>
                  <a:schemeClr val="tx1"/>
                </a:solidFill>
                <a:latin typeface="Courier"/>
              </a:rPr>
              <a:t>ptr</a:t>
            </a:r>
            <a:r>
              <a:rPr lang="en-CA" sz="1600" dirty="0">
                <a:solidFill>
                  <a:schemeClr val="tx1"/>
                </a:solidFill>
                <a:latin typeface="Courier"/>
              </a:rPr>
              <a:t> </a:t>
            </a:r>
            <a:r>
              <a:rPr lang="en-CA" sz="1600" dirty="0">
                <a:solidFill>
                  <a:schemeClr val="tx1"/>
                </a:solidFill>
              </a:rPr>
              <a:t>is an </a:t>
            </a:r>
            <a:r>
              <a:rPr lang="en-CA" sz="1600" b="1" dirty="0">
                <a:solidFill>
                  <a:schemeClr val="tx1"/>
                </a:solidFill>
              </a:rPr>
              <a:t>Integer </a:t>
            </a:r>
            <a:r>
              <a:rPr lang="en-CA" sz="1600" b="1" dirty="0">
                <a:solidFill>
                  <a:srgbClr val="FF0000"/>
                </a:solidFill>
              </a:rPr>
              <a:t>Pointer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F96C27-1C9F-8F42-9E48-30F23132B15B}"/>
              </a:ext>
            </a:extLst>
          </p:cNvPr>
          <p:cNvSpPr txBox="1"/>
          <p:nvPr/>
        </p:nvSpPr>
        <p:spPr>
          <a:xfrm>
            <a:off x="1722329" y="5298619"/>
            <a:ext cx="5767042" cy="338554"/>
          </a:xfrm>
          <a:prstGeom prst="rect">
            <a:avLst/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&amp;var;  </a:t>
            </a:r>
            <a:r>
              <a:rPr lang="en-US" sz="1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“</a:t>
            </a:r>
            <a:r>
              <a:rPr lang="en-US" sz="16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1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points to variable var”</a:t>
            </a:r>
          </a:p>
        </p:txBody>
      </p:sp>
    </p:spTree>
    <p:extLst>
      <p:ext uri="{BB962C8B-B14F-4D97-AF65-F5344CB8AC3E}">
        <p14:creationId xmlns:p14="http://schemas.microsoft.com/office/powerpoint/2010/main" val="1827911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916295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Indirection (Dereferencing) Operator 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10453652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Unary Operator – NOT multiplication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Two Purposes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Declaring Pointers – Applies to the end of a Data Type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Effect: Instruct the computer to treat the value as address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Applies to the head of a </a:t>
            </a:r>
            <a:r>
              <a:rPr lang="en-US" b="1" dirty="0"/>
              <a:t>Pointer</a:t>
            </a:r>
            <a:r>
              <a:rPr lang="en-US" dirty="0"/>
              <a:t> or </a:t>
            </a:r>
            <a:r>
              <a:rPr lang="en-US" b="1" dirty="0"/>
              <a:t>Expression of Pointer Type</a:t>
            </a:r>
            <a:endParaRPr lang="en-US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Effect: Returns value of the variable the pointer points to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1714500" lvl="3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22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11</a:t>
            </a:fld>
            <a:endParaRPr lang="en-CA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9FEC186-E3B5-636A-DF8C-59949950FDAA}"/>
              </a:ext>
            </a:extLst>
          </p:cNvPr>
          <p:cNvSpPr/>
          <p:nvPr/>
        </p:nvSpPr>
        <p:spPr>
          <a:xfrm>
            <a:off x="8939796" y="2456022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(int)   3</a:t>
            </a:r>
            <a:endParaRPr lang="en-CA" sz="1200" b="1" dirty="0">
              <a:solidFill>
                <a:srgbClr val="7030A0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D10559D-F749-E3BF-F4EE-5A87662EA9A3}"/>
              </a:ext>
            </a:extLst>
          </p:cNvPr>
          <p:cNvSpPr/>
          <p:nvPr/>
        </p:nvSpPr>
        <p:spPr>
          <a:xfrm>
            <a:off x="8939796" y="2174544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??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27D5DCA-5A42-FB07-E05B-22516925E831}"/>
              </a:ext>
            </a:extLst>
          </p:cNvPr>
          <p:cNvSpPr/>
          <p:nvPr/>
        </p:nvSpPr>
        <p:spPr>
          <a:xfrm>
            <a:off x="8939796" y="2747027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??</a:t>
            </a:r>
            <a:endParaRPr lang="en-CA" sz="1200" b="1" dirty="0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288E5E-18A1-4BE0-FCB2-888AED8CF18D}"/>
              </a:ext>
            </a:extLst>
          </p:cNvPr>
          <p:cNvSpPr txBox="1"/>
          <p:nvPr/>
        </p:nvSpPr>
        <p:spPr>
          <a:xfrm>
            <a:off x="7855525" y="2762720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0061FF1C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A928DF1-8B48-5158-AB7D-006AF1BD18DF}"/>
              </a:ext>
            </a:extLst>
          </p:cNvPr>
          <p:cNvSpPr txBox="1"/>
          <p:nvPr/>
        </p:nvSpPr>
        <p:spPr>
          <a:xfrm>
            <a:off x="7852200" y="2479935"/>
            <a:ext cx="11655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0061FF20</a:t>
            </a:r>
            <a:endParaRPr lang="en-CA" sz="1600" b="1" dirty="0">
              <a:solidFill>
                <a:srgbClr val="7030A0"/>
              </a:solidFill>
            </a:endParaRPr>
          </a:p>
          <a:p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B1D5245-827E-2FC8-37E4-9A43F586D512}"/>
              </a:ext>
            </a:extLst>
          </p:cNvPr>
          <p:cNvSpPr txBox="1"/>
          <p:nvPr/>
        </p:nvSpPr>
        <p:spPr>
          <a:xfrm>
            <a:off x="7852200" y="2180308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0061FF24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882A99F-9ECE-7009-CDF2-BF1F64EC273F}"/>
              </a:ext>
            </a:extLst>
          </p:cNvPr>
          <p:cNvSpPr txBox="1"/>
          <p:nvPr/>
        </p:nvSpPr>
        <p:spPr>
          <a:xfrm>
            <a:off x="10563501" y="2412477"/>
            <a:ext cx="6966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“var” </a:t>
            </a:r>
            <a:endParaRPr lang="en-US" dirty="0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A3B4E8BC-A905-5409-6B57-ACF1F8E1E5DD}"/>
              </a:ext>
            </a:extLst>
          </p:cNvPr>
          <p:cNvSpPr/>
          <p:nvPr/>
        </p:nvSpPr>
        <p:spPr>
          <a:xfrm>
            <a:off x="8951480" y="4517279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0x0061FF20</a:t>
            </a:r>
            <a:endParaRPr lang="en-CA" sz="1200" b="1" dirty="0">
              <a:solidFill>
                <a:schemeClr val="accent6"/>
              </a:solidFill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ED8BFF40-7A2A-23EA-7B3D-21C920B32A6E}"/>
              </a:ext>
            </a:extLst>
          </p:cNvPr>
          <p:cNvSpPr/>
          <p:nvPr/>
        </p:nvSpPr>
        <p:spPr>
          <a:xfrm>
            <a:off x="8951480" y="4235801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??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DF43B91E-64AB-B281-07B9-17272AFEBCB9}"/>
              </a:ext>
            </a:extLst>
          </p:cNvPr>
          <p:cNvSpPr/>
          <p:nvPr/>
        </p:nvSpPr>
        <p:spPr>
          <a:xfrm>
            <a:off x="8951480" y="4808284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??</a:t>
            </a:r>
            <a:endParaRPr lang="en-CA" sz="1200" b="1" dirty="0">
              <a:solidFill>
                <a:schemeClr val="tx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D243DDE-7FF6-D4E8-58A7-618A314BB4A7}"/>
              </a:ext>
            </a:extLst>
          </p:cNvPr>
          <p:cNvSpPr txBox="1"/>
          <p:nvPr/>
        </p:nvSpPr>
        <p:spPr>
          <a:xfrm>
            <a:off x="7867209" y="4823977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0061F002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E16D1DC-FA42-F5B3-4625-C8B3E21C7780}"/>
              </a:ext>
            </a:extLst>
          </p:cNvPr>
          <p:cNvSpPr txBox="1"/>
          <p:nvPr/>
        </p:nvSpPr>
        <p:spPr>
          <a:xfrm>
            <a:off x="7863884" y="4536706"/>
            <a:ext cx="1165596" cy="284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0061F006</a:t>
            </a:r>
            <a:endParaRPr lang="en-CA" sz="1600" b="1" dirty="0">
              <a:solidFill>
                <a:srgbClr val="7030A0"/>
              </a:solidFill>
            </a:endParaRPr>
          </a:p>
          <a:p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96E1B56-51E2-1994-5ECF-714D4C63AC3A}"/>
              </a:ext>
            </a:extLst>
          </p:cNvPr>
          <p:cNvSpPr txBox="1"/>
          <p:nvPr/>
        </p:nvSpPr>
        <p:spPr>
          <a:xfrm>
            <a:off x="7863884" y="4241565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0061F00A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D3C1E22-E6FC-037D-D74B-D0A923A0C35C}"/>
              </a:ext>
            </a:extLst>
          </p:cNvPr>
          <p:cNvSpPr txBox="1"/>
          <p:nvPr/>
        </p:nvSpPr>
        <p:spPr>
          <a:xfrm>
            <a:off x="10575185" y="4473734"/>
            <a:ext cx="6966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“</a:t>
            </a:r>
            <a:r>
              <a:rPr lang="en-US" b="1" dirty="0" err="1">
                <a:solidFill>
                  <a:schemeClr val="tx1"/>
                </a:solidFill>
              </a:rPr>
              <a:t>ptr</a:t>
            </a:r>
            <a:r>
              <a:rPr lang="en-US" b="1" dirty="0">
                <a:solidFill>
                  <a:schemeClr val="tx1"/>
                </a:solidFill>
              </a:rPr>
              <a:t>” </a:t>
            </a:r>
            <a:endParaRPr lang="en-US" dirty="0"/>
          </a:p>
        </p:txBody>
      </p: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034DB56F-FA17-B669-B07D-FF0938EE0B56}"/>
              </a:ext>
            </a:extLst>
          </p:cNvPr>
          <p:cNvCxnSpPr>
            <a:cxnSpLocks/>
          </p:cNvCxnSpPr>
          <p:nvPr/>
        </p:nvCxnSpPr>
        <p:spPr>
          <a:xfrm rot="16200000" flipV="1">
            <a:off x="8434349" y="2742775"/>
            <a:ext cx="1950553" cy="1837536"/>
          </a:xfrm>
          <a:prstGeom prst="bentConnector3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Speech Bubble: Rectangle 49">
            <a:extLst>
              <a:ext uri="{FF2B5EF4-FFF2-40B4-BE49-F238E27FC236}">
                <a16:creationId xmlns:a16="http://schemas.microsoft.com/office/drawing/2014/main" id="{E7577AF2-E34E-785C-7465-66C73E7FC64E}"/>
              </a:ext>
            </a:extLst>
          </p:cNvPr>
          <p:cNvSpPr/>
          <p:nvPr/>
        </p:nvSpPr>
        <p:spPr>
          <a:xfrm>
            <a:off x="8459080" y="1554487"/>
            <a:ext cx="2464448" cy="426127"/>
          </a:xfrm>
          <a:prstGeom prst="wedgeRectCallout">
            <a:avLst>
              <a:gd name="adj1" fmla="val 41576"/>
              <a:gd name="adj2" fmla="val 139855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>
                <a:solidFill>
                  <a:schemeClr val="tx1"/>
                </a:solidFill>
                <a:latin typeface="Courier"/>
              </a:rPr>
              <a:t>var </a:t>
            </a:r>
            <a:r>
              <a:rPr lang="en-CA" sz="1600" dirty="0">
                <a:solidFill>
                  <a:schemeClr val="tx1"/>
                </a:solidFill>
              </a:rPr>
              <a:t>is an </a:t>
            </a:r>
            <a:r>
              <a:rPr lang="en-CA" sz="1600" b="1" dirty="0">
                <a:solidFill>
                  <a:schemeClr val="tx1"/>
                </a:solidFill>
              </a:rPr>
              <a:t>Integer Variable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51" name="Speech Bubble: Rectangle 50">
            <a:extLst>
              <a:ext uri="{FF2B5EF4-FFF2-40B4-BE49-F238E27FC236}">
                <a16:creationId xmlns:a16="http://schemas.microsoft.com/office/drawing/2014/main" id="{3178BFD9-19F8-A6C9-3710-4F46792D7D03}"/>
              </a:ext>
            </a:extLst>
          </p:cNvPr>
          <p:cNvSpPr/>
          <p:nvPr/>
        </p:nvSpPr>
        <p:spPr>
          <a:xfrm>
            <a:off x="8459080" y="5330170"/>
            <a:ext cx="2464448" cy="426127"/>
          </a:xfrm>
          <a:prstGeom prst="wedgeRectCallout">
            <a:avLst>
              <a:gd name="adj1" fmla="val 39456"/>
              <a:gd name="adj2" fmla="val -148301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 err="1">
                <a:solidFill>
                  <a:schemeClr val="tx1"/>
                </a:solidFill>
                <a:latin typeface="Courier"/>
              </a:rPr>
              <a:t>ptr</a:t>
            </a:r>
            <a:r>
              <a:rPr lang="en-CA" sz="1600" dirty="0">
                <a:solidFill>
                  <a:schemeClr val="tx1"/>
                </a:solidFill>
                <a:latin typeface="Courier"/>
              </a:rPr>
              <a:t> </a:t>
            </a:r>
            <a:r>
              <a:rPr lang="en-CA" sz="1600" dirty="0">
                <a:solidFill>
                  <a:schemeClr val="tx1"/>
                </a:solidFill>
              </a:rPr>
              <a:t>is an </a:t>
            </a:r>
            <a:r>
              <a:rPr lang="en-CA" sz="1600" b="1" dirty="0">
                <a:solidFill>
                  <a:schemeClr val="tx1"/>
                </a:solidFill>
              </a:rPr>
              <a:t>Integer </a:t>
            </a:r>
            <a:r>
              <a:rPr lang="en-CA" sz="1600" b="1" dirty="0">
                <a:solidFill>
                  <a:srgbClr val="FF0000"/>
                </a:solidFill>
              </a:rPr>
              <a:t>Pointer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B747EE-CE93-010B-3BB1-0A12EF1BBB20}"/>
              </a:ext>
            </a:extLst>
          </p:cNvPr>
          <p:cNvSpPr txBox="1"/>
          <p:nvPr/>
        </p:nvSpPr>
        <p:spPr>
          <a:xfrm>
            <a:off x="1938498" y="4235801"/>
            <a:ext cx="5446519" cy="1569660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var = 3;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int*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&amp;var;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(“var = %d at 0x%p\n”, var, &amp;var);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points to Address 0x%p\n”,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2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</a:t>
            </a:r>
            <a:r>
              <a:rPr lang="en-US" sz="12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12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points to a Value of %d\n”, 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sz="2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12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DE2488B-4C1A-2D97-5734-0FABA8624DE6}"/>
              </a:ext>
            </a:extLst>
          </p:cNvPr>
          <p:cNvSpPr/>
          <p:nvPr/>
        </p:nvSpPr>
        <p:spPr>
          <a:xfrm>
            <a:off x="5292162" y="4145078"/>
            <a:ext cx="2252393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L7Ex3-1-Deref.c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709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916295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Indirection (Dereferencing) Operator 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10453652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Unary Operator – NOT multiplication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Two Purposes</a:t>
            </a:r>
          </a:p>
          <a:p>
            <a:pPr marL="800100" lvl="1" indent="-342900">
              <a:buFont typeface="+mj-lt"/>
              <a:buAutoNum type="arabicPeriod" startAt="2"/>
            </a:pPr>
            <a:r>
              <a:rPr lang="en-US" dirty="0"/>
              <a:t>Applies to a </a:t>
            </a:r>
            <a:r>
              <a:rPr lang="en-US" b="1" dirty="0"/>
              <a:t>Pointer</a:t>
            </a:r>
            <a:r>
              <a:rPr lang="en-US" dirty="0"/>
              <a:t> or </a:t>
            </a:r>
            <a:r>
              <a:rPr lang="en-US" b="1" dirty="0"/>
              <a:t>Expression of Pointer Type</a:t>
            </a:r>
            <a:endParaRPr lang="en-US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Effect: Returns the variable the pointer points to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Implication: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dirty="0"/>
              <a:t>If </a:t>
            </a:r>
            <a:r>
              <a:rPr lang="en-US" dirty="0" err="1">
                <a:latin typeface="Courier"/>
              </a:rPr>
              <a:t>ptr</a:t>
            </a:r>
            <a:r>
              <a:rPr lang="en-US" dirty="0"/>
              <a:t> points to </a:t>
            </a:r>
            <a:r>
              <a:rPr lang="en-US" dirty="0">
                <a:latin typeface="Courier"/>
              </a:rPr>
              <a:t>var</a:t>
            </a:r>
            <a:r>
              <a:rPr lang="en-US" dirty="0"/>
              <a:t>, </a:t>
            </a:r>
            <a:r>
              <a:rPr lang="en-US" dirty="0">
                <a:latin typeface="Courier"/>
              </a:rPr>
              <a:t>*</a:t>
            </a:r>
            <a:r>
              <a:rPr lang="en-US" dirty="0" err="1">
                <a:latin typeface="Courier"/>
              </a:rPr>
              <a:t>ptr</a:t>
            </a:r>
            <a:r>
              <a:rPr lang="en-US" dirty="0"/>
              <a:t> is another name for </a:t>
            </a:r>
            <a:r>
              <a:rPr lang="en-US" dirty="0">
                <a:latin typeface="Courier"/>
              </a:rPr>
              <a:t>var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dirty="0">
                <a:latin typeface="Courier"/>
              </a:rPr>
              <a:t>*</a:t>
            </a:r>
            <a:r>
              <a:rPr lang="en-US" dirty="0" err="1">
                <a:latin typeface="Courier"/>
              </a:rPr>
              <a:t>ptr</a:t>
            </a:r>
            <a:r>
              <a:rPr lang="en-US" dirty="0"/>
              <a:t> can be used in place of </a:t>
            </a:r>
            <a:r>
              <a:rPr lang="en-US" dirty="0">
                <a:latin typeface="Courier"/>
              </a:rPr>
              <a:t>var</a:t>
            </a:r>
            <a:r>
              <a:rPr lang="en-US" dirty="0"/>
              <a:t> anywhere, anytime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dirty="0">
                <a:latin typeface="Courier"/>
              </a:rPr>
              <a:t>*</a:t>
            </a:r>
            <a:r>
              <a:rPr lang="en-US" dirty="0" err="1">
                <a:latin typeface="Courier"/>
              </a:rPr>
              <a:t>ptr</a:t>
            </a:r>
            <a:r>
              <a:rPr lang="en-US" dirty="0"/>
              <a:t> can be used on the left of an assignment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Modifying the value through </a:t>
            </a:r>
            <a:r>
              <a:rPr lang="en-US" b="1" dirty="0">
                <a:solidFill>
                  <a:srgbClr val="FF0000"/>
                </a:solidFill>
                <a:latin typeface="Courier"/>
              </a:rPr>
              <a:t>*</a:t>
            </a:r>
            <a:r>
              <a:rPr lang="en-US" b="1" dirty="0" err="1">
                <a:solidFill>
                  <a:srgbClr val="FF0000"/>
                </a:solidFill>
                <a:latin typeface="Courier"/>
              </a:rPr>
              <a:t>ptr</a:t>
            </a:r>
            <a:r>
              <a:rPr lang="en-US" b="1" dirty="0">
                <a:solidFill>
                  <a:srgbClr val="FF0000"/>
                </a:solidFill>
              </a:rPr>
              <a:t> will… 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22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12</a:t>
            </a:fld>
            <a:endParaRPr lang="en-CA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9FEC186-E3B5-636A-DF8C-59949950FDAA}"/>
              </a:ext>
            </a:extLst>
          </p:cNvPr>
          <p:cNvSpPr/>
          <p:nvPr/>
        </p:nvSpPr>
        <p:spPr>
          <a:xfrm>
            <a:off x="8939796" y="2456022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(int)   3</a:t>
            </a:r>
            <a:endParaRPr lang="en-CA" sz="1200" b="1" dirty="0">
              <a:solidFill>
                <a:srgbClr val="7030A0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D10559D-F749-E3BF-F4EE-5A87662EA9A3}"/>
              </a:ext>
            </a:extLst>
          </p:cNvPr>
          <p:cNvSpPr/>
          <p:nvPr/>
        </p:nvSpPr>
        <p:spPr>
          <a:xfrm>
            <a:off x="8939796" y="2174544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??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27D5DCA-5A42-FB07-E05B-22516925E831}"/>
              </a:ext>
            </a:extLst>
          </p:cNvPr>
          <p:cNvSpPr/>
          <p:nvPr/>
        </p:nvSpPr>
        <p:spPr>
          <a:xfrm>
            <a:off x="8939796" y="2747027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??</a:t>
            </a:r>
            <a:endParaRPr lang="en-CA" sz="1200" b="1" dirty="0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288E5E-18A1-4BE0-FCB2-888AED8CF18D}"/>
              </a:ext>
            </a:extLst>
          </p:cNvPr>
          <p:cNvSpPr txBox="1"/>
          <p:nvPr/>
        </p:nvSpPr>
        <p:spPr>
          <a:xfrm>
            <a:off x="7855525" y="2762720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0061FF1C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A928DF1-8B48-5158-AB7D-006AF1BD18DF}"/>
              </a:ext>
            </a:extLst>
          </p:cNvPr>
          <p:cNvSpPr txBox="1"/>
          <p:nvPr/>
        </p:nvSpPr>
        <p:spPr>
          <a:xfrm>
            <a:off x="7852200" y="2479935"/>
            <a:ext cx="11655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0061FF20</a:t>
            </a:r>
            <a:endParaRPr lang="en-CA" sz="1600" b="1" dirty="0">
              <a:solidFill>
                <a:srgbClr val="7030A0"/>
              </a:solidFill>
            </a:endParaRPr>
          </a:p>
          <a:p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B1D5245-827E-2FC8-37E4-9A43F586D512}"/>
              </a:ext>
            </a:extLst>
          </p:cNvPr>
          <p:cNvSpPr txBox="1"/>
          <p:nvPr/>
        </p:nvSpPr>
        <p:spPr>
          <a:xfrm>
            <a:off x="7852200" y="2180308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0061FF24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882A99F-9ECE-7009-CDF2-BF1F64EC273F}"/>
              </a:ext>
            </a:extLst>
          </p:cNvPr>
          <p:cNvSpPr txBox="1"/>
          <p:nvPr/>
        </p:nvSpPr>
        <p:spPr>
          <a:xfrm>
            <a:off x="10563501" y="2412477"/>
            <a:ext cx="6966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“var” </a:t>
            </a:r>
            <a:endParaRPr lang="en-US" dirty="0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A3B4E8BC-A905-5409-6B57-ACF1F8E1E5DD}"/>
              </a:ext>
            </a:extLst>
          </p:cNvPr>
          <p:cNvSpPr/>
          <p:nvPr/>
        </p:nvSpPr>
        <p:spPr>
          <a:xfrm>
            <a:off x="8951480" y="4517279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0x0061FF20</a:t>
            </a:r>
            <a:endParaRPr lang="en-CA" sz="1200" b="1" dirty="0">
              <a:solidFill>
                <a:schemeClr val="accent6"/>
              </a:solidFill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ED8BFF40-7A2A-23EA-7B3D-21C920B32A6E}"/>
              </a:ext>
            </a:extLst>
          </p:cNvPr>
          <p:cNvSpPr/>
          <p:nvPr/>
        </p:nvSpPr>
        <p:spPr>
          <a:xfrm>
            <a:off x="8951480" y="4235801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??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DF43B91E-64AB-B281-07B9-17272AFEBCB9}"/>
              </a:ext>
            </a:extLst>
          </p:cNvPr>
          <p:cNvSpPr/>
          <p:nvPr/>
        </p:nvSpPr>
        <p:spPr>
          <a:xfrm>
            <a:off x="8951480" y="4808284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??</a:t>
            </a:r>
            <a:endParaRPr lang="en-CA" sz="1200" b="1" dirty="0">
              <a:solidFill>
                <a:schemeClr val="tx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D243DDE-7FF6-D4E8-58A7-618A314BB4A7}"/>
              </a:ext>
            </a:extLst>
          </p:cNvPr>
          <p:cNvSpPr txBox="1"/>
          <p:nvPr/>
        </p:nvSpPr>
        <p:spPr>
          <a:xfrm>
            <a:off x="7867209" y="4823977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0061F002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E16D1DC-FA42-F5B3-4625-C8B3E21C7780}"/>
              </a:ext>
            </a:extLst>
          </p:cNvPr>
          <p:cNvSpPr txBox="1"/>
          <p:nvPr/>
        </p:nvSpPr>
        <p:spPr>
          <a:xfrm>
            <a:off x="7863884" y="4536706"/>
            <a:ext cx="1165596" cy="284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0061F006</a:t>
            </a:r>
            <a:endParaRPr lang="en-CA" sz="1600" b="1" dirty="0">
              <a:solidFill>
                <a:srgbClr val="7030A0"/>
              </a:solidFill>
            </a:endParaRPr>
          </a:p>
          <a:p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96E1B56-51E2-1994-5ECF-714D4C63AC3A}"/>
              </a:ext>
            </a:extLst>
          </p:cNvPr>
          <p:cNvSpPr txBox="1"/>
          <p:nvPr/>
        </p:nvSpPr>
        <p:spPr>
          <a:xfrm>
            <a:off x="7863884" y="4241565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0061F00A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D3C1E22-E6FC-037D-D74B-D0A923A0C35C}"/>
              </a:ext>
            </a:extLst>
          </p:cNvPr>
          <p:cNvSpPr txBox="1"/>
          <p:nvPr/>
        </p:nvSpPr>
        <p:spPr>
          <a:xfrm>
            <a:off x="10575185" y="4473734"/>
            <a:ext cx="6966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“</a:t>
            </a:r>
            <a:r>
              <a:rPr lang="en-US" b="1" dirty="0" err="1">
                <a:solidFill>
                  <a:schemeClr val="tx1"/>
                </a:solidFill>
              </a:rPr>
              <a:t>ptr</a:t>
            </a:r>
            <a:r>
              <a:rPr lang="en-US" b="1" dirty="0">
                <a:solidFill>
                  <a:schemeClr val="tx1"/>
                </a:solidFill>
              </a:rPr>
              <a:t>” </a:t>
            </a:r>
            <a:endParaRPr lang="en-US" dirty="0"/>
          </a:p>
        </p:txBody>
      </p: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034DB56F-FA17-B669-B07D-FF0938EE0B56}"/>
              </a:ext>
            </a:extLst>
          </p:cNvPr>
          <p:cNvCxnSpPr>
            <a:cxnSpLocks/>
          </p:cNvCxnSpPr>
          <p:nvPr/>
        </p:nvCxnSpPr>
        <p:spPr>
          <a:xfrm rot="16200000" flipV="1">
            <a:off x="8434349" y="2742775"/>
            <a:ext cx="1950553" cy="1837536"/>
          </a:xfrm>
          <a:prstGeom prst="bentConnector3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Speech Bubble: Rectangle 49">
            <a:extLst>
              <a:ext uri="{FF2B5EF4-FFF2-40B4-BE49-F238E27FC236}">
                <a16:creationId xmlns:a16="http://schemas.microsoft.com/office/drawing/2014/main" id="{E7577AF2-E34E-785C-7465-66C73E7FC64E}"/>
              </a:ext>
            </a:extLst>
          </p:cNvPr>
          <p:cNvSpPr/>
          <p:nvPr/>
        </p:nvSpPr>
        <p:spPr>
          <a:xfrm>
            <a:off x="8459080" y="1554487"/>
            <a:ext cx="2464448" cy="426127"/>
          </a:xfrm>
          <a:prstGeom prst="wedgeRectCallout">
            <a:avLst>
              <a:gd name="adj1" fmla="val 41576"/>
              <a:gd name="adj2" fmla="val 139855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>
                <a:solidFill>
                  <a:schemeClr val="tx1"/>
                </a:solidFill>
                <a:latin typeface="Courier"/>
              </a:rPr>
              <a:t>var </a:t>
            </a:r>
            <a:r>
              <a:rPr lang="en-CA" sz="1600" dirty="0">
                <a:solidFill>
                  <a:schemeClr val="tx1"/>
                </a:solidFill>
              </a:rPr>
              <a:t>is an </a:t>
            </a:r>
            <a:r>
              <a:rPr lang="en-CA" sz="1600" b="1" dirty="0">
                <a:solidFill>
                  <a:schemeClr val="tx1"/>
                </a:solidFill>
              </a:rPr>
              <a:t>Integer Variable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51" name="Speech Bubble: Rectangle 50">
            <a:extLst>
              <a:ext uri="{FF2B5EF4-FFF2-40B4-BE49-F238E27FC236}">
                <a16:creationId xmlns:a16="http://schemas.microsoft.com/office/drawing/2014/main" id="{3178BFD9-19F8-A6C9-3710-4F46792D7D03}"/>
              </a:ext>
            </a:extLst>
          </p:cNvPr>
          <p:cNvSpPr/>
          <p:nvPr/>
        </p:nvSpPr>
        <p:spPr>
          <a:xfrm>
            <a:off x="8459080" y="5330170"/>
            <a:ext cx="2464448" cy="426127"/>
          </a:xfrm>
          <a:prstGeom prst="wedgeRectCallout">
            <a:avLst>
              <a:gd name="adj1" fmla="val 39456"/>
              <a:gd name="adj2" fmla="val -148301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 err="1">
                <a:solidFill>
                  <a:schemeClr val="tx1"/>
                </a:solidFill>
                <a:latin typeface="Courier"/>
              </a:rPr>
              <a:t>ptr</a:t>
            </a:r>
            <a:r>
              <a:rPr lang="en-CA" sz="1600" dirty="0">
                <a:solidFill>
                  <a:schemeClr val="tx1"/>
                </a:solidFill>
                <a:latin typeface="Courier"/>
              </a:rPr>
              <a:t> </a:t>
            </a:r>
            <a:r>
              <a:rPr lang="en-CA" sz="1600" dirty="0">
                <a:solidFill>
                  <a:schemeClr val="tx1"/>
                </a:solidFill>
              </a:rPr>
              <a:t>is an </a:t>
            </a:r>
            <a:r>
              <a:rPr lang="en-CA" sz="1600" b="1" dirty="0">
                <a:solidFill>
                  <a:schemeClr val="tx1"/>
                </a:solidFill>
              </a:rPr>
              <a:t>Integer </a:t>
            </a:r>
            <a:r>
              <a:rPr lang="en-CA" sz="1600" b="1" dirty="0">
                <a:solidFill>
                  <a:srgbClr val="FF0000"/>
                </a:solidFill>
              </a:rPr>
              <a:t>Pointer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702BC98-4403-794F-6CFD-52A8E6F3E3F1}"/>
              </a:ext>
            </a:extLst>
          </p:cNvPr>
          <p:cNvSpPr/>
          <p:nvPr/>
        </p:nvSpPr>
        <p:spPr>
          <a:xfrm>
            <a:off x="2532019" y="5175299"/>
            <a:ext cx="4741817" cy="426127"/>
          </a:xfrm>
          <a:prstGeom prst="rect">
            <a:avLst/>
          </a:prstGeom>
          <a:solidFill>
            <a:srgbClr val="FFDDDD"/>
          </a:solidFill>
          <a:ln w="38100">
            <a:solidFill>
              <a:srgbClr val="7F1F1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Directly modify the value in </a:t>
            </a:r>
            <a:r>
              <a:rPr lang="en-US" sz="2400" b="1" dirty="0">
                <a:solidFill>
                  <a:srgbClr val="FF0000"/>
                </a:solidFill>
                <a:latin typeface="Courier"/>
              </a:rPr>
              <a:t>var</a:t>
            </a:r>
            <a:r>
              <a:rPr lang="en-US" sz="2400" b="1" dirty="0">
                <a:solidFill>
                  <a:srgbClr val="FF0000"/>
                </a:solidFill>
              </a:rPr>
              <a:t>!!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59613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916295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Indirection (Dereferencing) Operator 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10453652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Unary Operator – NOT multiplication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Two Purposes</a:t>
            </a:r>
          </a:p>
          <a:p>
            <a:pPr marL="800100" lvl="1" indent="-342900">
              <a:buFont typeface="+mj-lt"/>
              <a:buAutoNum type="arabicPeriod" startAt="2"/>
            </a:pPr>
            <a:r>
              <a:rPr lang="en-US" dirty="0"/>
              <a:t>Applies to a </a:t>
            </a:r>
            <a:r>
              <a:rPr lang="en-US" b="1" dirty="0"/>
              <a:t>Pointer</a:t>
            </a:r>
            <a:r>
              <a:rPr lang="en-US" dirty="0"/>
              <a:t> or </a:t>
            </a:r>
            <a:r>
              <a:rPr lang="en-US" b="1" dirty="0"/>
              <a:t>Expression of Pointer Type</a:t>
            </a:r>
            <a:endParaRPr lang="en-US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Returns the variable the pointer points to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Modifying the value of a </a:t>
            </a:r>
            <a:r>
              <a:rPr lang="en-US" b="1" dirty="0">
                <a:solidFill>
                  <a:srgbClr val="FF0000"/>
                </a:solidFill>
              </a:rPr>
              <a:t>dereferenced</a:t>
            </a:r>
            <a:r>
              <a:rPr lang="en-US" dirty="0"/>
              <a:t> pointer will</a:t>
            </a:r>
            <a:br>
              <a:rPr lang="en-US" dirty="0"/>
            </a:br>
            <a:r>
              <a:rPr lang="en-US" dirty="0"/>
              <a:t>modify the genuine value of the pointed variable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22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13</a:t>
            </a:fld>
            <a:endParaRPr lang="en-CA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9FEC186-E3B5-636A-DF8C-59949950FDAA}"/>
              </a:ext>
            </a:extLst>
          </p:cNvPr>
          <p:cNvSpPr/>
          <p:nvPr/>
        </p:nvSpPr>
        <p:spPr>
          <a:xfrm>
            <a:off x="8939796" y="2456022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(int)   3</a:t>
            </a:r>
            <a:endParaRPr lang="en-CA" sz="1200" b="1" dirty="0">
              <a:solidFill>
                <a:srgbClr val="7030A0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D10559D-F749-E3BF-F4EE-5A87662EA9A3}"/>
              </a:ext>
            </a:extLst>
          </p:cNvPr>
          <p:cNvSpPr/>
          <p:nvPr/>
        </p:nvSpPr>
        <p:spPr>
          <a:xfrm>
            <a:off x="8939796" y="2174544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??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27D5DCA-5A42-FB07-E05B-22516925E831}"/>
              </a:ext>
            </a:extLst>
          </p:cNvPr>
          <p:cNvSpPr/>
          <p:nvPr/>
        </p:nvSpPr>
        <p:spPr>
          <a:xfrm>
            <a:off x="8939796" y="2747027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??</a:t>
            </a:r>
            <a:endParaRPr lang="en-CA" sz="1200" b="1" dirty="0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288E5E-18A1-4BE0-FCB2-888AED8CF18D}"/>
              </a:ext>
            </a:extLst>
          </p:cNvPr>
          <p:cNvSpPr txBox="1"/>
          <p:nvPr/>
        </p:nvSpPr>
        <p:spPr>
          <a:xfrm>
            <a:off x="7855525" y="2762720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0061FF1C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A928DF1-8B48-5158-AB7D-006AF1BD18DF}"/>
              </a:ext>
            </a:extLst>
          </p:cNvPr>
          <p:cNvSpPr txBox="1"/>
          <p:nvPr/>
        </p:nvSpPr>
        <p:spPr>
          <a:xfrm>
            <a:off x="7852200" y="2479935"/>
            <a:ext cx="11655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0061FF20</a:t>
            </a:r>
            <a:endParaRPr lang="en-CA" sz="1600" b="1" dirty="0">
              <a:solidFill>
                <a:srgbClr val="7030A0"/>
              </a:solidFill>
            </a:endParaRPr>
          </a:p>
          <a:p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B1D5245-827E-2FC8-37E4-9A43F586D512}"/>
              </a:ext>
            </a:extLst>
          </p:cNvPr>
          <p:cNvSpPr txBox="1"/>
          <p:nvPr/>
        </p:nvSpPr>
        <p:spPr>
          <a:xfrm>
            <a:off x="7852200" y="2180308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0061FF24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882A99F-9ECE-7009-CDF2-BF1F64EC273F}"/>
              </a:ext>
            </a:extLst>
          </p:cNvPr>
          <p:cNvSpPr txBox="1"/>
          <p:nvPr/>
        </p:nvSpPr>
        <p:spPr>
          <a:xfrm>
            <a:off x="10563501" y="2412477"/>
            <a:ext cx="6966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“var” </a:t>
            </a:r>
            <a:endParaRPr lang="en-US" dirty="0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A3B4E8BC-A905-5409-6B57-ACF1F8E1E5DD}"/>
              </a:ext>
            </a:extLst>
          </p:cNvPr>
          <p:cNvSpPr/>
          <p:nvPr/>
        </p:nvSpPr>
        <p:spPr>
          <a:xfrm>
            <a:off x="8951480" y="4517279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0x0061FF20</a:t>
            </a:r>
            <a:endParaRPr lang="en-CA" sz="1200" b="1" dirty="0">
              <a:solidFill>
                <a:schemeClr val="accent6"/>
              </a:solidFill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ED8BFF40-7A2A-23EA-7B3D-21C920B32A6E}"/>
              </a:ext>
            </a:extLst>
          </p:cNvPr>
          <p:cNvSpPr/>
          <p:nvPr/>
        </p:nvSpPr>
        <p:spPr>
          <a:xfrm>
            <a:off x="8951480" y="4235801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??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DF43B91E-64AB-B281-07B9-17272AFEBCB9}"/>
              </a:ext>
            </a:extLst>
          </p:cNvPr>
          <p:cNvSpPr/>
          <p:nvPr/>
        </p:nvSpPr>
        <p:spPr>
          <a:xfrm>
            <a:off x="8951480" y="4808284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??</a:t>
            </a:r>
            <a:endParaRPr lang="en-CA" sz="1200" b="1" dirty="0">
              <a:solidFill>
                <a:schemeClr val="tx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D243DDE-7FF6-D4E8-58A7-618A314BB4A7}"/>
              </a:ext>
            </a:extLst>
          </p:cNvPr>
          <p:cNvSpPr txBox="1"/>
          <p:nvPr/>
        </p:nvSpPr>
        <p:spPr>
          <a:xfrm>
            <a:off x="7867209" y="4823977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0061F002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E16D1DC-FA42-F5B3-4625-C8B3E21C7780}"/>
              </a:ext>
            </a:extLst>
          </p:cNvPr>
          <p:cNvSpPr txBox="1"/>
          <p:nvPr/>
        </p:nvSpPr>
        <p:spPr>
          <a:xfrm>
            <a:off x="7863884" y="4536706"/>
            <a:ext cx="1165596" cy="284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0061F006</a:t>
            </a:r>
            <a:endParaRPr lang="en-CA" sz="1600" b="1" dirty="0">
              <a:solidFill>
                <a:srgbClr val="7030A0"/>
              </a:solidFill>
            </a:endParaRPr>
          </a:p>
          <a:p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96E1B56-51E2-1994-5ECF-714D4C63AC3A}"/>
              </a:ext>
            </a:extLst>
          </p:cNvPr>
          <p:cNvSpPr txBox="1"/>
          <p:nvPr/>
        </p:nvSpPr>
        <p:spPr>
          <a:xfrm>
            <a:off x="7863884" y="4241565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0061F00A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D3C1E22-E6FC-037D-D74B-D0A923A0C35C}"/>
              </a:ext>
            </a:extLst>
          </p:cNvPr>
          <p:cNvSpPr txBox="1"/>
          <p:nvPr/>
        </p:nvSpPr>
        <p:spPr>
          <a:xfrm>
            <a:off x="10575185" y="4473734"/>
            <a:ext cx="6966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“</a:t>
            </a:r>
            <a:r>
              <a:rPr lang="en-US" b="1" dirty="0" err="1">
                <a:solidFill>
                  <a:schemeClr val="tx1"/>
                </a:solidFill>
              </a:rPr>
              <a:t>ptr</a:t>
            </a:r>
            <a:r>
              <a:rPr lang="en-US" b="1" dirty="0">
                <a:solidFill>
                  <a:schemeClr val="tx1"/>
                </a:solidFill>
              </a:rPr>
              <a:t>” </a:t>
            </a:r>
            <a:endParaRPr lang="en-US" dirty="0"/>
          </a:p>
        </p:txBody>
      </p: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034DB56F-FA17-B669-B07D-FF0938EE0B56}"/>
              </a:ext>
            </a:extLst>
          </p:cNvPr>
          <p:cNvCxnSpPr>
            <a:cxnSpLocks/>
          </p:cNvCxnSpPr>
          <p:nvPr/>
        </p:nvCxnSpPr>
        <p:spPr>
          <a:xfrm rot="16200000" flipV="1">
            <a:off x="8434349" y="2742775"/>
            <a:ext cx="1950553" cy="1837536"/>
          </a:xfrm>
          <a:prstGeom prst="bentConnector3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Speech Bubble: Rectangle 49">
            <a:extLst>
              <a:ext uri="{FF2B5EF4-FFF2-40B4-BE49-F238E27FC236}">
                <a16:creationId xmlns:a16="http://schemas.microsoft.com/office/drawing/2014/main" id="{E7577AF2-E34E-785C-7465-66C73E7FC64E}"/>
              </a:ext>
            </a:extLst>
          </p:cNvPr>
          <p:cNvSpPr/>
          <p:nvPr/>
        </p:nvSpPr>
        <p:spPr>
          <a:xfrm>
            <a:off x="8459080" y="1554487"/>
            <a:ext cx="2464448" cy="426127"/>
          </a:xfrm>
          <a:prstGeom prst="wedgeRectCallout">
            <a:avLst>
              <a:gd name="adj1" fmla="val 41576"/>
              <a:gd name="adj2" fmla="val 139855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>
                <a:solidFill>
                  <a:schemeClr val="tx1"/>
                </a:solidFill>
                <a:latin typeface="Courier"/>
              </a:rPr>
              <a:t>var </a:t>
            </a:r>
            <a:r>
              <a:rPr lang="en-CA" sz="1600" dirty="0">
                <a:solidFill>
                  <a:schemeClr val="tx1"/>
                </a:solidFill>
              </a:rPr>
              <a:t>is an </a:t>
            </a:r>
            <a:r>
              <a:rPr lang="en-CA" sz="1600" b="1" dirty="0">
                <a:solidFill>
                  <a:schemeClr val="tx1"/>
                </a:solidFill>
              </a:rPr>
              <a:t>Integer Variable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51" name="Speech Bubble: Rectangle 50">
            <a:extLst>
              <a:ext uri="{FF2B5EF4-FFF2-40B4-BE49-F238E27FC236}">
                <a16:creationId xmlns:a16="http://schemas.microsoft.com/office/drawing/2014/main" id="{3178BFD9-19F8-A6C9-3710-4F46792D7D03}"/>
              </a:ext>
            </a:extLst>
          </p:cNvPr>
          <p:cNvSpPr/>
          <p:nvPr/>
        </p:nvSpPr>
        <p:spPr>
          <a:xfrm>
            <a:off x="8459080" y="5330170"/>
            <a:ext cx="2464448" cy="426127"/>
          </a:xfrm>
          <a:prstGeom prst="wedgeRectCallout">
            <a:avLst>
              <a:gd name="adj1" fmla="val 39456"/>
              <a:gd name="adj2" fmla="val -148301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 err="1">
                <a:solidFill>
                  <a:schemeClr val="tx1"/>
                </a:solidFill>
                <a:latin typeface="Courier"/>
              </a:rPr>
              <a:t>ptr</a:t>
            </a:r>
            <a:r>
              <a:rPr lang="en-CA" sz="1600" dirty="0">
                <a:solidFill>
                  <a:schemeClr val="tx1"/>
                </a:solidFill>
                <a:latin typeface="Courier"/>
              </a:rPr>
              <a:t> </a:t>
            </a:r>
            <a:r>
              <a:rPr lang="en-CA" sz="1600" dirty="0">
                <a:solidFill>
                  <a:schemeClr val="tx1"/>
                </a:solidFill>
              </a:rPr>
              <a:t>is an </a:t>
            </a:r>
            <a:r>
              <a:rPr lang="en-CA" sz="1600" b="1" dirty="0">
                <a:solidFill>
                  <a:schemeClr val="tx1"/>
                </a:solidFill>
              </a:rPr>
              <a:t>Integer </a:t>
            </a:r>
            <a:r>
              <a:rPr lang="en-CA" sz="1600" b="1" dirty="0">
                <a:solidFill>
                  <a:srgbClr val="FF0000"/>
                </a:solidFill>
              </a:rPr>
              <a:t>Pointer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548D66-3034-63A0-0291-EB48E98A7F6C}"/>
              </a:ext>
            </a:extLst>
          </p:cNvPr>
          <p:cNvSpPr txBox="1"/>
          <p:nvPr/>
        </p:nvSpPr>
        <p:spPr>
          <a:xfrm>
            <a:off x="1358081" y="3806933"/>
            <a:ext cx="6096456" cy="1938992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var = 3;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int*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&amp;var;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(“var = %d at 0x%p\n”, var, &amp;var);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points to Address 0x%p with Value %d\n”,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*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*= 10;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same as var *= 10, i.e., var = var * 10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(“var = %d at 0x%p\n”, var, &amp;var);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points to Address 0x%p with Value %d\n”,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*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937DA50-7DCB-286A-B399-B9E8A048E478}"/>
              </a:ext>
            </a:extLst>
          </p:cNvPr>
          <p:cNvSpPr/>
          <p:nvPr/>
        </p:nvSpPr>
        <p:spPr>
          <a:xfrm>
            <a:off x="5511589" y="3929830"/>
            <a:ext cx="2252393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L7Ex3-2-DerefMod.c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5660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99686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Address-Data Duality Diagram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14</a:t>
            </a:fld>
            <a:endParaRPr lang="en-C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3A76B3-8526-4B45-E638-BEAF0205849C}"/>
              </a:ext>
            </a:extLst>
          </p:cNvPr>
          <p:cNvSpPr txBox="1"/>
          <p:nvPr/>
        </p:nvSpPr>
        <p:spPr>
          <a:xfrm>
            <a:off x="9269472" y="419806"/>
            <a:ext cx="1943025" cy="369332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var = 3;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" name="Rounded Rectangle 3">
            <a:extLst>
              <a:ext uri="{FF2B5EF4-FFF2-40B4-BE49-F238E27FC236}">
                <a16:creationId xmlns:a16="http://schemas.microsoft.com/office/drawing/2014/main" id="{F9B8070C-952C-9DE2-1F5E-D30702FB8834}"/>
              </a:ext>
            </a:extLst>
          </p:cNvPr>
          <p:cNvSpPr/>
          <p:nvPr/>
        </p:nvSpPr>
        <p:spPr>
          <a:xfrm>
            <a:off x="1694775" y="2674700"/>
            <a:ext cx="2975956" cy="1374371"/>
          </a:xfrm>
          <a:prstGeom prst="roundRect">
            <a:avLst/>
          </a:prstGeom>
          <a:solidFill>
            <a:srgbClr val="C00000"/>
          </a:solidFill>
          <a:ln w="38100">
            <a:solidFill>
              <a:srgbClr val="7F1F1F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800" b="1" dirty="0"/>
              <a:t>Data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0D98BF-A1E5-9ED1-A920-B856FD9C1371}"/>
              </a:ext>
            </a:extLst>
          </p:cNvPr>
          <p:cNvSpPr txBox="1"/>
          <p:nvPr/>
        </p:nvSpPr>
        <p:spPr>
          <a:xfrm>
            <a:off x="1763055" y="1992703"/>
            <a:ext cx="2818848" cy="523220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(“%d”, var);</a:t>
            </a:r>
          </a:p>
          <a:p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prints “3” (value)</a:t>
            </a:r>
            <a:endParaRPr lang="en-US" sz="105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1" name="Rounded Rectangle 4">
            <a:extLst>
              <a:ext uri="{FF2B5EF4-FFF2-40B4-BE49-F238E27FC236}">
                <a16:creationId xmlns:a16="http://schemas.microsoft.com/office/drawing/2014/main" id="{1BF6B2A1-B93C-A1E8-C10B-FE3CB49A3629}"/>
              </a:ext>
            </a:extLst>
          </p:cNvPr>
          <p:cNvSpPr/>
          <p:nvPr/>
        </p:nvSpPr>
        <p:spPr>
          <a:xfrm>
            <a:off x="7650877" y="2710406"/>
            <a:ext cx="2975956" cy="1374371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381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800" b="1" dirty="0"/>
              <a:t>Address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15C2AA29-FA70-BDFA-A62E-636B7D9AB34C}"/>
              </a:ext>
            </a:extLst>
          </p:cNvPr>
          <p:cNvSpPr/>
          <p:nvPr/>
        </p:nvSpPr>
        <p:spPr>
          <a:xfrm>
            <a:off x="4722577" y="2942032"/>
            <a:ext cx="2842370" cy="2612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F8C1C05-2B7A-A7A3-AB0F-D49FF324CFCE}"/>
              </a:ext>
            </a:extLst>
          </p:cNvPr>
          <p:cNvSpPr txBox="1"/>
          <p:nvPr/>
        </p:nvSpPr>
        <p:spPr>
          <a:xfrm>
            <a:off x="4708665" y="2151050"/>
            <a:ext cx="277119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Referencing Operator</a:t>
            </a:r>
          </a:p>
          <a:p>
            <a:pPr algn="ctr"/>
            <a:r>
              <a:rPr lang="en-US" sz="3200" b="1" dirty="0">
                <a:solidFill>
                  <a:schemeClr val="accent1"/>
                </a:solidFill>
                <a:latin typeface="Courier"/>
                <a:cs typeface="Courier New" panose="02070309020205020404" pitchFamily="49" charset="0"/>
              </a:rPr>
              <a:t>&amp;</a:t>
            </a:r>
            <a:endParaRPr lang="en-CA" b="1" dirty="0">
              <a:solidFill>
                <a:schemeClr val="accent1"/>
              </a:solidFill>
              <a:latin typeface="Courier"/>
              <a:cs typeface="Courier New" panose="020703090202050204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E80F90B-5D65-90FC-2F7B-093E2D7DAD15}"/>
              </a:ext>
            </a:extLst>
          </p:cNvPr>
          <p:cNvSpPr txBox="1"/>
          <p:nvPr/>
        </p:nvSpPr>
        <p:spPr>
          <a:xfrm>
            <a:off x="7474548" y="1989927"/>
            <a:ext cx="3410806" cy="615553"/>
          </a:xfrm>
          <a:prstGeom prst="rect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(“%p”, </a:t>
            </a:r>
            <a:r>
              <a:rPr lang="en-US" sz="20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var);</a:t>
            </a:r>
          </a:p>
          <a:p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prints “0061FF20” (address)</a:t>
            </a:r>
            <a:endParaRPr lang="en-US" sz="105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B29B410-BEE1-4B16-65D4-02E7FB2F3194}"/>
              </a:ext>
            </a:extLst>
          </p:cNvPr>
          <p:cNvSpPr/>
          <p:nvPr/>
        </p:nvSpPr>
        <p:spPr>
          <a:xfrm>
            <a:off x="9038952" y="5315320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0x0061FF20</a:t>
            </a:r>
            <a:endParaRPr lang="en-CA" sz="1200" b="1" dirty="0">
              <a:solidFill>
                <a:schemeClr val="accent6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0C57216-9BF0-DCD8-DA7B-CFCAE6F76736}"/>
              </a:ext>
            </a:extLst>
          </p:cNvPr>
          <p:cNvSpPr/>
          <p:nvPr/>
        </p:nvSpPr>
        <p:spPr>
          <a:xfrm>
            <a:off x="9038952" y="5033842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??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6F99012-7D41-ECA0-04EA-C7BB9B2B538C}"/>
              </a:ext>
            </a:extLst>
          </p:cNvPr>
          <p:cNvSpPr/>
          <p:nvPr/>
        </p:nvSpPr>
        <p:spPr>
          <a:xfrm>
            <a:off x="9038952" y="5606325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??</a:t>
            </a:r>
            <a:endParaRPr lang="en-CA" sz="1200" b="1" dirty="0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1482FF-2357-9987-5E95-4FA0481C058C}"/>
              </a:ext>
            </a:extLst>
          </p:cNvPr>
          <p:cNvSpPr txBox="1"/>
          <p:nvPr/>
        </p:nvSpPr>
        <p:spPr>
          <a:xfrm>
            <a:off x="7954681" y="5622018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0061F002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EEFBA99-1C42-29AD-65F5-09AEFC3D4328}"/>
              </a:ext>
            </a:extLst>
          </p:cNvPr>
          <p:cNvSpPr txBox="1"/>
          <p:nvPr/>
        </p:nvSpPr>
        <p:spPr>
          <a:xfrm>
            <a:off x="7951356" y="5334747"/>
            <a:ext cx="1165596" cy="284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0061F006</a:t>
            </a:r>
            <a:endParaRPr lang="en-CA" sz="1600" b="1" dirty="0">
              <a:solidFill>
                <a:srgbClr val="7030A0"/>
              </a:solidFill>
            </a:endParaRPr>
          </a:p>
          <a:p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62E107B-0AE2-A742-7E57-C67574EA75B7}"/>
              </a:ext>
            </a:extLst>
          </p:cNvPr>
          <p:cNvSpPr txBox="1"/>
          <p:nvPr/>
        </p:nvSpPr>
        <p:spPr>
          <a:xfrm>
            <a:off x="7951356" y="5039606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0061F00A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46829A9-A451-C4E3-9C4C-0AE027D4B5B1}"/>
              </a:ext>
            </a:extLst>
          </p:cNvPr>
          <p:cNvSpPr txBox="1"/>
          <p:nvPr/>
        </p:nvSpPr>
        <p:spPr>
          <a:xfrm>
            <a:off x="10662657" y="5271775"/>
            <a:ext cx="6966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“</a:t>
            </a:r>
            <a:r>
              <a:rPr lang="en-US" b="1" dirty="0" err="1">
                <a:solidFill>
                  <a:schemeClr val="tx1"/>
                </a:solidFill>
              </a:rPr>
              <a:t>ptr</a:t>
            </a:r>
            <a:r>
              <a:rPr lang="en-US" b="1" dirty="0">
                <a:solidFill>
                  <a:schemeClr val="tx1"/>
                </a:solidFill>
              </a:rPr>
              <a:t>” </a:t>
            </a:r>
            <a:endParaRPr lang="en-US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C79ECA4-4635-D2F7-BD8A-8200A04AA360}"/>
              </a:ext>
            </a:extLst>
          </p:cNvPr>
          <p:cNvSpPr/>
          <p:nvPr/>
        </p:nvSpPr>
        <p:spPr>
          <a:xfrm>
            <a:off x="9342584" y="1175542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(int)   3</a:t>
            </a:r>
            <a:endParaRPr lang="en-CA" sz="1200" b="1" dirty="0">
              <a:solidFill>
                <a:srgbClr val="7030A0"/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C1E210F-C33C-B99B-16B8-9BF692CCA76E}"/>
              </a:ext>
            </a:extLst>
          </p:cNvPr>
          <p:cNvSpPr/>
          <p:nvPr/>
        </p:nvSpPr>
        <p:spPr>
          <a:xfrm>
            <a:off x="9342584" y="894064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??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1D7AB6CE-7489-BF2E-CFFD-DF4B87E3B421}"/>
              </a:ext>
            </a:extLst>
          </p:cNvPr>
          <p:cNvSpPr/>
          <p:nvPr/>
        </p:nvSpPr>
        <p:spPr>
          <a:xfrm>
            <a:off x="9342584" y="1466547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??</a:t>
            </a:r>
            <a:endParaRPr lang="en-CA" sz="1200" b="1" dirty="0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CEBDA45-91CC-89BD-9771-79454FB086CE}"/>
              </a:ext>
            </a:extLst>
          </p:cNvPr>
          <p:cNvSpPr txBox="1"/>
          <p:nvPr/>
        </p:nvSpPr>
        <p:spPr>
          <a:xfrm>
            <a:off x="8258313" y="1482240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0061FF1C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30016B4-10FD-3017-1C3F-7D97D588C0A2}"/>
              </a:ext>
            </a:extLst>
          </p:cNvPr>
          <p:cNvSpPr txBox="1"/>
          <p:nvPr/>
        </p:nvSpPr>
        <p:spPr>
          <a:xfrm>
            <a:off x="8254988" y="1199455"/>
            <a:ext cx="11655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0061FF20</a:t>
            </a:r>
            <a:endParaRPr lang="en-CA" sz="1600" b="1" dirty="0">
              <a:solidFill>
                <a:srgbClr val="7030A0"/>
              </a:solidFill>
            </a:endParaRPr>
          </a:p>
          <a:p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EB34046-6F20-56B6-A675-E0254108CEE0}"/>
              </a:ext>
            </a:extLst>
          </p:cNvPr>
          <p:cNvSpPr txBox="1"/>
          <p:nvPr/>
        </p:nvSpPr>
        <p:spPr>
          <a:xfrm>
            <a:off x="8254988" y="899828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0061FF24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B3105D-A5E9-E7A4-66DE-6980C7EE621F}"/>
              </a:ext>
            </a:extLst>
          </p:cNvPr>
          <p:cNvSpPr txBox="1"/>
          <p:nvPr/>
        </p:nvSpPr>
        <p:spPr>
          <a:xfrm>
            <a:off x="10966289" y="1131997"/>
            <a:ext cx="6966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“var” </a:t>
            </a:r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F7F3EDF-11B1-23CE-C5C6-2B97D10EDC9A}"/>
              </a:ext>
            </a:extLst>
          </p:cNvPr>
          <p:cNvSpPr txBox="1"/>
          <p:nvPr/>
        </p:nvSpPr>
        <p:spPr>
          <a:xfrm>
            <a:off x="5323782" y="5476891"/>
            <a:ext cx="2421675" cy="369332"/>
          </a:xfrm>
          <a:prstGeom prst="rect">
            <a:avLst/>
          </a:prstGeom>
          <a:ln w="28575">
            <a:solidFill>
              <a:srgbClr val="FF7D7D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int*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&amp;var;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B93E811-E51F-EC36-409C-0155378E145E}"/>
              </a:ext>
            </a:extLst>
          </p:cNvPr>
          <p:cNvSpPr txBox="1"/>
          <p:nvPr/>
        </p:nvSpPr>
        <p:spPr>
          <a:xfrm>
            <a:off x="7477914" y="4205664"/>
            <a:ext cx="3410806" cy="523220"/>
          </a:xfrm>
          <a:prstGeom prst="rect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(“%p”,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prints “0061FF20” (address)</a:t>
            </a:r>
            <a:endParaRPr lang="en-US" sz="105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56ECABBD-7A0C-F40C-91D5-9E85C3A7D3DF}"/>
              </a:ext>
            </a:extLst>
          </p:cNvPr>
          <p:cNvSpPr/>
          <p:nvPr/>
        </p:nvSpPr>
        <p:spPr>
          <a:xfrm rot="10800000">
            <a:off x="4739619" y="3520449"/>
            <a:ext cx="2842370" cy="261257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F114C1-1547-C020-2D49-E78FA5372C99}"/>
              </a:ext>
            </a:extLst>
          </p:cNvPr>
          <p:cNvSpPr txBox="1"/>
          <p:nvPr/>
        </p:nvSpPr>
        <p:spPr>
          <a:xfrm>
            <a:off x="4722577" y="3729441"/>
            <a:ext cx="277119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Courier"/>
                <a:cs typeface="Courier New" panose="02070309020205020404" pitchFamily="49" charset="0"/>
              </a:rPr>
              <a:t>*</a:t>
            </a:r>
            <a:endParaRPr lang="en-US" sz="3200" b="1" u="sng" dirty="0">
              <a:solidFill>
                <a:schemeClr val="accent2">
                  <a:lumMod val="75000"/>
                </a:schemeClr>
              </a:solidFill>
            </a:endParaRPr>
          </a:p>
          <a:p>
            <a:pPr algn="ctr"/>
            <a:r>
              <a:rPr lang="en-US" b="1" u="sng" dirty="0"/>
              <a:t>Dereferencing Operator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1B901F1-E7B1-EAF0-11AA-93F33C70A50E}"/>
              </a:ext>
            </a:extLst>
          </p:cNvPr>
          <p:cNvSpPr txBox="1"/>
          <p:nvPr/>
        </p:nvSpPr>
        <p:spPr>
          <a:xfrm>
            <a:off x="1773329" y="4223282"/>
            <a:ext cx="2818848" cy="615553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(“%d”,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prints “3” (value)</a:t>
            </a:r>
            <a:endParaRPr lang="en-US" sz="105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0" name="Speech Bubble: Rectangle 39">
            <a:extLst>
              <a:ext uri="{FF2B5EF4-FFF2-40B4-BE49-F238E27FC236}">
                <a16:creationId xmlns:a16="http://schemas.microsoft.com/office/drawing/2014/main" id="{46409B2B-C8BC-DB53-AA3E-E6F6BFF761A3}"/>
              </a:ext>
            </a:extLst>
          </p:cNvPr>
          <p:cNvSpPr/>
          <p:nvPr/>
        </p:nvSpPr>
        <p:spPr>
          <a:xfrm>
            <a:off x="982841" y="5121683"/>
            <a:ext cx="3047446" cy="426127"/>
          </a:xfrm>
          <a:prstGeom prst="wedgeRectCallout">
            <a:avLst>
              <a:gd name="adj1" fmla="val 30757"/>
              <a:gd name="adj2" fmla="val -91079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>
                <a:solidFill>
                  <a:schemeClr val="tx1"/>
                </a:solidFill>
                <a:latin typeface="Courier"/>
              </a:rPr>
              <a:t>*</a:t>
            </a:r>
            <a:r>
              <a:rPr lang="en-CA" sz="1600" dirty="0" err="1">
                <a:solidFill>
                  <a:schemeClr val="tx1"/>
                </a:solidFill>
                <a:latin typeface="Courier"/>
              </a:rPr>
              <a:t>ptr</a:t>
            </a:r>
            <a:r>
              <a:rPr lang="en-CA" sz="1600" dirty="0">
                <a:solidFill>
                  <a:schemeClr val="tx1"/>
                </a:solidFill>
              </a:rPr>
              <a:t> behaves as an alias of </a:t>
            </a:r>
            <a:r>
              <a:rPr lang="en-CA" sz="1600" dirty="0">
                <a:solidFill>
                  <a:schemeClr val="tx1"/>
                </a:solidFill>
                <a:latin typeface="Courier"/>
              </a:rPr>
              <a:t>var</a:t>
            </a:r>
            <a:endParaRPr lang="en-US" sz="1600" dirty="0">
              <a:solidFill>
                <a:schemeClr val="tx1"/>
              </a:solidFill>
              <a:latin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530810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7" grpId="0" animBg="1"/>
      <p:bldP spid="18" grpId="0"/>
      <p:bldP spid="25" grpId="0"/>
      <p:bldP spid="26" grpId="0"/>
      <p:bldP spid="27" grpId="0"/>
      <p:bldP spid="35" grpId="0" animBg="1"/>
      <p:bldP spid="36" grpId="0" animBg="1"/>
      <p:bldP spid="37" grpId="0" animBg="1"/>
      <p:bldP spid="38" grpId="0"/>
      <p:bldP spid="39" grpId="0" animBg="1"/>
      <p:bldP spid="4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 descr="One solid circle, one ring, and one circle filled with diagonal lines">
            <a:extLst>
              <a:ext uri="{FF2B5EF4-FFF2-40B4-BE49-F238E27FC236}">
                <a16:creationId xmlns:a16="http://schemas.microsoft.com/office/drawing/2014/main" id="{117B1E9F-05A5-4510-8587-80B34F83D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8254" y="747419"/>
            <a:ext cx="5363162" cy="536316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14B5F53-76BB-4185-819B-0CE94A358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Operations on Pointers</a:t>
            </a:r>
            <a:endParaRPr lang="en-US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699E1B-6ADB-4F72-95A0-4AA7EB020B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1EE999-66AE-40DE-9FC3-57D08FF72800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1EEE44-5A53-4177-97CB-790B8F12F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A1DD8A2-7C99-C88D-1318-1DCAA81A3B53}"/>
              </a:ext>
            </a:extLst>
          </p:cNvPr>
          <p:cNvSpPr txBox="1"/>
          <p:nvPr/>
        </p:nvSpPr>
        <p:spPr>
          <a:xfrm>
            <a:off x="831850" y="551471"/>
            <a:ext cx="526415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Watch Before Lecture:</a:t>
            </a:r>
          </a:p>
          <a:p>
            <a:r>
              <a:rPr lang="en-CA" sz="2000" b="1" dirty="0">
                <a:solidFill>
                  <a:srgbClr val="7F1F1F"/>
                </a:solidFill>
              </a:rPr>
              <a:t>[PLV 7-3] Passing Data by Pointer or Reference</a:t>
            </a:r>
          </a:p>
        </p:txBody>
      </p:sp>
    </p:spTree>
    <p:extLst>
      <p:ext uri="{BB962C8B-B14F-4D97-AF65-F5344CB8AC3E}">
        <p14:creationId xmlns:p14="http://schemas.microsoft.com/office/powerpoint/2010/main" val="20367681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671946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altLang="zh-CN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Assigning Values to Pointers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480612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Declared pointer can accept the following values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dirty="0"/>
              <a:t>The address of a matching-type variable through referencing operator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+mj-lt"/>
              <a:buAutoNum type="arabicPeriod" startAt="2"/>
            </a:pPr>
            <a:r>
              <a:rPr lang="en-CA" b="1" u="sng" dirty="0"/>
              <a:t>NULL pointer</a:t>
            </a:r>
            <a:r>
              <a:rPr lang="en-CA" dirty="0"/>
              <a:t> (integer value 0x0, points to “nothingness”)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Use it to initialize pointer variables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Cannot be dereferenced per runtime restriction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+mj-lt"/>
              <a:buAutoNum type="arabicPeriod" startAt="2"/>
            </a:pPr>
            <a:r>
              <a:rPr lang="en-CA" dirty="0"/>
              <a:t>A pointer of the same type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16</a:t>
            </a:fld>
            <a:endParaRPr lang="en-C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15809E-66A7-FB2A-9F1F-E41E2D9C4DC3}"/>
              </a:ext>
            </a:extLst>
          </p:cNvPr>
          <p:cNvSpPr txBox="1"/>
          <p:nvPr/>
        </p:nvSpPr>
        <p:spPr>
          <a:xfrm>
            <a:off x="2895969" y="2309717"/>
            <a:ext cx="2211052" cy="584775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var = 3;</a:t>
            </a:r>
          </a:p>
          <a:p>
            <a:r>
              <a:rPr lang="en-US" sz="16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int*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&amp;var;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B20985-3404-829D-C8AC-B9DEAB4628C8}"/>
              </a:ext>
            </a:extLst>
          </p:cNvPr>
          <p:cNvSpPr txBox="1"/>
          <p:nvPr/>
        </p:nvSpPr>
        <p:spPr>
          <a:xfrm>
            <a:off x="5363557" y="2306473"/>
            <a:ext cx="3070323" cy="584775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dVar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2.6631;</a:t>
            </a:r>
          </a:p>
          <a:p>
            <a:r>
              <a:rPr lang="en-US" sz="16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double*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dPtr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&amp;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dVar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A0EBAE-6EB6-AAD4-3264-E7B1BF04E229}"/>
              </a:ext>
            </a:extLst>
          </p:cNvPr>
          <p:cNvSpPr txBox="1"/>
          <p:nvPr/>
        </p:nvSpPr>
        <p:spPr>
          <a:xfrm>
            <a:off x="2895968" y="3913980"/>
            <a:ext cx="6024296" cy="584775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char*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cPtr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NULL;</a:t>
            </a:r>
          </a:p>
          <a:p>
            <a:r>
              <a:rPr lang="en-US" sz="16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unsigned long*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ulPtr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1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same as NULL (0x0)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41A6E1-5861-0C48-90ED-BB3BE42C19CA}"/>
              </a:ext>
            </a:extLst>
          </p:cNvPr>
          <p:cNvSpPr txBox="1"/>
          <p:nvPr/>
        </p:nvSpPr>
        <p:spPr>
          <a:xfrm>
            <a:off x="2895968" y="4995011"/>
            <a:ext cx="4020398" cy="584775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double*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dPtr2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dPtr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unsigned long*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ulPtr2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ulPtr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17" name="Speech Bubble: Rectangle 16">
            <a:extLst>
              <a:ext uri="{FF2B5EF4-FFF2-40B4-BE49-F238E27FC236}">
                <a16:creationId xmlns:a16="http://schemas.microsoft.com/office/drawing/2014/main" id="{EF8FB3AE-95BA-2161-6098-A0A4464BECB4}"/>
              </a:ext>
            </a:extLst>
          </p:cNvPr>
          <p:cNvSpPr/>
          <p:nvPr/>
        </p:nvSpPr>
        <p:spPr>
          <a:xfrm>
            <a:off x="7392118" y="2985014"/>
            <a:ext cx="3199681" cy="639161"/>
          </a:xfrm>
          <a:prstGeom prst="wedgeRectCallout">
            <a:avLst>
              <a:gd name="adj1" fmla="val -63462"/>
              <a:gd name="adj2" fmla="val 63061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chemeClr val="tx1"/>
                </a:solidFill>
              </a:rPr>
              <a:t>If allowed, will </a:t>
            </a:r>
            <a:r>
              <a:rPr lang="en-US" sz="1600" b="1" dirty="0">
                <a:solidFill>
                  <a:srgbClr val="FF0000"/>
                </a:solidFill>
              </a:rPr>
              <a:t>Seg Fault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A lot more to it... But out of scope</a:t>
            </a:r>
            <a:endParaRPr 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4249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  <p:bldP spid="10" grpId="0" animBg="1"/>
      <p:bldP spid="14" grpId="0" animBg="1"/>
      <p:bldP spid="1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671946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altLang="zh-CN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Assigning Values to Pointers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4806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Declared pointer can accept the following values</a:t>
            </a:r>
          </a:p>
          <a:p>
            <a:pPr marL="800100" lvl="1" indent="-342900">
              <a:buFont typeface="+mj-lt"/>
              <a:buAutoNum type="arabicPeriod" startAt="3"/>
            </a:pPr>
            <a:r>
              <a:rPr lang="en-CA" dirty="0"/>
              <a:t>A pointer of the same type – Example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17</a:t>
            </a:fld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20B366-82FE-7C3B-3BF3-01EA3DB78495}"/>
              </a:ext>
            </a:extLst>
          </p:cNvPr>
          <p:cNvSpPr txBox="1"/>
          <p:nvPr/>
        </p:nvSpPr>
        <p:spPr>
          <a:xfrm>
            <a:off x="1405964" y="2355665"/>
            <a:ext cx="5870326" cy="3416320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main(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*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nPtr1 = NULL,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nPtr2 = NULL;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both int pointer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n = 0;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int type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can also do int *nPtr1 = NULL, *nPtr2 = NULL, n;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endParaRPr lang="en-US" sz="12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// end of main()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CA799CE-F81E-601A-7FAC-DEA00D5DE842}"/>
              </a:ext>
            </a:extLst>
          </p:cNvPr>
          <p:cNvSpPr/>
          <p:nvPr/>
        </p:nvSpPr>
        <p:spPr>
          <a:xfrm>
            <a:off x="9007448" y="1385982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(int)   0</a:t>
            </a:r>
            <a:endParaRPr lang="en-CA" sz="1200" b="1" dirty="0">
              <a:solidFill>
                <a:srgbClr val="7030A0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2FC4F31-74EE-EE4A-DDB4-FD1A030B96AA}"/>
              </a:ext>
            </a:extLst>
          </p:cNvPr>
          <p:cNvSpPr/>
          <p:nvPr/>
        </p:nvSpPr>
        <p:spPr>
          <a:xfrm>
            <a:off x="9007448" y="1104504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??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22B403F-3EB6-7F91-B1D3-C0384E4D95E5}"/>
              </a:ext>
            </a:extLst>
          </p:cNvPr>
          <p:cNvSpPr/>
          <p:nvPr/>
        </p:nvSpPr>
        <p:spPr>
          <a:xfrm>
            <a:off x="9007448" y="1676987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??</a:t>
            </a:r>
            <a:endParaRPr lang="en-CA" sz="1200" b="1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D41541-8D54-95FA-FE80-96AD955BC3E3}"/>
              </a:ext>
            </a:extLst>
          </p:cNvPr>
          <p:cNvSpPr txBox="1"/>
          <p:nvPr/>
        </p:nvSpPr>
        <p:spPr>
          <a:xfrm>
            <a:off x="7884265" y="1692680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0053A0DC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127F15-8932-C778-ECD9-9386892DDCD1}"/>
              </a:ext>
            </a:extLst>
          </p:cNvPr>
          <p:cNvSpPr txBox="1"/>
          <p:nvPr/>
        </p:nvSpPr>
        <p:spPr>
          <a:xfrm>
            <a:off x="7919852" y="1398258"/>
            <a:ext cx="1165596" cy="312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0053A0E0</a:t>
            </a:r>
            <a:endParaRPr lang="en-CA" sz="1600" b="1" dirty="0">
              <a:solidFill>
                <a:srgbClr val="7030A0"/>
              </a:solidFill>
            </a:endParaRPr>
          </a:p>
          <a:p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F821B2-8964-4208-C60F-517A0B1110E0}"/>
              </a:ext>
            </a:extLst>
          </p:cNvPr>
          <p:cNvSpPr txBox="1"/>
          <p:nvPr/>
        </p:nvSpPr>
        <p:spPr>
          <a:xfrm>
            <a:off x="7919852" y="1110268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0053A0E4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7DA781-FE52-448E-C2B4-D0F361BE209F}"/>
              </a:ext>
            </a:extLst>
          </p:cNvPr>
          <p:cNvSpPr txBox="1"/>
          <p:nvPr/>
        </p:nvSpPr>
        <p:spPr>
          <a:xfrm>
            <a:off x="10631153" y="1342437"/>
            <a:ext cx="6966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“n” </a:t>
            </a:r>
            <a:endParaRPr lang="en-US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07D184F-FB08-E31E-3F59-B07F4DB284AD}"/>
              </a:ext>
            </a:extLst>
          </p:cNvPr>
          <p:cNvSpPr/>
          <p:nvPr/>
        </p:nvSpPr>
        <p:spPr>
          <a:xfrm>
            <a:off x="9019132" y="3447239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200" b="1" dirty="0">
              <a:solidFill>
                <a:schemeClr val="accent6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6180FEC-9F25-2F0A-1AE9-B716B4B8CED3}"/>
              </a:ext>
            </a:extLst>
          </p:cNvPr>
          <p:cNvSpPr/>
          <p:nvPr/>
        </p:nvSpPr>
        <p:spPr>
          <a:xfrm>
            <a:off x="9019132" y="3165761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??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83D99CB-71D6-B2C4-48B3-D7BB3ED23A5F}"/>
              </a:ext>
            </a:extLst>
          </p:cNvPr>
          <p:cNvSpPr/>
          <p:nvPr/>
        </p:nvSpPr>
        <p:spPr>
          <a:xfrm>
            <a:off x="9019132" y="3738244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??</a:t>
            </a:r>
            <a:endParaRPr lang="en-CA" sz="1200" b="1" dirty="0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4069B33-B5BA-8790-C5B5-B6F3C160F834}"/>
              </a:ext>
            </a:extLst>
          </p:cNvPr>
          <p:cNvSpPr txBox="1"/>
          <p:nvPr/>
        </p:nvSpPr>
        <p:spPr>
          <a:xfrm>
            <a:off x="7934861" y="3753937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0061F002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D0A61A-C757-1E41-CBBC-AACE214D015E}"/>
              </a:ext>
            </a:extLst>
          </p:cNvPr>
          <p:cNvSpPr txBox="1"/>
          <p:nvPr/>
        </p:nvSpPr>
        <p:spPr>
          <a:xfrm>
            <a:off x="7931536" y="3466666"/>
            <a:ext cx="1165596" cy="284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0061F006</a:t>
            </a:r>
            <a:endParaRPr lang="en-CA" sz="1600" b="1" dirty="0">
              <a:solidFill>
                <a:srgbClr val="7030A0"/>
              </a:solidFill>
            </a:endParaRPr>
          </a:p>
          <a:p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B889CE7-142E-A025-0E99-06459CF463B6}"/>
              </a:ext>
            </a:extLst>
          </p:cNvPr>
          <p:cNvSpPr txBox="1"/>
          <p:nvPr/>
        </p:nvSpPr>
        <p:spPr>
          <a:xfrm>
            <a:off x="7931536" y="3171525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0061F00A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1946B50-D434-E489-158F-CB65B5CDD766}"/>
              </a:ext>
            </a:extLst>
          </p:cNvPr>
          <p:cNvSpPr txBox="1"/>
          <p:nvPr/>
        </p:nvSpPr>
        <p:spPr>
          <a:xfrm>
            <a:off x="10642837" y="3403694"/>
            <a:ext cx="1003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“nPtr1” </a:t>
            </a:r>
            <a:endParaRPr lang="en-US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3F1E619-50DC-D8E2-9A40-A3EA0A4C0B68}"/>
              </a:ext>
            </a:extLst>
          </p:cNvPr>
          <p:cNvSpPr/>
          <p:nvPr/>
        </p:nvSpPr>
        <p:spPr>
          <a:xfrm>
            <a:off x="9019132" y="4918528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200" b="1" dirty="0">
              <a:solidFill>
                <a:schemeClr val="accent6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AA6D9E3-05A5-5906-64FA-54D2700B2FD7}"/>
              </a:ext>
            </a:extLst>
          </p:cNvPr>
          <p:cNvSpPr/>
          <p:nvPr/>
        </p:nvSpPr>
        <p:spPr>
          <a:xfrm>
            <a:off x="9019132" y="4637050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??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1B56430-3B8E-8350-BA82-A9B3DD6D529C}"/>
              </a:ext>
            </a:extLst>
          </p:cNvPr>
          <p:cNvSpPr/>
          <p:nvPr/>
        </p:nvSpPr>
        <p:spPr>
          <a:xfrm>
            <a:off x="9019132" y="5209533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??</a:t>
            </a:r>
            <a:endParaRPr lang="en-CA" sz="1200" b="1" dirty="0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1A0B8E0-4362-0F66-5310-D14A681B99E9}"/>
              </a:ext>
            </a:extLst>
          </p:cNvPr>
          <p:cNvSpPr txBox="1"/>
          <p:nvPr/>
        </p:nvSpPr>
        <p:spPr>
          <a:xfrm>
            <a:off x="7895949" y="5225226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003D00F9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86AC7A1-0E32-63C3-55D9-94F8F42D8CC8}"/>
              </a:ext>
            </a:extLst>
          </p:cNvPr>
          <p:cNvSpPr txBox="1"/>
          <p:nvPr/>
        </p:nvSpPr>
        <p:spPr>
          <a:xfrm>
            <a:off x="7892624" y="4935956"/>
            <a:ext cx="1165596" cy="343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003D00FD</a:t>
            </a:r>
            <a:endParaRPr lang="en-CA" sz="1600" b="1" dirty="0">
              <a:solidFill>
                <a:srgbClr val="7030A0"/>
              </a:solidFill>
            </a:endParaRPr>
          </a:p>
          <a:p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DBAEDED-D032-8801-8BE5-4FA9314EED63}"/>
              </a:ext>
            </a:extLst>
          </p:cNvPr>
          <p:cNvSpPr txBox="1"/>
          <p:nvPr/>
        </p:nvSpPr>
        <p:spPr>
          <a:xfrm>
            <a:off x="7892624" y="4642814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003D0101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BA39DAB-F7BD-97D3-E61C-CE33D5001341}"/>
              </a:ext>
            </a:extLst>
          </p:cNvPr>
          <p:cNvSpPr txBox="1"/>
          <p:nvPr/>
        </p:nvSpPr>
        <p:spPr>
          <a:xfrm>
            <a:off x="10642837" y="4874983"/>
            <a:ext cx="1003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“nPtr2” </a:t>
            </a:r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B886CEB-B8BF-3A17-B2DA-8FA1900E5EA7}"/>
              </a:ext>
            </a:extLst>
          </p:cNvPr>
          <p:cNvSpPr txBox="1"/>
          <p:nvPr/>
        </p:nvSpPr>
        <p:spPr>
          <a:xfrm>
            <a:off x="9284320" y="4874983"/>
            <a:ext cx="10481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NULL (0)</a:t>
            </a:r>
            <a:endParaRPr 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5BBC4FB-CA2D-DEDA-608A-4F6B0E232009}"/>
              </a:ext>
            </a:extLst>
          </p:cNvPr>
          <p:cNvSpPr txBox="1"/>
          <p:nvPr/>
        </p:nvSpPr>
        <p:spPr>
          <a:xfrm>
            <a:off x="9303776" y="3404688"/>
            <a:ext cx="10481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NULL (0)</a:t>
            </a:r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6341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1" grpId="0" animBg="1"/>
      <p:bldP spid="12" grpId="0" animBg="1"/>
      <p:bldP spid="15" grpId="0"/>
      <p:bldP spid="16" grpId="0"/>
      <p:bldP spid="17" grpId="0"/>
      <p:bldP spid="18" grpId="0"/>
      <p:bldP spid="19" grpId="0" animBg="1"/>
      <p:bldP spid="20" grpId="0" animBg="1"/>
      <p:bldP spid="21" grpId="0" animBg="1"/>
      <p:bldP spid="22" grpId="0"/>
      <p:bldP spid="23" grpId="0"/>
      <p:bldP spid="24" grpId="0"/>
      <p:bldP spid="25" grpId="0"/>
      <p:bldP spid="27" grpId="0" animBg="1"/>
      <p:bldP spid="28" grpId="0" animBg="1"/>
      <p:bldP spid="29" grpId="0" animBg="1"/>
      <p:bldP spid="30" grpId="0"/>
      <p:bldP spid="31" grpId="0"/>
      <p:bldP spid="32" grpId="0"/>
      <p:bldP spid="33" grpId="0"/>
      <p:bldP spid="45" grpId="0"/>
      <p:bldP spid="4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671946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altLang="zh-CN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Assigning Values to Pointers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4806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Declared pointer can accept the following values</a:t>
            </a:r>
          </a:p>
          <a:p>
            <a:pPr marL="800100" lvl="1" indent="-342900">
              <a:buFont typeface="+mj-lt"/>
              <a:buAutoNum type="arabicPeriod" startAt="3"/>
            </a:pPr>
            <a:r>
              <a:rPr lang="en-CA" dirty="0"/>
              <a:t>A pointer of the same type – Example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18</a:t>
            </a:fld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20B366-82FE-7C3B-3BF3-01EA3DB78495}"/>
              </a:ext>
            </a:extLst>
          </p:cNvPr>
          <p:cNvSpPr txBox="1"/>
          <p:nvPr/>
        </p:nvSpPr>
        <p:spPr>
          <a:xfrm>
            <a:off x="1405964" y="2355665"/>
            <a:ext cx="5870326" cy="3416320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main(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*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nPtr1 = NULL,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nPtr2 = NULL;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both int pointer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n = 0;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int type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can also do int *nPtr1 = NULL, *nPtr2 = NULL, n;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nPtr1 = &amp;n;</a:t>
            </a: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nPtr2 = nPtr1;</a:t>
            </a: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both *nPtr1 and *nPtr2 are now aliases of n</a:t>
            </a: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  all three can now be interchangeably used</a:t>
            </a:r>
          </a:p>
          <a:p>
            <a:endParaRPr lang="en-US" sz="12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// end of main()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CA799CE-F81E-601A-7FAC-DEA00D5DE842}"/>
              </a:ext>
            </a:extLst>
          </p:cNvPr>
          <p:cNvSpPr/>
          <p:nvPr/>
        </p:nvSpPr>
        <p:spPr>
          <a:xfrm>
            <a:off x="9007448" y="1385982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(int)   0</a:t>
            </a:r>
            <a:endParaRPr lang="en-CA" sz="1200" b="1" dirty="0">
              <a:solidFill>
                <a:srgbClr val="7030A0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2FC4F31-74EE-EE4A-DDB4-FD1A030B96AA}"/>
              </a:ext>
            </a:extLst>
          </p:cNvPr>
          <p:cNvSpPr/>
          <p:nvPr/>
        </p:nvSpPr>
        <p:spPr>
          <a:xfrm>
            <a:off x="9007448" y="1104504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??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22B403F-3EB6-7F91-B1D3-C0384E4D95E5}"/>
              </a:ext>
            </a:extLst>
          </p:cNvPr>
          <p:cNvSpPr/>
          <p:nvPr/>
        </p:nvSpPr>
        <p:spPr>
          <a:xfrm>
            <a:off x="9007448" y="1676987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??</a:t>
            </a:r>
            <a:endParaRPr lang="en-CA" sz="1200" b="1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D41541-8D54-95FA-FE80-96AD955BC3E3}"/>
              </a:ext>
            </a:extLst>
          </p:cNvPr>
          <p:cNvSpPr txBox="1"/>
          <p:nvPr/>
        </p:nvSpPr>
        <p:spPr>
          <a:xfrm>
            <a:off x="7884265" y="1692680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0053A0DC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127F15-8932-C778-ECD9-9386892DDCD1}"/>
              </a:ext>
            </a:extLst>
          </p:cNvPr>
          <p:cNvSpPr txBox="1"/>
          <p:nvPr/>
        </p:nvSpPr>
        <p:spPr>
          <a:xfrm>
            <a:off x="7919852" y="1398258"/>
            <a:ext cx="1165596" cy="312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0053A0E0</a:t>
            </a:r>
            <a:endParaRPr lang="en-CA" sz="1600" b="1" dirty="0">
              <a:solidFill>
                <a:srgbClr val="7030A0"/>
              </a:solidFill>
            </a:endParaRPr>
          </a:p>
          <a:p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F821B2-8964-4208-C60F-517A0B1110E0}"/>
              </a:ext>
            </a:extLst>
          </p:cNvPr>
          <p:cNvSpPr txBox="1"/>
          <p:nvPr/>
        </p:nvSpPr>
        <p:spPr>
          <a:xfrm>
            <a:off x="7919852" y="1110268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0053A0E4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7DA781-FE52-448E-C2B4-D0F361BE209F}"/>
              </a:ext>
            </a:extLst>
          </p:cNvPr>
          <p:cNvSpPr txBox="1"/>
          <p:nvPr/>
        </p:nvSpPr>
        <p:spPr>
          <a:xfrm>
            <a:off x="10631153" y="1342437"/>
            <a:ext cx="6966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“n” </a:t>
            </a:r>
            <a:endParaRPr lang="en-US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07D184F-FB08-E31E-3F59-B07F4DB284AD}"/>
              </a:ext>
            </a:extLst>
          </p:cNvPr>
          <p:cNvSpPr/>
          <p:nvPr/>
        </p:nvSpPr>
        <p:spPr>
          <a:xfrm>
            <a:off x="9019132" y="3447239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200" b="1" dirty="0">
              <a:solidFill>
                <a:schemeClr val="accent6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6180FEC-9F25-2F0A-1AE9-B716B4B8CED3}"/>
              </a:ext>
            </a:extLst>
          </p:cNvPr>
          <p:cNvSpPr/>
          <p:nvPr/>
        </p:nvSpPr>
        <p:spPr>
          <a:xfrm>
            <a:off x="9019132" y="3165761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??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83D99CB-71D6-B2C4-48B3-D7BB3ED23A5F}"/>
              </a:ext>
            </a:extLst>
          </p:cNvPr>
          <p:cNvSpPr/>
          <p:nvPr/>
        </p:nvSpPr>
        <p:spPr>
          <a:xfrm>
            <a:off x="9019132" y="3738244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??</a:t>
            </a:r>
            <a:endParaRPr lang="en-CA" sz="1200" b="1" dirty="0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4069B33-B5BA-8790-C5B5-B6F3C160F834}"/>
              </a:ext>
            </a:extLst>
          </p:cNvPr>
          <p:cNvSpPr txBox="1"/>
          <p:nvPr/>
        </p:nvSpPr>
        <p:spPr>
          <a:xfrm>
            <a:off x="7934861" y="3753937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0061F002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D0A61A-C757-1E41-CBBC-AACE214D015E}"/>
              </a:ext>
            </a:extLst>
          </p:cNvPr>
          <p:cNvSpPr txBox="1"/>
          <p:nvPr/>
        </p:nvSpPr>
        <p:spPr>
          <a:xfrm>
            <a:off x="7931536" y="3466666"/>
            <a:ext cx="1165596" cy="284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0061F006</a:t>
            </a:r>
            <a:endParaRPr lang="en-CA" sz="1600" b="1" dirty="0">
              <a:solidFill>
                <a:srgbClr val="7030A0"/>
              </a:solidFill>
            </a:endParaRPr>
          </a:p>
          <a:p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B889CE7-142E-A025-0E99-06459CF463B6}"/>
              </a:ext>
            </a:extLst>
          </p:cNvPr>
          <p:cNvSpPr txBox="1"/>
          <p:nvPr/>
        </p:nvSpPr>
        <p:spPr>
          <a:xfrm>
            <a:off x="7931536" y="3171525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0061F00A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1946B50-D434-E489-158F-CB65B5CDD766}"/>
              </a:ext>
            </a:extLst>
          </p:cNvPr>
          <p:cNvSpPr txBox="1"/>
          <p:nvPr/>
        </p:nvSpPr>
        <p:spPr>
          <a:xfrm>
            <a:off x="10642837" y="3403694"/>
            <a:ext cx="1003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“nPtr1” </a:t>
            </a:r>
            <a:endParaRPr lang="en-US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3F1E619-50DC-D8E2-9A40-A3EA0A4C0B68}"/>
              </a:ext>
            </a:extLst>
          </p:cNvPr>
          <p:cNvSpPr/>
          <p:nvPr/>
        </p:nvSpPr>
        <p:spPr>
          <a:xfrm>
            <a:off x="9019132" y="4918528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200" b="1" dirty="0">
              <a:solidFill>
                <a:schemeClr val="accent6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AA6D9E3-05A5-5906-64FA-54D2700B2FD7}"/>
              </a:ext>
            </a:extLst>
          </p:cNvPr>
          <p:cNvSpPr/>
          <p:nvPr/>
        </p:nvSpPr>
        <p:spPr>
          <a:xfrm>
            <a:off x="9019132" y="4637050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??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1B56430-3B8E-8350-BA82-A9B3DD6D529C}"/>
              </a:ext>
            </a:extLst>
          </p:cNvPr>
          <p:cNvSpPr/>
          <p:nvPr/>
        </p:nvSpPr>
        <p:spPr>
          <a:xfrm>
            <a:off x="9019132" y="5209533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??</a:t>
            </a:r>
            <a:endParaRPr lang="en-CA" sz="1200" b="1" dirty="0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1A0B8E0-4362-0F66-5310-D14A681B99E9}"/>
              </a:ext>
            </a:extLst>
          </p:cNvPr>
          <p:cNvSpPr txBox="1"/>
          <p:nvPr/>
        </p:nvSpPr>
        <p:spPr>
          <a:xfrm>
            <a:off x="7895949" y="5225226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003D00F9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86AC7A1-0E32-63C3-55D9-94F8F42D8CC8}"/>
              </a:ext>
            </a:extLst>
          </p:cNvPr>
          <p:cNvSpPr txBox="1"/>
          <p:nvPr/>
        </p:nvSpPr>
        <p:spPr>
          <a:xfrm>
            <a:off x="7892624" y="4935956"/>
            <a:ext cx="1165596" cy="343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003D00FD</a:t>
            </a:r>
            <a:endParaRPr lang="en-CA" sz="1600" b="1" dirty="0">
              <a:solidFill>
                <a:srgbClr val="7030A0"/>
              </a:solidFill>
            </a:endParaRPr>
          </a:p>
          <a:p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DBAEDED-D032-8801-8BE5-4FA9314EED63}"/>
              </a:ext>
            </a:extLst>
          </p:cNvPr>
          <p:cNvSpPr txBox="1"/>
          <p:nvPr/>
        </p:nvSpPr>
        <p:spPr>
          <a:xfrm>
            <a:off x="7892624" y="4642814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003D0101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BA39DAB-F7BD-97D3-E61C-CE33D5001341}"/>
              </a:ext>
            </a:extLst>
          </p:cNvPr>
          <p:cNvSpPr txBox="1"/>
          <p:nvPr/>
        </p:nvSpPr>
        <p:spPr>
          <a:xfrm>
            <a:off x="10642837" y="4874983"/>
            <a:ext cx="1003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“nPtr2” </a:t>
            </a:r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B886CEB-B8BF-3A17-B2DA-8FA1900E5EA7}"/>
              </a:ext>
            </a:extLst>
          </p:cNvPr>
          <p:cNvSpPr txBox="1"/>
          <p:nvPr/>
        </p:nvSpPr>
        <p:spPr>
          <a:xfrm>
            <a:off x="9284320" y="4874983"/>
            <a:ext cx="10481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NULL (0)</a:t>
            </a:r>
            <a:endParaRPr 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5BBC4FB-CA2D-DEDA-608A-4F6B0E232009}"/>
              </a:ext>
            </a:extLst>
          </p:cNvPr>
          <p:cNvSpPr txBox="1"/>
          <p:nvPr/>
        </p:nvSpPr>
        <p:spPr>
          <a:xfrm>
            <a:off x="9303776" y="3404688"/>
            <a:ext cx="10481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NULL (0)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24DD1A-4C19-4019-503D-A9DB5423D44F}"/>
              </a:ext>
            </a:extLst>
          </p:cNvPr>
          <p:cNvSpPr txBox="1"/>
          <p:nvPr/>
        </p:nvSpPr>
        <p:spPr>
          <a:xfrm>
            <a:off x="7716718" y="1342437"/>
            <a:ext cx="14277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0x0053A0E0</a:t>
            </a:r>
            <a:endParaRPr lang="en-US" dirty="0">
              <a:solidFill>
                <a:schemeClr val="accent6"/>
              </a:solidFill>
            </a:endParaRP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60819279-2ADE-EFE5-AAAC-3F206C460A77}"/>
              </a:ext>
            </a:extLst>
          </p:cNvPr>
          <p:cNvCxnSpPr>
            <a:cxnSpLocks/>
          </p:cNvCxnSpPr>
          <p:nvPr/>
        </p:nvCxnSpPr>
        <p:spPr>
          <a:xfrm rot="16200000" flipV="1">
            <a:off x="8502001" y="1672735"/>
            <a:ext cx="1950553" cy="1837536"/>
          </a:xfrm>
          <a:prstGeom prst="bentConnector3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0C96B23-1DD3-F462-E272-E04D06050B4F}"/>
              </a:ext>
            </a:extLst>
          </p:cNvPr>
          <p:cNvSpPr txBox="1"/>
          <p:nvPr/>
        </p:nvSpPr>
        <p:spPr>
          <a:xfrm>
            <a:off x="9123104" y="3392316"/>
            <a:ext cx="14277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0x0053A0E0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C31A9FB6-2D00-22B7-450D-B50051F8FDB2}"/>
              </a:ext>
            </a:extLst>
          </p:cNvPr>
          <p:cNvCxnSpPr>
            <a:cxnSpLocks/>
          </p:cNvCxnSpPr>
          <p:nvPr/>
        </p:nvCxnSpPr>
        <p:spPr>
          <a:xfrm rot="16200000" flipV="1">
            <a:off x="6990171" y="2814864"/>
            <a:ext cx="3321610" cy="920573"/>
          </a:xfrm>
          <a:prstGeom prst="bentConnector3">
            <a:avLst>
              <a:gd name="adj1" fmla="val 57907"/>
            </a:avLst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0594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42" presetClass="path" presetSubtype="0" accel="5000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3.75E-6 4.81481E-6 L 0.11237 0.30254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612" y="15116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8.33333E-7 2.22222E-6 L 0.00052 0.21805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10903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/>
      <p:bldP spid="2" grpId="0"/>
      <p:bldP spid="2" grpId="1"/>
      <p:bldP spid="10" grpId="0"/>
      <p:bldP spid="10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671946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altLang="zh-CN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Assigning Values to Pointers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4806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Declared pointer can accept the following values</a:t>
            </a:r>
          </a:p>
          <a:p>
            <a:pPr marL="800100" lvl="1" indent="-342900">
              <a:buFont typeface="+mj-lt"/>
              <a:buAutoNum type="arabicPeriod" startAt="3"/>
            </a:pPr>
            <a:r>
              <a:rPr lang="en-CA" dirty="0"/>
              <a:t>A pointer of the same type – Example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19</a:t>
            </a:fld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20B366-82FE-7C3B-3BF3-01EA3DB78495}"/>
              </a:ext>
            </a:extLst>
          </p:cNvPr>
          <p:cNvSpPr txBox="1"/>
          <p:nvPr/>
        </p:nvSpPr>
        <p:spPr>
          <a:xfrm>
            <a:off x="1405964" y="2355665"/>
            <a:ext cx="5870326" cy="3416320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main(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*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nPtr1 = NULL,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nPtr2 = NULL;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both int pointer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n = 0;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int type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can also do int *nPtr1 = NULL, *nPtr2 = NULL, n;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nPtr1 = &amp;n;</a:t>
            </a: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nPtr2 = nPtr1;</a:t>
            </a: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both *nPtr1 and *nPtr2 are now aliases of n</a:t>
            </a: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  all three can now be interchangeably used</a:t>
            </a:r>
          </a:p>
          <a:p>
            <a:endParaRPr lang="en-US" sz="12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*nPtr2 = 76;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// end of main()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CA799CE-F81E-601A-7FAC-DEA00D5DE842}"/>
              </a:ext>
            </a:extLst>
          </p:cNvPr>
          <p:cNvSpPr/>
          <p:nvPr/>
        </p:nvSpPr>
        <p:spPr>
          <a:xfrm>
            <a:off x="9007448" y="1385982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200" b="1" dirty="0">
              <a:solidFill>
                <a:srgbClr val="7030A0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2FC4F31-74EE-EE4A-DDB4-FD1A030B96AA}"/>
              </a:ext>
            </a:extLst>
          </p:cNvPr>
          <p:cNvSpPr/>
          <p:nvPr/>
        </p:nvSpPr>
        <p:spPr>
          <a:xfrm>
            <a:off x="9007448" y="1104504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??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22B403F-3EB6-7F91-B1D3-C0384E4D95E5}"/>
              </a:ext>
            </a:extLst>
          </p:cNvPr>
          <p:cNvSpPr/>
          <p:nvPr/>
        </p:nvSpPr>
        <p:spPr>
          <a:xfrm>
            <a:off x="9007448" y="1676987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??</a:t>
            </a:r>
            <a:endParaRPr lang="en-CA" sz="1200" b="1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D41541-8D54-95FA-FE80-96AD955BC3E3}"/>
              </a:ext>
            </a:extLst>
          </p:cNvPr>
          <p:cNvSpPr txBox="1"/>
          <p:nvPr/>
        </p:nvSpPr>
        <p:spPr>
          <a:xfrm>
            <a:off x="7884265" y="1692680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0053A0DC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127F15-8932-C778-ECD9-9386892DDCD1}"/>
              </a:ext>
            </a:extLst>
          </p:cNvPr>
          <p:cNvSpPr txBox="1"/>
          <p:nvPr/>
        </p:nvSpPr>
        <p:spPr>
          <a:xfrm>
            <a:off x="7919852" y="1398258"/>
            <a:ext cx="1165596" cy="312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0053A0E0</a:t>
            </a:r>
            <a:endParaRPr lang="en-CA" sz="1600" b="1" dirty="0">
              <a:solidFill>
                <a:srgbClr val="7030A0"/>
              </a:solidFill>
            </a:endParaRPr>
          </a:p>
          <a:p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F821B2-8964-4208-C60F-517A0B1110E0}"/>
              </a:ext>
            </a:extLst>
          </p:cNvPr>
          <p:cNvSpPr txBox="1"/>
          <p:nvPr/>
        </p:nvSpPr>
        <p:spPr>
          <a:xfrm>
            <a:off x="7919852" y="1110268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0053A0E4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7DA781-FE52-448E-C2B4-D0F361BE209F}"/>
              </a:ext>
            </a:extLst>
          </p:cNvPr>
          <p:cNvSpPr txBox="1"/>
          <p:nvPr/>
        </p:nvSpPr>
        <p:spPr>
          <a:xfrm>
            <a:off x="10631153" y="1342437"/>
            <a:ext cx="6966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“n” </a:t>
            </a:r>
            <a:endParaRPr lang="en-US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07D184F-FB08-E31E-3F59-B07F4DB284AD}"/>
              </a:ext>
            </a:extLst>
          </p:cNvPr>
          <p:cNvSpPr/>
          <p:nvPr/>
        </p:nvSpPr>
        <p:spPr>
          <a:xfrm>
            <a:off x="9019132" y="3447239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200" b="1" dirty="0">
              <a:solidFill>
                <a:schemeClr val="accent6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6180FEC-9F25-2F0A-1AE9-B716B4B8CED3}"/>
              </a:ext>
            </a:extLst>
          </p:cNvPr>
          <p:cNvSpPr/>
          <p:nvPr/>
        </p:nvSpPr>
        <p:spPr>
          <a:xfrm>
            <a:off x="9019132" y="3165761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??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83D99CB-71D6-B2C4-48B3-D7BB3ED23A5F}"/>
              </a:ext>
            </a:extLst>
          </p:cNvPr>
          <p:cNvSpPr/>
          <p:nvPr/>
        </p:nvSpPr>
        <p:spPr>
          <a:xfrm>
            <a:off x="9019132" y="3738244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??</a:t>
            </a:r>
            <a:endParaRPr lang="en-CA" sz="1200" b="1" dirty="0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4069B33-B5BA-8790-C5B5-B6F3C160F834}"/>
              </a:ext>
            </a:extLst>
          </p:cNvPr>
          <p:cNvSpPr txBox="1"/>
          <p:nvPr/>
        </p:nvSpPr>
        <p:spPr>
          <a:xfrm>
            <a:off x="7934861" y="3753937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0061F002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D0A61A-C757-1E41-CBBC-AACE214D015E}"/>
              </a:ext>
            </a:extLst>
          </p:cNvPr>
          <p:cNvSpPr txBox="1"/>
          <p:nvPr/>
        </p:nvSpPr>
        <p:spPr>
          <a:xfrm>
            <a:off x="7931536" y="3466666"/>
            <a:ext cx="1165596" cy="284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0061F006</a:t>
            </a:r>
            <a:endParaRPr lang="en-CA" sz="1600" b="1" dirty="0">
              <a:solidFill>
                <a:srgbClr val="7030A0"/>
              </a:solidFill>
            </a:endParaRPr>
          </a:p>
          <a:p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B889CE7-142E-A025-0E99-06459CF463B6}"/>
              </a:ext>
            </a:extLst>
          </p:cNvPr>
          <p:cNvSpPr txBox="1"/>
          <p:nvPr/>
        </p:nvSpPr>
        <p:spPr>
          <a:xfrm>
            <a:off x="7931536" y="3171525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0061F00A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1946B50-D434-E489-158F-CB65B5CDD766}"/>
              </a:ext>
            </a:extLst>
          </p:cNvPr>
          <p:cNvSpPr txBox="1"/>
          <p:nvPr/>
        </p:nvSpPr>
        <p:spPr>
          <a:xfrm>
            <a:off x="10642837" y="3403694"/>
            <a:ext cx="1003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“nPtr1” </a:t>
            </a:r>
            <a:endParaRPr lang="en-US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3F1E619-50DC-D8E2-9A40-A3EA0A4C0B68}"/>
              </a:ext>
            </a:extLst>
          </p:cNvPr>
          <p:cNvSpPr/>
          <p:nvPr/>
        </p:nvSpPr>
        <p:spPr>
          <a:xfrm>
            <a:off x="9019132" y="4918528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200" b="1" dirty="0">
              <a:solidFill>
                <a:schemeClr val="accent6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AA6D9E3-05A5-5906-64FA-54D2700B2FD7}"/>
              </a:ext>
            </a:extLst>
          </p:cNvPr>
          <p:cNvSpPr/>
          <p:nvPr/>
        </p:nvSpPr>
        <p:spPr>
          <a:xfrm>
            <a:off x="9019132" y="4637050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??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1B56430-3B8E-8350-BA82-A9B3DD6D529C}"/>
              </a:ext>
            </a:extLst>
          </p:cNvPr>
          <p:cNvSpPr/>
          <p:nvPr/>
        </p:nvSpPr>
        <p:spPr>
          <a:xfrm>
            <a:off x="9019132" y="5209533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??</a:t>
            </a:r>
            <a:endParaRPr lang="en-CA" sz="1200" b="1" dirty="0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1A0B8E0-4362-0F66-5310-D14A681B99E9}"/>
              </a:ext>
            </a:extLst>
          </p:cNvPr>
          <p:cNvSpPr txBox="1"/>
          <p:nvPr/>
        </p:nvSpPr>
        <p:spPr>
          <a:xfrm>
            <a:off x="7895949" y="5225226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003D00F9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86AC7A1-0E32-63C3-55D9-94F8F42D8CC8}"/>
              </a:ext>
            </a:extLst>
          </p:cNvPr>
          <p:cNvSpPr txBox="1"/>
          <p:nvPr/>
        </p:nvSpPr>
        <p:spPr>
          <a:xfrm>
            <a:off x="7892624" y="4935956"/>
            <a:ext cx="1165596" cy="343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003D00FD</a:t>
            </a:r>
            <a:endParaRPr lang="en-CA" sz="1600" b="1" dirty="0">
              <a:solidFill>
                <a:srgbClr val="7030A0"/>
              </a:solidFill>
            </a:endParaRPr>
          </a:p>
          <a:p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DBAEDED-D032-8801-8BE5-4FA9314EED63}"/>
              </a:ext>
            </a:extLst>
          </p:cNvPr>
          <p:cNvSpPr txBox="1"/>
          <p:nvPr/>
        </p:nvSpPr>
        <p:spPr>
          <a:xfrm>
            <a:off x="7892624" y="4642814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003D0101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BA39DAB-F7BD-97D3-E61C-CE33D5001341}"/>
              </a:ext>
            </a:extLst>
          </p:cNvPr>
          <p:cNvSpPr txBox="1"/>
          <p:nvPr/>
        </p:nvSpPr>
        <p:spPr>
          <a:xfrm>
            <a:off x="10642837" y="4874983"/>
            <a:ext cx="1003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“nPtr2” 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24DD1A-4C19-4019-503D-A9DB5423D44F}"/>
              </a:ext>
            </a:extLst>
          </p:cNvPr>
          <p:cNvSpPr txBox="1"/>
          <p:nvPr/>
        </p:nvSpPr>
        <p:spPr>
          <a:xfrm>
            <a:off x="9134180" y="3413216"/>
            <a:ext cx="14277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0x0053A0E0</a:t>
            </a:r>
            <a:endParaRPr lang="en-US" dirty="0">
              <a:solidFill>
                <a:schemeClr val="accent6"/>
              </a:solidFill>
            </a:endParaRP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60819279-2ADE-EFE5-AAAC-3F206C460A77}"/>
              </a:ext>
            </a:extLst>
          </p:cNvPr>
          <p:cNvCxnSpPr>
            <a:cxnSpLocks/>
          </p:cNvCxnSpPr>
          <p:nvPr/>
        </p:nvCxnSpPr>
        <p:spPr>
          <a:xfrm rot="16200000" flipV="1">
            <a:off x="8502001" y="1672735"/>
            <a:ext cx="1950553" cy="1837536"/>
          </a:xfrm>
          <a:prstGeom prst="bentConnector3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0C96B23-1DD3-F462-E272-E04D06050B4F}"/>
              </a:ext>
            </a:extLst>
          </p:cNvPr>
          <p:cNvSpPr txBox="1"/>
          <p:nvPr/>
        </p:nvSpPr>
        <p:spPr>
          <a:xfrm>
            <a:off x="9121292" y="4880428"/>
            <a:ext cx="14277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0x0053A0E0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C31A9FB6-2D00-22B7-450D-B50051F8FDB2}"/>
              </a:ext>
            </a:extLst>
          </p:cNvPr>
          <p:cNvCxnSpPr>
            <a:cxnSpLocks/>
          </p:cNvCxnSpPr>
          <p:nvPr/>
        </p:nvCxnSpPr>
        <p:spPr>
          <a:xfrm rot="16200000" flipV="1">
            <a:off x="6990171" y="2814864"/>
            <a:ext cx="3321610" cy="920573"/>
          </a:xfrm>
          <a:prstGeom prst="bentConnector3">
            <a:avLst>
              <a:gd name="adj1" fmla="val 57907"/>
            </a:avLst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085E5E4-E52F-23CC-CEFD-22EC153E22B0}"/>
              </a:ext>
            </a:extLst>
          </p:cNvPr>
          <p:cNvSpPr txBox="1"/>
          <p:nvPr/>
        </p:nvSpPr>
        <p:spPr>
          <a:xfrm>
            <a:off x="9121292" y="1356574"/>
            <a:ext cx="14277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(int)   0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579FE8-03D5-4CCF-6E05-75F22A91ECCF}"/>
              </a:ext>
            </a:extLst>
          </p:cNvPr>
          <p:cNvSpPr txBox="1"/>
          <p:nvPr/>
        </p:nvSpPr>
        <p:spPr>
          <a:xfrm>
            <a:off x="9115471" y="1355137"/>
            <a:ext cx="14277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(int)   76</a:t>
            </a:r>
            <a:endParaRPr lang="en-US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7533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2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 tmFilter="0, 0; .2, .5; .8, .5; 1, 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250" autoRev="1" fill="hold"/>
                                        <p:tgtEl>
                                          <p:spTgt spid="3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3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8" presetID="26" presetClass="emph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1" animBg="1"/>
      <p:bldP spid="31" grpId="1"/>
      <p:bldP spid="33" grpId="1"/>
      <p:bldP spid="10" grpId="1"/>
      <p:bldP spid="26" grpId="0"/>
      <p:bldP spid="3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671946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altLang="zh-CN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Assigning Values to Pointers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4806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Declared pointer can accept the following values</a:t>
            </a:r>
          </a:p>
          <a:p>
            <a:pPr marL="800100" lvl="1" indent="-342900">
              <a:buFont typeface="+mj-lt"/>
              <a:buAutoNum type="arabicPeriod" startAt="3"/>
            </a:pPr>
            <a:r>
              <a:rPr lang="en-CA" dirty="0"/>
              <a:t>A pointer of the same type – Example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20</a:t>
            </a:fld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20B366-82FE-7C3B-3BF3-01EA3DB78495}"/>
              </a:ext>
            </a:extLst>
          </p:cNvPr>
          <p:cNvSpPr txBox="1"/>
          <p:nvPr/>
        </p:nvSpPr>
        <p:spPr>
          <a:xfrm>
            <a:off x="1405964" y="2355665"/>
            <a:ext cx="5870326" cy="3416320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main(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*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nPtr1 = NULL,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nPtr2 = NULL;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both int pointer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n = 0;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int type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can also do int *nPtr1 = NULL, *nPtr2 = NULL, n;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nPtr1 = &amp;n;</a:t>
            </a: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nPtr2 = nPtr1;</a:t>
            </a: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both *nPtr1 and *nPtr2 are now aliases of n</a:t>
            </a: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  all three can now be interchangeably used</a:t>
            </a:r>
          </a:p>
          <a:p>
            <a:endParaRPr lang="en-US" sz="12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*nPtr2 = 76;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++*nPtr1;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Will be interpreted as ++(*nPtr1);	    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// end of main()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CA799CE-F81E-601A-7FAC-DEA00D5DE842}"/>
              </a:ext>
            </a:extLst>
          </p:cNvPr>
          <p:cNvSpPr/>
          <p:nvPr/>
        </p:nvSpPr>
        <p:spPr>
          <a:xfrm>
            <a:off x="9007448" y="1385982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200" b="1" dirty="0">
              <a:solidFill>
                <a:srgbClr val="7030A0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2FC4F31-74EE-EE4A-DDB4-FD1A030B96AA}"/>
              </a:ext>
            </a:extLst>
          </p:cNvPr>
          <p:cNvSpPr/>
          <p:nvPr/>
        </p:nvSpPr>
        <p:spPr>
          <a:xfrm>
            <a:off x="9007448" y="1104504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??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22B403F-3EB6-7F91-B1D3-C0384E4D95E5}"/>
              </a:ext>
            </a:extLst>
          </p:cNvPr>
          <p:cNvSpPr/>
          <p:nvPr/>
        </p:nvSpPr>
        <p:spPr>
          <a:xfrm>
            <a:off x="9007448" y="1676987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??</a:t>
            </a:r>
            <a:endParaRPr lang="en-CA" sz="1200" b="1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D41541-8D54-95FA-FE80-96AD955BC3E3}"/>
              </a:ext>
            </a:extLst>
          </p:cNvPr>
          <p:cNvSpPr txBox="1"/>
          <p:nvPr/>
        </p:nvSpPr>
        <p:spPr>
          <a:xfrm>
            <a:off x="7884265" y="1692680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0053A0DC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127F15-8932-C778-ECD9-9386892DDCD1}"/>
              </a:ext>
            </a:extLst>
          </p:cNvPr>
          <p:cNvSpPr txBox="1"/>
          <p:nvPr/>
        </p:nvSpPr>
        <p:spPr>
          <a:xfrm>
            <a:off x="7919852" y="1398258"/>
            <a:ext cx="1165596" cy="312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0053A0E0</a:t>
            </a:r>
            <a:endParaRPr lang="en-CA" sz="1600" b="1" dirty="0">
              <a:solidFill>
                <a:srgbClr val="7030A0"/>
              </a:solidFill>
            </a:endParaRPr>
          </a:p>
          <a:p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F821B2-8964-4208-C60F-517A0B1110E0}"/>
              </a:ext>
            </a:extLst>
          </p:cNvPr>
          <p:cNvSpPr txBox="1"/>
          <p:nvPr/>
        </p:nvSpPr>
        <p:spPr>
          <a:xfrm>
            <a:off x="7919852" y="1110268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0053A0E4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7DA781-FE52-448E-C2B4-D0F361BE209F}"/>
              </a:ext>
            </a:extLst>
          </p:cNvPr>
          <p:cNvSpPr txBox="1"/>
          <p:nvPr/>
        </p:nvSpPr>
        <p:spPr>
          <a:xfrm>
            <a:off x="10631153" y="1342437"/>
            <a:ext cx="6966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“n” </a:t>
            </a:r>
            <a:endParaRPr lang="en-US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07D184F-FB08-E31E-3F59-B07F4DB284AD}"/>
              </a:ext>
            </a:extLst>
          </p:cNvPr>
          <p:cNvSpPr/>
          <p:nvPr/>
        </p:nvSpPr>
        <p:spPr>
          <a:xfrm>
            <a:off x="9019132" y="3447239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200" b="1" dirty="0">
              <a:solidFill>
                <a:schemeClr val="accent6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6180FEC-9F25-2F0A-1AE9-B716B4B8CED3}"/>
              </a:ext>
            </a:extLst>
          </p:cNvPr>
          <p:cNvSpPr/>
          <p:nvPr/>
        </p:nvSpPr>
        <p:spPr>
          <a:xfrm>
            <a:off x="9019132" y="3165761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??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83D99CB-71D6-B2C4-48B3-D7BB3ED23A5F}"/>
              </a:ext>
            </a:extLst>
          </p:cNvPr>
          <p:cNvSpPr/>
          <p:nvPr/>
        </p:nvSpPr>
        <p:spPr>
          <a:xfrm>
            <a:off x="9019132" y="3738244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??</a:t>
            </a:r>
            <a:endParaRPr lang="en-CA" sz="1200" b="1" dirty="0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4069B33-B5BA-8790-C5B5-B6F3C160F834}"/>
              </a:ext>
            </a:extLst>
          </p:cNvPr>
          <p:cNvSpPr txBox="1"/>
          <p:nvPr/>
        </p:nvSpPr>
        <p:spPr>
          <a:xfrm>
            <a:off x="7934861" y="3753937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0061F002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D0A61A-C757-1E41-CBBC-AACE214D015E}"/>
              </a:ext>
            </a:extLst>
          </p:cNvPr>
          <p:cNvSpPr txBox="1"/>
          <p:nvPr/>
        </p:nvSpPr>
        <p:spPr>
          <a:xfrm>
            <a:off x="7931536" y="3466666"/>
            <a:ext cx="1165596" cy="284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0061F006</a:t>
            </a:r>
            <a:endParaRPr lang="en-CA" sz="1600" b="1" dirty="0">
              <a:solidFill>
                <a:srgbClr val="7030A0"/>
              </a:solidFill>
            </a:endParaRPr>
          </a:p>
          <a:p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B889CE7-142E-A025-0E99-06459CF463B6}"/>
              </a:ext>
            </a:extLst>
          </p:cNvPr>
          <p:cNvSpPr txBox="1"/>
          <p:nvPr/>
        </p:nvSpPr>
        <p:spPr>
          <a:xfrm>
            <a:off x="7931536" y="3171525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0061F00A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1946B50-D434-E489-158F-CB65B5CDD766}"/>
              </a:ext>
            </a:extLst>
          </p:cNvPr>
          <p:cNvSpPr txBox="1"/>
          <p:nvPr/>
        </p:nvSpPr>
        <p:spPr>
          <a:xfrm>
            <a:off x="10642837" y="3403694"/>
            <a:ext cx="1003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“nPtr1” </a:t>
            </a:r>
            <a:endParaRPr lang="en-US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3F1E619-50DC-D8E2-9A40-A3EA0A4C0B68}"/>
              </a:ext>
            </a:extLst>
          </p:cNvPr>
          <p:cNvSpPr/>
          <p:nvPr/>
        </p:nvSpPr>
        <p:spPr>
          <a:xfrm>
            <a:off x="9019132" y="4918528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200" b="1" dirty="0">
              <a:solidFill>
                <a:schemeClr val="accent6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AA6D9E3-05A5-5906-64FA-54D2700B2FD7}"/>
              </a:ext>
            </a:extLst>
          </p:cNvPr>
          <p:cNvSpPr/>
          <p:nvPr/>
        </p:nvSpPr>
        <p:spPr>
          <a:xfrm>
            <a:off x="9019132" y="4637050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??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1B56430-3B8E-8350-BA82-A9B3DD6D529C}"/>
              </a:ext>
            </a:extLst>
          </p:cNvPr>
          <p:cNvSpPr/>
          <p:nvPr/>
        </p:nvSpPr>
        <p:spPr>
          <a:xfrm>
            <a:off x="9019132" y="5209533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??</a:t>
            </a:r>
            <a:endParaRPr lang="en-CA" sz="1200" b="1" dirty="0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1A0B8E0-4362-0F66-5310-D14A681B99E9}"/>
              </a:ext>
            </a:extLst>
          </p:cNvPr>
          <p:cNvSpPr txBox="1"/>
          <p:nvPr/>
        </p:nvSpPr>
        <p:spPr>
          <a:xfrm>
            <a:off x="7895949" y="5225226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003D00F9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86AC7A1-0E32-63C3-55D9-94F8F42D8CC8}"/>
              </a:ext>
            </a:extLst>
          </p:cNvPr>
          <p:cNvSpPr txBox="1"/>
          <p:nvPr/>
        </p:nvSpPr>
        <p:spPr>
          <a:xfrm>
            <a:off x="7892624" y="4935956"/>
            <a:ext cx="1165596" cy="343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003D00FD</a:t>
            </a:r>
            <a:endParaRPr lang="en-CA" sz="1600" b="1" dirty="0">
              <a:solidFill>
                <a:srgbClr val="7030A0"/>
              </a:solidFill>
            </a:endParaRPr>
          </a:p>
          <a:p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DBAEDED-D032-8801-8BE5-4FA9314EED63}"/>
              </a:ext>
            </a:extLst>
          </p:cNvPr>
          <p:cNvSpPr txBox="1"/>
          <p:nvPr/>
        </p:nvSpPr>
        <p:spPr>
          <a:xfrm>
            <a:off x="7892624" y="4642814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003D0101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BA39DAB-F7BD-97D3-E61C-CE33D5001341}"/>
              </a:ext>
            </a:extLst>
          </p:cNvPr>
          <p:cNvSpPr txBox="1"/>
          <p:nvPr/>
        </p:nvSpPr>
        <p:spPr>
          <a:xfrm>
            <a:off x="10642837" y="4874983"/>
            <a:ext cx="1003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“nPtr2” 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24DD1A-4C19-4019-503D-A9DB5423D44F}"/>
              </a:ext>
            </a:extLst>
          </p:cNvPr>
          <p:cNvSpPr txBox="1"/>
          <p:nvPr/>
        </p:nvSpPr>
        <p:spPr>
          <a:xfrm>
            <a:off x="9134180" y="3413216"/>
            <a:ext cx="14277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0x0053A0E0</a:t>
            </a:r>
            <a:endParaRPr lang="en-US" dirty="0">
              <a:solidFill>
                <a:schemeClr val="accent6"/>
              </a:solidFill>
            </a:endParaRP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60819279-2ADE-EFE5-AAAC-3F206C460A77}"/>
              </a:ext>
            </a:extLst>
          </p:cNvPr>
          <p:cNvCxnSpPr>
            <a:cxnSpLocks/>
          </p:cNvCxnSpPr>
          <p:nvPr/>
        </p:nvCxnSpPr>
        <p:spPr>
          <a:xfrm rot="16200000" flipV="1">
            <a:off x="8502001" y="1672735"/>
            <a:ext cx="1950553" cy="1837536"/>
          </a:xfrm>
          <a:prstGeom prst="bentConnector3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0C96B23-1DD3-F462-E272-E04D06050B4F}"/>
              </a:ext>
            </a:extLst>
          </p:cNvPr>
          <p:cNvSpPr txBox="1"/>
          <p:nvPr/>
        </p:nvSpPr>
        <p:spPr>
          <a:xfrm>
            <a:off x="9121292" y="4880428"/>
            <a:ext cx="14277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0x0053A0E0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C31A9FB6-2D00-22B7-450D-B50051F8FDB2}"/>
              </a:ext>
            </a:extLst>
          </p:cNvPr>
          <p:cNvCxnSpPr>
            <a:cxnSpLocks/>
          </p:cNvCxnSpPr>
          <p:nvPr/>
        </p:nvCxnSpPr>
        <p:spPr>
          <a:xfrm rot="16200000" flipV="1">
            <a:off x="6990171" y="2814864"/>
            <a:ext cx="3321610" cy="920573"/>
          </a:xfrm>
          <a:prstGeom prst="bentConnector3">
            <a:avLst>
              <a:gd name="adj1" fmla="val 57907"/>
            </a:avLst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B633DCC4-072E-7B34-CDA4-FB1613726620}"/>
              </a:ext>
            </a:extLst>
          </p:cNvPr>
          <p:cNvSpPr txBox="1"/>
          <p:nvPr/>
        </p:nvSpPr>
        <p:spPr>
          <a:xfrm>
            <a:off x="9115471" y="1355137"/>
            <a:ext cx="14277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(int)   76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4F618BC-A455-C083-2BA7-74492377579A}"/>
              </a:ext>
            </a:extLst>
          </p:cNvPr>
          <p:cNvSpPr txBox="1"/>
          <p:nvPr/>
        </p:nvSpPr>
        <p:spPr>
          <a:xfrm>
            <a:off x="9109606" y="1353173"/>
            <a:ext cx="14277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(int)   77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7" name="Speech Bubble: Rectangle 36">
            <a:extLst>
              <a:ext uri="{FF2B5EF4-FFF2-40B4-BE49-F238E27FC236}">
                <a16:creationId xmlns:a16="http://schemas.microsoft.com/office/drawing/2014/main" id="{8F15E3D2-B8A8-1F7E-F855-A81A99527304}"/>
              </a:ext>
            </a:extLst>
          </p:cNvPr>
          <p:cNvSpPr/>
          <p:nvPr/>
        </p:nvSpPr>
        <p:spPr>
          <a:xfrm>
            <a:off x="3602802" y="5229857"/>
            <a:ext cx="4025899" cy="703076"/>
          </a:xfrm>
          <a:prstGeom prst="wedgeRectCallout">
            <a:avLst>
              <a:gd name="adj1" fmla="val -72131"/>
              <a:gd name="adj2" fmla="val -65062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Unary operators have the same precedence level and associated Right-to-Left</a:t>
            </a:r>
            <a:endParaRPr 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2487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8" presetID="26" presetClass="emp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3" grpId="0"/>
      <p:bldP spid="25" grpId="0"/>
      <p:bldP spid="2" grpId="0"/>
      <p:bldP spid="35" grpId="0"/>
      <p:bldP spid="36" grpId="0"/>
      <p:bldP spid="3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671946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altLang="zh-CN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Assigning Values to Pointers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4806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Declared pointer can accept the following values</a:t>
            </a:r>
          </a:p>
          <a:p>
            <a:pPr marL="800100" lvl="1" indent="-342900">
              <a:buFont typeface="+mj-lt"/>
              <a:buAutoNum type="arabicPeriod" startAt="3"/>
            </a:pPr>
            <a:r>
              <a:rPr lang="en-CA" dirty="0"/>
              <a:t>A pointer of the same type – Example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21</a:t>
            </a:fld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20B366-82FE-7C3B-3BF3-01EA3DB78495}"/>
              </a:ext>
            </a:extLst>
          </p:cNvPr>
          <p:cNvSpPr txBox="1"/>
          <p:nvPr/>
        </p:nvSpPr>
        <p:spPr>
          <a:xfrm>
            <a:off x="1405964" y="2355665"/>
            <a:ext cx="5870326" cy="3416320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main(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*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nPtr1 = NULL,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nPtr2 = NULL;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both int pointer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n = 0;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int type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can also do int *nPtr1 = NULL, *nPtr2 = NULL, n;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nPtr1 = &amp;n;</a:t>
            </a: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nPtr2 = nPtr1;</a:t>
            </a: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both *nPtr1 and *nPtr2 are now aliases of n</a:t>
            </a: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  all three can now be interchangeably used</a:t>
            </a:r>
          </a:p>
          <a:p>
            <a:endParaRPr lang="en-US" sz="12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*nPtr2 = 76;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++*nPtr1;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Will be interpreted as ++(*nPtr1);	    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// end of main()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CA799CE-F81E-601A-7FAC-DEA00D5DE842}"/>
              </a:ext>
            </a:extLst>
          </p:cNvPr>
          <p:cNvSpPr/>
          <p:nvPr/>
        </p:nvSpPr>
        <p:spPr>
          <a:xfrm>
            <a:off x="9007448" y="1385982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200" b="1" dirty="0">
              <a:solidFill>
                <a:srgbClr val="7030A0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2FC4F31-74EE-EE4A-DDB4-FD1A030B96AA}"/>
              </a:ext>
            </a:extLst>
          </p:cNvPr>
          <p:cNvSpPr/>
          <p:nvPr/>
        </p:nvSpPr>
        <p:spPr>
          <a:xfrm>
            <a:off x="9007448" y="1104504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??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22B403F-3EB6-7F91-B1D3-C0384E4D95E5}"/>
              </a:ext>
            </a:extLst>
          </p:cNvPr>
          <p:cNvSpPr/>
          <p:nvPr/>
        </p:nvSpPr>
        <p:spPr>
          <a:xfrm>
            <a:off x="9007448" y="1676987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??</a:t>
            </a:r>
            <a:endParaRPr lang="en-CA" sz="1200" b="1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D41541-8D54-95FA-FE80-96AD955BC3E3}"/>
              </a:ext>
            </a:extLst>
          </p:cNvPr>
          <p:cNvSpPr txBox="1"/>
          <p:nvPr/>
        </p:nvSpPr>
        <p:spPr>
          <a:xfrm>
            <a:off x="7884265" y="1692680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0053A0DC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127F15-8932-C778-ECD9-9386892DDCD1}"/>
              </a:ext>
            </a:extLst>
          </p:cNvPr>
          <p:cNvSpPr txBox="1"/>
          <p:nvPr/>
        </p:nvSpPr>
        <p:spPr>
          <a:xfrm>
            <a:off x="7919852" y="1398258"/>
            <a:ext cx="1165596" cy="312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0053A0E0</a:t>
            </a:r>
            <a:endParaRPr lang="en-CA" sz="1600" b="1" dirty="0">
              <a:solidFill>
                <a:srgbClr val="7030A0"/>
              </a:solidFill>
            </a:endParaRPr>
          </a:p>
          <a:p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F821B2-8964-4208-C60F-517A0B1110E0}"/>
              </a:ext>
            </a:extLst>
          </p:cNvPr>
          <p:cNvSpPr txBox="1"/>
          <p:nvPr/>
        </p:nvSpPr>
        <p:spPr>
          <a:xfrm>
            <a:off x="7919852" y="1110268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0053A0E4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7DA781-FE52-448E-C2B4-D0F361BE209F}"/>
              </a:ext>
            </a:extLst>
          </p:cNvPr>
          <p:cNvSpPr txBox="1"/>
          <p:nvPr/>
        </p:nvSpPr>
        <p:spPr>
          <a:xfrm>
            <a:off x="10631153" y="1342437"/>
            <a:ext cx="6966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“n” </a:t>
            </a:r>
            <a:endParaRPr lang="en-US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07D184F-FB08-E31E-3F59-B07F4DB284AD}"/>
              </a:ext>
            </a:extLst>
          </p:cNvPr>
          <p:cNvSpPr/>
          <p:nvPr/>
        </p:nvSpPr>
        <p:spPr>
          <a:xfrm>
            <a:off x="9019132" y="3447239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200" b="1" dirty="0">
              <a:solidFill>
                <a:schemeClr val="accent6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6180FEC-9F25-2F0A-1AE9-B716B4B8CED3}"/>
              </a:ext>
            </a:extLst>
          </p:cNvPr>
          <p:cNvSpPr/>
          <p:nvPr/>
        </p:nvSpPr>
        <p:spPr>
          <a:xfrm>
            <a:off x="9019132" y="3165761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??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83D99CB-71D6-B2C4-48B3-D7BB3ED23A5F}"/>
              </a:ext>
            </a:extLst>
          </p:cNvPr>
          <p:cNvSpPr/>
          <p:nvPr/>
        </p:nvSpPr>
        <p:spPr>
          <a:xfrm>
            <a:off x="9019132" y="3738244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??</a:t>
            </a:r>
            <a:endParaRPr lang="en-CA" sz="1200" b="1" dirty="0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4069B33-B5BA-8790-C5B5-B6F3C160F834}"/>
              </a:ext>
            </a:extLst>
          </p:cNvPr>
          <p:cNvSpPr txBox="1"/>
          <p:nvPr/>
        </p:nvSpPr>
        <p:spPr>
          <a:xfrm>
            <a:off x="7934861" y="3753937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0061F002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D0A61A-C757-1E41-CBBC-AACE214D015E}"/>
              </a:ext>
            </a:extLst>
          </p:cNvPr>
          <p:cNvSpPr txBox="1"/>
          <p:nvPr/>
        </p:nvSpPr>
        <p:spPr>
          <a:xfrm>
            <a:off x="7931536" y="3466666"/>
            <a:ext cx="1165596" cy="284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0061F006</a:t>
            </a:r>
            <a:endParaRPr lang="en-CA" sz="1600" b="1" dirty="0">
              <a:solidFill>
                <a:srgbClr val="7030A0"/>
              </a:solidFill>
            </a:endParaRPr>
          </a:p>
          <a:p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B889CE7-142E-A025-0E99-06459CF463B6}"/>
              </a:ext>
            </a:extLst>
          </p:cNvPr>
          <p:cNvSpPr txBox="1"/>
          <p:nvPr/>
        </p:nvSpPr>
        <p:spPr>
          <a:xfrm>
            <a:off x="7931536" y="3171525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0061F00A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1946B50-D434-E489-158F-CB65B5CDD766}"/>
              </a:ext>
            </a:extLst>
          </p:cNvPr>
          <p:cNvSpPr txBox="1"/>
          <p:nvPr/>
        </p:nvSpPr>
        <p:spPr>
          <a:xfrm>
            <a:off x="10642837" y="3403694"/>
            <a:ext cx="1003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“nPtr1” </a:t>
            </a:r>
            <a:endParaRPr lang="en-US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3F1E619-50DC-D8E2-9A40-A3EA0A4C0B68}"/>
              </a:ext>
            </a:extLst>
          </p:cNvPr>
          <p:cNvSpPr/>
          <p:nvPr/>
        </p:nvSpPr>
        <p:spPr>
          <a:xfrm>
            <a:off x="9019132" y="4918528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200" b="1" dirty="0">
              <a:solidFill>
                <a:schemeClr val="accent6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AA6D9E3-05A5-5906-64FA-54D2700B2FD7}"/>
              </a:ext>
            </a:extLst>
          </p:cNvPr>
          <p:cNvSpPr/>
          <p:nvPr/>
        </p:nvSpPr>
        <p:spPr>
          <a:xfrm>
            <a:off x="9019132" y="4637050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??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1B56430-3B8E-8350-BA82-A9B3DD6D529C}"/>
              </a:ext>
            </a:extLst>
          </p:cNvPr>
          <p:cNvSpPr/>
          <p:nvPr/>
        </p:nvSpPr>
        <p:spPr>
          <a:xfrm>
            <a:off x="9019132" y="5209533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??</a:t>
            </a:r>
            <a:endParaRPr lang="en-CA" sz="1200" b="1" dirty="0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1A0B8E0-4362-0F66-5310-D14A681B99E9}"/>
              </a:ext>
            </a:extLst>
          </p:cNvPr>
          <p:cNvSpPr txBox="1"/>
          <p:nvPr/>
        </p:nvSpPr>
        <p:spPr>
          <a:xfrm>
            <a:off x="7895949" y="5225226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003D00F9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86AC7A1-0E32-63C3-55D9-94F8F42D8CC8}"/>
              </a:ext>
            </a:extLst>
          </p:cNvPr>
          <p:cNvSpPr txBox="1"/>
          <p:nvPr/>
        </p:nvSpPr>
        <p:spPr>
          <a:xfrm>
            <a:off x="7892624" y="4935956"/>
            <a:ext cx="1165596" cy="343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003D00FD</a:t>
            </a:r>
            <a:endParaRPr lang="en-CA" sz="1600" b="1" dirty="0">
              <a:solidFill>
                <a:srgbClr val="7030A0"/>
              </a:solidFill>
            </a:endParaRPr>
          </a:p>
          <a:p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DBAEDED-D032-8801-8BE5-4FA9314EED63}"/>
              </a:ext>
            </a:extLst>
          </p:cNvPr>
          <p:cNvSpPr txBox="1"/>
          <p:nvPr/>
        </p:nvSpPr>
        <p:spPr>
          <a:xfrm>
            <a:off x="7892624" y="4642814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003D0101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BA39DAB-F7BD-97D3-E61C-CE33D5001341}"/>
              </a:ext>
            </a:extLst>
          </p:cNvPr>
          <p:cNvSpPr txBox="1"/>
          <p:nvPr/>
        </p:nvSpPr>
        <p:spPr>
          <a:xfrm>
            <a:off x="10642837" y="4874983"/>
            <a:ext cx="1003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“nPtr2” 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24DD1A-4C19-4019-503D-A9DB5423D44F}"/>
              </a:ext>
            </a:extLst>
          </p:cNvPr>
          <p:cNvSpPr txBox="1"/>
          <p:nvPr/>
        </p:nvSpPr>
        <p:spPr>
          <a:xfrm>
            <a:off x="9134180" y="3413216"/>
            <a:ext cx="14277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0x0053A0E0</a:t>
            </a:r>
            <a:endParaRPr lang="en-US" dirty="0">
              <a:solidFill>
                <a:schemeClr val="accent6"/>
              </a:solidFill>
            </a:endParaRP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60819279-2ADE-EFE5-AAAC-3F206C460A77}"/>
              </a:ext>
            </a:extLst>
          </p:cNvPr>
          <p:cNvCxnSpPr>
            <a:cxnSpLocks/>
          </p:cNvCxnSpPr>
          <p:nvPr/>
        </p:nvCxnSpPr>
        <p:spPr>
          <a:xfrm rot="16200000" flipV="1">
            <a:off x="8502001" y="1672735"/>
            <a:ext cx="1950553" cy="1837536"/>
          </a:xfrm>
          <a:prstGeom prst="bentConnector3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0C96B23-1DD3-F462-E272-E04D06050B4F}"/>
              </a:ext>
            </a:extLst>
          </p:cNvPr>
          <p:cNvSpPr txBox="1"/>
          <p:nvPr/>
        </p:nvSpPr>
        <p:spPr>
          <a:xfrm>
            <a:off x="9121292" y="4880428"/>
            <a:ext cx="14277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0x0053A0E0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C31A9FB6-2D00-22B7-450D-B50051F8FDB2}"/>
              </a:ext>
            </a:extLst>
          </p:cNvPr>
          <p:cNvCxnSpPr>
            <a:cxnSpLocks/>
          </p:cNvCxnSpPr>
          <p:nvPr/>
        </p:nvCxnSpPr>
        <p:spPr>
          <a:xfrm rot="16200000" flipV="1">
            <a:off x="6990171" y="2814864"/>
            <a:ext cx="3321610" cy="920573"/>
          </a:xfrm>
          <a:prstGeom prst="bentConnector3">
            <a:avLst>
              <a:gd name="adj1" fmla="val 57907"/>
            </a:avLst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B633DCC4-072E-7B34-CDA4-FB1613726620}"/>
              </a:ext>
            </a:extLst>
          </p:cNvPr>
          <p:cNvSpPr txBox="1"/>
          <p:nvPr/>
        </p:nvSpPr>
        <p:spPr>
          <a:xfrm>
            <a:off x="9115471" y="1355137"/>
            <a:ext cx="14277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(int)   77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3FB7EF1-EBE1-0411-6688-45FA0E2848F8}"/>
              </a:ext>
            </a:extLst>
          </p:cNvPr>
          <p:cNvSpPr/>
          <p:nvPr/>
        </p:nvSpPr>
        <p:spPr>
          <a:xfrm>
            <a:off x="5351520" y="5498657"/>
            <a:ext cx="2252393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L7Ex4-PtrAssign.c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4665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965375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Passing Pointers into a Function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5" y="1563637"/>
            <a:ext cx="10237421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Pass-by-Value Mode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All parameters are passed into function </a:t>
            </a:r>
            <a:r>
              <a:rPr lang="en-CA" b="1" i="1" dirty="0"/>
              <a:t>by value</a:t>
            </a:r>
            <a:r>
              <a:rPr lang="en-CA" dirty="0"/>
              <a:t> (copied)</a:t>
            </a:r>
            <a:endParaRPr lang="en-CA" sz="22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Modifications on the values only reflect on the copied values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Passing Pointers into a Function is – by value too!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Nevertheless, the value of a pointer is the address of a variable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Thus, by applying the dereferencing operator on this address within the function…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sz="2400" b="1" dirty="0">
                <a:solidFill>
                  <a:schemeClr val="accent6"/>
                </a:solidFill>
              </a:rPr>
              <a:t>We can modify the Genuine Value of the pointed variable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22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200" dirty="0"/>
              <a:t>This is known as </a:t>
            </a:r>
            <a:r>
              <a:rPr lang="en-CA" sz="2200" b="1" dirty="0">
                <a:solidFill>
                  <a:srgbClr val="0000FF"/>
                </a:solidFill>
              </a:rPr>
              <a:t>Pass-by-Reference Mode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The address of the variable is copied into the function instead of its value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With the address, the function can directly access the memory location of a variable (by *)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dirty="0"/>
              <a:t>All modifications on the value will then be applied onto the original variable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2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22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22</a:t>
            </a:fld>
            <a:endParaRPr lang="en-CA" dirty="0"/>
          </a:p>
        </p:txBody>
      </p:sp>
      <p:sp>
        <p:nvSpPr>
          <p:cNvPr id="2" name="Speech Bubble: Rectangle 1">
            <a:extLst>
              <a:ext uri="{FF2B5EF4-FFF2-40B4-BE49-F238E27FC236}">
                <a16:creationId xmlns:a16="http://schemas.microsoft.com/office/drawing/2014/main" id="{B1CCA673-C629-50E6-31CE-23F83976C8D1}"/>
              </a:ext>
            </a:extLst>
          </p:cNvPr>
          <p:cNvSpPr/>
          <p:nvPr/>
        </p:nvSpPr>
        <p:spPr>
          <a:xfrm>
            <a:off x="8599250" y="1354730"/>
            <a:ext cx="2896064" cy="1784460"/>
          </a:xfrm>
          <a:prstGeom prst="wedgeRectCallout">
            <a:avLst>
              <a:gd name="adj1" fmla="val 2216"/>
              <a:gd name="adj2" fmla="val 145938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C’s way to </a:t>
            </a:r>
            <a:r>
              <a:rPr lang="en-US" sz="1600" b="1" dirty="0">
                <a:solidFill>
                  <a:schemeClr val="tx1"/>
                </a:solidFill>
              </a:rPr>
              <a:t>“simulate“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b="1" dirty="0">
                <a:solidFill>
                  <a:schemeClr val="tx1"/>
                </a:solidFill>
              </a:rPr>
              <a:t>Pass-by-Reference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(This is actually </a:t>
            </a:r>
            <a:r>
              <a:rPr lang="en-US" sz="1600" b="1" dirty="0">
                <a:solidFill>
                  <a:schemeClr val="tx1"/>
                </a:solidFill>
              </a:rPr>
              <a:t>Pass-by-Pointer</a:t>
            </a:r>
            <a:r>
              <a:rPr lang="en-US" sz="1600" dirty="0">
                <a:solidFill>
                  <a:schemeClr val="tx1"/>
                </a:solidFill>
              </a:rPr>
              <a:t>)</a:t>
            </a: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C++ has a more intuitive 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Pass-by-Reference setup</a:t>
            </a:r>
            <a:endParaRPr 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2270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965375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Pass by Reference – Using Pointer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5" y="1563637"/>
            <a:ext cx="10237421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Example – Swapping 2 Variables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Setup – Two variables in main() and a swap() function</a:t>
            </a:r>
            <a:endParaRPr lang="en-CA" sz="22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End Result – Pass two variables into swap() using pass-by-reference, </a:t>
            </a:r>
            <a:br>
              <a:rPr lang="en-CA" dirty="0"/>
            </a:br>
            <a:r>
              <a:rPr lang="en-CA" dirty="0"/>
              <a:t> 		    Two values swapped in main() after swap() completed</a:t>
            </a:r>
            <a:endParaRPr lang="en-CA" sz="22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23</a:t>
            </a:fld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BD3F44-1B2A-B350-ACA1-616B4C8E757B}"/>
              </a:ext>
            </a:extLst>
          </p:cNvPr>
          <p:cNvSpPr txBox="1"/>
          <p:nvPr/>
        </p:nvSpPr>
        <p:spPr>
          <a:xfrm>
            <a:off x="803471" y="3243781"/>
            <a:ext cx="2363092" cy="1523494"/>
          </a:xfrm>
          <a:prstGeom prst="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main(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a = 100;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b = 200;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swap two vars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swap( </a:t>
            </a:r>
            <a:r>
              <a:rPr lang="en-US" sz="16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a, </a:t>
            </a:r>
            <a:r>
              <a:rPr lang="en-US" sz="16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b 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1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5F2F670-488C-8850-DCD5-8205AFD26479}"/>
              </a:ext>
            </a:extLst>
          </p:cNvPr>
          <p:cNvSpPr/>
          <p:nvPr/>
        </p:nvSpPr>
        <p:spPr>
          <a:xfrm>
            <a:off x="3928452" y="3901878"/>
            <a:ext cx="654285" cy="318035"/>
          </a:xfrm>
          <a:prstGeom prst="roundRect">
            <a:avLst/>
          </a:prstGeom>
          <a:noFill/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rgbClr val="7F1F1F"/>
                </a:solidFill>
              </a:rPr>
              <a:t>200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22EFB41-C3A0-A1E5-F2D9-36C0D1E2A16E}"/>
              </a:ext>
            </a:extLst>
          </p:cNvPr>
          <p:cNvSpPr/>
          <p:nvPr/>
        </p:nvSpPr>
        <p:spPr>
          <a:xfrm>
            <a:off x="3925404" y="4219890"/>
            <a:ext cx="654285" cy="318035"/>
          </a:xfrm>
          <a:prstGeom prst="roundRect">
            <a:avLst/>
          </a:prstGeom>
          <a:noFill/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rgbClr val="7F1F1F"/>
                </a:solidFill>
              </a:rPr>
              <a:t>100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1C87F5-D667-BA52-9566-0701FD431128}"/>
              </a:ext>
            </a:extLst>
          </p:cNvPr>
          <p:cNvSpPr txBox="1"/>
          <p:nvPr/>
        </p:nvSpPr>
        <p:spPr>
          <a:xfrm>
            <a:off x="3484061" y="3306883"/>
            <a:ext cx="1028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7F1F1F"/>
                </a:solidFill>
              </a:rPr>
              <a:t>Memory</a:t>
            </a:r>
            <a:endParaRPr lang="en-US" sz="1600" dirty="0">
              <a:solidFill>
                <a:srgbClr val="7F1F1F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23051F-B33C-66FD-3D22-A366B2BF72A9}"/>
              </a:ext>
            </a:extLst>
          </p:cNvPr>
          <p:cNvSpPr txBox="1"/>
          <p:nvPr/>
        </p:nvSpPr>
        <p:spPr>
          <a:xfrm>
            <a:off x="4545268" y="4129351"/>
            <a:ext cx="257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F1F1F"/>
                </a:solidFill>
              </a:rPr>
              <a:t>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D3A12C-8EB1-1225-5EEE-3032EC60C6C2}"/>
              </a:ext>
            </a:extLst>
          </p:cNvPr>
          <p:cNvSpPr txBox="1"/>
          <p:nvPr/>
        </p:nvSpPr>
        <p:spPr>
          <a:xfrm>
            <a:off x="4545268" y="3798119"/>
            <a:ext cx="257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F1F1F"/>
                </a:solidFill>
              </a:rPr>
              <a:t>b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8CF257-4FB2-2280-8034-CC9511CF3B2B}"/>
              </a:ext>
            </a:extLst>
          </p:cNvPr>
          <p:cNvSpPr txBox="1"/>
          <p:nvPr/>
        </p:nvSpPr>
        <p:spPr>
          <a:xfrm>
            <a:off x="3195747" y="4220533"/>
            <a:ext cx="796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5AE4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D025FD-AB01-BF8C-4D55-E2742A59EF17}"/>
              </a:ext>
            </a:extLst>
          </p:cNvPr>
          <p:cNvSpPr txBox="1"/>
          <p:nvPr/>
        </p:nvSpPr>
        <p:spPr>
          <a:xfrm>
            <a:off x="3202229" y="3896279"/>
            <a:ext cx="796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5AE8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88046B9-9B47-B71A-6148-F6CB9CC9D212}"/>
              </a:ext>
            </a:extLst>
          </p:cNvPr>
          <p:cNvSpPr/>
          <p:nvPr/>
        </p:nvSpPr>
        <p:spPr>
          <a:xfrm>
            <a:off x="1858519" y="4155330"/>
            <a:ext cx="920015" cy="19102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Speech Bubble: Rectangle 18">
            <a:extLst>
              <a:ext uri="{FF2B5EF4-FFF2-40B4-BE49-F238E27FC236}">
                <a16:creationId xmlns:a16="http://schemas.microsoft.com/office/drawing/2014/main" id="{8FFAC0DC-D44A-62A5-3BB6-4054759AB68D}"/>
              </a:ext>
            </a:extLst>
          </p:cNvPr>
          <p:cNvSpPr/>
          <p:nvPr/>
        </p:nvSpPr>
        <p:spPr>
          <a:xfrm>
            <a:off x="803472" y="4980695"/>
            <a:ext cx="1808530" cy="313668"/>
          </a:xfrm>
          <a:prstGeom prst="wedgeRectCallout">
            <a:avLst>
              <a:gd name="adj1" fmla="val 34673"/>
              <a:gd name="adj2" fmla="val -214007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Pass the addresses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2A5E94-065B-DC54-E9F8-390C180A015A}"/>
              </a:ext>
            </a:extLst>
          </p:cNvPr>
          <p:cNvSpPr txBox="1"/>
          <p:nvPr/>
        </p:nvSpPr>
        <p:spPr>
          <a:xfrm>
            <a:off x="7873210" y="3287771"/>
            <a:ext cx="3235780" cy="138499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swap(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*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xPtr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*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yPtr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temp;</a:t>
            </a:r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693670-6D4A-C2A1-AB8E-86D86597A617}"/>
              </a:ext>
            </a:extLst>
          </p:cNvPr>
          <p:cNvSpPr txBox="1"/>
          <p:nvPr/>
        </p:nvSpPr>
        <p:spPr>
          <a:xfrm>
            <a:off x="5719681" y="3007892"/>
            <a:ext cx="12956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Temp Mem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11B75EA-B83A-3EDB-BA56-2603478712F4}"/>
              </a:ext>
            </a:extLst>
          </p:cNvPr>
          <p:cNvSpPr/>
          <p:nvPr/>
        </p:nvSpPr>
        <p:spPr>
          <a:xfrm>
            <a:off x="5787812" y="3893691"/>
            <a:ext cx="1159106" cy="318035"/>
          </a:xfrm>
          <a:prstGeom prst="round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b="1" dirty="0">
              <a:solidFill>
                <a:schemeClr val="accent1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9D9847C-2DCD-931D-2219-05C6F74BB7C1}"/>
              </a:ext>
            </a:extLst>
          </p:cNvPr>
          <p:cNvSpPr/>
          <p:nvPr/>
        </p:nvSpPr>
        <p:spPr>
          <a:xfrm>
            <a:off x="5784764" y="4211703"/>
            <a:ext cx="1159106" cy="318035"/>
          </a:xfrm>
          <a:prstGeom prst="round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b="1" dirty="0">
              <a:solidFill>
                <a:schemeClr val="accent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BB1B6E4-C608-C5A9-A7FD-104F877D2FB5}"/>
              </a:ext>
            </a:extLst>
          </p:cNvPr>
          <p:cNvSpPr txBox="1"/>
          <p:nvPr/>
        </p:nvSpPr>
        <p:spPr>
          <a:xfrm>
            <a:off x="5277818" y="4202750"/>
            <a:ext cx="6461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solidFill>
                  <a:schemeClr val="accent1"/>
                </a:solidFill>
              </a:rPr>
              <a:t>xPtr</a:t>
            </a:r>
            <a:endParaRPr lang="en-US" sz="1600" b="1" dirty="0">
              <a:solidFill>
                <a:schemeClr val="accent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9D21EEA-B788-B8BE-F7D0-50A9E10955AF}"/>
              </a:ext>
            </a:extLst>
          </p:cNvPr>
          <p:cNvSpPr txBox="1"/>
          <p:nvPr/>
        </p:nvSpPr>
        <p:spPr>
          <a:xfrm>
            <a:off x="5271923" y="3834312"/>
            <a:ext cx="5555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solidFill>
                  <a:schemeClr val="accent1"/>
                </a:solidFill>
              </a:rPr>
              <a:t>yPtr</a:t>
            </a:r>
            <a:endParaRPr lang="en-US" sz="1600" b="1" dirty="0">
              <a:solidFill>
                <a:schemeClr val="accent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D7F33F4-D334-FAD8-622F-D956A87624FE}"/>
              </a:ext>
            </a:extLst>
          </p:cNvPr>
          <p:cNvSpPr txBox="1"/>
          <p:nvPr/>
        </p:nvSpPr>
        <p:spPr>
          <a:xfrm>
            <a:off x="6928445" y="4198567"/>
            <a:ext cx="796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83B1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8B0C080-19BB-9297-609C-186A28229FF9}"/>
              </a:ext>
            </a:extLst>
          </p:cNvPr>
          <p:cNvSpPr txBox="1"/>
          <p:nvPr/>
        </p:nvSpPr>
        <p:spPr>
          <a:xfrm>
            <a:off x="6934927" y="3874313"/>
            <a:ext cx="796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83B5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49B7185-55CB-9AFD-56C1-65CBD5F26E91}"/>
              </a:ext>
            </a:extLst>
          </p:cNvPr>
          <p:cNvSpPr/>
          <p:nvPr/>
        </p:nvSpPr>
        <p:spPr>
          <a:xfrm>
            <a:off x="8898102" y="3322049"/>
            <a:ext cx="1977421" cy="219046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5" name="Speech Bubble: Rectangle 34">
            <a:extLst>
              <a:ext uri="{FF2B5EF4-FFF2-40B4-BE49-F238E27FC236}">
                <a16:creationId xmlns:a16="http://schemas.microsoft.com/office/drawing/2014/main" id="{00DB95D4-E0FD-2751-3B31-9FC509EF5802}"/>
              </a:ext>
            </a:extLst>
          </p:cNvPr>
          <p:cNvSpPr/>
          <p:nvPr/>
        </p:nvSpPr>
        <p:spPr>
          <a:xfrm>
            <a:off x="8772590" y="2565791"/>
            <a:ext cx="2668907" cy="313668"/>
          </a:xfrm>
          <a:prstGeom prst="wedgeRectCallout">
            <a:avLst>
              <a:gd name="adj1" fmla="val -37528"/>
              <a:gd name="adj2" fmla="val 173651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Catch addresses with Pointers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82DFD13-89CE-A4CF-E699-D6D0570D2502}"/>
              </a:ext>
            </a:extLst>
          </p:cNvPr>
          <p:cNvSpPr txBox="1"/>
          <p:nvPr/>
        </p:nvSpPr>
        <p:spPr>
          <a:xfrm>
            <a:off x="3094169" y="4187813"/>
            <a:ext cx="9986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0x 5AE4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75548A37-F65C-4286-75FE-3A6EE24EB202}"/>
              </a:ext>
            </a:extLst>
          </p:cNvPr>
          <p:cNvSpPr/>
          <p:nvPr/>
        </p:nvSpPr>
        <p:spPr>
          <a:xfrm flipH="1">
            <a:off x="4660903" y="4437935"/>
            <a:ext cx="1045829" cy="939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7F07DC4-CFB9-EEAA-C150-CC58DFD1E4EC}"/>
              </a:ext>
            </a:extLst>
          </p:cNvPr>
          <p:cNvSpPr txBox="1"/>
          <p:nvPr/>
        </p:nvSpPr>
        <p:spPr>
          <a:xfrm>
            <a:off x="3097979" y="3873869"/>
            <a:ext cx="9986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0x 5AE8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44F656FA-E795-F132-5527-7316BA2A85AF}"/>
              </a:ext>
            </a:extLst>
          </p:cNvPr>
          <p:cNvSpPr/>
          <p:nvPr/>
        </p:nvSpPr>
        <p:spPr>
          <a:xfrm flipH="1">
            <a:off x="4664713" y="4100369"/>
            <a:ext cx="1045829" cy="939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Speech Bubble: Rectangle 39">
            <a:extLst>
              <a:ext uri="{FF2B5EF4-FFF2-40B4-BE49-F238E27FC236}">
                <a16:creationId xmlns:a16="http://schemas.microsoft.com/office/drawing/2014/main" id="{748BD724-C8A0-7831-50D9-E860D4250FCB}"/>
              </a:ext>
            </a:extLst>
          </p:cNvPr>
          <p:cNvSpPr/>
          <p:nvPr/>
        </p:nvSpPr>
        <p:spPr>
          <a:xfrm>
            <a:off x="9352148" y="1517443"/>
            <a:ext cx="1315315" cy="849889"/>
          </a:xfrm>
          <a:prstGeom prst="wedgeRectCallout">
            <a:avLst>
              <a:gd name="adj1" fmla="val -5062"/>
              <a:gd name="adj2" fmla="val 73795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u="sng" dirty="0">
                <a:solidFill>
                  <a:schemeClr val="tx1"/>
                </a:solidFill>
              </a:rPr>
              <a:t>Equivalence</a:t>
            </a:r>
          </a:p>
          <a:p>
            <a:r>
              <a:rPr lang="en-US" sz="1400" dirty="0" err="1">
                <a:solidFill>
                  <a:schemeClr val="tx1"/>
                </a:solidFill>
                <a:latin typeface="Courier"/>
              </a:rPr>
              <a:t>xPtr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 = &amp;a; </a:t>
            </a:r>
            <a:br>
              <a:rPr lang="en-US" sz="1400" dirty="0">
                <a:solidFill>
                  <a:schemeClr val="tx1"/>
                </a:solidFill>
                <a:latin typeface="Courier"/>
              </a:rPr>
            </a:br>
            <a:r>
              <a:rPr lang="en-US" sz="1400" dirty="0" err="1">
                <a:solidFill>
                  <a:schemeClr val="tx1"/>
                </a:solidFill>
                <a:latin typeface="Courier"/>
              </a:rPr>
              <a:t>yPtr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 = &amp;b;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F1744A2D-FC2D-A4C5-B06C-F25372B3E664}"/>
              </a:ext>
            </a:extLst>
          </p:cNvPr>
          <p:cNvSpPr/>
          <p:nvPr/>
        </p:nvSpPr>
        <p:spPr>
          <a:xfrm>
            <a:off x="5786209" y="3584076"/>
            <a:ext cx="1159106" cy="318035"/>
          </a:xfrm>
          <a:prstGeom prst="round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b="1" dirty="0">
              <a:solidFill>
                <a:schemeClr val="accent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454D712-C013-01B3-AC9B-D71B3AE6E8E8}"/>
              </a:ext>
            </a:extLst>
          </p:cNvPr>
          <p:cNvSpPr txBox="1"/>
          <p:nvPr/>
        </p:nvSpPr>
        <p:spPr>
          <a:xfrm>
            <a:off x="6933324" y="3564698"/>
            <a:ext cx="796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83B9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DA36B73-5A55-7968-40ED-53FA03B11149}"/>
              </a:ext>
            </a:extLst>
          </p:cNvPr>
          <p:cNvSpPr txBox="1"/>
          <p:nvPr/>
        </p:nvSpPr>
        <p:spPr>
          <a:xfrm>
            <a:off x="5202481" y="3531906"/>
            <a:ext cx="6722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/>
                </a:solidFill>
              </a:rPr>
              <a:t>temp</a:t>
            </a:r>
          </a:p>
        </p:txBody>
      </p:sp>
      <p:sp>
        <p:nvSpPr>
          <p:cNvPr id="49" name="Speech Bubble: Rectangle 48">
            <a:extLst>
              <a:ext uri="{FF2B5EF4-FFF2-40B4-BE49-F238E27FC236}">
                <a16:creationId xmlns:a16="http://schemas.microsoft.com/office/drawing/2014/main" id="{B3F7F037-3EC8-8120-6ADB-78A6DD2AD983}"/>
              </a:ext>
            </a:extLst>
          </p:cNvPr>
          <p:cNvSpPr/>
          <p:nvPr/>
        </p:nvSpPr>
        <p:spPr>
          <a:xfrm>
            <a:off x="3600288" y="5057550"/>
            <a:ext cx="4043082" cy="580485"/>
          </a:xfrm>
          <a:prstGeom prst="wedgeRectCallout">
            <a:avLst>
              <a:gd name="adj1" fmla="val -15061"/>
              <a:gd name="adj2" fmla="val -126840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tx1"/>
                </a:solidFill>
                <a:latin typeface="Courier"/>
              </a:rPr>
              <a:t>xPtr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 </a:t>
            </a:r>
            <a:r>
              <a:rPr lang="en-US" sz="1400" dirty="0">
                <a:solidFill>
                  <a:schemeClr val="tx1"/>
                </a:solidFill>
              </a:rPr>
              <a:t>points to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 a </a:t>
            </a:r>
            <a:r>
              <a:rPr lang="en-US" sz="1400" dirty="0">
                <a:solidFill>
                  <a:schemeClr val="tx1"/>
                </a:solidFill>
              </a:rPr>
              <a:t>(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*</a:t>
            </a:r>
            <a:r>
              <a:rPr lang="en-US" sz="1400" dirty="0" err="1">
                <a:solidFill>
                  <a:schemeClr val="tx1"/>
                </a:solidFill>
                <a:latin typeface="Courier"/>
              </a:rPr>
              <a:t>xPtr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 </a:t>
            </a:r>
            <a:r>
              <a:rPr lang="en-US" sz="1400" dirty="0">
                <a:solidFill>
                  <a:schemeClr val="tx1"/>
                </a:solidFill>
              </a:rPr>
              <a:t>is another name of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 a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 </a:t>
            </a:r>
            <a:br>
              <a:rPr lang="en-US" sz="1400" dirty="0">
                <a:solidFill>
                  <a:schemeClr val="tx1"/>
                </a:solidFill>
                <a:latin typeface="Courier"/>
              </a:rPr>
            </a:br>
            <a:r>
              <a:rPr lang="en-US" sz="1400" dirty="0" err="1">
                <a:solidFill>
                  <a:schemeClr val="tx1"/>
                </a:solidFill>
                <a:latin typeface="Courier"/>
              </a:rPr>
              <a:t>yPtr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 </a:t>
            </a:r>
            <a:r>
              <a:rPr lang="en-US" sz="1400" dirty="0">
                <a:solidFill>
                  <a:schemeClr val="tx1"/>
                </a:solidFill>
              </a:rPr>
              <a:t>points to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 b </a:t>
            </a:r>
            <a:r>
              <a:rPr lang="en-US" sz="1400" dirty="0">
                <a:solidFill>
                  <a:schemeClr val="tx1"/>
                </a:solidFill>
              </a:rPr>
              <a:t>(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*</a:t>
            </a:r>
            <a:r>
              <a:rPr lang="en-US" sz="1400" dirty="0" err="1">
                <a:solidFill>
                  <a:schemeClr val="tx1"/>
                </a:solidFill>
                <a:latin typeface="Courier"/>
              </a:rPr>
              <a:t>yPtr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 </a:t>
            </a:r>
            <a:r>
              <a:rPr lang="en-US" sz="1400" dirty="0">
                <a:solidFill>
                  <a:schemeClr val="tx1"/>
                </a:solidFill>
              </a:rPr>
              <a:t>is another name of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 b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12411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2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37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0 L 0.06133 0.04005 C 0.07409 0.04907 0.09323 0.05394 0.11341 0.05394 C 0.13633 0.05394 0.15469 0.04907 0.16745 0.04005 L 0.22891 0 " pathEditMode="relative" rAng="0" ptsTypes="AAAAA">
                                      <p:cBhvr>
                                        <p:cTn id="93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445" y="26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2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37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3.33333E-6 L 0.0612 0.04004 C 0.07396 0.04907 0.0931 0.05393 0.11328 0.05393 C 0.13607 0.05393 0.15443 0.04907 0.16719 0.04004 L 0.22852 3.33333E-6 " pathEditMode="relative" rAng="0" ptsTypes="AAAAA">
                                      <p:cBhvr>
                                        <p:cTn id="102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419" y="26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/>
      <p:bldP spid="12" grpId="0"/>
      <p:bldP spid="14" grpId="0"/>
      <p:bldP spid="16" grpId="0"/>
      <p:bldP spid="17" grpId="0"/>
      <p:bldP spid="18" grpId="0" animBg="1"/>
      <p:bldP spid="19" grpId="0" animBg="1"/>
      <p:bldP spid="21" grpId="0"/>
      <p:bldP spid="23" grpId="0" animBg="1"/>
      <p:bldP spid="24" grpId="0" animBg="1"/>
      <p:bldP spid="25" grpId="0"/>
      <p:bldP spid="26" grpId="0"/>
      <p:bldP spid="32" grpId="0"/>
      <p:bldP spid="33" grpId="0"/>
      <p:bldP spid="34" grpId="0" animBg="1"/>
      <p:bldP spid="35" grpId="0" animBg="1"/>
      <p:bldP spid="36" grpId="0"/>
      <p:bldP spid="36" grpId="1"/>
      <p:bldP spid="37" grpId="0" animBg="1"/>
      <p:bldP spid="38" grpId="0"/>
      <p:bldP spid="38" grpId="1"/>
      <p:bldP spid="39" grpId="0" animBg="1"/>
      <p:bldP spid="40" grpId="0" animBg="1"/>
      <p:bldP spid="41" grpId="0" animBg="1"/>
      <p:bldP spid="42" grpId="0"/>
      <p:bldP spid="43" grpId="0"/>
      <p:bldP spid="4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965375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Pass by Reference – Using Pointer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5" y="1563637"/>
            <a:ext cx="10237421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Example – Swapping 2 Variables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Setup – Two variables in main() and a swap() function</a:t>
            </a:r>
            <a:endParaRPr lang="en-CA" sz="22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End Result – Pass two variables into swap() using pass-by-reference, </a:t>
            </a:r>
            <a:br>
              <a:rPr lang="en-CA" dirty="0"/>
            </a:br>
            <a:r>
              <a:rPr lang="en-CA" dirty="0"/>
              <a:t> 		    Two values swapped in main() after swap() completed</a:t>
            </a:r>
            <a:endParaRPr lang="en-CA" sz="22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24</a:t>
            </a:fld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BD3F44-1B2A-B350-ACA1-616B4C8E757B}"/>
              </a:ext>
            </a:extLst>
          </p:cNvPr>
          <p:cNvSpPr txBox="1"/>
          <p:nvPr/>
        </p:nvSpPr>
        <p:spPr>
          <a:xfrm>
            <a:off x="803471" y="3243781"/>
            <a:ext cx="2363092" cy="1523494"/>
          </a:xfrm>
          <a:prstGeom prst="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main(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a = 100;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b = 200;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swap two vars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swap( </a:t>
            </a:r>
            <a:r>
              <a:rPr lang="en-US" sz="16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a, </a:t>
            </a:r>
            <a:r>
              <a:rPr lang="en-US" sz="16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b 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1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5F2F670-488C-8850-DCD5-8205AFD26479}"/>
              </a:ext>
            </a:extLst>
          </p:cNvPr>
          <p:cNvSpPr/>
          <p:nvPr/>
        </p:nvSpPr>
        <p:spPr>
          <a:xfrm>
            <a:off x="3928452" y="3901878"/>
            <a:ext cx="654285" cy="318035"/>
          </a:xfrm>
          <a:prstGeom prst="roundRect">
            <a:avLst/>
          </a:prstGeom>
          <a:noFill/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rgbClr val="7F1F1F"/>
                </a:solidFill>
              </a:rPr>
              <a:t>200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22EFB41-C3A0-A1E5-F2D9-36C0D1E2A16E}"/>
              </a:ext>
            </a:extLst>
          </p:cNvPr>
          <p:cNvSpPr/>
          <p:nvPr/>
        </p:nvSpPr>
        <p:spPr>
          <a:xfrm>
            <a:off x="3925404" y="4219890"/>
            <a:ext cx="654285" cy="318035"/>
          </a:xfrm>
          <a:prstGeom prst="roundRect">
            <a:avLst/>
          </a:prstGeom>
          <a:noFill/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rgbClr val="7F1F1F"/>
                </a:solidFill>
              </a:rPr>
              <a:t>100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1C87F5-D667-BA52-9566-0701FD431128}"/>
              </a:ext>
            </a:extLst>
          </p:cNvPr>
          <p:cNvSpPr txBox="1"/>
          <p:nvPr/>
        </p:nvSpPr>
        <p:spPr>
          <a:xfrm>
            <a:off x="3484061" y="3306883"/>
            <a:ext cx="1028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7F1F1F"/>
                </a:solidFill>
              </a:rPr>
              <a:t>Memory</a:t>
            </a:r>
            <a:endParaRPr lang="en-US" sz="1600" dirty="0">
              <a:solidFill>
                <a:srgbClr val="7F1F1F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23051F-B33C-66FD-3D22-A366B2BF72A9}"/>
              </a:ext>
            </a:extLst>
          </p:cNvPr>
          <p:cNvSpPr txBox="1"/>
          <p:nvPr/>
        </p:nvSpPr>
        <p:spPr>
          <a:xfrm>
            <a:off x="4545268" y="4113225"/>
            <a:ext cx="257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F1F1F"/>
                </a:solidFill>
              </a:rPr>
              <a:t>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D3A12C-8EB1-1225-5EEE-3032EC60C6C2}"/>
              </a:ext>
            </a:extLst>
          </p:cNvPr>
          <p:cNvSpPr txBox="1"/>
          <p:nvPr/>
        </p:nvSpPr>
        <p:spPr>
          <a:xfrm>
            <a:off x="4545268" y="3796849"/>
            <a:ext cx="257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F1F1F"/>
                </a:solidFill>
              </a:rPr>
              <a:t>b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8CF257-4FB2-2280-8034-CC9511CF3B2B}"/>
              </a:ext>
            </a:extLst>
          </p:cNvPr>
          <p:cNvSpPr txBox="1"/>
          <p:nvPr/>
        </p:nvSpPr>
        <p:spPr>
          <a:xfrm>
            <a:off x="3195747" y="4220533"/>
            <a:ext cx="796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5AE4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D025FD-AB01-BF8C-4D55-E2742A59EF17}"/>
              </a:ext>
            </a:extLst>
          </p:cNvPr>
          <p:cNvSpPr txBox="1"/>
          <p:nvPr/>
        </p:nvSpPr>
        <p:spPr>
          <a:xfrm>
            <a:off x="3202229" y="3896279"/>
            <a:ext cx="796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5AE8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88046B9-9B47-B71A-6148-F6CB9CC9D212}"/>
              </a:ext>
            </a:extLst>
          </p:cNvPr>
          <p:cNvSpPr/>
          <p:nvPr/>
        </p:nvSpPr>
        <p:spPr>
          <a:xfrm>
            <a:off x="1858519" y="4155330"/>
            <a:ext cx="920015" cy="19102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Speech Bubble: Rectangle 18">
            <a:extLst>
              <a:ext uri="{FF2B5EF4-FFF2-40B4-BE49-F238E27FC236}">
                <a16:creationId xmlns:a16="http://schemas.microsoft.com/office/drawing/2014/main" id="{8FFAC0DC-D44A-62A5-3BB6-4054759AB68D}"/>
              </a:ext>
            </a:extLst>
          </p:cNvPr>
          <p:cNvSpPr/>
          <p:nvPr/>
        </p:nvSpPr>
        <p:spPr>
          <a:xfrm>
            <a:off x="803472" y="4980695"/>
            <a:ext cx="1808530" cy="313668"/>
          </a:xfrm>
          <a:prstGeom prst="wedgeRectCallout">
            <a:avLst>
              <a:gd name="adj1" fmla="val 34673"/>
              <a:gd name="adj2" fmla="val -214007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Pass the addresses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2A5E94-065B-DC54-E9F8-390C180A015A}"/>
              </a:ext>
            </a:extLst>
          </p:cNvPr>
          <p:cNvSpPr txBox="1"/>
          <p:nvPr/>
        </p:nvSpPr>
        <p:spPr>
          <a:xfrm>
            <a:off x="7873210" y="3287771"/>
            <a:ext cx="3235780" cy="138499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swap(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*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xPtr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*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yPtr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temp;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temp = *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yPtr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temp = b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endParaRPr lang="en-US" sz="12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693670-6D4A-C2A1-AB8E-86D86597A617}"/>
              </a:ext>
            </a:extLst>
          </p:cNvPr>
          <p:cNvSpPr txBox="1"/>
          <p:nvPr/>
        </p:nvSpPr>
        <p:spPr>
          <a:xfrm>
            <a:off x="5719681" y="3007892"/>
            <a:ext cx="12956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Temp Mem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11B75EA-B83A-3EDB-BA56-2603478712F4}"/>
              </a:ext>
            </a:extLst>
          </p:cNvPr>
          <p:cNvSpPr/>
          <p:nvPr/>
        </p:nvSpPr>
        <p:spPr>
          <a:xfrm>
            <a:off x="5787812" y="3893691"/>
            <a:ext cx="1159106" cy="318035"/>
          </a:xfrm>
          <a:prstGeom prst="round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b="1" dirty="0">
              <a:solidFill>
                <a:schemeClr val="accent1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9D9847C-2DCD-931D-2219-05C6F74BB7C1}"/>
              </a:ext>
            </a:extLst>
          </p:cNvPr>
          <p:cNvSpPr/>
          <p:nvPr/>
        </p:nvSpPr>
        <p:spPr>
          <a:xfrm>
            <a:off x="5784764" y="4211703"/>
            <a:ext cx="1159106" cy="318035"/>
          </a:xfrm>
          <a:prstGeom prst="round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b="1" dirty="0">
              <a:solidFill>
                <a:schemeClr val="accent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BB1B6E4-C608-C5A9-A7FD-104F877D2FB5}"/>
              </a:ext>
            </a:extLst>
          </p:cNvPr>
          <p:cNvSpPr txBox="1"/>
          <p:nvPr/>
        </p:nvSpPr>
        <p:spPr>
          <a:xfrm>
            <a:off x="5277818" y="4217990"/>
            <a:ext cx="6461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solidFill>
                  <a:schemeClr val="accent1"/>
                </a:solidFill>
              </a:rPr>
              <a:t>xPtr</a:t>
            </a:r>
            <a:endParaRPr lang="en-US" sz="1600" b="1" dirty="0">
              <a:solidFill>
                <a:schemeClr val="accent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9D21EEA-B788-B8BE-F7D0-50A9E10955AF}"/>
              </a:ext>
            </a:extLst>
          </p:cNvPr>
          <p:cNvSpPr txBox="1"/>
          <p:nvPr/>
        </p:nvSpPr>
        <p:spPr>
          <a:xfrm>
            <a:off x="5277818" y="3818350"/>
            <a:ext cx="5555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solidFill>
                  <a:schemeClr val="accent1"/>
                </a:solidFill>
              </a:rPr>
              <a:t>yPtr</a:t>
            </a:r>
            <a:endParaRPr lang="en-US" sz="1600" b="1" dirty="0">
              <a:solidFill>
                <a:schemeClr val="accent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D7F33F4-D334-FAD8-622F-D956A87624FE}"/>
              </a:ext>
            </a:extLst>
          </p:cNvPr>
          <p:cNvSpPr txBox="1"/>
          <p:nvPr/>
        </p:nvSpPr>
        <p:spPr>
          <a:xfrm>
            <a:off x="6928445" y="4198567"/>
            <a:ext cx="796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83B1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8B0C080-19BB-9297-609C-186A28229FF9}"/>
              </a:ext>
            </a:extLst>
          </p:cNvPr>
          <p:cNvSpPr txBox="1"/>
          <p:nvPr/>
        </p:nvSpPr>
        <p:spPr>
          <a:xfrm>
            <a:off x="6934927" y="3874313"/>
            <a:ext cx="796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83B5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49B7185-55CB-9AFD-56C1-65CBD5F26E91}"/>
              </a:ext>
            </a:extLst>
          </p:cNvPr>
          <p:cNvSpPr/>
          <p:nvPr/>
        </p:nvSpPr>
        <p:spPr>
          <a:xfrm>
            <a:off x="8898102" y="3322049"/>
            <a:ext cx="1977421" cy="219046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5" name="Speech Bubble: Rectangle 34">
            <a:extLst>
              <a:ext uri="{FF2B5EF4-FFF2-40B4-BE49-F238E27FC236}">
                <a16:creationId xmlns:a16="http://schemas.microsoft.com/office/drawing/2014/main" id="{00DB95D4-E0FD-2751-3B31-9FC509EF5802}"/>
              </a:ext>
            </a:extLst>
          </p:cNvPr>
          <p:cNvSpPr/>
          <p:nvPr/>
        </p:nvSpPr>
        <p:spPr>
          <a:xfrm>
            <a:off x="8772590" y="2565791"/>
            <a:ext cx="2668907" cy="313668"/>
          </a:xfrm>
          <a:prstGeom prst="wedgeRectCallout">
            <a:avLst>
              <a:gd name="adj1" fmla="val -37528"/>
              <a:gd name="adj2" fmla="val 173651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Catch addresses with Pointers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82DFD13-89CE-A4CF-E699-D6D0570D2502}"/>
              </a:ext>
            </a:extLst>
          </p:cNvPr>
          <p:cNvSpPr txBox="1"/>
          <p:nvPr/>
        </p:nvSpPr>
        <p:spPr>
          <a:xfrm>
            <a:off x="5914375" y="4187813"/>
            <a:ext cx="9986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0x 5AE4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75548A37-F65C-4286-75FE-3A6EE24EB202}"/>
              </a:ext>
            </a:extLst>
          </p:cNvPr>
          <p:cNvSpPr/>
          <p:nvPr/>
        </p:nvSpPr>
        <p:spPr>
          <a:xfrm flipH="1">
            <a:off x="4660903" y="4450635"/>
            <a:ext cx="1045829" cy="939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7F07DC4-CFB9-EEAA-C150-CC58DFD1E4EC}"/>
              </a:ext>
            </a:extLst>
          </p:cNvPr>
          <p:cNvSpPr txBox="1"/>
          <p:nvPr/>
        </p:nvSpPr>
        <p:spPr>
          <a:xfrm>
            <a:off x="5918185" y="3873869"/>
            <a:ext cx="9986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0x 5AE8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44F656FA-E795-F132-5527-7316BA2A85AF}"/>
              </a:ext>
            </a:extLst>
          </p:cNvPr>
          <p:cNvSpPr/>
          <p:nvPr/>
        </p:nvSpPr>
        <p:spPr>
          <a:xfrm flipH="1">
            <a:off x="4664713" y="4091479"/>
            <a:ext cx="1045829" cy="939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Speech Bubble: Rectangle 39">
            <a:extLst>
              <a:ext uri="{FF2B5EF4-FFF2-40B4-BE49-F238E27FC236}">
                <a16:creationId xmlns:a16="http://schemas.microsoft.com/office/drawing/2014/main" id="{748BD724-C8A0-7831-50D9-E860D4250FCB}"/>
              </a:ext>
            </a:extLst>
          </p:cNvPr>
          <p:cNvSpPr/>
          <p:nvPr/>
        </p:nvSpPr>
        <p:spPr>
          <a:xfrm>
            <a:off x="9352148" y="1517443"/>
            <a:ext cx="1315315" cy="849889"/>
          </a:xfrm>
          <a:prstGeom prst="wedgeRectCallout">
            <a:avLst>
              <a:gd name="adj1" fmla="val -5062"/>
              <a:gd name="adj2" fmla="val 73795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u="sng" dirty="0">
                <a:solidFill>
                  <a:schemeClr val="tx1"/>
                </a:solidFill>
              </a:rPr>
              <a:t>Equivalence</a:t>
            </a:r>
          </a:p>
          <a:p>
            <a:r>
              <a:rPr lang="en-US" sz="1400" dirty="0" err="1">
                <a:solidFill>
                  <a:schemeClr val="tx1"/>
                </a:solidFill>
                <a:latin typeface="Courier"/>
              </a:rPr>
              <a:t>xPtr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 = &amp;a; </a:t>
            </a:r>
            <a:br>
              <a:rPr lang="en-US" sz="1400" dirty="0">
                <a:solidFill>
                  <a:schemeClr val="tx1"/>
                </a:solidFill>
                <a:latin typeface="Courier"/>
              </a:rPr>
            </a:br>
            <a:r>
              <a:rPr lang="en-US" sz="1400" dirty="0" err="1">
                <a:solidFill>
                  <a:schemeClr val="tx1"/>
                </a:solidFill>
                <a:latin typeface="Courier"/>
              </a:rPr>
              <a:t>yPtr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 = &amp;b;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F1744A2D-FC2D-A4C5-B06C-F25372B3E664}"/>
              </a:ext>
            </a:extLst>
          </p:cNvPr>
          <p:cNvSpPr/>
          <p:nvPr/>
        </p:nvSpPr>
        <p:spPr>
          <a:xfrm>
            <a:off x="5786209" y="3584076"/>
            <a:ext cx="1159106" cy="318035"/>
          </a:xfrm>
          <a:prstGeom prst="round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b="1" dirty="0">
              <a:solidFill>
                <a:schemeClr val="accent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454D712-C013-01B3-AC9B-D71B3AE6E8E8}"/>
              </a:ext>
            </a:extLst>
          </p:cNvPr>
          <p:cNvSpPr txBox="1"/>
          <p:nvPr/>
        </p:nvSpPr>
        <p:spPr>
          <a:xfrm>
            <a:off x="6933324" y="3564698"/>
            <a:ext cx="796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83B9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DA36B73-5A55-7968-40ED-53FA03B11149}"/>
              </a:ext>
            </a:extLst>
          </p:cNvPr>
          <p:cNvSpPr txBox="1"/>
          <p:nvPr/>
        </p:nvSpPr>
        <p:spPr>
          <a:xfrm>
            <a:off x="5204109" y="3519727"/>
            <a:ext cx="6722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/>
                </a:solidFill>
              </a:rPr>
              <a:t>temp</a:t>
            </a:r>
          </a:p>
        </p:txBody>
      </p:sp>
      <p:sp>
        <p:nvSpPr>
          <p:cNvPr id="49" name="Speech Bubble: Rectangle 48">
            <a:extLst>
              <a:ext uri="{FF2B5EF4-FFF2-40B4-BE49-F238E27FC236}">
                <a16:creationId xmlns:a16="http://schemas.microsoft.com/office/drawing/2014/main" id="{B3F7F037-3EC8-8120-6ADB-78A6DD2AD983}"/>
              </a:ext>
            </a:extLst>
          </p:cNvPr>
          <p:cNvSpPr/>
          <p:nvPr/>
        </p:nvSpPr>
        <p:spPr>
          <a:xfrm>
            <a:off x="3600288" y="5057550"/>
            <a:ext cx="4043082" cy="580485"/>
          </a:xfrm>
          <a:prstGeom prst="wedgeRectCallout">
            <a:avLst>
              <a:gd name="adj1" fmla="val -15061"/>
              <a:gd name="adj2" fmla="val -126840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tx1"/>
                </a:solidFill>
                <a:latin typeface="Courier"/>
              </a:rPr>
              <a:t>xPtr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 </a:t>
            </a:r>
            <a:r>
              <a:rPr lang="en-US" sz="1400" dirty="0">
                <a:solidFill>
                  <a:schemeClr val="tx1"/>
                </a:solidFill>
              </a:rPr>
              <a:t>points to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 a </a:t>
            </a:r>
            <a:r>
              <a:rPr lang="en-US" sz="1400" dirty="0">
                <a:solidFill>
                  <a:schemeClr val="tx1"/>
                </a:solidFill>
              </a:rPr>
              <a:t>(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*</a:t>
            </a:r>
            <a:r>
              <a:rPr lang="en-US" sz="1400" dirty="0" err="1">
                <a:solidFill>
                  <a:schemeClr val="tx1"/>
                </a:solidFill>
                <a:latin typeface="Courier"/>
              </a:rPr>
              <a:t>xPtr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 </a:t>
            </a:r>
            <a:r>
              <a:rPr lang="en-US" sz="1400" dirty="0">
                <a:solidFill>
                  <a:schemeClr val="tx1"/>
                </a:solidFill>
              </a:rPr>
              <a:t>is another name of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 a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 </a:t>
            </a:r>
            <a:br>
              <a:rPr lang="en-US" sz="1400" dirty="0">
                <a:solidFill>
                  <a:schemeClr val="tx1"/>
                </a:solidFill>
                <a:latin typeface="Courier"/>
              </a:rPr>
            </a:br>
            <a:r>
              <a:rPr lang="en-US" sz="1400" dirty="0" err="1">
                <a:solidFill>
                  <a:schemeClr val="tx1"/>
                </a:solidFill>
                <a:latin typeface="Courier"/>
              </a:rPr>
              <a:t>yPtr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 </a:t>
            </a:r>
            <a:r>
              <a:rPr lang="en-US" sz="1400" dirty="0">
                <a:solidFill>
                  <a:schemeClr val="tx1"/>
                </a:solidFill>
              </a:rPr>
              <a:t>points to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 b </a:t>
            </a:r>
            <a:r>
              <a:rPr lang="en-US" sz="1400" dirty="0">
                <a:solidFill>
                  <a:schemeClr val="tx1"/>
                </a:solidFill>
              </a:rPr>
              <a:t>(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*</a:t>
            </a:r>
            <a:r>
              <a:rPr lang="en-US" sz="1400" dirty="0" err="1">
                <a:solidFill>
                  <a:schemeClr val="tx1"/>
                </a:solidFill>
                <a:latin typeface="Courier"/>
              </a:rPr>
              <a:t>yPtr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 </a:t>
            </a:r>
            <a:r>
              <a:rPr lang="en-US" sz="1400" dirty="0">
                <a:solidFill>
                  <a:schemeClr val="tx1"/>
                </a:solidFill>
              </a:rPr>
              <a:t>is another name of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 b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BE1076-775F-C856-0EBD-20C80B940025}"/>
              </a:ext>
            </a:extLst>
          </p:cNvPr>
          <p:cNvSpPr txBox="1"/>
          <p:nvPr/>
        </p:nvSpPr>
        <p:spPr>
          <a:xfrm>
            <a:off x="3977685" y="3881508"/>
            <a:ext cx="5627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>
                <a:solidFill>
                  <a:srgbClr val="7F1F1F"/>
                </a:solidFill>
              </a:rPr>
              <a:t>200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3343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3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 tmFilter="0, 0; .2, .5; .8, .5; 1, 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250" autoRev="1" fill="hold"/>
                                        <p:tgtEl>
                                          <p:spTgt spid="2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3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-4.07407E-6 L 0.17331 -0.04861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659" y="-2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6" grpId="0"/>
      <p:bldP spid="38" grpId="0"/>
      <p:bldP spid="39" grpId="0" animBg="1"/>
      <p:bldP spid="8" grpId="0"/>
      <p:bldP spid="8" grpId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965375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Pass by Reference – Using Pointer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5" y="1563637"/>
            <a:ext cx="10237421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Example – Swapping 2 Variables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Setup – Two variables in main() and a swap() function</a:t>
            </a:r>
            <a:endParaRPr lang="en-CA" sz="22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End Result – Pass two variables into swap() using pass-by-reference, </a:t>
            </a:r>
            <a:br>
              <a:rPr lang="en-CA" dirty="0"/>
            </a:br>
            <a:r>
              <a:rPr lang="en-CA" dirty="0"/>
              <a:t> 		    Two values swapped in main() after swap() completed</a:t>
            </a:r>
            <a:endParaRPr lang="en-CA" sz="22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25</a:t>
            </a:fld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BD3F44-1B2A-B350-ACA1-616B4C8E757B}"/>
              </a:ext>
            </a:extLst>
          </p:cNvPr>
          <p:cNvSpPr txBox="1"/>
          <p:nvPr/>
        </p:nvSpPr>
        <p:spPr>
          <a:xfrm>
            <a:off x="803471" y="3243781"/>
            <a:ext cx="2363092" cy="1523494"/>
          </a:xfrm>
          <a:prstGeom prst="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main(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a = 100;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b = 200;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swap two vars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swap( </a:t>
            </a:r>
            <a:r>
              <a:rPr lang="en-US" sz="16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a, </a:t>
            </a:r>
            <a:r>
              <a:rPr lang="en-US" sz="16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b 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1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5F2F670-488C-8850-DCD5-8205AFD26479}"/>
              </a:ext>
            </a:extLst>
          </p:cNvPr>
          <p:cNvSpPr/>
          <p:nvPr/>
        </p:nvSpPr>
        <p:spPr>
          <a:xfrm>
            <a:off x="3928452" y="3901878"/>
            <a:ext cx="654285" cy="318035"/>
          </a:xfrm>
          <a:prstGeom prst="roundRect">
            <a:avLst/>
          </a:prstGeom>
          <a:noFill/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b="1" dirty="0">
              <a:solidFill>
                <a:srgbClr val="7F1F1F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22EFB41-C3A0-A1E5-F2D9-36C0D1E2A16E}"/>
              </a:ext>
            </a:extLst>
          </p:cNvPr>
          <p:cNvSpPr/>
          <p:nvPr/>
        </p:nvSpPr>
        <p:spPr>
          <a:xfrm>
            <a:off x="3925404" y="4219890"/>
            <a:ext cx="654285" cy="318035"/>
          </a:xfrm>
          <a:prstGeom prst="roundRect">
            <a:avLst/>
          </a:prstGeom>
          <a:noFill/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rgbClr val="7F1F1F"/>
                </a:solidFill>
              </a:rPr>
              <a:t>100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1C87F5-D667-BA52-9566-0701FD431128}"/>
              </a:ext>
            </a:extLst>
          </p:cNvPr>
          <p:cNvSpPr txBox="1"/>
          <p:nvPr/>
        </p:nvSpPr>
        <p:spPr>
          <a:xfrm>
            <a:off x="3484061" y="3306883"/>
            <a:ext cx="1028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7F1F1F"/>
                </a:solidFill>
              </a:rPr>
              <a:t>Memory</a:t>
            </a:r>
            <a:endParaRPr lang="en-US" sz="1600" dirty="0">
              <a:solidFill>
                <a:srgbClr val="7F1F1F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23051F-B33C-66FD-3D22-A366B2BF72A9}"/>
              </a:ext>
            </a:extLst>
          </p:cNvPr>
          <p:cNvSpPr txBox="1"/>
          <p:nvPr/>
        </p:nvSpPr>
        <p:spPr>
          <a:xfrm>
            <a:off x="4545268" y="4114495"/>
            <a:ext cx="257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F1F1F"/>
                </a:solidFill>
              </a:rPr>
              <a:t>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D3A12C-8EB1-1225-5EEE-3032EC60C6C2}"/>
              </a:ext>
            </a:extLst>
          </p:cNvPr>
          <p:cNvSpPr txBox="1"/>
          <p:nvPr/>
        </p:nvSpPr>
        <p:spPr>
          <a:xfrm>
            <a:off x="4545268" y="3801929"/>
            <a:ext cx="257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F1F1F"/>
                </a:solidFill>
              </a:rPr>
              <a:t>b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8CF257-4FB2-2280-8034-CC9511CF3B2B}"/>
              </a:ext>
            </a:extLst>
          </p:cNvPr>
          <p:cNvSpPr txBox="1"/>
          <p:nvPr/>
        </p:nvSpPr>
        <p:spPr>
          <a:xfrm>
            <a:off x="3195747" y="4220533"/>
            <a:ext cx="796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5AE4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D025FD-AB01-BF8C-4D55-E2742A59EF17}"/>
              </a:ext>
            </a:extLst>
          </p:cNvPr>
          <p:cNvSpPr txBox="1"/>
          <p:nvPr/>
        </p:nvSpPr>
        <p:spPr>
          <a:xfrm>
            <a:off x="3202229" y="3896279"/>
            <a:ext cx="796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5AE8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88046B9-9B47-B71A-6148-F6CB9CC9D212}"/>
              </a:ext>
            </a:extLst>
          </p:cNvPr>
          <p:cNvSpPr/>
          <p:nvPr/>
        </p:nvSpPr>
        <p:spPr>
          <a:xfrm>
            <a:off x="1858519" y="4155330"/>
            <a:ext cx="920015" cy="19102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Speech Bubble: Rectangle 18">
            <a:extLst>
              <a:ext uri="{FF2B5EF4-FFF2-40B4-BE49-F238E27FC236}">
                <a16:creationId xmlns:a16="http://schemas.microsoft.com/office/drawing/2014/main" id="{8FFAC0DC-D44A-62A5-3BB6-4054759AB68D}"/>
              </a:ext>
            </a:extLst>
          </p:cNvPr>
          <p:cNvSpPr/>
          <p:nvPr/>
        </p:nvSpPr>
        <p:spPr>
          <a:xfrm>
            <a:off x="803472" y="4980695"/>
            <a:ext cx="1808530" cy="313668"/>
          </a:xfrm>
          <a:prstGeom prst="wedgeRectCallout">
            <a:avLst>
              <a:gd name="adj1" fmla="val 34673"/>
              <a:gd name="adj2" fmla="val -214007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Pass the addresses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2A5E94-065B-DC54-E9F8-390C180A015A}"/>
              </a:ext>
            </a:extLst>
          </p:cNvPr>
          <p:cNvSpPr txBox="1"/>
          <p:nvPr/>
        </p:nvSpPr>
        <p:spPr>
          <a:xfrm>
            <a:off x="7873210" y="3287771"/>
            <a:ext cx="3235780" cy="138499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swap(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*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xPtr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*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yPtr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temp;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temp = *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yPtr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temp = b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yPtr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*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xPtr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b = a</a:t>
            </a:r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693670-6D4A-C2A1-AB8E-86D86597A617}"/>
              </a:ext>
            </a:extLst>
          </p:cNvPr>
          <p:cNvSpPr txBox="1"/>
          <p:nvPr/>
        </p:nvSpPr>
        <p:spPr>
          <a:xfrm>
            <a:off x="5719681" y="3007892"/>
            <a:ext cx="12956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Temp Mem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11B75EA-B83A-3EDB-BA56-2603478712F4}"/>
              </a:ext>
            </a:extLst>
          </p:cNvPr>
          <p:cNvSpPr/>
          <p:nvPr/>
        </p:nvSpPr>
        <p:spPr>
          <a:xfrm>
            <a:off x="5787812" y="3893691"/>
            <a:ext cx="1159106" cy="318035"/>
          </a:xfrm>
          <a:prstGeom prst="round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b="1" dirty="0">
              <a:solidFill>
                <a:schemeClr val="accent1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9D9847C-2DCD-931D-2219-05C6F74BB7C1}"/>
              </a:ext>
            </a:extLst>
          </p:cNvPr>
          <p:cNvSpPr/>
          <p:nvPr/>
        </p:nvSpPr>
        <p:spPr>
          <a:xfrm>
            <a:off x="5784764" y="4211703"/>
            <a:ext cx="1159106" cy="318035"/>
          </a:xfrm>
          <a:prstGeom prst="round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b="1" dirty="0">
              <a:solidFill>
                <a:schemeClr val="accent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BB1B6E4-C608-C5A9-A7FD-104F877D2FB5}"/>
              </a:ext>
            </a:extLst>
          </p:cNvPr>
          <p:cNvSpPr txBox="1"/>
          <p:nvPr/>
        </p:nvSpPr>
        <p:spPr>
          <a:xfrm>
            <a:off x="5277818" y="4181795"/>
            <a:ext cx="6461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solidFill>
                  <a:schemeClr val="accent1"/>
                </a:solidFill>
              </a:rPr>
              <a:t>xPtr</a:t>
            </a:r>
            <a:endParaRPr lang="en-US" sz="1600" b="1" dirty="0">
              <a:solidFill>
                <a:schemeClr val="accent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9D21EEA-B788-B8BE-F7D0-50A9E10955AF}"/>
              </a:ext>
            </a:extLst>
          </p:cNvPr>
          <p:cNvSpPr txBox="1"/>
          <p:nvPr/>
        </p:nvSpPr>
        <p:spPr>
          <a:xfrm>
            <a:off x="5277818" y="3820890"/>
            <a:ext cx="5555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solidFill>
                  <a:schemeClr val="accent1"/>
                </a:solidFill>
              </a:rPr>
              <a:t>yPtr</a:t>
            </a:r>
            <a:endParaRPr lang="en-US" sz="1600" b="1" dirty="0">
              <a:solidFill>
                <a:schemeClr val="accent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D7F33F4-D334-FAD8-622F-D956A87624FE}"/>
              </a:ext>
            </a:extLst>
          </p:cNvPr>
          <p:cNvSpPr txBox="1"/>
          <p:nvPr/>
        </p:nvSpPr>
        <p:spPr>
          <a:xfrm>
            <a:off x="6928445" y="4198567"/>
            <a:ext cx="796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83B1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8B0C080-19BB-9297-609C-186A28229FF9}"/>
              </a:ext>
            </a:extLst>
          </p:cNvPr>
          <p:cNvSpPr txBox="1"/>
          <p:nvPr/>
        </p:nvSpPr>
        <p:spPr>
          <a:xfrm>
            <a:off x="6934927" y="3874313"/>
            <a:ext cx="796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83B5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49B7185-55CB-9AFD-56C1-65CBD5F26E91}"/>
              </a:ext>
            </a:extLst>
          </p:cNvPr>
          <p:cNvSpPr/>
          <p:nvPr/>
        </p:nvSpPr>
        <p:spPr>
          <a:xfrm>
            <a:off x="8898102" y="3322049"/>
            <a:ext cx="1977421" cy="219046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5" name="Speech Bubble: Rectangle 34">
            <a:extLst>
              <a:ext uri="{FF2B5EF4-FFF2-40B4-BE49-F238E27FC236}">
                <a16:creationId xmlns:a16="http://schemas.microsoft.com/office/drawing/2014/main" id="{00DB95D4-E0FD-2751-3B31-9FC509EF5802}"/>
              </a:ext>
            </a:extLst>
          </p:cNvPr>
          <p:cNvSpPr/>
          <p:nvPr/>
        </p:nvSpPr>
        <p:spPr>
          <a:xfrm>
            <a:off x="8772590" y="2565791"/>
            <a:ext cx="2668907" cy="313668"/>
          </a:xfrm>
          <a:prstGeom prst="wedgeRectCallout">
            <a:avLst>
              <a:gd name="adj1" fmla="val -37528"/>
              <a:gd name="adj2" fmla="val 173651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Catch addresses with Pointers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82DFD13-89CE-A4CF-E699-D6D0570D2502}"/>
              </a:ext>
            </a:extLst>
          </p:cNvPr>
          <p:cNvSpPr txBox="1"/>
          <p:nvPr/>
        </p:nvSpPr>
        <p:spPr>
          <a:xfrm>
            <a:off x="5914375" y="4187813"/>
            <a:ext cx="9986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0x 5AE4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75548A37-F65C-4286-75FE-3A6EE24EB202}"/>
              </a:ext>
            </a:extLst>
          </p:cNvPr>
          <p:cNvSpPr/>
          <p:nvPr/>
        </p:nvSpPr>
        <p:spPr>
          <a:xfrm flipH="1">
            <a:off x="4660903" y="4411265"/>
            <a:ext cx="1045829" cy="939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7F07DC4-CFB9-EEAA-C150-CC58DFD1E4EC}"/>
              </a:ext>
            </a:extLst>
          </p:cNvPr>
          <p:cNvSpPr txBox="1"/>
          <p:nvPr/>
        </p:nvSpPr>
        <p:spPr>
          <a:xfrm>
            <a:off x="5918185" y="3873869"/>
            <a:ext cx="9986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0x 5AE8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44F656FA-E795-F132-5527-7316BA2A85AF}"/>
              </a:ext>
            </a:extLst>
          </p:cNvPr>
          <p:cNvSpPr/>
          <p:nvPr/>
        </p:nvSpPr>
        <p:spPr>
          <a:xfrm flipH="1">
            <a:off x="4664713" y="4100369"/>
            <a:ext cx="1045829" cy="939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Speech Bubble: Rectangle 39">
            <a:extLst>
              <a:ext uri="{FF2B5EF4-FFF2-40B4-BE49-F238E27FC236}">
                <a16:creationId xmlns:a16="http://schemas.microsoft.com/office/drawing/2014/main" id="{748BD724-C8A0-7831-50D9-E860D4250FCB}"/>
              </a:ext>
            </a:extLst>
          </p:cNvPr>
          <p:cNvSpPr/>
          <p:nvPr/>
        </p:nvSpPr>
        <p:spPr>
          <a:xfrm>
            <a:off x="9352148" y="1517443"/>
            <a:ext cx="1315315" cy="849889"/>
          </a:xfrm>
          <a:prstGeom prst="wedgeRectCallout">
            <a:avLst>
              <a:gd name="adj1" fmla="val -5062"/>
              <a:gd name="adj2" fmla="val 73795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u="sng" dirty="0">
                <a:solidFill>
                  <a:schemeClr val="tx1"/>
                </a:solidFill>
              </a:rPr>
              <a:t>Equivalence</a:t>
            </a:r>
          </a:p>
          <a:p>
            <a:r>
              <a:rPr lang="en-US" sz="1400" dirty="0" err="1">
                <a:solidFill>
                  <a:schemeClr val="tx1"/>
                </a:solidFill>
                <a:latin typeface="Courier"/>
              </a:rPr>
              <a:t>xPtr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 = &amp;a; </a:t>
            </a:r>
            <a:br>
              <a:rPr lang="en-US" sz="1400" dirty="0">
                <a:solidFill>
                  <a:schemeClr val="tx1"/>
                </a:solidFill>
                <a:latin typeface="Courier"/>
              </a:rPr>
            </a:br>
            <a:r>
              <a:rPr lang="en-US" sz="1400" dirty="0" err="1">
                <a:solidFill>
                  <a:schemeClr val="tx1"/>
                </a:solidFill>
                <a:latin typeface="Courier"/>
              </a:rPr>
              <a:t>yPtr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 = &amp;b;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F1744A2D-FC2D-A4C5-B06C-F25372B3E664}"/>
              </a:ext>
            </a:extLst>
          </p:cNvPr>
          <p:cNvSpPr/>
          <p:nvPr/>
        </p:nvSpPr>
        <p:spPr>
          <a:xfrm>
            <a:off x="5786209" y="3584076"/>
            <a:ext cx="1159106" cy="318035"/>
          </a:xfrm>
          <a:prstGeom prst="round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b="1" dirty="0">
              <a:solidFill>
                <a:schemeClr val="accent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454D712-C013-01B3-AC9B-D71B3AE6E8E8}"/>
              </a:ext>
            </a:extLst>
          </p:cNvPr>
          <p:cNvSpPr txBox="1"/>
          <p:nvPr/>
        </p:nvSpPr>
        <p:spPr>
          <a:xfrm>
            <a:off x="6933324" y="3564698"/>
            <a:ext cx="796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83B9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DA36B73-5A55-7968-40ED-53FA03B11149}"/>
              </a:ext>
            </a:extLst>
          </p:cNvPr>
          <p:cNvSpPr txBox="1"/>
          <p:nvPr/>
        </p:nvSpPr>
        <p:spPr>
          <a:xfrm>
            <a:off x="5221889" y="3541758"/>
            <a:ext cx="6722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/>
                </a:solidFill>
              </a:rPr>
              <a:t>temp</a:t>
            </a:r>
          </a:p>
        </p:txBody>
      </p:sp>
      <p:sp>
        <p:nvSpPr>
          <p:cNvPr id="49" name="Speech Bubble: Rectangle 48">
            <a:extLst>
              <a:ext uri="{FF2B5EF4-FFF2-40B4-BE49-F238E27FC236}">
                <a16:creationId xmlns:a16="http://schemas.microsoft.com/office/drawing/2014/main" id="{B3F7F037-3EC8-8120-6ADB-78A6DD2AD983}"/>
              </a:ext>
            </a:extLst>
          </p:cNvPr>
          <p:cNvSpPr/>
          <p:nvPr/>
        </p:nvSpPr>
        <p:spPr>
          <a:xfrm>
            <a:off x="3600288" y="5057550"/>
            <a:ext cx="4043082" cy="580485"/>
          </a:xfrm>
          <a:prstGeom prst="wedgeRectCallout">
            <a:avLst>
              <a:gd name="adj1" fmla="val -15061"/>
              <a:gd name="adj2" fmla="val -126840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tx1"/>
                </a:solidFill>
                <a:latin typeface="Courier"/>
              </a:rPr>
              <a:t>xPtr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 </a:t>
            </a:r>
            <a:r>
              <a:rPr lang="en-US" sz="1400" dirty="0">
                <a:solidFill>
                  <a:schemeClr val="tx1"/>
                </a:solidFill>
              </a:rPr>
              <a:t>points to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 a </a:t>
            </a:r>
            <a:r>
              <a:rPr lang="en-US" sz="1400" dirty="0">
                <a:solidFill>
                  <a:schemeClr val="tx1"/>
                </a:solidFill>
              </a:rPr>
              <a:t>(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*</a:t>
            </a:r>
            <a:r>
              <a:rPr lang="en-US" sz="1400" dirty="0" err="1">
                <a:solidFill>
                  <a:schemeClr val="tx1"/>
                </a:solidFill>
                <a:latin typeface="Courier"/>
              </a:rPr>
              <a:t>xPtr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 </a:t>
            </a:r>
            <a:r>
              <a:rPr lang="en-US" sz="1400" dirty="0">
                <a:solidFill>
                  <a:schemeClr val="tx1"/>
                </a:solidFill>
              </a:rPr>
              <a:t>is another name of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 a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 </a:t>
            </a:r>
            <a:br>
              <a:rPr lang="en-US" sz="1400" dirty="0">
                <a:solidFill>
                  <a:schemeClr val="tx1"/>
                </a:solidFill>
                <a:latin typeface="Courier"/>
              </a:rPr>
            </a:br>
            <a:r>
              <a:rPr lang="en-US" sz="1400" dirty="0" err="1">
                <a:solidFill>
                  <a:schemeClr val="tx1"/>
                </a:solidFill>
                <a:latin typeface="Courier"/>
              </a:rPr>
              <a:t>yPtr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 </a:t>
            </a:r>
            <a:r>
              <a:rPr lang="en-US" sz="1400" dirty="0">
                <a:solidFill>
                  <a:schemeClr val="tx1"/>
                </a:solidFill>
              </a:rPr>
              <a:t>points to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 b </a:t>
            </a:r>
            <a:r>
              <a:rPr lang="en-US" sz="1400" dirty="0">
                <a:solidFill>
                  <a:schemeClr val="tx1"/>
                </a:solidFill>
              </a:rPr>
              <a:t>(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*</a:t>
            </a:r>
            <a:r>
              <a:rPr lang="en-US" sz="1400" dirty="0" err="1">
                <a:solidFill>
                  <a:schemeClr val="tx1"/>
                </a:solidFill>
                <a:latin typeface="Courier"/>
              </a:rPr>
              <a:t>yPtr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 </a:t>
            </a:r>
            <a:r>
              <a:rPr lang="en-US" sz="1400" dirty="0">
                <a:solidFill>
                  <a:schemeClr val="tx1"/>
                </a:solidFill>
              </a:rPr>
              <a:t>is another name of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 b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BE1076-775F-C856-0EBD-20C80B940025}"/>
              </a:ext>
            </a:extLst>
          </p:cNvPr>
          <p:cNvSpPr txBox="1"/>
          <p:nvPr/>
        </p:nvSpPr>
        <p:spPr>
          <a:xfrm>
            <a:off x="6106082" y="3553839"/>
            <a:ext cx="5627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>
                <a:solidFill>
                  <a:srgbClr val="7F1F1F"/>
                </a:solidFill>
              </a:rPr>
              <a:t>200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90FCF6-81FC-4A78-1447-6C403554FDF2}"/>
              </a:ext>
            </a:extLst>
          </p:cNvPr>
          <p:cNvSpPr txBox="1"/>
          <p:nvPr/>
        </p:nvSpPr>
        <p:spPr>
          <a:xfrm>
            <a:off x="3984000" y="4201768"/>
            <a:ext cx="6261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>
                <a:solidFill>
                  <a:srgbClr val="7F1F1F"/>
                </a:solidFill>
              </a:rPr>
              <a:t>100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065FBF6-3CEF-5285-17DF-1B91521A9029}"/>
              </a:ext>
            </a:extLst>
          </p:cNvPr>
          <p:cNvSpPr txBox="1"/>
          <p:nvPr/>
        </p:nvSpPr>
        <p:spPr>
          <a:xfrm>
            <a:off x="3997032" y="3869897"/>
            <a:ext cx="5627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>
                <a:solidFill>
                  <a:srgbClr val="7F1F1F"/>
                </a:solidFill>
              </a:rPr>
              <a:t>200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4690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 tmFilter="0, 0; .2, .5; .8, .5; 1, 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250" autoRev="1" fill="hold"/>
                                        <p:tgtEl>
                                          <p:spTgt spid="3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3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 tmFilter="0, 0; .2, .5; .8, .5; 1, 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250" autoRev="1" fill="hold"/>
                                        <p:tgtEl>
                                          <p:spTgt spid="3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 tmFilter="0, 0; .2, .5; .8, .5; 1, 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" dur="250" autoRev="1" fill="hold"/>
                                        <p:tgtEl>
                                          <p:spTgt spid="2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 tmFilter="0, 0; .2, .5; .8, .5; 1, 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250" autoRev="1" fill="hold"/>
                                        <p:tgtEl>
                                          <p:spTgt spid="3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42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3.95833E-6 -3.33333E-6 L -3.95833E-6 -0.05139 " pathEditMode="relative" rAng="0" ptsTypes="AA">
                                      <p:cBhvr>
                                        <p:cTn id="47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5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25" grpId="0"/>
      <p:bldP spid="26" grpId="0"/>
      <p:bldP spid="36" grpId="0"/>
      <p:bldP spid="37" grpId="0" animBg="1"/>
      <p:bldP spid="38" grpId="0"/>
      <p:bldP spid="39" grpId="0" animBg="1"/>
      <p:bldP spid="15" grpId="0"/>
      <p:bldP spid="15" grpId="1"/>
      <p:bldP spid="2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965375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Pass by Reference – Using Pointer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5" y="1563637"/>
            <a:ext cx="10237421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Example – Swapping 2 Variables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Setup – Two variables in main() and a swap() function</a:t>
            </a:r>
            <a:endParaRPr lang="en-CA" sz="22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End Result – Pass two variables into swap() using pass-by-reference, </a:t>
            </a:r>
            <a:br>
              <a:rPr lang="en-CA" dirty="0"/>
            </a:br>
            <a:r>
              <a:rPr lang="en-CA" dirty="0"/>
              <a:t> 		    Two values swapped in main() after swap() completed</a:t>
            </a:r>
            <a:endParaRPr lang="en-CA" sz="22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26</a:t>
            </a:fld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BD3F44-1B2A-B350-ACA1-616B4C8E757B}"/>
              </a:ext>
            </a:extLst>
          </p:cNvPr>
          <p:cNvSpPr txBox="1"/>
          <p:nvPr/>
        </p:nvSpPr>
        <p:spPr>
          <a:xfrm>
            <a:off x="803471" y="3243781"/>
            <a:ext cx="2363092" cy="1523494"/>
          </a:xfrm>
          <a:prstGeom prst="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main(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a = 100;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b = 200;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swap two vars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swap( </a:t>
            </a:r>
            <a:r>
              <a:rPr lang="en-US" sz="16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a, </a:t>
            </a:r>
            <a:r>
              <a:rPr lang="en-US" sz="16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b 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1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5F2F670-488C-8850-DCD5-8205AFD26479}"/>
              </a:ext>
            </a:extLst>
          </p:cNvPr>
          <p:cNvSpPr/>
          <p:nvPr/>
        </p:nvSpPr>
        <p:spPr>
          <a:xfrm>
            <a:off x="3928452" y="3901878"/>
            <a:ext cx="654285" cy="318035"/>
          </a:xfrm>
          <a:prstGeom prst="roundRect">
            <a:avLst/>
          </a:prstGeom>
          <a:noFill/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b="1" dirty="0">
              <a:solidFill>
                <a:srgbClr val="7F1F1F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22EFB41-C3A0-A1E5-F2D9-36C0D1E2A16E}"/>
              </a:ext>
            </a:extLst>
          </p:cNvPr>
          <p:cNvSpPr/>
          <p:nvPr/>
        </p:nvSpPr>
        <p:spPr>
          <a:xfrm>
            <a:off x="3925404" y="4219890"/>
            <a:ext cx="654285" cy="318035"/>
          </a:xfrm>
          <a:prstGeom prst="roundRect">
            <a:avLst/>
          </a:prstGeom>
          <a:noFill/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b="1" dirty="0">
              <a:solidFill>
                <a:srgbClr val="7F1F1F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1C87F5-D667-BA52-9566-0701FD431128}"/>
              </a:ext>
            </a:extLst>
          </p:cNvPr>
          <p:cNvSpPr txBox="1"/>
          <p:nvPr/>
        </p:nvSpPr>
        <p:spPr>
          <a:xfrm>
            <a:off x="3484061" y="3306883"/>
            <a:ext cx="1028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7F1F1F"/>
                </a:solidFill>
              </a:rPr>
              <a:t>Memory</a:t>
            </a:r>
            <a:endParaRPr lang="en-US" sz="1600" dirty="0">
              <a:solidFill>
                <a:srgbClr val="7F1F1F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23051F-B33C-66FD-3D22-A366B2BF72A9}"/>
              </a:ext>
            </a:extLst>
          </p:cNvPr>
          <p:cNvSpPr txBox="1"/>
          <p:nvPr/>
        </p:nvSpPr>
        <p:spPr>
          <a:xfrm>
            <a:off x="4545268" y="4137355"/>
            <a:ext cx="257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F1F1F"/>
                </a:solidFill>
              </a:rPr>
              <a:t>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D3A12C-8EB1-1225-5EEE-3032EC60C6C2}"/>
              </a:ext>
            </a:extLst>
          </p:cNvPr>
          <p:cNvSpPr txBox="1"/>
          <p:nvPr/>
        </p:nvSpPr>
        <p:spPr>
          <a:xfrm>
            <a:off x="4545268" y="3803834"/>
            <a:ext cx="257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F1F1F"/>
                </a:solidFill>
              </a:rPr>
              <a:t>b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8CF257-4FB2-2280-8034-CC9511CF3B2B}"/>
              </a:ext>
            </a:extLst>
          </p:cNvPr>
          <p:cNvSpPr txBox="1"/>
          <p:nvPr/>
        </p:nvSpPr>
        <p:spPr>
          <a:xfrm>
            <a:off x="3195747" y="4220533"/>
            <a:ext cx="796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5AE4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D025FD-AB01-BF8C-4D55-E2742A59EF17}"/>
              </a:ext>
            </a:extLst>
          </p:cNvPr>
          <p:cNvSpPr txBox="1"/>
          <p:nvPr/>
        </p:nvSpPr>
        <p:spPr>
          <a:xfrm>
            <a:off x="3202229" y="3896279"/>
            <a:ext cx="796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5AE8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88046B9-9B47-B71A-6148-F6CB9CC9D212}"/>
              </a:ext>
            </a:extLst>
          </p:cNvPr>
          <p:cNvSpPr/>
          <p:nvPr/>
        </p:nvSpPr>
        <p:spPr>
          <a:xfrm>
            <a:off x="1858519" y="4155330"/>
            <a:ext cx="920015" cy="19102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Speech Bubble: Rectangle 18">
            <a:extLst>
              <a:ext uri="{FF2B5EF4-FFF2-40B4-BE49-F238E27FC236}">
                <a16:creationId xmlns:a16="http://schemas.microsoft.com/office/drawing/2014/main" id="{8FFAC0DC-D44A-62A5-3BB6-4054759AB68D}"/>
              </a:ext>
            </a:extLst>
          </p:cNvPr>
          <p:cNvSpPr/>
          <p:nvPr/>
        </p:nvSpPr>
        <p:spPr>
          <a:xfrm>
            <a:off x="803472" y="4980695"/>
            <a:ext cx="1808530" cy="313668"/>
          </a:xfrm>
          <a:prstGeom prst="wedgeRectCallout">
            <a:avLst>
              <a:gd name="adj1" fmla="val 34673"/>
              <a:gd name="adj2" fmla="val -214007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Pass the addresses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2A5E94-065B-DC54-E9F8-390C180A015A}"/>
              </a:ext>
            </a:extLst>
          </p:cNvPr>
          <p:cNvSpPr txBox="1"/>
          <p:nvPr/>
        </p:nvSpPr>
        <p:spPr>
          <a:xfrm>
            <a:off x="7873210" y="3287771"/>
            <a:ext cx="3235780" cy="138499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swap(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*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xPtr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*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yPtr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temp;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temp = *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yPtr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temp = b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yPtr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*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xPtr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b = a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xPtr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temp;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 = temp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693670-6D4A-C2A1-AB8E-86D86597A617}"/>
              </a:ext>
            </a:extLst>
          </p:cNvPr>
          <p:cNvSpPr txBox="1"/>
          <p:nvPr/>
        </p:nvSpPr>
        <p:spPr>
          <a:xfrm>
            <a:off x="5719681" y="3007892"/>
            <a:ext cx="12956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Temp Mem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11B75EA-B83A-3EDB-BA56-2603478712F4}"/>
              </a:ext>
            </a:extLst>
          </p:cNvPr>
          <p:cNvSpPr/>
          <p:nvPr/>
        </p:nvSpPr>
        <p:spPr>
          <a:xfrm>
            <a:off x="5787812" y="3893691"/>
            <a:ext cx="1159106" cy="318035"/>
          </a:xfrm>
          <a:prstGeom prst="round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b="1" dirty="0">
              <a:solidFill>
                <a:schemeClr val="accent1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9D9847C-2DCD-931D-2219-05C6F74BB7C1}"/>
              </a:ext>
            </a:extLst>
          </p:cNvPr>
          <p:cNvSpPr/>
          <p:nvPr/>
        </p:nvSpPr>
        <p:spPr>
          <a:xfrm>
            <a:off x="5784764" y="4211703"/>
            <a:ext cx="1159106" cy="318035"/>
          </a:xfrm>
          <a:prstGeom prst="round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b="1" dirty="0">
              <a:solidFill>
                <a:schemeClr val="accent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BB1B6E4-C608-C5A9-A7FD-104F877D2FB5}"/>
              </a:ext>
            </a:extLst>
          </p:cNvPr>
          <p:cNvSpPr txBox="1"/>
          <p:nvPr/>
        </p:nvSpPr>
        <p:spPr>
          <a:xfrm>
            <a:off x="5277818" y="4202750"/>
            <a:ext cx="6461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solidFill>
                  <a:schemeClr val="accent1"/>
                </a:solidFill>
              </a:rPr>
              <a:t>xPtr</a:t>
            </a:r>
            <a:endParaRPr lang="en-US" sz="1600" b="1" dirty="0">
              <a:solidFill>
                <a:schemeClr val="accent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9D21EEA-B788-B8BE-F7D0-50A9E10955AF}"/>
              </a:ext>
            </a:extLst>
          </p:cNvPr>
          <p:cNvSpPr txBox="1"/>
          <p:nvPr/>
        </p:nvSpPr>
        <p:spPr>
          <a:xfrm>
            <a:off x="5277818" y="3836130"/>
            <a:ext cx="5555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solidFill>
                  <a:schemeClr val="accent1"/>
                </a:solidFill>
              </a:rPr>
              <a:t>yPtr</a:t>
            </a:r>
            <a:endParaRPr lang="en-US" sz="1600" b="1" dirty="0">
              <a:solidFill>
                <a:schemeClr val="accent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D7F33F4-D334-FAD8-622F-D956A87624FE}"/>
              </a:ext>
            </a:extLst>
          </p:cNvPr>
          <p:cNvSpPr txBox="1"/>
          <p:nvPr/>
        </p:nvSpPr>
        <p:spPr>
          <a:xfrm>
            <a:off x="6928445" y="4198567"/>
            <a:ext cx="796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83B1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8B0C080-19BB-9297-609C-186A28229FF9}"/>
              </a:ext>
            </a:extLst>
          </p:cNvPr>
          <p:cNvSpPr txBox="1"/>
          <p:nvPr/>
        </p:nvSpPr>
        <p:spPr>
          <a:xfrm>
            <a:off x="6934927" y="3874313"/>
            <a:ext cx="796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83B5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49B7185-55CB-9AFD-56C1-65CBD5F26E91}"/>
              </a:ext>
            </a:extLst>
          </p:cNvPr>
          <p:cNvSpPr/>
          <p:nvPr/>
        </p:nvSpPr>
        <p:spPr>
          <a:xfrm>
            <a:off x="8898102" y="3322049"/>
            <a:ext cx="1977421" cy="219046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5" name="Speech Bubble: Rectangle 34">
            <a:extLst>
              <a:ext uri="{FF2B5EF4-FFF2-40B4-BE49-F238E27FC236}">
                <a16:creationId xmlns:a16="http://schemas.microsoft.com/office/drawing/2014/main" id="{00DB95D4-E0FD-2751-3B31-9FC509EF5802}"/>
              </a:ext>
            </a:extLst>
          </p:cNvPr>
          <p:cNvSpPr/>
          <p:nvPr/>
        </p:nvSpPr>
        <p:spPr>
          <a:xfrm>
            <a:off x="8772590" y="2565791"/>
            <a:ext cx="2668907" cy="313668"/>
          </a:xfrm>
          <a:prstGeom prst="wedgeRectCallout">
            <a:avLst>
              <a:gd name="adj1" fmla="val -37528"/>
              <a:gd name="adj2" fmla="val 173651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Catch addresses with Pointers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82DFD13-89CE-A4CF-E699-D6D0570D2502}"/>
              </a:ext>
            </a:extLst>
          </p:cNvPr>
          <p:cNvSpPr txBox="1"/>
          <p:nvPr/>
        </p:nvSpPr>
        <p:spPr>
          <a:xfrm>
            <a:off x="5914375" y="4187813"/>
            <a:ext cx="9986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0x 5AE4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75548A37-F65C-4286-75FE-3A6EE24EB202}"/>
              </a:ext>
            </a:extLst>
          </p:cNvPr>
          <p:cNvSpPr/>
          <p:nvPr/>
        </p:nvSpPr>
        <p:spPr>
          <a:xfrm flipH="1">
            <a:off x="4660903" y="4437935"/>
            <a:ext cx="1045829" cy="939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7F07DC4-CFB9-EEAA-C150-CC58DFD1E4EC}"/>
              </a:ext>
            </a:extLst>
          </p:cNvPr>
          <p:cNvSpPr txBox="1"/>
          <p:nvPr/>
        </p:nvSpPr>
        <p:spPr>
          <a:xfrm>
            <a:off x="5918185" y="3873869"/>
            <a:ext cx="9986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0x 5AE8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44F656FA-E795-F132-5527-7316BA2A85AF}"/>
              </a:ext>
            </a:extLst>
          </p:cNvPr>
          <p:cNvSpPr/>
          <p:nvPr/>
        </p:nvSpPr>
        <p:spPr>
          <a:xfrm flipH="1">
            <a:off x="4664713" y="4109894"/>
            <a:ext cx="1045829" cy="939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Speech Bubble: Rectangle 39">
            <a:extLst>
              <a:ext uri="{FF2B5EF4-FFF2-40B4-BE49-F238E27FC236}">
                <a16:creationId xmlns:a16="http://schemas.microsoft.com/office/drawing/2014/main" id="{748BD724-C8A0-7831-50D9-E860D4250FCB}"/>
              </a:ext>
            </a:extLst>
          </p:cNvPr>
          <p:cNvSpPr/>
          <p:nvPr/>
        </p:nvSpPr>
        <p:spPr>
          <a:xfrm>
            <a:off x="9352148" y="1517443"/>
            <a:ext cx="1315315" cy="849889"/>
          </a:xfrm>
          <a:prstGeom prst="wedgeRectCallout">
            <a:avLst>
              <a:gd name="adj1" fmla="val -5062"/>
              <a:gd name="adj2" fmla="val 73795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u="sng" dirty="0">
                <a:solidFill>
                  <a:schemeClr val="tx1"/>
                </a:solidFill>
              </a:rPr>
              <a:t>Equivalence</a:t>
            </a:r>
          </a:p>
          <a:p>
            <a:r>
              <a:rPr lang="en-US" sz="1400" dirty="0" err="1">
                <a:solidFill>
                  <a:schemeClr val="tx1"/>
                </a:solidFill>
                <a:latin typeface="Courier"/>
              </a:rPr>
              <a:t>xPtr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 = &amp;a; </a:t>
            </a:r>
            <a:br>
              <a:rPr lang="en-US" sz="1400" dirty="0">
                <a:solidFill>
                  <a:schemeClr val="tx1"/>
                </a:solidFill>
                <a:latin typeface="Courier"/>
              </a:rPr>
            </a:br>
            <a:r>
              <a:rPr lang="en-US" sz="1400" dirty="0" err="1">
                <a:solidFill>
                  <a:schemeClr val="tx1"/>
                </a:solidFill>
                <a:latin typeface="Courier"/>
              </a:rPr>
              <a:t>yPtr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 = &amp;b;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F1744A2D-FC2D-A4C5-B06C-F25372B3E664}"/>
              </a:ext>
            </a:extLst>
          </p:cNvPr>
          <p:cNvSpPr/>
          <p:nvPr/>
        </p:nvSpPr>
        <p:spPr>
          <a:xfrm>
            <a:off x="5786209" y="3584076"/>
            <a:ext cx="1159106" cy="318035"/>
          </a:xfrm>
          <a:prstGeom prst="round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b="1" dirty="0">
              <a:solidFill>
                <a:schemeClr val="accent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454D712-C013-01B3-AC9B-D71B3AE6E8E8}"/>
              </a:ext>
            </a:extLst>
          </p:cNvPr>
          <p:cNvSpPr txBox="1"/>
          <p:nvPr/>
        </p:nvSpPr>
        <p:spPr>
          <a:xfrm>
            <a:off x="6933324" y="3564698"/>
            <a:ext cx="796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83B9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DA36B73-5A55-7968-40ED-53FA03B11149}"/>
              </a:ext>
            </a:extLst>
          </p:cNvPr>
          <p:cNvSpPr txBox="1"/>
          <p:nvPr/>
        </p:nvSpPr>
        <p:spPr>
          <a:xfrm>
            <a:off x="5210459" y="3543663"/>
            <a:ext cx="6722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/>
                </a:solidFill>
              </a:rPr>
              <a:t>temp</a:t>
            </a:r>
          </a:p>
        </p:txBody>
      </p:sp>
      <p:sp>
        <p:nvSpPr>
          <p:cNvPr id="49" name="Speech Bubble: Rectangle 48">
            <a:extLst>
              <a:ext uri="{FF2B5EF4-FFF2-40B4-BE49-F238E27FC236}">
                <a16:creationId xmlns:a16="http://schemas.microsoft.com/office/drawing/2014/main" id="{B3F7F037-3EC8-8120-6ADB-78A6DD2AD983}"/>
              </a:ext>
            </a:extLst>
          </p:cNvPr>
          <p:cNvSpPr/>
          <p:nvPr/>
        </p:nvSpPr>
        <p:spPr>
          <a:xfrm>
            <a:off x="3600288" y="5057550"/>
            <a:ext cx="4043082" cy="580485"/>
          </a:xfrm>
          <a:prstGeom prst="wedgeRectCallout">
            <a:avLst>
              <a:gd name="adj1" fmla="val -15061"/>
              <a:gd name="adj2" fmla="val -126840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tx1"/>
                </a:solidFill>
                <a:latin typeface="Courier"/>
              </a:rPr>
              <a:t>xPtr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 </a:t>
            </a:r>
            <a:r>
              <a:rPr lang="en-US" sz="1400" dirty="0">
                <a:solidFill>
                  <a:schemeClr val="tx1"/>
                </a:solidFill>
              </a:rPr>
              <a:t>points to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 a </a:t>
            </a:r>
            <a:r>
              <a:rPr lang="en-US" sz="1400" dirty="0">
                <a:solidFill>
                  <a:schemeClr val="tx1"/>
                </a:solidFill>
              </a:rPr>
              <a:t>(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*</a:t>
            </a:r>
            <a:r>
              <a:rPr lang="en-US" sz="1400" dirty="0" err="1">
                <a:solidFill>
                  <a:schemeClr val="tx1"/>
                </a:solidFill>
                <a:latin typeface="Courier"/>
              </a:rPr>
              <a:t>xPtr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 </a:t>
            </a:r>
            <a:r>
              <a:rPr lang="en-US" sz="1400" dirty="0">
                <a:solidFill>
                  <a:schemeClr val="tx1"/>
                </a:solidFill>
              </a:rPr>
              <a:t>is another name of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 a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 </a:t>
            </a:r>
            <a:br>
              <a:rPr lang="en-US" sz="1400" dirty="0">
                <a:solidFill>
                  <a:schemeClr val="tx1"/>
                </a:solidFill>
                <a:latin typeface="Courier"/>
              </a:rPr>
            </a:br>
            <a:r>
              <a:rPr lang="en-US" sz="1400" dirty="0" err="1">
                <a:solidFill>
                  <a:schemeClr val="tx1"/>
                </a:solidFill>
                <a:latin typeface="Courier"/>
              </a:rPr>
              <a:t>yPtr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 </a:t>
            </a:r>
            <a:r>
              <a:rPr lang="en-US" sz="1400" dirty="0">
                <a:solidFill>
                  <a:schemeClr val="tx1"/>
                </a:solidFill>
              </a:rPr>
              <a:t>points to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 b </a:t>
            </a:r>
            <a:r>
              <a:rPr lang="en-US" sz="1400" dirty="0">
                <a:solidFill>
                  <a:schemeClr val="tx1"/>
                </a:solidFill>
              </a:rPr>
              <a:t>(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*</a:t>
            </a:r>
            <a:r>
              <a:rPr lang="en-US" sz="1400" dirty="0" err="1">
                <a:solidFill>
                  <a:schemeClr val="tx1"/>
                </a:solidFill>
                <a:latin typeface="Courier"/>
              </a:rPr>
              <a:t>yPtr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 </a:t>
            </a:r>
            <a:r>
              <a:rPr lang="en-US" sz="1400" dirty="0">
                <a:solidFill>
                  <a:schemeClr val="tx1"/>
                </a:solidFill>
              </a:rPr>
              <a:t>is another name of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 b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BE1076-775F-C856-0EBD-20C80B940025}"/>
              </a:ext>
            </a:extLst>
          </p:cNvPr>
          <p:cNvSpPr txBox="1"/>
          <p:nvPr/>
        </p:nvSpPr>
        <p:spPr>
          <a:xfrm>
            <a:off x="6106082" y="3553839"/>
            <a:ext cx="5627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>
                <a:solidFill>
                  <a:srgbClr val="7F1F1F"/>
                </a:solidFill>
              </a:rPr>
              <a:t>200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90FCF6-81FC-4A78-1447-6C403554FDF2}"/>
              </a:ext>
            </a:extLst>
          </p:cNvPr>
          <p:cNvSpPr txBox="1"/>
          <p:nvPr/>
        </p:nvSpPr>
        <p:spPr>
          <a:xfrm>
            <a:off x="3984000" y="3874508"/>
            <a:ext cx="6261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>
                <a:solidFill>
                  <a:srgbClr val="7F1F1F"/>
                </a:solidFill>
              </a:rPr>
              <a:t>100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41F87C-0F42-1FD3-F7CB-DC603EF572D7}"/>
              </a:ext>
            </a:extLst>
          </p:cNvPr>
          <p:cNvSpPr txBox="1"/>
          <p:nvPr/>
        </p:nvSpPr>
        <p:spPr>
          <a:xfrm>
            <a:off x="3982396" y="4190539"/>
            <a:ext cx="6261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>
                <a:solidFill>
                  <a:srgbClr val="7F1F1F"/>
                </a:solidFill>
              </a:rPr>
              <a:t>100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96FED5E-EF09-74C5-99B9-AEC94DBCEA5A}"/>
              </a:ext>
            </a:extLst>
          </p:cNvPr>
          <p:cNvSpPr txBox="1"/>
          <p:nvPr/>
        </p:nvSpPr>
        <p:spPr>
          <a:xfrm>
            <a:off x="6114104" y="3552235"/>
            <a:ext cx="5627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>
                <a:solidFill>
                  <a:srgbClr val="7F1F1F"/>
                </a:solidFill>
              </a:rPr>
              <a:t>200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3218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4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3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 tmFilter="0, 0; .2, .5; .8, .5; 1, 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" dur="250" autoRev="1" fill="hold"/>
                                        <p:tgtEl>
                                          <p:spTgt spid="3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42" presetClass="path" presetSubtype="0" accel="5000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8.33333E-7 2.59259E-6 L -0.17552 0.09282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776" y="463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5" grpId="0"/>
      <p:bldP spid="36" grpId="0"/>
      <p:bldP spid="37" grpId="0" animBg="1"/>
      <p:bldP spid="43" grpId="0"/>
      <p:bldP spid="8" grpId="0"/>
      <p:bldP spid="27" grpId="0"/>
      <p:bldP spid="27" grpId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965375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Pass by Reference – Using Pointer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5" y="1563637"/>
            <a:ext cx="10237421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Example – Swapping 2 Variables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Setup – Two variables in main() and a swap() function</a:t>
            </a:r>
            <a:endParaRPr lang="en-CA" sz="22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End Result – Pass two variables into swap() using pass-by-reference, </a:t>
            </a:r>
            <a:br>
              <a:rPr lang="en-CA" dirty="0"/>
            </a:br>
            <a:r>
              <a:rPr lang="en-CA" dirty="0"/>
              <a:t> 		    Two values swapped in main() after swap() completed</a:t>
            </a:r>
            <a:endParaRPr lang="en-CA" sz="22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27</a:t>
            </a:fld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BD3F44-1B2A-B350-ACA1-616B4C8E757B}"/>
              </a:ext>
            </a:extLst>
          </p:cNvPr>
          <p:cNvSpPr txBox="1"/>
          <p:nvPr/>
        </p:nvSpPr>
        <p:spPr>
          <a:xfrm>
            <a:off x="803471" y="3243781"/>
            <a:ext cx="2363092" cy="1523494"/>
          </a:xfrm>
          <a:prstGeom prst="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main(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a = 100;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b = 200;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swap two vars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swap( </a:t>
            </a:r>
            <a:r>
              <a:rPr lang="en-US" sz="16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a, </a:t>
            </a:r>
            <a:r>
              <a:rPr lang="en-US" sz="16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b 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1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5F2F670-488C-8850-DCD5-8205AFD26479}"/>
              </a:ext>
            </a:extLst>
          </p:cNvPr>
          <p:cNvSpPr/>
          <p:nvPr/>
        </p:nvSpPr>
        <p:spPr>
          <a:xfrm>
            <a:off x="3928452" y="3901878"/>
            <a:ext cx="654285" cy="318035"/>
          </a:xfrm>
          <a:prstGeom prst="roundRect">
            <a:avLst/>
          </a:prstGeom>
          <a:noFill/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b="1" dirty="0">
              <a:solidFill>
                <a:srgbClr val="7F1F1F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22EFB41-C3A0-A1E5-F2D9-36C0D1E2A16E}"/>
              </a:ext>
            </a:extLst>
          </p:cNvPr>
          <p:cNvSpPr/>
          <p:nvPr/>
        </p:nvSpPr>
        <p:spPr>
          <a:xfrm>
            <a:off x="3925404" y="4219890"/>
            <a:ext cx="654285" cy="318035"/>
          </a:xfrm>
          <a:prstGeom prst="roundRect">
            <a:avLst/>
          </a:prstGeom>
          <a:noFill/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b="1" dirty="0">
              <a:solidFill>
                <a:srgbClr val="7F1F1F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1C87F5-D667-BA52-9566-0701FD431128}"/>
              </a:ext>
            </a:extLst>
          </p:cNvPr>
          <p:cNvSpPr txBox="1"/>
          <p:nvPr/>
        </p:nvSpPr>
        <p:spPr>
          <a:xfrm>
            <a:off x="3484061" y="3306883"/>
            <a:ext cx="1028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7F1F1F"/>
                </a:solidFill>
              </a:rPr>
              <a:t>Memory</a:t>
            </a:r>
            <a:endParaRPr lang="en-US" sz="1600" dirty="0">
              <a:solidFill>
                <a:srgbClr val="7F1F1F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23051F-B33C-66FD-3D22-A366B2BF72A9}"/>
              </a:ext>
            </a:extLst>
          </p:cNvPr>
          <p:cNvSpPr txBox="1"/>
          <p:nvPr/>
        </p:nvSpPr>
        <p:spPr>
          <a:xfrm>
            <a:off x="4545268" y="4166565"/>
            <a:ext cx="257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F1F1F"/>
                </a:solidFill>
              </a:rPr>
              <a:t>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D3A12C-8EB1-1225-5EEE-3032EC60C6C2}"/>
              </a:ext>
            </a:extLst>
          </p:cNvPr>
          <p:cNvSpPr txBox="1"/>
          <p:nvPr/>
        </p:nvSpPr>
        <p:spPr>
          <a:xfrm>
            <a:off x="4545268" y="3814629"/>
            <a:ext cx="257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F1F1F"/>
                </a:solidFill>
              </a:rPr>
              <a:t>b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8CF257-4FB2-2280-8034-CC9511CF3B2B}"/>
              </a:ext>
            </a:extLst>
          </p:cNvPr>
          <p:cNvSpPr txBox="1"/>
          <p:nvPr/>
        </p:nvSpPr>
        <p:spPr>
          <a:xfrm>
            <a:off x="3195747" y="4220533"/>
            <a:ext cx="796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5AE4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D025FD-AB01-BF8C-4D55-E2742A59EF17}"/>
              </a:ext>
            </a:extLst>
          </p:cNvPr>
          <p:cNvSpPr txBox="1"/>
          <p:nvPr/>
        </p:nvSpPr>
        <p:spPr>
          <a:xfrm>
            <a:off x="3202229" y="3896279"/>
            <a:ext cx="796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5AE8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88046B9-9B47-B71A-6148-F6CB9CC9D212}"/>
              </a:ext>
            </a:extLst>
          </p:cNvPr>
          <p:cNvSpPr/>
          <p:nvPr/>
        </p:nvSpPr>
        <p:spPr>
          <a:xfrm>
            <a:off x="1858519" y="4155330"/>
            <a:ext cx="920015" cy="19102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Speech Bubble: Rectangle 18">
            <a:extLst>
              <a:ext uri="{FF2B5EF4-FFF2-40B4-BE49-F238E27FC236}">
                <a16:creationId xmlns:a16="http://schemas.microsoft.com/office/drawing/2014/main" id="{8FFAC0DC-D44A-62A5-3BB6-4054759AB68D}"/>
              </a:ext>
            </a:extLst>
          </p:cNvPr>
          <p:cNvSpPr/>
          <p:nvPr/>
        </p:nvSpPr>
        <p:spPr>
          <a:xfrm>
            <a:off x="803472" y="4980695"/>
            <a:ext cx="1808530" cy="313668"/>
          </a:xfrm>
          <a:prstGeom prst="wedgeRectCallout">
            <a:avLst>
              <a:gd name="adj1" fmla="val 34673"/>
              <a:gd name="adj2" fmla="val -214007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Pass the addresses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2A5E94-065B-DC54-E9F8-390C180A015A}"/>
              </a:ext>
            </a:extLst>
          </p:cNvPr>
          <p:cNvSpPr txBox="1"/>
          <p:nvPr/>
        </p:nvSpPr>
        <p:spPr>
          <a:xfrm>
            <a:off x="7873210" y="3287771"/>
            <a:ext cx="3235780" cy="138499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swap(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*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xPtr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*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yPtr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temp;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temp = *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yPtr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temp = b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yPtr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*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xPtr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b = a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xPtr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temp;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 = temp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693670-6D4A-C2A1-AB8E-86D86597A617}"/>
              </a:ext>
            </a:extLst>
          </p:cNvPr>
          <p:cNvSpPr txBox="1"/>
          <p:nvPr/>
        </p:nvSpPr>
        <p:spPr>
          <a:xfrm>
            <a:off x="5719681" y="3007892"/>
            <a:ext cx="12956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Temp Mem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11B75EA-B83A-3EDB-BA56-2603478712F4}"/>
              </a:ext>
            </a:extLst>
          </p:cNvPr>
          <p:cNvSpPr/>
          <p:nvPr/>
        </p:nvSpPr>
        <p:spPr>
          <a:xfrm>
            <a:off x="5787812" y="3893691"/>
            <a:ext cx="1159106" cy="318035"/>
          </a:xfrm>
          <a:prstGeom prst="round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b="1" dirty="0">
              <a:solidFill>
                <a:schemeClr val="accent1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9D9847C-2DCD-931D-2219-05C6F74BB7C1}"/>
              </a:ext>
            </a:extLst>
          </p:cNvPr>
          <p:cNvSpPr/>
          <p:nvPr/>
        </p:nvSpPr>
        <p:spPr>
          <a:xfrm>
            <a:off x="5784764" y="4211703"/>
            <a:ext cx="1159106" cy="318035"/>
          </a:xfrm>
          <a:prstGeom prst="round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b="1" dirty="0">
              <a:solidFill>
                <a:schemeClr val="accent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BB1B6E4-C608-C5A9-A7FD-104F877D2FB5}"/>
              </a:ext>
            </a:extLst>
          </p:cNvPr>
          <p:cNvSpPr txBox="1"/>
          <p:nvPr/>
        </p:nvSpPr>
        <p:spPr>
          <a:xfrm>
            <a:off x="5277818" y="4228150"/>
            <a:ext cx="6461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solidFill>
                  <a:schemeClr val="accent1"/>
                </a:solidFill>
              </a:rPr>
              <a:t>xPtr</a:t>
            </a:r>
            <a:endParaRPr lang="en-US" sz="1600" b="1" dirty="0">
              <a:solidFill>
                <a:schemeClr val="accent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9D21EEA-B788-B8BE-F7D0-50A9E10955AF}"/>
              </a:ext>
            </a:extLst>
          </p:cNvPr>
          <p:cNvSpPr txBox="1"/>
          <p:nvPr/>
        </p:nvSpPr>
        <p:spPr>
          <a:xfrm>
            <a:off x="5277818" y="3846290"/>
            <a:ext cx="5555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solidFill>
                  <a:schemeClr val="accent1"/>
                </a:solidFill>
              </a:rPr>
              <a:t>yPtr</a:t>
            </a:r>
            <a:endParaRPr lang="en-US" sz="1600" b="1" dirty="0">
              <a:solidFill>
                <a:schemeClr val="accent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D7F33F4-D334-FAD8-622F-D956A87624FE}"/>
              </a:ext>
            </a:extLst>
          </p:cNvPr>
          <p:cNvSpPr txBox="1"/>
          <p:nvPr/>
        </p:nvSpPr>
        <p:spPr>
          <a:xfrm>
            <a:off x="6928445" y="4198567"/>
            <a:ext cx="796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83B1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8B0C080-19BB-9297-609C-186A28229FF9}"/>
              </a:ext>
            </a:extLst>
          </p:cNvPr>
          <p:cNvSpPr txBox="1"/>
          <p:nvPr/>
        </p:nvSpPr>
        <p:spPr>
          <a:xfrm>
            <a:off x="6934927" y="3874313"/>
            <a:ext cx="796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83B5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49B7185-55CB-9AFD-56C1-65CBD5F26E91}"/>
              </a:ext>
            </a:extLst>
          </p:cNvPr>
          <p:cNvSpPr/>
          <p:nvPr/>
        </p:nvSpPr>
        <p:spPr>
          <a:xfrm>
            <a:off x="8898102" y="3322049"/>
            <a:ext cx="1977421" cy="219046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5" name="Speech Bubble: Rectangle 34">
            <a:extLst>
              <a:ext uri="{FF2B5EF4-FFF2-40B4-BE49-F238E27FC236}">
                <a16:creationId xmlns:a16="http://schemas.microsoft.com/office/drawing/2014/main" id="{00DB95D4-E0FD-2751-3B31-9FC509EF5802}"/>
              </a:ext>
            </a:extLst>
          </p:cNvPr>
          <p:cNvSpPr/>
          <p:nvPr/>
        </p:nvSpPr>
        <p:spPr>
          <a:xfrm>
            <a:off x="8772590" y="2565791"/>
            <a:ext cx="2668907" cy="313668"/>
          </a:xfrm>
          <a:prstGeom prst="wedgeRectCallout">
            <a:avLst>
              <a:gd name="adj1" fmla="val -37528"/>
              <a:gd name="adj2" fmla="val 173651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Catch addresses with Pointers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82DFD13-89CE-A4CF-E699-D6D0570D2502}"/>
              </a:ext>
            </a:extLst>
          </p:cNvPr>
          <p:cNvSpPr txBox="1"/>
          <p:nvPr/>
        </p:nvSpPr>
        <p:spPr>
          <a:xfrm>
            <a:off x="5914375" y="4187813"/>
            <a:ext cx="9986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0x 5AE4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75548A37-F65C-4286-75FE-3A6EE24EB202}"/>
              </a:ext>
            </a:extLst>
          </p:cNvPr>
          <p:cNvSpPr/>
          <p:nvPr/>
        </p:nvSpPr>
        <p:spPr>
          <a:xfrm flipH="1">
            <a:off x="4660903" y="4458255"/>
            <a:ext cx="1045829" cy="939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7F07DC4-CFB9-EEAA-C150-CC58DFD1E4EC}"/>
              </a:ext>
            </a:extLst>
          </p:cNvPr>
          <p:cNvSpPr txBox="1"/>
          <p:nvPr/>
        </p:nvSpPr>
        <p:spPr>
          <a:xfrm>
            <a:off x="5918185" y="3873869"/>
            <a:ext cx="9986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0x 5AE8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44F656FA-E795-F132-5527-7316BA2A85AF}"/>
              </a:ext>
            </a:extLst>
          </p:cNvPr>
          <p:cNvSpPr/>
          <p:nvPr/>
        </p:nvSpPr>
        <p:spPr>
          <a:xfrm flipH="1">
            <a:off x="4664713" y="4109259"/>
            <a:ext cx="1045829" cy="939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Speech Bubble: Rectangle 39">
            <a:extLst>
              <a:ext uri="{FF2B5EF4-FFF2-40B4-BE49-F238E27FC236}">
                <a16:creationId xmlns:a16="http://schemas.microsoft.com/office/drawing/2014/main" id="{748BD724-C8A0-7831-50D9-E860D4250FCB}"/>
              </a:ext>
            </a:extLst>
          </p:cNvPr>
          <p:cNvSpPr/>
          <p:nvPr/>
        </p:nvSpPr>
        <p:spPr>
          <a:xfrm>
            <a:off x="9352148" y="1517443"/>
            <a:ext cx="1315315" cy="849889"/>
          </a:xfrm>
          <a:prstGeom prst="wedgeRectCallout">
            <a:avLst>
              <a:gd name="adj1" fmla="val -5062"/>
              <a:gd name="adj2" fmla="val 73795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u="sng" dirty="0">
                <a:solidFill>
                  <a:schemeClr val="tx1"/>
                </a:solidFill>
              </a:rPr>
              <a:t>Equivalence</a:t>
            </a:r>
          </a:p>
          <a:p>
            <a:r>
              <a:rPr lang="en-US" sz="1400" dirty="0" err="1">
                <a:solidFill>
                  <a:schemeClr val="tx1"/>
                </a:solidFill>
                <a:latin typeface="Courier"/>
              </a:rPr>
              <a:t>xPtr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 = &amp;a; </a:t>
            </a:r>
            <a:br>
              <a:rPr lang="en-US" sz="1400" dirty="0">
                <a:solidFill>
                  <a:schemeClr val="tx1"/>
                </a:solidFill>
                <a:latin typeface="Courier"/>
              </a:rPr>
            </a:br>
            <a:r>
              <a:rPr lang="en-US" sz="1400" dirty="0" err="1">
                <a:solidFill>
                  <a:schemeClr val="tx1"/>
                </a:solidFill>
                <a:latin typeface="Courier"/>
              </a:rPr>
              <a:t>yPtr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 = &amp;b;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F1744A2D-FC2D-A4C5-B06C-F25372B3E664}"/>
              </a:ext>
            </a:extLst>
          </p:cNvPr>
          <p:cNvSpPr/>
          <p:nvPr/>
        </p:nvSpPr>
        <p:spPr>
          <a:xfrm>
            <a:off x="5786209" y="3584076"/>
            <a:ext cx="1159106" cy="318035"/>
          </a:xfrm>
          <a:prstGeom prst="round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b="1" dirty="0">
              <a:solidFill>
                <a:schemeClr val="accent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454D712-C013-01B3-AC9B-D71B3AE6E8E8}"/>
              </a:ext>
            </a:extLst>
          </p:cNvPr>
          <p:cNvSpPr txBox="1"/>
          <p:nvPr/>
        </p:nvSpPr>
        <p:spPr>
          <a:xfrm>
            <a:off x="6933324" y="3564698"/>
            <a:ext cx="796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83B9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DA36B73-5A55-7968-40ED-53FA03B11149}"/>
              </a:ext>
            </a:extLst>
          </p:cNvPr>
          <p:cNvSpPr txBox="1"/>
          <p:nvPr/>
        </p:nvSpPr>
        <p:spPr>
          <a:xfrm>
            <a:off x="5205820" y="3525689"/>
            <a:ext cx="6722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/>
                </a:solidFill>
              </a:rPr>
              <a:t>temp</a:t>
            </a:r>
          </a:p>
        </p:txBody>
      </p:sp>
      <p:sp>
        <p:nvSpPr>
          <p:cNvPr id="49" name="Speech Bubble: Rectangle 48">
            <a:extLst>
              <a:ext uri="{FF2B5EF4-FFF2-40B4-BE49-F238E27FC236}">
                <a16:creationId xmlns:a16="http://schemas.microsoft.com/office/drawing/2014/main" id="{B3F7F037-3EC8-8120-6ADB-78A6DD2AD983}"/>
              </a:ext>
            </a:extLst>
          </p:cNvPr>
          <p:cNvSpPr/>
          <p:nvPr/>
        </p:nvSpPr>
        <p:spPr>
          <a:xfrm>
            <a:off x="3600288" y="5057550"/>
            <a:ext cx="4043082" cy="580485"/>
          </a:xfrm>
          <a:prstGeom prst="wedgeRectCallout">
            <a:avLst>
              <a:gd name="adj1" fmla="val -15061"/>
              <a:gd name="adj2" fmla="val -126840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tx1"/>
                </a:solidFill>
                <a:latin typeface="Courier"/>
              </a:rPr>
              <a:t>xPtr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 </a:t>
            </a:r>
            <a:r>
              <a:rPr lang="en-US" sz="1400" dirty="0">
                <a:solidFill>
                  <a:schemeClr val="tx1"/>
                </a:solidFill>
              </a:rPr>
              <a:t>points to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 a </a:t>
            </a:r>
            <a:r>
              <a:rPr lang="en-US" sz="1400" dirty="0">
                <a:solidFill>
                  <a:schemeClr val="tx1"/>
                </a:solidFill>
              </a:rPr>
              <a:t>(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*</a:t>
            </a:r>
            <a:r>
              <a:rPr lang="en-US" sz="1400" dirty="0" err="1">
                <a:solidFill>
                  <a:schemeClr val="tx1"/>
                </a:solidFill>
                <a:latin typeface="Courier"/>
              </a:rPr>
              <a:t>xPtr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 </a:t>
            </a:r>
            <a:r>
              <a:rPr lang="en-US" sz="1400" dirty="0">
                <a:solidFill>
                  <a:schemeClr val="tx1"/>
                </a:solidFill>
              </a:rPr>
              <a:t>is another name of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 a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 </a:t>
            </a:r>
            <a:br>
              <a:rPr lang="en-US" sz="1400" dirty="0">
                <a:solidFill>
                  <a:schemeClr val="tx1"/>
                </a:solidFill>
                <a:latin typeface="Courier"/>
              </a:rPr>
            </a:br>
            <a:r>
              <a:rPr lang="en-US" sz="1400" dirty="0" err="1">
                <a:solidFill>
                  <a:schemeClr val="tx1"/>
                </a:solidFill>
                <a:latin typeface="Courier"/>
              </a:rPr>
              <a:t>yPtr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 </a:t>
            </a:r>
            <a:r>
              <a:rPr lang="en-US" sz="1400" dirty="0">
                <a:solidFill>
                  <a:schemeClr val="tx1"/>
                </a:solidFill>
              </a:rPr>
              <a:t>points to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 b </a:t>
            </a:r>
            <a:r>
              <a:rPr lang="en-US" sz="1400" dirty="0">
                <a:solidFill>
                  <a:schemeClr val="tx1"/>
                </a:solidFill>
              </a:rPr>
              <a:t>(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*</a:t>
            </a:r>
            <a:r>
              <a:rPr lang="en-US" sz="1400" dirty="0" err="1">
                <a:solidFill>
                  <a:schemeClr val="tx1"/>
                </a:solidFill>
                <a:latin typeface="Courier"/>
              </a:rPr>
              <a:t>yPtr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 </a:t>
            </a:r>
            <a:r>
              <a:rPr lang="en-US" sz="1400" dirty="0">
                <a:solidFill>
                  <a:schemeClr val="tx1"/>
                </a:solidFill>
              </a:rPr>
              <a:t>is another name of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 b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  <a:r>
              <a:rPr lang="en-US" sz="1400" dirty="0">
                <a:solidFill>
                  <a:schemeClr val="tx1"/>
                </a:solidFill>
                <a:latin typeface="Courier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BE1076-775F-C856-0EBD-20C80B940025}"/>
              </a:ext>
            </a:extLst>
          </p:cNvPr>
          <p:cNvSpPr txBox="1"/>
          <p:nvPr/>
        </p:nvSpPr>
        <p:spPr>
          <a:xfrm>
            <a:off x="6106082" y="3553839"/>
            <a:ext cx="5627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>
                <a:solidFill>
                  <a:srgbClr val="7F1F1F"/>
                </a:solidFill>
              </a:rPr>
              <a:t>200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90FCF6-81FC-4A78-1447-6C403554FDF2}"/>
              </a:ext>
            </a:extLst>
          </p:cNvPr>
          <p:cNvSpPr txBox="1"/>
          <p:nvPr/>
        </p:nvSpPr>
        <p:spPr>
          <a:xfrm>
            <a:off x="3984000" y="3874508"/>
            <a:ext cx="6261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>
                <a:solidFill>
                  <a:srgbClr val="7F1F1F"/>
                </a:solidFill>
              </a:rPr>
              <a:t>100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41F87C-0F42-1FD3-F7CB-DC603EF572D7}"/>
              </a:ext>
            </a:extLst>
          </p:cNvPr>
          <p:cNvSpPr txBox="1"/>
          <p:nvPr/>
        </p:nvSpPr>
        <p:spPr>
          <a:xfrm>
            <a:off x="3982396" y="4190539"/>
            <a:ext cx="6261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>
                <a:solidFill>
                  <a:srgbClr val="7F1F1F"/>
                </a:solidFill>
              </a:rPr>
              <a:t>200</a:t>
            </a:r>
            <a:endParaRPr lang="en-US" dirty="0"/>
          </a:p>
        </p:txBody>
      </p:sp>
      <p:sp>
        <p:nvSpPr>
          <p:cNvPr id="22" name="Speech Bubble: Rectangle 21">
            <a:extLst>
              <a:ext uri="{FF2B5EF4-FFF2-40B4-BE49-F238E27FC236}">
                <a16:creationId xmlns:a16="http://schemas.microsoft.com/office/drawing/2014/main" id="{943BA35F-F728-FAE2-A339-3CFDC4BDA652}"/>
              </a:ext>
            </a:extLst>
          </p:cNvPr>
          <p:cNvSpPr/>
          <p:nvPr/>
        </p:nvSpPr>
        <p:spPr>
          <a:xfrm>
            <a:off x="9048479" y="5098688"/>
            <a:ext cx="2060511" cy="734298"/>
          </a:xfrm>
          <a:prstGeom prst="wedgeRectCallout">
            <a:avLst>
              <a:gd name="adj1" fmla="val -73919"/>
              <a:gd name="adj2" fmla="val -115043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When swap() is done, all local variables (</a:t>
            </a:r>
            <a:r>
              <a:rPr lang="en-US" sz="1400" dirty="0" err="1">
                <a:solidFill>
                  <a:schemeClr val="tx1"/>
                </a:solidFill>
              </a:rPr>
              <a:t>xPtr</a:t>
            </a:r>
            <a:r>
              <a:rPr lang="en-US" sz="1400" dirty="0">
                <a:solidFill>
                  <a:schemeClr val="tx1"/>
                </a:solidFill>
              </a:rPr>
              <a:t>, </a:t>
            </a:r>
            <a:r>
              <a:rPr lang="en-US" sz="1400" dirty="0" err="1">
                <a:solidFill>
                  <a:schemeClr val="tx1"/>
                </a:solidFill>
              </a:rPr>
              <a:t>yPtr</a:t>
            </a:r>
            <a:r>
              <a:rPr lang="en-US" sz="1400" dirty="0">
                <a:solidFill>
                  <a:schemeClr val="tx1"/>
                </a:solidFill>
              </a:rPr>
              <a:t>, temp) are destroyed</a:t>
            </a:r>
            <a:endParaRPr lang="en-US" sz="1400" dirty="0">
              <a:solidFill>
                <a:schemeClr val="tx1"/>
              </a:solidFill>
              <a:latin typeface="Courier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E4190D3-16B3-B974-3591-1419AB002486}"/>
              </a:ext>
            </a:extLst>
          </p:cNvPr>
          <p:cNvSpPr/>
          <p:nvPr/>
        </p:nvSpPr>
        <p:spPr>
          <a:xfrm>
            <a:off x="9191260" y="446685"/>
            <a:ext cx="2252393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L7Ex5-PassByRef.c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6852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3" grpId="0" animBg="1"/>
      <p:bldP spid="24" grpId="0" animBg="1"/>
      <p:bldP spid="25" grpId="0"/>
      <p:bldP spid="26" grpId="0"/>
      <p:bldP spid="32" grpId="0"/>
      <p:bldP spid="33" grpId="0"/>
      <p:bldP spid="36" grpId="0"/>
      <p:bldP spid="37" grpId="0" animBg="1"/>
      <p:bldP spid="38" grpId="0"/>
      <p:bldP spid="39" grpId="0" animBg="1"/>
      <p:bldP spid="41" grpId="0" animBg="1"/>
      <p:bldP spid="42" grpId="0"/>
      <p:bldP spid="43" grpId="0"/>
      <p:bldP spid="8" grpId="0"/>
      <p:bldP spid="2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965375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Multiple Return Values – Using Pointer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5" y="1563637"/>
            <a:ext cx="10237421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i="1" u="sng" dirty="0"/>
              <a:t>One of the ways</a:t>
            </a:r>
            <a:r>
              <a:rPr lang="en-US" sz="2200" i="1" dirty="0"/>
              <a:t> </a:t>
            </a:r>
            <a:r>
              <a:rPr lang="en-US" sz="2200" dirty="0"/>
              <a:t>to simulate multiple return values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FF"/>
                </a:solidFill>
              </a:rPr>
              <a:t>Pass the input variables </a:t>
            </a:r>
            <a:r>
              <a:rPr lang="en-US" b="1" dirty="0">
                <a:solidFill>
                  <a:srgbClr val="0000FF"/>
                </a:solidFill>
              </a:rPr>
              <a:t>by value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Such that the function will not accidentally modify the genuine input values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FF"/>
                </a:solidFill>
              </a:rPr>
              <a:t>Pass the desired variables to capture the output values </a:t>
            </a:r>
            <a:r>
              <a:rPr lang="en-US" b="1" dirty="0">
                <a:solidFill>
                  <a:srgbClr val="0000FF"/>
                </a:solidFill>
              </a:rPr>
              <a:t>by reference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Such that the function </a:t>
            </a:r>
            <a:r>
              <a:rPr lang="en-US" altLang="zh-CN" dirty="0"/>
              <a:t>can</a:t>
            </a:r>
            <a:r>
              <a:rPr lang="en-CA" dirty="0"/>
              <a:t> directly write the output values to the genuine variables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Example – A function calculating both the sum and difference of two integers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Two operands as input variables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Two results to return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We will achieve the multiple return values using Pointers!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28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028942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965375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Multiple Return Values – Using Pointer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5" y="1563637"/>
            <a:ext cx="10237421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Example – A function calculating both the sum and difference of two integers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Setup – Two </a:t>
            </a:r>
            <a:r>
              <a:rPr lang="en-CA" i="1" dirty="0"/>
              <a:t>int</a:t>
            </a:r>
            <a:r>
              <a:rPr lang="en-CA" dirty="0"/>
              <a:t> operands and two </a:t>
            </a:r>
            <a:r>
              <a:rPr lang="en-CA" i="1" dirty="0"/>
              <a:t>int</a:t>
            </a:r>
            <a:r>
              <a:rPr lang="en-CA" dirty="0"/>
              <a:t> results in main()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End Result – Pass two operands into </a:t>
            </a:r>
            <a:r>
              <a:rPr lang="en-CA" dirty="0" err="1"/>
              <a:t>sum_diff</a:t>
            </a:r>
            <a:r>
              <a:rPr lang="en-CA" dirty="0"/>
              <a:t>() by value, two results by reference </a:t>
            </a:r>
            <a:br>
              <a:rPr lang="en-CA" dirty="0"/>
            </a:br>
            <a:r>
              <a:rPr lang="en-CA" dirty="0"/>
              <a:t> 		   Two results available in main() after </a:t>
            </a:r>
            <a:r>
              <a:rPr lang="en-CA" dirty="0" err="1"/>
              <a:t>sum_diff</a:t>
            </a:r>
            <a:r>
              <a:rPr lang="en-CA" dirty="0"/>
              <a:t>() completed</a:t>
            </a:r>
            <a:endParaRPr lang="en-CA" sz="22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29</a:t>
            </a:fld>
            <a:endParaRPr lang="en-C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B4296E-A218-09E6-E18E-68A759416CB8}"/>
              </a:ext>
            </a:extLst>
          </p:cNvPr>
          <p:cNvSpPr txBox="1"/>
          <p:nvPr/>
        </p:nvSpPr>
        <p:spPr>
          <a:xfrm>
            <a:off x="543596" y="2983899"/>
            <a:ext cx="3240562" cy="2169825"/>
          </a:xfrm>
          <a:prstGeom prst="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main(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Two Int Operands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x = 10, y = 20;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Two Int Results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sum, diff;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//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Calculate!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sum_diff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x, y, </a:t>
            </a:r>
            <a:r>
              <a:rPr lang="en-US" sz="12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sum, </a:t>
            </a:r>
            <a:r>
              <a:rPr lang="en-US" sz="12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diff 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1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2E9B644-BA74-0A51-DDB1-39EA73D97734}"/>
              </a:ext>
            </a:extLst>
          </p:cNvPr>
          <p:cNvSpPr/>
          <p:nvPr/>
        </p:nvSpPr>
        <p:spPr>
          <a:xfrm>
            <a:off x="4683009" y="4404250"/>
            <a:ext cx="654285" cy="318035"/>
          </a:xfrm>
          <a:prstGeom prst="roundRect">
            <a:avLst/>
          </a:prstGeom>
          <a:noFill/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rgbClr val="7F1F1F"/>
                </a:solidFill>
              </a:rPr>
              <a:t>20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902F6DC-28D1-2F4B-E92E-EA3AD9F453A7}"/>
              </a:ext>
            </a:extLst>
          </p:cNvPr>
          <p:cNvSpPr/>
          <p:nvPr/>
        </p:nvSpPr>
        <p:spPr>
          <a:xfrm>
            <a:off x="4679961" y="4722262"/>
            <a:ext cx="654285" cy="318035"/>
          </a:xfrm>
          <a:prstGeom prst="roundRect">
            <a:avLst/>
          </a:prstGeom>
          <a:noFill/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rgbClr val="7F1F1F"/>
                </a:solidFill>
              </a:rPr>
              <a:t>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54E4F5-3D84-6846-47FB-80CD5A988FD1}"/>
              </a:ext>
            </a:extLst>
          </p:cNvPr>
          <p:cNvSpPr txBox="1"/>
          <p:nvPr/>
        </p:nvSpPr>
        <p:spPr>
          <a:xfrm>
            <a:off x="4238618" y="3250990"/>
            <a:ext cx="1028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7F1F1F"/>
                </a:solidFill>
              </a:rPr>
              <a:t>Memory</a:t>
            </a:r>
            <a:endParaRPr lang="en-US" sz="1600" dirty="0">
              <a:solidFill>
                <a:srgbClr val="7F1F1F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2DA2D0-77B6-A2F5-A4D7-4F7F0D683CC2}"/>
              </a:ext>
            </a:extLst>
          </p:cNvPr>
          <p:cNvSpPr txBox="1"/>
          <p:nvPr/>
        </p:nvSpPr>
        <p:spPr>
          <a:xfrm>
            <a:off x="5299825" y="4689572"/>
            <a:ext cx="257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rgbClr val="7F1F1F"/>
                </a:solidFill>
              </a:rPr>
              <a:t>x</a:t>
            </a:r>
            <a:endParaRPr lang="en-US" b="1" dirty="0">
              <a:solidFill>
                <a:srgbClr val="7F1F1F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1E778E-4EC6-0CFC-3B37-327456651028}"/>
              </a:ext>
            </a:extLst>
          </p:cNvPr>
          <p:cNvSpPr txBox="1"/>
          <p:nvPr/>
        </p:nvSpPr>
        <p:spPr>
          <a:xfrm>
            <a:off x="5299825" y="4354343"/>
            <a:ext cx="257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rgbClr val="7F1F1F"/>
                </a:solidFill>
              </a:rPr>
              <a:t>y</a:t>
            </a:r>
            <a:endParaRPr lang="en-US" b="1" dirty="0">
              <a:solidFill>
                <a:srgbClr val="7F1F1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D85E4D-3E9C-1407-AAC0-02A589AFC8F2}"/>
              </a:ext>
            </a:extLst>
          </p:cNvPr>
          <p:cNvSpPr txBox="1"/>
          <p:nvPr/>
        </p:nvSpPr>
        <p:spPr>
          <a:xfrm>
            <a:off x="3950304" y="4722905"/>
            <a:ext cx="796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5AE4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F0F771-FB93-1EC1-DA10-56ECC307EE27}"/>
              </a:ext>
            </a:extLst>
          </p:cNvPr>
          <p:cNvSpPr txBox="1"/>
          <p:nvPr/>
        </p:nvSpPr>
        <p:spPr>
          <a:xfrm>
            <a:off x="3956786" y="4398651"/>
            <a:ext cx="796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5AE8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FD3FF18-922A-36A4-D16B-5EBF45777987}"/>
              </a:ext>
            </a:extLst>
          </p:cNvPr>
          <p:cNvSpPr/>
          <p:nvPr/>
        </p:nvSpPr>
        <p:spPr>
          <a:xfrm>
            <a:off x="4692634" y="3768203"/>
            <a:ext cx="654285" cy="318035"/>
          </a:xfrm>
          <a:prstGeom prst="roundRect">
            <a:avLst/>
          </a:prstGeom>
          <a:noFill/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rgbClr val="7F1F1F"/>
                </a:solidFill>
              </a:rPr>
              <a:t>??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18B3BA3-EDB9-84F5-1520-C413B4B367DF}"/>
              </a:ext>
            </a:extLst>
          </p:cNvPr>
          <p:cNvSpPr/>
          <p:nvPr/>
        </p:nvSpPr>
        <p:spPr>
          <a:xfrm>
            <a:off x="4689586" y="4086215"/>
            <a:ext cx="654285" cy="318035"/>
          </a:xfrm>
          <a:prstGeom prst="roundRect">
            <a:avLst/>
          </a:prstGeom>
          <a:noFill/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rgbClr val="7F1F1F"/>
                </a:solidFill>
              </a:rPr>
              <a:t>??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7631403-97D9-9394-E0A6-F80D0C3F0C3D}"/>
              </a:ext>
            </a:extLst>
          </p:cNvPr>
          <p:cNvSpPr txBox="1"/>
          <p:nvPr/>
        </p:nvSpPr>
        <p:spPr>
          <a:xfrm>
            <a:off x="5309450" y="4062857"/>
            <a:ext cx="5685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7F1F1F"/>
                </a:solidFill>
              </a:rPr>
              <a:t>sum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2E5A1A0-9F78-429B-3678-389A9596BE79}"/>
              </a:ext>
            </a:extLst>
          </p:cNvPr>
          <p:cNvSpPr txBox="1"/>
          <p:nvPr/>
        </p:nvSpPr>
        <p:spPr>
          <a:xfrm>
            <a:off x="5309450" y="3773688"/>
            <a:ext cx="5373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7F1F1F"/>
                </a:solidFill>
              </a:rPr>
              <a:t>diff</a:t>
            </a:r>
            <a:endParaRPr lang="en-US" b="1" dirty="0">
              <a:solidFill>
                <a:srgbClr val="7F1F1F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180DC12-0A23-1C51-E5FE-3789D030B288}"/>
              </a:ext>
            </a:extLst>
          </p:cNvPr>
          <p:cNvSpPr txBox="1"/>
          <p:nvPr/>
        </p:nvSpPr>
        <p:spPr>
          <a:xfrm>
            <a:off x="3959929" y="4086858"/>
            <a:ext cx="796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5AEC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FF88380-5CD8-05F6-518B-43E989302D82}"/>
              </a:ext>
            </a:extLst>
          </p:cNvPr>
          <p:cNvSpPr txBox="1"/>
          <p:nvPr/>
        </p:nvSpPr>
        <p:spPr>
          <a:xfrm>
            <a:off x="3966411" y="3762604"/>
            <a:ext cx="796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5AF0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2F8B386-B47E-FFCF-CBE9-DBCD99CE87D5}"/>
              </a:ext>
            </a:extLst>
          </p:cNvPr>
          <p:cNvSpPr/>
          <p:nvPr/>
        </p:nvSpPr>
        <p:spPr>
          <a:xfrm>
            <a:off x="1765326" y="4550492"/>
            <a:ext cx="571257" cy="191020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9" name="Speech Bubble: Rectangle 28">
            <a:extLst>
              <a:ext uri="{FF2B5EF4-FFF2-40B4-BE49-F238E27FC236}">
                <a16:creationId xmlns:a16="http://schemas.microsoft.com/office/drawing/2014/main" id="{A6BFCE0D-2351-56DB-5E0E-696F6414DCED}"/>
              </a:ext>
            </a:extLst>
          </p:cNvPr>
          <p:cNvSpPr/>
          <p:nvPr/>
        </p:nvSpPr>
        <p:spPr>
          <a:xfrm>
            <a:off x="733446" y="5321550"/>
            <a:ext cx="1374493" cy="313668"/>
          </a:xfrm>
          <a:prstGeom prst="wedgeRectCallout">
            <a:avLst>
              <a:gd name="adj1" fmla="val 50079"/>
              <a:gd name="adj2" fmla="val -214007"/>
            </a:avLst>
          </a:prstGeom>
          <a:solidFill>
            <a:srgbClr val="FFDDDD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Pass the value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F99327C-4431-F8EC-1A46-26ECCD8F7F59}"/>
              </a:ext>
            </a:extLst>
          </p:cNvPr>
          <p:cNvSpPr/>
          <p:nvPr/>
        </p:nvSpPr>
        <p:spPr>
          <a:xfrm>
            <a:off x="2363100" y="4550492"/>
            <a:ext cx="1072932" cy="19102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34" name="Speech Bubble: Rectangle 33">
            <a:extLst>
              <a:ext uri="{FF2B5EF4-FFF2-40B4-BE49-F238E27FC236}">
                <a16:creationId xmlns:a16="http://schemas.microsoft.com/office/drawing/2014/main" id="{396B372C-3E94-5312-450E-684952ED65F5}"/>
              </a:ext>
            </a:extLst>
          </p:cNvPr>
          <p:cNvSpPr/>
          <p:nvPr/>
        </p:nvSpPr>
        <p:spPr>
          <a:xfrm>
            <a:off x="2433404" y="5321550"/>
            <a:ext cx="1663136" cy="313668"/>
          </a:xfrm>
          <a:prstGeom prst="wedgeRectCallout">
            <a:avLst>
              <a:gd name="adj1" fmla="val -1041"/>
              <a:gd name="adj2" fmla="val -210938"/>
            </a:avLst>
          </a:prstGeom>
          <a:solidFill>
            <a:srgbClr val="FFDDDD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Pass the Address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ABD7DBF-56CC-00F3-B6FF-8554129ED58F}"/>
              </a:ext>
            </a:extLst>
          </p:cNvPr>
          <p:cNvSpPr txBox="1"/>
          <p:nvPr/>
        </p:nvSpPr>
        <p:spPr>
          <a:xfrm>
            <a:off x="6423787" y="4813718"/>
            <a:ext cx="4788710" cy="101566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sum_diff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b,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int*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sumP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int*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diffP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6ED42BE-9608-1C25-9E64-68080DB89243}"/>
              </a:ext>
            </a:extLst>
          </p:cNvPr>
          <p:cNvSpPr/>
          <p:nvPr/>
        </p:nvSpPr>
        <p:spPr>
          <a:xfrm>
            <a:off x="7689400" y="4861920"/>
            <a:ext cx="1224541" cy="191020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7" name="Speech Bubble: Rectangle 36">
            <a:extLst>
              <a:ext uri="{FF2B5EF4-FFF2-40B4-BE49-F238E27FC236}">
                <a16:creationId xmlns:a16="http://schemas.microsoft.com/office/drawing/2014/main" id="{10B9B2B9-7729-6A0F-2D63-0759EE65DBA1}"/>
              </a:ext>
            </a:extLst>
          </p:cNvPr>
          <p:cNvSpPr/>
          <p:nvPr/>
        </p:nvSpPr>
        <p:spPr>
          <a:xfrm>
            <a:off x="9111923" y="4280146"/>
            <a:ext cx="1374493" cy="313668"/>
          </a:xfrm>
          <a:prstGeom prst="wedgeRectCallout">
            <a:avLst>
              <a:gd name="adj1" fmla="val -75971"/>
              <a:gd name="adj2" fmla="val 138883"/>
            </a:avLst>
          </a:prstGeom>
          <a:solidFill>
            <a:srgbClr val="FFDDDD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Capture Value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A358296-B5CD-9F4C-757A-3FFF7399670B}"/>
              </a:ext>
            </a:extLst>
          </p:cNvPr>
          <p:cNvSpPr/>
          <p:nvPr/>
        </p:nvSpPr>
        <p:spPr>
          <a:xfrm>
            <a:off x="8929186" y="4866020"/>
            <a:ext cx="2090842" cy="19102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39" name="Speech Bubble: Rectangle 38">
            <a:extLst>
              <a:ext uri="{FF2B5EF4-FFF2-40B4-BE49-F238E27FC236}">
                <a16:creationId xmlns:a16="http://schemas.microsoft.com/office/drawing/2014/main" id="{5BA2CB85-E9B6-69F3-5103-8D4FC40FE9E5}"/>
              </a:ext>
            </a:extLst>
          </p:cNvPr>
          <p:cNvSpPr/>
          <p:nvPr/>
        </p:nvSpPr>
        <p:spPr>
          <a:xfrm>
            <a:off x="9654848" y="3837061"/>
            <a:ext cx="1663136" cy="313668"/>
          </a:xfrm>
          <a:prstGeom prst="wedgeRectCallout">
            <a:avLst>
              <a:gd name="adj1" fmla="val 18058"/>
              <a:gd name="adj2" fmla="val 261629"/>
            </a:avLst>
          </a:prstGeom>
          <a:solidFill>
            <a:srgbClr val="FFDDDD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Capture Address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D2DD515-5F54-1D30-CA07-E4454B647696}"/>
              </a:ext>
            </a:extLst>
          </p:cNvPr>
          <p:cNvSpPr txBox="1"/>
          <p:nvPr/>
        </p:nvSpPr>
        <p:spPr>
          <a:xfrm>
            <a:off x="7272641" y="2881330"/>
            <a:ext cx="12956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Temp Mem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4DAAEE96-E07E-2153-D777-A44D063E1727}"/>
              </a:ext>
            </a:extLst>
          </p:cNvPr>
          <p:cNvSpPr/>
          <p:nvPr/>
        </p:nvSpPr>
        <p:spPr>
          <a:xfrm>
            <a:off x="6895883" y="3681691"/>
            <a:ext cx="1159106" cy="318035"/>
          </a:xfrm>
          <a:prstGeom prst="round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b="1" dirty="0">
              <a:solidFill>
                <a:schemeClr val="accent1"/>
              </a:solidFill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7F4CC905-CCF1-F267-BB91-A76ED15A4D2E}"/>
              </a:ext>
            </a:extLst>
          </p:cNvPr>
          <p:cNvSpPr/>
          <p:nvPr/>
        </p:nvSpPr>
        <p:spPr>
          <a:xfrm>
            <a:off x="6892835" y="3999703"/>
            <a:ext cx="1159106" cy="318035"/>
          </a:xfrm>
          <a:prstGeom prst="round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b="1" dirty="0">
              <a:solidFill>
                <a:schemeClr val="accent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6F047A6-CC15-DC0D-2150-450477337809}"/>
              </a:ext>
            </a:extLst>
          </p:cNvPr>
          <p:cNvSpPr txBox="1"/>
          <p:nvPr/>
        </p:nvSpPr>
        <p:spPr>
          <a:xfrm>
            <a:off x="6626522" y="4004510"/>
            <a:ext cx="6461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/>
                </a:solidFill>
              </a:rPr>
              <a:t>b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FC0F047-5E05-D828-9F48-457644BDC50B}"/>
              </a:ext>
            </a:extLst>
          </p:cNvPr>
          <p:cNvSpPr txBox="1"/>
          <p:nvPr/>
        </p:nvSpPr>
        <p:spPr>
          <a:xfrm>
            <a:off x="6346803" y="3652324"/>
            <a:ext cx="6722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solidFill>
                  <a:schemeClr val="accent1"/>
                </a:solidFill>
              </a:rPr>
              <a:t>sumP</a:t>
            </a:r>
            <a:endParaRPr lang="en-US" sz="1400" b="1" dirty="0">
              <a:solidFill>
                <a:schemeClr val="accent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0888F1A-B0BB-8B06-0D9A-1A9FFC6F1299}"/>
              </a:ext>
            </a:extLst>
          </p:cNvPr>
          <p:cNvSpPr txBox="1"/>
          <p:nvPr/>
        </p:nvSpPr>
        <p:spPr>
          <a:xfrm>
            <a:off x="8036516" y="3986567"/>
            <a:ext cx="796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83B0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E2A9096-08CB-5219-8F0C-582C4CA03FA0}"/>
              </a:ext>
            </a:extLst>
          </p:cNvPr>
          <p:cNvSpPr txBox="1"/>
          <p:nvPr/>
        </p:nvSpPr>
        <p:spPr>
          <a:xfrm>
            <a:off x="8042998" y="3662313"/>
            <a:ext cx="796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83B4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65A137A2-7AC7-4CF7-D5C4-5B85BAAF7CDE}"/>
              </a:ext>
            </a:extLst>
          </p:cNvPr>
          <p:cNvSpPr/>
          <p:nvPr/>
        </p:nvSpPr>
        <p:spPr>
          <a:xfrm>
            <a:off x="6894280" y="3372076"/>
            <a:ext cx="1159106" cy="318035"/>
          </a:xfrm>
          <a:prstGeom prst="round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b="1" dirty="0">
              <a:solidFill>
                <a:schemeClr val="accent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2866285-970F-1F4E-955C-F4FA6C4E80A3}"/>
              </a:ext>
            </a:extLst>
          </p:cNvPr>
          <p:cNvSpPr txBox="1"/>
          <p:nvPr/>
        </p:nvSpPr>
        <p:spPr>
          <a:xfrm>
            <a:off x="8041395" y="3352698"/>
            <a:ext cx="796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83B8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C07327C-F19F-1429-5B45-E096C0AF8833}"/>
              </a:ext>
            </a:extLst>
          </p:cNvPr>
          <p:cNvSpPr txBox="1"/>
          <p:nvPr/>
        </p:nvSpPr>
        <p:spPr>
          <a:xfrm>
            <a:off x="6412575" y="3313832"/>
            <a:ext cx="6722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solidFill>
                  <a:schemeClr val="accent1"/>
                </a:solidFill>
              </a:rPr>
              <a:t>diffP</a:t>
            </a:r>
            <a:endParaRPr lang="en-US" sz="1400" b="1" dirty="0">
              <a:solidFill>
                <a:schemeClr val="accent1"/>
              </a:solidFill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AE46994D-9E93-5F41-71EB-935B193F1800}"/>
              </a:ext>
            </a:extLst>
          </p:cNvPr>
          <p:cNvSpPr/>
          <p:nvPr/>
        </p:nvSpPr>
        <p:spPr>
          <a:xfrm>
            <a:off x="6898487" y="4324745"/>
            <a:ext cx="1159106" cy="318035"/>
          </a:xfrm>
          <a:prstGeom prst="round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b="1" dirty="0">
              <a:solidFill>
                <a:schemeClr val="accent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258F631-FDC2-4A8E-FA4F-1837AA78DCA8}"/>
              </a:ext>
            </a:extLst>
          </p:cNvPr>
          <p:cNvSpPr txBox="1"/>
          <p:nvPr/>
        </p:nvSpPr>
        <p:spPr>
          <a:xfrm>
            <a:off x="6632174" y="4310891"/>
            <a:ext cx="6461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/>
                </a:solidFill>
              </a:rPr>
              <a:t>a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C47FF27-D515-4BD1-6D03-6CEA0DA87398}"/>
              </a:ext>
            </a:extLst>
          </p:cNvPr>
          <p:cNvSpPr txBox="1"/>
          <p:nvPr/>
        </p:nvSpPr>
        <p:spPr>
          <a:xfrm>
            <a:off x="8042168" y="4311609"/>
            <a:ext cx="796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83AC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5369BA5-1406-AC4D-828F-42EDEB3EF9C6}"/>
              </a:ext>
            </a:extLst>
          </p:cNvPr>
          <p:cNvSpPr txBox="1"/>
          <p:nvPr/>
        </p:nvSpPr>
        <p:spPr>
          <a:xfrm>
            <a:off x="4773332" y="4692127"/>
            <a:ext cx="4651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>
                <a:solidFill>
                  <a:srgbClr val="7F1F1F"/>
                </a:solidFill>
              </a:rPr>
              <a:t>10</a:t>
            </a:r>
            <a:endParaRPr 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F5AB923-A4B9-CB7A-025E-0D9C497F111C}"/>
              </a:ext>
            </a:extLst>
          </p:cNvPr>
          <p:cNvSpPr txBox="1"/>
          <p:nvPr/>
        </p:nvSpPr>
        <p:spPr>
          <a:xfrm>
            <a:off x="4779682" y="4374627"/>
            <a:ext cx="4651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>
                <a:solidFill>
                  <a:srgbClr val="7F1F1F"/>
                </a:solidFill>
              </a:rPr>
              <a:t>20</a:t>
            </a:r>
            <a:endParaRPr lang="en-US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E328349-F592-3A41-6A86-E5B880373B0C}"/>
              </a:ext>
            </a:extLst>
          </p:cNvPr>
          <p:cNvSpPr txBox="1"/>
          <p:nvPr/>
        </p:nvSpPr>
        <p:spPr>
          <a:xfrm>
            <a:off x="3813072" y="4033884"/>
            <a:ext cx="9970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>
                <a:solidFill>
                  <a:schemeClr val="accent1"/>
                </a:solidFill>
              </a:rPr>
              <a:t>0x 5AEC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57" name="Arrow: Down 56">
            <a:extLst>
              <a:ext uri="{FF2B5EF4-FFF2-40B4-BE49-F238E27FC236}">
                <a16:creationId xmlns:a16="http://schemas.microsoft.com/office/drawing/2014/main" id="{69678597-6775-5F42-8A70-BC72DC205144}"/>
              </a:ext>
            </a:extLst>
          </p:cNvPr>
          <p:cNvSpPr/>
          <p:nvPr/>
        </p:nvSpPr>
        <p:spPr>
          <a:xfrm rot="4489117">
            <a:off x="6256793" y="3550052"/>
            <a:ext cx="71489" cy="102934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6EFA48F-9D9B-9AD5-0399-A04E3437FE63}"/>
              </a:ext>
            </a:extLst>
          </p:cNvPr>
          <p:cNvSpPr txBox="1"/>
          <p:nvPr/>
        </p:nvSpPr>
        <p:spPr>
          <a:xfrm>
            <a:off x="3808930" y="3706936"/>
            <a:ext cx="9970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>
                <a:solidFill>
                  <a:schemeClr val="accent1"/>
                </a:solidFill>
              </a:rPr>
              <a:t>0x 5AF0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59" name="Arrow: Down 58">
            <a:extLst>
              <a:ext uri="{FF2B5EF4-FFF2-40B4-BE49-F238E27FC236}">
                <a16:creationId xmlns:a16="http://schemas.microsoft.com/office/drawing/2014/main" id="{4BE137FB-20F9-26C6-D815-8867FE21819D}"/>
              </a:ext>
            </a:extLst>
          </p:cNvPr>
          <p:cNvSpPr/>
          <p:nvPr/>
        </p:nvSpPr>
        <p:spPr>
          <a:xfrm rot="4489117">
            <a:off x="6239886" y="3218498"/>
            <a:ext cx="71489" cy="102934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06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1.11111E-6 L 0.20429 -0.05764 " pathEditMode="relative" rAng="0" ptsTypes="AA">
                                      <p:cBhvr>
                                        <p:cTn id="122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208" y="-28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-4.81481E-6 L 0.20429 -0.05763 " pathEditMode="relative" rAng="0" ptsTypes="AA">
                                      <p:cBhvr>
                                        <p:cTn id="128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208" y="-28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3.7037E-6 L 0.26575 -0.05602 " pathEditMode="relative" rAng="0" ptsTypes="AA">
                                      <p:cBhvr>
                                        <p:cTn id="134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281" y="-28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-1.11111E-6 L 0.26575 -0.05602 " pathEditMode="relative" rAng="0" ptsTypes="AA">
                                      <p:cBhvr>
                                        <p:cTn id="145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281" y="-28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/>
      <p:bldP spid="11" grpId="0"/>
      <p:bldP spid="12" grpId="0"/>
      <p:bldP spid="14" grpId="0"/>
      <p:bldP spid="15" grpId="0"/>
      <p:bldP spid="22" grpId="0" animBg="1"/>
      <p:bldP spid="23" grpId="0" animBg="1"/>
      <p:bldP spid="24" grpId="0"/>
      <p:bldP spid="25" grpId="0"/>
      <p:bldP spid="26" grpId="0"/>
      <p:bldP spid="27" grpId="0"/>
      <p:bldP spid="28" grpId="0" animBg="1"/>
      <p:bldP spid="29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/>
      <p:bldP spid="41" grpId="0" animBg="1"/>
      <p:bldP spid="42" grpId="0" animBg="1"/>
      <p:bldP spid="43" grpId="0"/>
      <p:bldP spid="44" grpId="0"/>
      <p:bldP spid="45" grpId="0"/>
      <p:bldP spid="46" grpId="0"/>
      <p:bldP spid="47" grpId="0" animBg="1"/>
      <p:bldP spid="48" grpId="0"/>
      <p:bldP spid="49" grpId="0"/>
      <p:bldP spid="50" grpId="0" animBg="1"/>
      <p:bldP spid="51" grpId="0"/>
      <p:bldP spid="52" grpId="0"/>
      <p:bldP spid="54" grpId="0"/>
      <p:bldP spid="54" grpId="1"/>
      <p:bldP spid="55" grpId="0"/>
      <p:bldP spid="55" grpId="1"/>
      <p:bldP spid="56" grpId="0"/>
      <p:bldP spid="56" grpId="1"/>
      <p:bldP spid="57" grpId="0" animBg="1"/>
      <p:bldP spid="58" grpId="0"/>
      <p:bldP spid="58" grpId="1"/>
      <p:bldP spid="5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965375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Multiple Return Values – Using Pointer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5" y="1563637"/>
            <a:ext cx="10237421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Example – A function calculating both the sum and difference of two integers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Setup – Two </a:t>
            </a:r>
            <a:r>
              <a:rPr lang="en-CA" i="1" dirty="0"/>
              <a:t>int</a:t>
            </a:r>
            <a:r>
              <a:rPr lang="en-CA" dirty="0"/>
              <a:t> operands and two </a:t>
            </a:r>
            <a:r>
              <a:rPr lang="en-CA" i="1" dirty="0"/>
              <a:t>int</a:t>
            </a:r>
            <a:r>
              <a:rPr lang="en-CA" dirty="0"/>
              <a:t> results in main()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End Result – Pass two operands into </a:t>
            </a:r>
            <a:r>
              <a:rPr lang="en-CA" dirty="0" err="1"/>
              <a:t>sum_diff</a:t>
            </a:r>
            <a:r>
              <a:rPr lang="en-CA" dirty="0"/>
              <a:t>() by value, two results by reference </a:t>
            </a:r>
            <a:br>
              <a:rPr lang="en-CA" dirty="0"/>
            </a:br>
            <a:r>
              <a:rPr lang="en-CA" dirty="0"/>
              <a:t> 		   Two results available in main() after </a:t>
            </a:r>
            <a:r>
              <a:rPr lang="en-CA" dirty="0" err="1"/>
              <a:t>sum_diff</a:t>
            </a:r>
            <a:r>
              <a:rPr lang="en-CA" dirty="0"/>
              <a:t>() completed</a:t>
            </a:r>
            <a:endParaRPr lang="en-CA" sz="22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30</a:t>
            </a:fld>
            <a:endParaRPr lang="en-C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B4296E-A218-09E6-E18E-68A759416CB8}"/>
              </a:ext>
            </a:extLst>
          </p:cNvPr>
          <p:cNvSpPr txBox="1"/>
          <p:nvPr/>
        </p:nvSpPr>
        <p:spPr>
          <a:xfrm>
            <a:off x="543596" y="2983899"/>
            <a:ext cx="3240562" cy="2169825"/>
          </a:xfrm>
          <a:prstGeom prst="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main(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Two Int Operands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x = 10, y = 20;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Two Int Results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sum, diff;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//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Calculate!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sum_diff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x, y, </a:t>
            </a:r>
            <a:r>
              <a:rPr lang="en-US" sz="12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sum, </a:t>
            </a:r>
            <a:r>
              <a:rPr lang="en-US" sz="12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diff 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1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2E9B644-BA74-0A51-DDB1-39EA73D97734}"/>
              </a:ext>
            </a:extLst>
          </p:cNvPr>
          <p:cNvSpPr/>
          <p:nvPr/>
        </p:nvSpPr>
        <p:spPr>
          <a:xfrm>
            <a:off x="4683009" y="4404250"/>
            <a:ext cx="654285" cy="318035"/>
          </a:xfrm>
          <a:prstGeom prst="roundRect">
            <a:avLst/>
          </a:prstGeom>
          <a:noFill/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rgbClr val="7F1F1F"/>
                </a:solidFill>
              </a:rPr>
              <a:t>20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902F6DC-28D1-2F4B-E92E-EA3AD9F453A7}"/>
              </a:ext>
            </a:extLst>
          </p:cNvPr>
          <p:cNvSpPr/>
          <p:nvPr/>
        </p:nvSpPr>
        <p:spPr>
          <a:xfrm>
            <a:off x="4679961" y="4722262"/>
            <a:ext cx="654285" cy="318035"/>
          </a:xfrm>
          <a:prstGeom prst="roundRect">
            <a:avLst/>
          </a:prstGeom>
          <a:noFill/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rgbClr val="7F1F1F"/>
                </a:solidFill>
              </a:rPr>
              <a:t>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54E4F5-3D84-6846-47FB-80CD5A988FD1}"/>
              </a:ext>
            </a:extLst>
          </p:cNvPr>
          <p:cNvSpPr txBox="1"/>
          <p:nvPr/>
        </p:nvSpPr>
        <p:spPr>
          <a:xfrm>
            <a:off x="4238618" y="3250990"/>
            <a:ext cx="1028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7F1F1F"/>
                </a:solidFill>
              </a:rPr>
              <a:t>Memory</a:t>
            </a:r>
            <a:endParaRPr lang="en-US" sz="1600" dirty="0">
              <a:solidFill>
                <a:srgbClr val="7F1F1F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2DA2D0-77B6-A2F5-A4D7-4F7F0D683CC2}"/>
              </a:ext>
            </a:extLst>
          </p:cNvPr>
          <p:cNvSpPr txBox="1"/>
          <p:nvPr/>
        </p:nvSpPr>
        <p:spPr>
          <a:xfrm>
            <a:off x="5299825" y="4680239"/>
            <a:ext cx="257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rgbClr val="7F1F1F"/>
                </a:solidFill>
              </a:rPr>
              <a:t>x</a:t>
            </a:r>
            <a:endParaRPr lang="en-US" b="1" dirty="0">
              <a:solidFill>
                <a:srgbClr val="7F1F1F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1E778E-4EC6-0CFC-3B37-327456651028}"/>
              </a:ext>
            </a:extLst>
          </p:cNvPr>
          <p:cNvSpPr txBox="1"/>
          <p:nvPr/>
        </p:nvSpPr>
        <p:spPr>
          <a:xfrm>
            <a:off x="5299825" y="4354341"/>
            <a:ext cx="257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rgbClr val="7F1F1F"/>
                </a:solidFill>
              </a:rPr>
              <a:t>y</a:t>
            </a:r>
            <a:endParaRPr lang="en-US" b="1" dirty="0">
              <a:solidFill>
                <a:srgbClr val="7F1F1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D85E4D-3E9C-1407-AAC0-02A589AFC8F2}"/>
              </a:ext>
            </a:extLst>
          </p:cNvPr>
          <p:cNvSpPr txBox="1"/>
          <p:nvPr/>
        </p:nvSpPr>
        <p:spPr>
          <a:xfrm>
            <a:off x="3950304" y="4722905"/>
            <a:ext cx="796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5AE4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F0F771-FB93-1EC1-DA10-56ECC307EE27}"/>
              </a:ext>
            </a:extLst>
          </p:cNvPr>
          <p:cNvSpPr txBox="1"/>
          <p:nvPr/>
        </p:nvSpPr>
        <p:spPr>
          <a:xfrm>
            <a:off x="3956786" y="4398651"/>
            <a:ext cx="796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5AE8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FD3FF18-922A-36A4-D16B-5EBF45777987}"/>
              </a:ext>
            </a:extLst>
          </p:cNvPr>
          <p:cNvSpPr/>
          <p:nvPr/>
        </p:nvSpPr>
        <p:spPr>
          <a:xfrm>
            <a:off x="4692634" y="3768203"/>
            <a:ext cx="654285" cy="318035"/>
          </a:xfrm>
          <a:prstGeom prst="roundRect">
            <a:avLst/>
          </a:prstGeom>
          <a:noFill/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b="1" dirty="0">
              <a:solidFill>
                <a:srgbClr val="7F1F1F"/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18B3BA3-EDB9-84F5-1520-C413B4B367DF}"/>
              </a:ext>
            </a:extLst>
          </p:cNvPr>
          <p:cNvSpPr/>
          <p:nvPr/>
        </p:nvSpPr>
        <p:spPr>
          <a:xfrm>
            <a:off x="4689586" y="4086215"/>
            <a:ext cx="654285" cy="318035"/>
          </a:xfrm>
          <a:prstGeom prst="roundRect">
            <a:avLst/>
          </a:prstGeom>
          <a:noFill/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b="1" dirty="0">
              <a:solidFill>
                <a:srgbClr val="7F1F1F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7631403-97D9-9394-E0A6-F80D0C3F0C3D}"/>
              </a:ext>
            </a:extLst>
          </p:cNvPr>
          <p:cNvSpPr txBox="1"/>
          <p:nvPr/>
        </p:nvSpPr>
        <p:spPr>
          <a:xfrm>
            <a:off x="5309450" y="4062853"/>
            <a:ext cx="5685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7F1F1F"/>
                </a:solidFill>
              </a:rPr>
              <a:t>sum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2E5A1A0-9F78-429B-3678-389A9596BE79}"/>
              </a:ext>
            </a:extLst>
          </p:cNvPr>
          <p:cNvSpPr txBox="1"/>
          <p:nvPr/>
        </p:nvSpPr>
        <p:spPr>
          <a:xfrm>
            <a:off x="5309450" y="3764363"/>
            <a:ext cx="5373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7F1F1F"/>
                </a:solidFill>
              </a:rPr>
              <a:t>diff</a:t>
            </a:r>
            <a:endParaRPr lang="en-US" b="1" dirty="0">
              <a:solidFill>
                <a:srgbClr val="7F1F1F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180DC12-0A23-1C51-E5FE-3789D030B288}"/>
              </a:ext>
            </a:extLst>
          </p:cNvPr>
          <p:cNvSpPr txBox="1"/>
          <p:nvPr/>
        </p:nvSpPr>
        <p:spPr>
          <a:xfrm>
            <a:off x="3959929" y="4086858"/>
            <a:ext cx="796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5AEC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FF88380-5CD8-05F6-518B-43E989302D82}"/>
              </a:ext>
            </a:extLst>
          </p:cNvPr>
          <p:cNvSpPr txBox="1"/>
          <p:nvPr/>
        </p:nvSpPr>
        <p:spPr>
          <a:xfrm>
            <a:off x="3966411" y="3762604"/>
            <a:ext cx="796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5AF0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2F8B386-B47E-FFCF-CBE9-DBCD99CE87D5}"/>
              </a:ext>
            </a:extLst>
          </p:cNvPr>
          <p:cNvSpPr/>
          <p:nvPr/>
        </p:nvSpPr>
        <p:spPr>
          <a:xfrm>
            <a:off x="1765326" y="4550492"/>
            <a:ext cx="571257" cy="191020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9" name="Speech Bubble: Rectangle 28">
            <a:extLst>
              <a:ext uri="{FF2B5EF4-FFF2-40B4-BE49-F238E27FC236}">
                <a16:creationId xmlns:a16="http://schemas.microsoft.com/office/drawing/2014/main" id="{A6BFCE0D-2351-56DB-5E0E-696F6414DCED}"/>
              </a:ext>
            </a:extLst>
          </p:cNvPr>
          <p:cNvSpPr/>
          <p:nvPr/>
        </p:nvSpPr>
        <p:spPr>
          <a:xfrm>
            <a:off x="733446" y="5321550"/>
            <a:ext cx="1374493" cy="313668"/>
          </a:xfrm>
          <a:prstGeom prst="wedgeRectCallout">
            <a:avLst>
              <a:gd name="adj1" fmla="val 50079"/>
              <a:gd name="adj2" fmla="val -214007"/>
            </a:avLst>
          </a:prstGeom>
          <a:solidFill>
            <a:srgbClr val="FFDDDD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Pass the value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F99327C-4431-F8EC-1A46-26ECCD8F7F59}"/>
              </a:ext>
            </a:extLst>
          </p:cNvPr>
          <p:cNvSpPr/>
          <p:nvPr/>
        </p:nvSpPr>
        <p:spPr>
          <a:xfrm>
            <a:off x="2363100" y="4550492"/>
            <a:ext cx="1072932" cy="19102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34" name="Speech Bubble: Rectangle 33">
            <a:extLst>
              <a:ext uri="{FF2B5EF4-FFF2-40B4-BE49-F238E27FC236}">
                <a16:creationId xmlns:a16="http://schemas.microsoft.com/office/drawing/2014/main" id="{396B372C-3E94-5312-450E-684952ED65F5}"/>
              </a:ext>
            </a:extLst>
          </p:cNvPr>
          <p:cNvSpPr/>
          <p:nvPr/>
        </p:nvSpPr>
        <p:spPr>
          <a:xfrm>
            <a:off x="2433404" y="5321550"/>
            <a:ext cx="1663136" cy="313668"/>
          </a:xfrm>
          <a:prstGeom prst="wedgeRectCallout">
            <a:avLst>
              <a:gd name="adj1" fmla="val -1041"/>
              <a:gd name="adj2" fmla="val -210938"/>
            </a:avLst>
          </a:prstGeom>
          <a:solidFill>
            <a:srgbClr val="FFDDDD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Pass the Address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ABD7DBF-56CC-00F3-B6FF-8554129ED58F}"/>
              </a:ext>
            </a:extLst>
          </p:cNvPr>
          <p:cNvSpPr txBox="1"/>
          <p:nvPr/>
        </p:nvSpPr>
        <p:spPr>
          <a:xfrm>
            <a:off x="6423787" y="4813718"/>
            <a:ext cx="4788710" cy="101566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sum_diff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b,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int*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sumP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int*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diffP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*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sumP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a + b;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same as sum = a + b;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6ED42BE-9608-1C25-9E64-68080DB89243}"/>
              </a:ext>
            </a:extLst>
          </p:cNvPr>
          <p:cNvSpPr/>
          <p:nvPr/>
        </p:nvSpPr>
        <p:spPr>
          <a:xfrm>
            <a:off x="7689400" y="4861920"/>
            <a:ext cx="1224541" cy="191020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7" name="Speech Bubble: Rectangle 36">
            <a:extLst>
              <a:ext uri="{FF2B5EF4-FFF2-40B4-BE49-F238E27FC236}">
                <a16:creationId xmlns:a16="http://schemas.microsoft.com/office/drawing/2014/main" id="{10B9B2B9-7729-6A0F-2D63-0759EE65DBA1}"/>
              </a:ext>
            </a:extLst>
          </p:cNvPr>
          <p:cNvSpPr/>
          <p:nvPr/>
        </p:nvSpPr>
        <p:spPr>
          <a:xfrm>
            <a:off x="9111923" y="4280146"/>
            <a:ext cx="1374493" cy="313668"/>
          </a:xfrm>
          <a:prstGeom prst="wedgeRectCallout">
            <a:avLst>
              <a:gd name="adj1" fmla="val -75971"/>
              <a:gd name="adj2" fmla="val 138883"/>
            </a:avLst>
          </a:prstGeom>
          <a:solidFill>
            <a:srgbClr val="FFDDDD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Capture Value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A358296-B5CD-9F4C-757A-3FFF7399670B}"/>
              </a:ext>
            </a:extLst>
          </p:cNvPr>
          <p:cNvSpPr/>
          <p:nvPr/>
        </p:nvSpPr>
        <p:spPr>
          <a:xfrm>
            <a:off x="8929186" y="4866020"/>
            <a:ext cx="2090842" cy="19102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39" name="Speech Bubble: Rectangle 38">
            <a:extLst>
              <a:ext uri="{FF2B5EF4-FFF2-40B4-BE49-F238E27FC236}">
                <a16:creationId xmlns:a16="http://schemas.microsoft.com/office/drawing/2014/main" id="{5BA2CB85-E9B6-69F3-5103-8D4FC40FE9E5}"/>
              </a:ext>
            </a:extLst>
          </p:cNvPr>
          <p:cNvSpPr/>
          <p:nvPr/>
        </p:nvSpPr>
        <p:spPr>
          <a:xfrm>
            <a:off x="9654848" y="3837061"/>
            <a:ext cx="1663136" cy="313668"/>
          </a:xfrm>
          <a:prstGeom prst="wedgeRectCallout">
            <a:avLst>
              <a:gd name="adj1" fmla="val 18058"/>
              <a:gd name="adj2" fmla="val 261629"/>
            </a:avLst>
          </a:prstGeom>
          <a:solidFill>
            <a:srgbClr val="FFDDDD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Capture Address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D2DD515-5F54-1D30-CA07-E4454B647696}"/>
              </a:ext>
            </a:extLst>
          </p:cNvPr>
          <p:cNvSpPr txBox="1"/>
          <p:nvPr/>
        </p:nvSpPr>
        <p:spPr>
          <a:xfrm>
            <a:off x="7272641" y="2881330"/>
            <a:ext cx="12956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Temp Mem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4DAAEE96-E07E-2153-D777-A44D063E1727}"/>
              </a:ext>
            </a:extLst>
          </p:cNvPr>
          <p:cNvSpPr/>
          <p:nvPr/>
        </p:nvSpPr>
        <p:spPr>
          <a:xfrm>
            <a:off x="6895883" y="3681691"/>
            <a:ext cx="1159106" cy="318035"/>
          </a:xfrm>
          <a:prstGeom prst="round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b="1" dirty="0">
              <a:solidFill>
                <a:schemeClr val="accent1"/>
              </a:solidFill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7F4CC905-CCF1-F267-BB91-A76ED15A4D2E}"/>
              </a:ext>
            </a:extLst>
          </p:cNvPr>
          <p:cNvSpPr/>
          <p:nvPr/>
        </p:nvSpPr>
        <p:spPr>
          <a:xfrm>
            <a:off x="6892835" y="3999703"/>
            <a:ext cx="1159106" cy="318035"/>
          </a:xfrm>
          <a:prstGeom prst="round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b="1" dirty="0">
              <a:solidFill>
                <a:schemeClr val="accent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6F047A6-CC15-DC0D-2150-450477337809}"/>
              </a:ext>
            </a:extLst>
          </p:cNvPr>
          <p:cNvSpPr txBox="1"/>
          <p:nvPr/>
        </p:nvSpPr>
        <p:spPr>
          <a:xfrm>
            <a:off x="6626522" y="4004510"/>
            <a:ext cx="6461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/>
                </a:solidFill>
              </a:rPr>
              <a:t>b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FC0F047-5E05-D828-9F48-457644BDC50B}"/>
              </a:ext>
            </a:extLst>
          </p:cNvPr>
          <p:cNvSpPr txBox="1"/>
          <p:nvPr/>
        </p:nvSpPr>
        <p:spPr>
          <a:xfrm>
            <a:off x="6346803" y="3652324"/>
            <a:ext cx="6722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solidFill>
                  <a:schemeClr val="accent1"/>
                </a:solidFill>
              </a:rPr>
              <a:t>sumP</a:t>
            </a:r>
            <a:endParaRPr lang="en-US" sz="1400" b="1" dirty="0">
              <a:solidFill>
                <a:schemeClr val="accent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0888F1A-B0BB-8B06-0D9A-1A9FFC6F1299}"/>
              </a:ext>
            </a:extLst>
          </p:cNvPr>
          <p:cNvSpPr txBox="1"/>
          <p:nvPr/>
        </p:nvSpPr>
        <p:spPr>
          <a:xfrm>
            <a:off x="8036516" y="3986567"/>
            <a:ext cx="796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83B0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E2A9096-08CB-5219-8F0C-582C4CA03FA0}"/>
              </a:ext>
            </a:extLst>
          </p:cNvPr>
          <p:cNvSpPr txBox="1"/>
          <p:nvPr/>
        </p:nvSpPr>
        <p:spPr>
          <a:xfrm>
            <a:off x="8042998" y="3662313"/>
            <a:ext cx="796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83B4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65A137A2-7AC7-4CF7-D5C4-5B85BAAF7CDE}"/>
              </a:ext>
            </a:extLst>
          </p:cNvPr>
          <p:cNvSpPr/>
          <p:nvPr/>
        </p:nvSpPr>
        <p:spPr>
          <a:xfrm>
            <a:off x="6894280" y="3372076"/>
            <a:ext cx="1159106" cy="318035"/>
          </a:xfrm>
          <a:prstGeom prst="round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b="1" dirty="0">
              <a:solidFill>
                <a:schemeClr val="accent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2866285-970F-1F4E-955C-F4FA6C4E80A3}"/>
              </a:ext>
            </a:extLst>
          </p:cNvPr>
          <p:cNvSpPr txBox="1"/>
          <p:nvPr/>
        </p:nvSpPr>
        <p:spPr>
          <a:xfrm>
            <a:off x="8041395" y="3352698"/>
            <a:ext cx="796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83B8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C07327C-F19F-1429-5B45-E096C0AF8833}"/>
              </a:ext>
            </a:extLst>
          </p:cNvPr>
          <p:cNvSpPr txBox="1"/>
          <p:nvPr/>
        </p:nvSpPr>
        <p:spPr>
          <a:xfrm>
            <a:off x="6412575" y="3323166"/>
            <a:ext cx="6722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solidFill>
                  <a:schemeClr val="accent1"/>
                </a:solidFill>
              </a:rPr>
              <a:t>diffP</a:t>
            </a:r>
            <a:endParaRPr lang="en-US" sz="1400" b="1" dirty="0">
              <a:solidFill>
                <a:schemeClr val="accent1"/>
              </a:solidFill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AE46994D-9E93-5F41-71EB-935B193F1800}"/>
              </a:ext>
            </a:extLst>
          </p:cNvPr>
          <p:cNvSpPr/>
          <p:nvPr/>
        </p:nvSpPr>
        <p:spPr>
          <a:xfrm>
            <a:off x="6898487" y="4324745"/>
            <a:ext cx="1159106" cy="318035"/>
          </a:xfrm>
          <a:prstGeom prst="round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b="1" dirty="0">
              <a:solidFill>
                <a:schemeClr val="accent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258F631-FDC2-4A8E-FA4F-1837AA78DCA8}"/>
              </a:ext>
            </a:extLst>
          </p:cNvPr>
          <p:cNvSpPr txBox="1"/>
          <p:nvPr/>
        </p:nvSpPr>
        <p:spPr>
          <a:xfrm>
            <a:off x="6632174" y="4310891"/>
            <a:ext cx="6461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/>
                </a:solidFill>
              </a:rPr>
              <a:t>a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C47FF27-D515-4BD1-6D03-6CEA0DA87398}"/>
              </a:ext>
            </a:extLst>
          </p:cNvPr>
          <p:cNvSpPr txBox="1"/>
          <p:nvPr/>
        </p:nvSpPr>
        <p:spPr>
          <a:xfrm>
            <a:off x="8042168" y="4311609"/>
            <a:ext cx="796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83AC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5369BA5-1406-AC4D-828F-42EDEB3EF9C6}"/>
              </a:ext>
            </a:extLst>
          </p:cNvPr>
          <p:cNvSpPr txBox="1"/>
          <p:nvPr/>
        </p:nvSpPr>
        <p:spPr>
          <a:xfrm>
            <a:off x="7250171" y="4302447"/>
            <a:ext cx="4651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>
                <a:solidFill>
                  <a:srgbClr val="7F1F1F"/>
                </a:solidFill>
              </a:rPr>
              <a:t>10</a:t>
            </a:r>
            <a:endParaRPr 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F5AB923-A4B9-CB7A-025E-0D9C497F111C}"/>
              </a:ext>
            </a:extLst>
          </p:cNvPr>
          <p:cNvSpPr txBox="1"/>
          <p:nvPr/>
        </p:nvSpPr>
        <p:spPr>
          <a:xfrm>
            <a:off x="7256521" y="3984947"/>
            <a:ext cx="4651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>
                <a:solidFill>
                  <a:srgbClr val="7F1F1F"/>
                </a:solidFill>
              </a:rPr>
              <a:t>20</a:t>
            </a:r>
            <a:endParaRPr lang="en-US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E328349-F592-3A41-6A86-E5B880373B0C}"/>
              </a:ext>
            </a:extLst>
          </p:cNvPr>
          <p:cNvSpPr txBox="1"/>
          <p:nvPr/>
        </p:nvSpPr>
        <p:spPr>
          <a:xfrm>
            <a:off x="6995412" y="3665378"/>
            <a:ext cx="9970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>
                <a:solidFill>
                  <a:schemeClr val="accent1"/>
                </a:solidFill>
              </a:rPr>
              <a:t>0x 5AEC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57" name="Arrow: Down 56">
            <a:extLst>
              <a:ext uri="{FF2B5EF4-FFF2-40B4-BE49-F238E27FC236}">
                <a16:creationId xmlns:a16="http://schemas.microsoft.com/office/drawing/2014/main" id="{69678597-6775-5F42-8A70-BC72DC205144}"/>
              </a:ext>
            </a:extLst>
          </p:cNvPr>
          <p:cNvSpPr/>
          <p:nvPr/>
        </p:nvSpPr>
        <p:spPr>
          <a:xfrm rot="4489117">
            <a:off x="6256793" y="3550042"/>
            <a:ext cx="71489" cy="102934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6EFA48F-9D9B-9AD5-0399-A04E3437FE63}"/>
              </a:ext>
            </a:extLst>
          </p:cNvPr>
          <p:cNvSpPr txBox="1"/>
          <p:nvPr/>
        </p:nvSpPr>
        <p:spPr>
          <a:xfrm>
            <a:off x="7001989" y="3335129"/>
            <a:ext cx="9970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>
                <a:solidFill>
                  <a:schemeClr val="accent1"/>
                </a:solidFill>
              </a:rPr>
              <a:t>0x 5AF0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59" name="Arrow: Down 58">
            <a:extLst>
              <a:ext uri="{FF2B5EF4-FFF2-40B4-BE49-F238E27FC236}">
                <a16:creationId xmlns:a16="http://schemas.microsoft.com/office/drawing/2014/main" id="{4BE137FB-20F9-26C6-D815-8867FE21819D}"/>
              </a:ext>
            </a:extLst>
          </p:cNvPr>
          <p:cNvSpPr/>
          <p:nvPr/>
        </p:nvSpPr>
        <p:spPr>
          <a:xfrm rot="4489117">
            <a:off x="6239886" y="3227829"/>
            <a:ext cx="71489" cy="102934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FEEB00-608A-C632-AB2E-814D5A67943D}"/>
              </a:ext>
            </a:extLst>
          </p:cNvPr>
          <p:cNvSpPr txBox="1"/>
          <p:nvPr/>
        </p:nvSpPr>
        <p:spPr>
          <a:xfrm>
            <a:off x="4818519" y="4072021"/>
            <a:ext cx="4651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>
                <a:solidFill>
                  <a:srgbClr val="7F1F1F"/>
                </a:solidFill>
              </a:rPr>
              <a:t>??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8A658D-9BB2-1E23-441C-B69CA259525A}"/>
              </a:ext>
            </a:extLst>
          </p:cNvPr>
          <p:cNvSpPr txBox="1"/>
          <p:nvPr/>
        </p:nvSpPr>
        <p:spPr>
          <a:xfrm>
            <a:off x="4818519" y="3757696"/>
            <a:ext cx="4651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>
                <a:solidFill>
                  <a:srgbClr val="7F1F1F"/>
                </a:solidFill>
              </a:rPr>
              <a:t>??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E1C5689-915E-2972-448F-11F2157295A6}"/>
              </a:ext>
            </a:extLst>
          </p:cNvPr>
          <p:cNvSpPr txBox="1"/>
          <p:nvPr/>
        </p:nvSpPr>
        <p:spPr>
          <a:xfrm>
            <a:off x="7819385" y="5339067"/>
            <a:ext cx="4651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>
                <a:solidFill>
                  <a:srgbClr val="FF0000"/>
                </a:solidFill>
              </a:rPr>
              <a:t>30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7439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5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 tmFilter="0, 0; .2, .5; .8, .5; 1, 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250" autoRev="1" fill="hold"/>
                                        <p:tgtEl>
                                          <p:spTgt spid="4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5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 tmFilter="0, 0; .2, .5; .8, .5; 1, 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250" autoRev="1" fill="hold"/>
                                        <p:tgtEl>
                                          <p:spTgt spid="2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0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42" presetClass="path" presetSubtype="0" accel="5000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3.33333E-6 -4.07407E-6 L -0.24766 -0.1831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383" y="-91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6" grpId="0"/>
      <p:bldP spid="44" grpId="0"/>
      <p:bldP spid="56" grpId="0"/>
      <p:bldP spid="57" grpId="0" animBg="1"/>
      <p:bldP spid="5" grpId="0"/>
      <p:bldP spid="5" grpId="1"/>
      <p:bldP spid="17" grpId="0"/>
      <p:bldP spid="17" grpId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965375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Multiple Return Values – Using Pointer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5" y="1563637"/>
            <a:ext cx="10237421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Example – A function calculating both the sum and difference of two integers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Setup – Two </a:t>
            </a:r>
            <a:r>
              <a:rPr lang="en-CA" i="1" dirty="0"/>
              <a:t>int</a:t>
            </a:r>
            <a:r>
              <a:rPr lang="en-CA" dirty="0"/>
              <a:t> operands and two </a:t>
            </a:r>
            <a:r>
              <a:rPr lang="en-CA" i="1" dirty="0"/>
              <a:t>int</a:t>
            </a:r>
            <a:r>
              <a:rPr lang="en-CA" dirty="0"/>
              <a:t> results in main()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End Result – Pass two operands into </a:t>
            </a:r>
            <a:r>
              <a:rPr lang="en-CA" dirty="0" err="1"/>
              <a:t>sum_diff</a:t>
            </a:r>
            <a:r>
              <a:rPr lang="en-CA" dirty="0"/>
              <a:t>() by value, two results by reference </a:t>
            </a:r>
            <a:br>
              <a:rPr lang="en-CA" dirty="0"/>
            </a:br>
            <a:r>
              <a:rPr lang="en-CA" dirty="0"/>
              <a:t> 		   Two results available in main() after </a:t>
            </a:r>
            <a:r>
              <a:rPr lang="en-CA" dirty="0" err="1"/>
              <a:t>sum_diff</a:t>
            </a:r>
            <a:r>
              <a:rPr lang="en-CA" dirty="0"/>
              <a:t>() completed</a:t>
            </a:r>
            <a:endParaRPr lang="en-CA" sz="22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31</a:t>
            </a:fld>
            <a:endParaRPr lang="en-C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B4296E-A218-09E6-E18E-68A759416CB8}"/>
              </a:ext>
            </a:extLst>
          </p:cNvPr>
          <p:cNvSpPr txBox="1"/>
          <p:nvPr/>
        </p:nvSpPr>
        <p:spPr>
          <a:xfrm>
            <a:off x="543596" y="2983899"/>
            <a:ext cx="3240562" cy="2169825"/>
          </a:xfrm>
          <a:prstGeom prst="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main(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Two Int Operands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x = 10, y = 20;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Two Int Results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sum, diff;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//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Calculate!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sum_diff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x, y, </a:t>
            </a:r>
            <a:r>
              <a:rPr lang="en-US" sz="12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sum, </a:t>
            </a:r>
            <a:r>
              <a:rPr lang="en-US" sz="12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diff 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1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2E9B644-BA74-0A51-DDB1-39EA73D97734}"/>
              </a:ext>
            </a:extLst>
          </p:cNvPr>
          <p:cNvSpPr/>
          <p:nvPr/>
        </p:nvSpPr>
        <p:spPr>
          <a:xfrm>
            <a:off x="4683009" y="4404250"/>
            <a:ext cx="654285" cy="318035"/>
          </a:xfrm>
          <a:prstGeom prst="roundRect">
            <a:avLst/>
          </a:prstGeom>
          <a:noFill/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rgbClr val="7F1F1F"/>
                </a:solidFill>
              </a:rPr>
              <a:t>20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902F6DC-28D1-2F4B-E92E-EA3AD9F453A7}"/>
              </a:ext>
            </a:extLst>
          </p:cNvPr>
          <p:cNvSpPr/>
          <p:nvPr/>
        </p:nvSpPr>
        <p:spPr>
          <a:xfrm>
            <a:off x="4679961" y="4722262"/>
            <a:ext cx="654285" cy="318035"/>
          </a:xfrm>
          <a:prstGeom prst="roundRect">
            <a:avLst/>
          </a:prstGeom>
          <a:noFill/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rgbClr val="7F1F1F"/>
                </a:solidFill>
              </a:rPr>
              <a:t>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54E4F5-3D84-6846-47FB-80CD5A988FD1}"/>
              </a:ext>
            </a:extLst>
          </p:cNvPr>
          <p:cNvSpPr txBox="1"/>
          <p:nvPr/>
        </p:nvSpPr>
        <p:spPr>
          <a:xfrm>
            <a:off x="4238618" y="3250990"/>
            <a:ext cx="1028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7F1F1F"/>
                </a:solidFill>
              </a:rPr>
              <a:t>Memory</a:t>
            </a:r>
            <a:endParaRPr lang="en-US" sz="1600" dirty="0">
              <a:solidFill>
                <a:srgbClr val="7F1F1F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2DA2D0-77B6-A2F5-A4D7-4F7F0D683CC2}"/>
              </a:ext>
            </a:extLst>
          </p:cNvPr>
          <p:cNvSpPr txBox="1"/>
          <p:nvPr/>
        </p:nvSpPr>
        <p:spPr>
          <a:xfrm>
            <a:off x="5299825" y="4680240"/>
            <a:ext cx="257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rgbClr val="7F1F1F"/>
                </a:solidFill>
              </a:rPr>
              <a:t>x</a:t>
            </a:r>
            <a:endParaRPr lang="en-US" b="1" dirty="0">
              <a:solidFill>
                <a:srgbClr val="7F1F1F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1E778E-4EC6-0CFC-3B37-327456651028}"/>
              </a:ext>
            </a:extLst>
          </p:cNvPr>
          <p:cNvSpPr txBox="1"/>
          <p:nvPr/>
        </p:nvSpPr>
        <p:spPr>
          <a:xfrm>
            <a:off x="5299825" y="4354341"/>
            <a:ext cx="257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rgbClr val="7F1F1F"/>
                </a:solidFill>
              </a:rPr>
              <a:t>y</a:t>
            </a:r>
            <a:endParaRPr lang="en-US" b="1" dirty="0">
              <a:solidFill>
                <a:srgbClr val="7F1F1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D85E4D-3E9C-1407-AAC0-02A589AFC8F2}"/>
              </a:ext>
            </a:extLst>
          </p:cNvPr>
          <p:cNvSpPr txBox="1"/>
          <p:nvPr/>
        </p:nvSpPr>
        <p:spPr>
          <a:xfrm>
            <a:off x="3950304" y="4722905"/>
            <a:ext cx="796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5AE4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F0F771-FB93-1EC1-DA10-56ECC307EE27}"/>
              </a:ext>
            </a:extLst>
          </p:cNvPr>
          <p:cNvSpPr txBox="1"/>
          <p:nvPr/>
        </p:nvSpPr>
        <p:spPr>
          <a:xfrm>
            <a:off x="3956786" y="4398651"/>
            <a:ext cx="796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5AE8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FD3FF18-922A-36A4-D16B-5EBF45777987}"/>
              </a:ext>
            </a:extLst>
          </p:cNvPr>
          <p:cNvSpPr/>
          <p:nvPr/>
        </p:nvSpPr>
        <p:spPr>
          <a:xfrm>
            <a:off x="4692634" y="3768203"/>
            <a:ext cx="654285" cy="318035"/>
          </a:xfrm>
          <a:prstGeom prst="roundRect">
            <a:avLst/>
          </a:prstGeom>
          <a:noFill/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b="1" dirty="0">
              <a:solidFill>
                <a:srgbClr val="7F1F1F"/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18B3BA3-EDB9-84F5-1520-C413B4B367DF}"/>
              </a:ext>
            </a:extLst>
          </p:cNvPr>
          <p:cNvSpPr/>
          <p:nvPr/>
        </p:nvSpPr>
        <p:spPr>
          <a:xfrm>
            <a:off x="4689586" y="4086215"/>
            <a:ext cx="654285" cy="318035"/>
          </a:xfrm>
          <a:prstGeom prst="roundRect">
            <a:avLst/>
          </a:prstGeom>
          <a:noFill/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b="1" dirty="0">
              <a:solidFill>
                <a:srgbClr val="7F1F1F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7631403-97D9-9394-E0A6-F80D0C3F0C3D}"/>
              </a:ext>
            </a:extLst>
          </p:cNvPr>
          <p:cNvSpPr txBox="1"/>
          <p:nvPr/>
        </p:nvSpPr>
        <p:spPr>
          <a:xfrm>
            <a:off x="5309450" y="4044194"/>
            <a:ext cx="5685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7F1F1F"/>
                </a:solidFill>
              </a:rPr>
              <a:t>sum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2E5A1A0-9F78-429B-3678-389A9596BE79}"/>
              </a:ext>
            </a:extLst>
          </p:cNvPr>
          <p:cNvSpPr txBox="1"/>
          <p:nvPr/>
        </p:nvSpPr>
        <p:spPr>
          <a:xfrm>
            <a:off x="5309450" y="3755030"/>
            <a:ext cx="5373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7F1F1F"/>
                </a:solidFill>
              </a:rPr>
              <a:t>diff</a:t>
            </a:r>
            <a:endParaRPr lang="en-US" b="1" dirty="0">
              <a:solidFill>
                <a:srgbClr val="7F1F1F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180DC12-0A23-1C51-E5FE-3789D030B288}"/>
              </a:ext>
            </a:extLst>
          </p:cNvPr>
          <p:cNvSpPr txBox="1"/>
          <p:nvPr/>
        </p:nvSpPr>
        <p:spPr>
          <a:xfrm>
            <a:off x="3959929" y="4086858"/>
            <a:ext cx="796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5AEC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FF88380-5CD8-05F6-518B-43E989302D82}"/>
              </a:ext>
            </a:extLst>
          </p:cNvPr>
          <p:cNvSpPr txBox="1"/>
          <p:nvPr/>
        </p:nvSpPr>
        <p:spPr>
          <a:xfrm>
            <a:off x="3966411" y="3762604"/>
            <a:ext cx="796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5AF0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2F8B386-B47E-FFCF-CBE9-DBCD99CE87D5}"/>
              </a:ext>
            </a:extLst>
          </p:cNvPr>
          <p:cNvSpPr/>
          <p:nvPr/>
        </p:nvSpPr>
        <p:spPr>
          <a:xfrm>
            <a:off x="1765326" y="4550492"/>
            <a:ext cx="571257" cy="191020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9" name="Speech Bubble: Rectangle 28">
            <a:extLst>
              <a:ext uri="{FF2B5EF4-FFF2-40B4-BE49-F238E27FC236}">
                <a16:creationId xmlns:a16="http://schemas.microsoft.com/office/drawing/2014/main" id="{A6BFCE0D-2351-56DB-5E0E-696F6414DCED}"/>
              </a:ext>
            </a:extLst>
          </p:cNvPr>
          <p:cNvSpPr/>
          <p:nvPr/>
        </p:nvSpPr>
        <p:spPr>
          <a:xfrm>
            <a:off x="733446" y="5321550"/>
            <a:ext cx="1374493" cy="313668"/>
          </a:xfrm>
          <a:prstGeom prst="wedgeRectCallout">
            <a:avLst>
              <a:gd name="adj1" fmla="val 50079"/>
              <a:gd name="adj2" fmla="val -214007"/>
            </a:avLst>
          </a:prstGeom>
          <a:solidFill>
            <a:srgbClr val="FFDDDD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Pass the value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F99327C-4431-F8EC-1A46-26ECCD8F7F59}"/>
              </a:ext>
            </a:extLst>
          </p:cNvPr>
          <p:cNvSpPr/>
          <p:nvPr/>
        </p:nvSpPr>
        <p:spPr>
          <a:xfrm>
            <a:off x="2363100" y="4550492"/>
            <a:ext cx="1072932" cy="19102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34" name="Speech Bubble: Rectangle 33">
            <a:extLst>
              <a:ext uri="{FF2B5EF4-FFF2-40B4-BE49-F238E27FC236}">
                <a16:creationId xmlns:a16="http://schemas.microsoft.com/office/drawing/2014/main" id="{396B372C-3E94-5312-450E-684952ED65F5}"/>
              </a:ext>
            </a:extLst>
          </p:cNvPr>
          <p:cNvSpPr/>
          <p:nvPr/>
        </p:nvSpPr>
        <p:spPr>
          <a:xfrm>
            <a:off x="2433404" y="5321550"/>
            <a:ext cx="1663136" cy="313668"/>
          </a:xfrm>
          <a:prstGeom prst="wedgeRectCallout">
            <a:avLst>
              <a:gd name="adj1" fmla="val -1041"/>
              <a:gd name="adj2" fmla="val -210938"/>
            </a:avLst>
          </a:prstGeom>
          <a:solidFill>
            <a:srgbClr val="FFDDDD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Pass the Address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ABD7DBF-56CC-00F3-B6FF-8554129ED58F}"/>
              </a:ext>
            </a:extLst>
          </p:cNvPr>
          <p:cNvSpPr txBox="1"/>
          <p:nvPr/>
        </p:nvSpPr>
        <p:spPr>
          <a:xfrm>
            <a:off x="6423787" y="4813718"/>
            <a:ext cx="4788710" cy="101566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sum_diff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b,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int*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sumP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int*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diffP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*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sumP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a + b;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same as sum = a + b;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*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diffP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a – b;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same as diff = a – b;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6ED42BE-9608-1C25-9E64-68080DB89243}"/>
              </a:ext>
            </a:extLst>
          </p:cNvPr>
          <p:cNvSpPr/>
          <p:nvPr/>
        </p:nvSpPr>
        <p:spPr>
          <a:xfrm>
            <a:off x="7689400" y="4861920"/>
            <a:ext cx="1224541" cy="191020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7" name="Speech Bubble: Rectangle 36">
            <a:extLst>
              <a:ext uri="{FF2B5EF4-FFF2-40B4-BE49-F238E27FC236}">
                <a16:creationId xmlns:a16="http://schemas.microsoft.com/office/drawing/2014/main" id="{10B9B2B9-7729-6A0F-2D63-0759EE65DBA1}"/>
              </a:ext>
            </a:extLst>
          </p:cNvPr>
          <p:cNvSpPr/>
          <p:nvPr/>
        </p:nvSpPr>
        <p:spPr>
          <a:xfrm>
            <a:off x="9111923" y="4280146"/>
            <a:ext cx="1374493" cy="313668"/>
          </a:xfrm>
          <a:prstGeom prst="wedgeRectCallout">
            <a:avLst>
              <a:gd name="adj1" fmla="val -75971"/>
              <a:gd name="adj2" fmla="val 138883"/>
            </a:avLst>
          </a:prstGeom>
          <a:solidFill>
            <a:srgbClr val="FFDDDD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Capture Value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A358296-B5CD-9F4C-757A-3FFF7399670B}"/>
              </a:ext>
            </a:extLst>
          </p:cNvPr>
          <p:cNvSpPr/>
          <p:nvPr/>
        </p:nvSpPr>
        <p:spPr>
          <a:xfrm>
            <a:off x="8929186" y="4866020"/>
            <a:ext cx="2090842" cy="19102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39" name="Speech Bubble: Rectangle 38">
            <a:extLst>
              <a:ext uri="{FF2B5EF4-FFF2-40B4-BE49-F238E27FC236}">
                <a16:creationId xmlns:a16="http://schemas.microsoft.com/office/drawing/2014/main" id="{5BA2CB85-E9B6-69F3-5103-8D4FC40FE9E5}"/>
              </a:ext>
            </a:extLst>
          </p:cNvPr>
          <p:cNvSpPr/>
          <p:nvPr/>
        </p:nvSpPr>
        <p:spPr>
          <a:xfrm>
            <a:off x="9654848" y="3837061"/>
            <a:ext cx="1663136" cy="313668"/>
          </a:xfrm>
          <a:prstGeom prst="wedgeRectCallout">
            <a:avLst>
              <a:gd name="adj1" fmla="val 18058"/>
              <a:gd name="adj2" fmla="val 261629"/>
            </a:avLst>
          </a:prstGeom>
          <a:solidFill>
            <a:srgbClr val="FFDDDD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Capture Address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D2DD515-5F54-1D30-CA07-E4454B647696}"/>
              </a:ext>
            </a:extLst>
          </p:cNvPr>
          <p:cNvSpPr txBox="1"/>
          <p:nvPr/>
        </p:nvSpPr>
        <p:spPr>
          <a:xfrm>
            <a:off x="7272641" y="2881330"/>
            <a:ext cx="12956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Temp Mem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4DAAEE96-E07E-2153-D777-A44D063E1727}"/>
              </a:ext>
            </a:extLst>
          </p:cNvPr>
          <p:cNvSpPr/>
          <p:nvPr/>
        </p:nvSpPr>
        <p:spPr>
          <a:xfrm>
            <a:off x="6895883" y="3681691"/>
            <a:ext cx="1159106" cy="318035"/>
          </a:xfrm>
          <a:prstGeom prst="round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b="1" dirty="0">
              <a:solidFill>
                <a:schemeClr val="accent1"/>
              </a:solidFill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7F4CC905-CCF1-F267-BB91-A76ED15A4D2E}"/>
              </a:ext>
            </a:extLst>
          </p:cNvPr>
          <p:cNvSpPr/>
          <p:nvPr/>
        </p:nvSpPr>
        <p:spPr>
          <a:xfrm>
            <a:off x="6892835" y="3999703"/>
            <a:ext cx="1159106" cy="318035"/>
          </a:xfrm>
          <a:prstGeom prst="round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b="1" dirty="0">
              <a:solidFill>
                <a:schemeClr val="accent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6F047A6-CC15-DC0D-2150-450477337809}"/>
              </a:ext>
            </a:extLst>
          </p:cNvPr>
          <p:cNvSpPr txBox="1"/>
          <p:nvPr/>
        </p:nvSpPr>
        <p:spPr>
          <a:xfrm>
            <a:off x="6626522" y="4004511"/>
            <a:ext cx="6461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/>
                </a:solidFill>
              </a:rPr>
              <a:t>b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FC0F047-5E05-D828-9F48-457644BDC50B}"/>
              </a:ext>
            </a:extLst>
          </p:cNvPr>
          <p:cNvSpPr txBox="1"/>
          <p:nvPr/>
        </p:nvSpPr>
        <p:spPr>
          <a:xfrm>
            <a:off x="6346803" y="3624331"/>
            <a:ext cx="6722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solidFill>
                  <a:schemeClr val="accent1"/>
                </a:solidFill>
              </a:rPr>
              <a:t>sumP</a:t>
            </a:r>
            <a:endParaRPr lang="en-US" sz="1400" b="1" dirty="0">
              <a:solidFill>
                <a:schemeClr val="accent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0888F1A-B0BB-8B06-0D9A-1A9FFC6F1299}"/>
              </a:ext>
            </a:extLst>
          </p:cNvPr>
          <p:cNvSpPr txBox="1"/>
          <p:nvPr/>
        </p:nvSpPr>
        <p:spPr>
          <a:xfrm>
            <a:off x="8036516" y="3986567"/>
            <a:ext cx="796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83B0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E2A9096-08CB-5219-8F0C-582C4CA03FA0}"/>
              </a:ext>
            </a:extLst>
          </p:cNvPr>
          <p:cNvSpPr txBox="1"/>
          <p:nvPr/>
        </p:nvSpPr>
        <p:spPr>
          <a:xfrm>
            <a:off x="8042998" y="3662313"/>
            <a:ext cx="796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83B4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65A137A2-7AC7-4CF7-D5C4-5B85BAAF7CDE}"/>
              </a:ext>
            </a:extLst>
          </p:cNvPr>
          <p:cNvSpPr/>
          <p:nvPr/>
        </p:nvSpPr>
        <p:spPr>
          <a:xfrm>
            <a:off x="6894280" y="3372076"/>
            <a:ext cx="1159106" cy="318035"/>
          </a:xfrm>
          <a:prstGeom prst="round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b="1" dirty="0">
              <a:solidFill>
                <a:schemeClr val="accent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2866285-970F-1F4E-955C-F4FA6C4E80A3}"/>
              </a:ext>
            </a:extLst>
          </p:cNvPr>
          <p:cNvSpPr txBox="1"/>
          <p:nvPr/>
        </p:nvSpPr>
        <p:spPr>
          <a:xfrm>
            <a:off x="8041395" y="3352698"/>
            <a:ext cx="796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83B8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C07327C-F19F-1429-5B45-E096C0AF8833}"/>
              </a:ext>
            </a:extLst>
          </p:cNvPr>
          <p:cNvSpPr txBox="1"/>
          <p:nvPr/>
        </p:nvSpPr>
        <p:spPr>
          <a:xfrm>
            <a:off x="6412575" y="3304507"/>
            <a:ext cx="6722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solidFill>
                  <a:schemeClr val="accent1"/>
                </a:solidFill>
              </a:rPr>
              <a:t>diffP</a:t>
            </a:r>
            <a:endParaRPr lang="en-US" sz="1400" b="1" dirty="0">
              <a:solidFill>
                <a:schemeClr val="accent1"/>
              </a:solidFill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AE46994D-9E93-5F41-71EB-935B193F1800}"/>
              </a:ext>
            </a:extLst>
          </p:cNvPr>
          <p:cNvSpPr/>
          <p:nvPr/>
        </p:nvSpPr>
        <p:spPr>
          <a:xfrm>
            <a:off x="6898487" y="4324745"/>
            <a:ext cx="1159106" cy="318035"/>
          </a:xfrm>
          <a:prstGeom prst="round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b="1" dirty="0">
              <a:solidFill>
                <a:schemeClr val="accent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258F631-FDC2-4A8E-FA4F-1837AA78DCA8}"/>
              </a:ext>
            </a:extLst>
          </p:cNvPr>
          <p:cNvSpPr txBox="1"/>
          <p:nvPr/>
        </p:nvSpPr>
        <p:spPr>
          <a:xfrm>
            <a:off x="6632174" y="4320217"/>
            <a:ext cx="6461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/>
                </a:solidFill>
              </a:rPr>
              <a:t>a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C47FF27-D515-4BD1-6D03-6CEA0DA87398}"/>
              </a:ext>
            </a:extLst>
          </p:cNvPr>
          <p:cNvSpPr txBox="1"/>
          <p:nvPr/>
        </p:nvSpPr>
        <p:spPr>
          <a:xfrm>
            <a:off x="8042168" y="4311609"/>
            <a:ext cx="796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83AC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5369BA5-1406-AC4D-828F-42EDEB3EF9C6}"/>
              </a:ext>
            </a:extLst>
          </p:cNvPr>
          <p:cNvSpPr txBox="1"/>
          <p:nvPr/>
        </p:nvSpPr>
        <p:spPr>
          <a:xfrm>
            <a:off x="7250171" y="4302447"/>
            <a:ext cx="4651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>
                <a:solidFill>
                  <a:srgbClr val="7F1F1F"/>
                </a:solidFill>
              </a:rPr>
              <a:t>10</a:t>
            </a:r>
            <a:endParaRPr 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F5AB923-A4B9-CB7A-025E-0D9C497F111C}"/>
              </a:ext>
            </a:extLst>
          </p:cNvPr>
          <p:cNvSpPr txBox="1"/>
          <p:nvPr/>
        </p:nvSpPr>
        <p:spPr>
          <a:xfrm>
            <a:off x="7256521" y="3984947"/>
            <a:ext cx="4651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>
                <a:solidFill>
                  <a:srgbClr val="7F1F1F"/>
                </a:solidFill>
              </a:rPr>
              <a:t>20</a:t>
            </a:r>
            <a:endParaRPr lang="en-US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E328349-F592-3A41-6A86-E5B880373B0C}"/>
              </a:ext>
            </a:extLst>
          </p:cNvPr>
          <p:cNvSpPr txBox="1"/>
          <p:nvPr/>
        </p:nvSpPr>
        <p:spPr>
          <a:xfrm>
            <a:off x="6995412" y="3665378"/>
            <a:ext cx="9970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>
                <a:solidFill>
                  <a:schemeClr val="accent1"/>
                </a:solidFill>
              </a:rPr>
              <a:t>0x 5AEC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57" name="Arrow: Down 56">
            <a:extLst>
              <a:ext uri="{FF2B5EF4-FFF2-40B4-BE49-F238E27FC236}">
                <a16:creationId xmlns:a16="http://schemas.microsoft.com/office/drawing/2014/main" id="{69678597-6775-5F42-8A70-BC72DC205144}"/>
              </a:ext>
            </a:extLst>
          </p:cNvPr>
          <p:cNvSpPr/>
          <p:nvPr/>
        </p:nvSpPr>
        <p:spPr>
          <a:xfrm rot="4489117">
            <a:off x="6256793" y="3531384"/>
            <a:ext cx="71489" cy="102934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6EFA48F-9D9B-9AD5-0399-A04E3437FE63}"/>
              </a:ext>
            </a:extLst>
          </p:cNvPr>
          <p:cNvSpPr txBox="1"/>
          <p:nvPr/>
        </p:nvSpPr>
        <p:spPr>
          <a:xfrm>
            <a:off x="7001989" y="3335129"/>
            <a:ext cx="9970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>
                <a:solidFill>
                  <a:schemeClr val="accent1"/>
                </a:solidFill>
              </a:rPr>
              <a:t>0x 5AF0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59" name="Arrow: Down 58">
            <a:extLst>
              <a:ext uri="{FF2B5EF4-FFF2-40B4-BE49-F238E27FC236}">
                <a16:creationId xmlns:a16="http://schemas.microsoft.com/office/drawing/2014/main" id="{4BE137FB-20F9-26C6-D815-8867FE21819D}"/>
              </a:ext>
            </a:extLst>
          </p:cNvPr>
          <p:cNvSpPr/>
          <p:nvPr/>
        </p:nvSpPr>
        <p:spPr>
          <a:xfrm rot="4489117">
            <a:off x="6239886" y="3209168"/>
            <a:ext cx="71489" cy="102934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8A658D-9BB2-1E23-441C-B69CA259525A}"/>
              </a:ext>
            </a:extLst>
          </p:cNvPr>
          <p:cNvSpPr txBox="1"/>
          <p:nvPr/>
        </p:nvSpPr>
        <p:spPr>
          <a:xfrm>
            <a:off x="4818519" y="3757696"/>
            <a:ext cx="4651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>
                <a:solidFill>
                  <a:srgbClr val="7F1F1F"/>
                </a:solidFill>
              </a:rPr>
              <a:t>??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E1C5689-915E-2972-448F-11F2157295A6}"/>
              </a:ext>
            </a:extLst>
          </p:cNvPr>
          <p:cNvSpPr txBox="1"/>
          <p:nvPr/>
        </p:nvSpPr>
        <p:spPr>
          <a:xfrm>
            <a:off x="4810518" y="4062873"/>
            <a:ext cx="4651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>
                <a:solidFill>
                  <a:srgbClr val="FF0000"/>
                </a:solidFill>
              </a:rPr>
              <a:t>30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18C7850-3274-569C-9821-5142CDA46530}"/>
              </a:ext>
            </a:extLst>
          </p:cNvPr>
          <p:cNvSpPr txBox="1"/>
          <p:nvPr/>
        </p:nvSpPr>
        <p:spPr>
          <a:xfrm>
            <a:off x="7881366" y="5519194"/>
            <a:ext cx="5692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>
                <a:solidFill>
                  <a:srgbClr val="FF0000"/>
                </a:solidFill>
              </a:rPr>
              <a:t>-10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608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5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 tmFilter="0, 0; .2, .5; .8, .5; 1, 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250" autoRev="1" fill="hold"/>
                                        <p:tgtEl>
                                          <p:spTgt spid="4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5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 tmFilter="0, 0; .2, .5; .8, .5; 1, 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250" autoRev="1" fill="hold"/>
                                        <p:tgtEl>
                                          <p:spTgt spid="2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0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 tmFilter="0, 0; .2, .5; .8, .5; 1, 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250" autoRev="1" fill="hold"/>
                                        <p:tgtEl>
                                          <p:spTgt spid="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42" presetClass="path" presetSubtype="0" accel="5000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1.66667E-6 -2.96296E-6 L -0.25807 -0.25856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904" y="-1294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7" grpId="0"/>
      <p:bldP spid="49" grpId="0"/>
      <p:bldP spid="58" grpId="0"/>
      <p:bldP spid="59" grpId="0" animBg="1"/>
      <p:bldP spid="16" grpId="0"/>
      <p:bldP spid="16" grpId="1"/>
      <p:bldP spid="18" grpId="0"/>
      <p:bldP spid="18" grpId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965375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Multiple Return Values – Using Pointer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5" y="1563637"/>
            <a:ext cx="1057829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Example – A function calculating both the sum and difference of two integers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Comprehension Tip - Do not think of </a:t>
            </a:r>
            <a:r>
              <a:rPr lang="en-CA" dirty="0" err="1">
                <a:latin typeface="Courier"/>
              </a:rPr>
              <a:t>sumP</a:t>
            </a:r>
            <a:r>
              <a:rPr lang="en-CA" dirty="0"/>
              <a:t> and </a:t>
            </a:r>
            <a:r>
              <a:rPr lang="en-CA" dirty="0" err="1">
                <a:latin typeface="Courier"/>
              </a:rPr>
              <a:t>diffP</a:t>
            </a:r>
            <a:r>
              <a:rPr lang="en-CA" dirty="0"/>
              <a:t> as pointers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Instead 	– Think of </a:t>
            </a:r>
            <a:r>
              <a:rPr lang="en-CA" dirty="0">
                <a:latin typeface="Courier"/>
              </a:rPr>
              <a:t>*</a:t>
            </a:r>
            <a:r>
              <a:rPr lang="en-CA" dirty="0" err="1">
                <a:latin typeface="Courier"/>
              </a:rPr>
              <a:t>sumP</a:t>
            </a:r>
            <a:r>
              <a:rPr lang="en-CA" dirty="0"/>
              <a:t> as the original variable </a:t>
            </a:r>
            <a:r>
              <a:rPr lang="en-CA" dirty="0">
                <a:latin typeface="Courier"/>
              </a:rPr>
              <a:t>sum</a:t>
            </a:r>
            <a:r>
              <a:rPr lang="en-CA" dirty="0"/>
              <a:t>, intended for storing sum of </a:t>
            </a:r>
            <a:r>
              <a:rPr lang="en-CA" dirty="0">
                <a:latin typeface="Courier"/>
              </a:rPr>
              <a:t>a</a:t>
            </a:r>
            <a:r>
              <a:rPr lang="en-CA" dirty="0"/>
              <a:t> and </a:t>
            </a:r>
            <a:r>
              <a:rPr lang="en-CA" dirty="0">
                <a:latin typeface="Courier"/>
              </a:rPr>
              <a:t>b</a:t>
            </a:r>
            <a:br>
              <a:rPr lang="en-CA" dirty="0">
                <a:latin typeface="Courier"/>
              </a:rPr>
            </a:br>
            <a:r>
              <a:rPr lang="en-CA" dirty="0">
                <a:latin typeface="Courier"/>
              </a:rPr>
              <a:t> 	</a:t>
            </a:r>
            <a:r>
              <a:rPr lang="en-CA" dirty="0"/>
              <a:t>– Think of </a:t>
            </a:r>
            <a:r>
              <a:rPr lang="en-CA" dirty="0">
                <a:latin typeface="Courier"/>
              </a:rPr>
              <a:t>*</a:t>
            </a:r>
            <a:r>
              <a:rPr lang="en-CA" dirty="0" err="1">
                <a:latin typeface="Courier"/>
              </a:rPr>
              <a:t>diffP</a:t>
            </a:r>
            <a:r>
              <a:rPr lang="en-CA" dirty="0"/>
              <a:t> as the original variable </a:t>
            </a:r>
            <a:r>
              <a:rPr lang="en-CA" dirty="0">
                <a:latin typeface="Courier"/>
              </a:rPr>
              <a:t>diff</a:t>
            </a:r>
            <a:r>
              <a:rPr lang="en-CA" dirty="0"/>
              <a:t>, intended for storing difference of </a:t>
            </a:r>
            <a:r>
              <a:rPr lang="en-CA" dirty="0">
                <a:latin typeface="Courier"/>
              </a:rPr>
              <a:t>a</a:t>
            </a:r>
            <a:r>
              <a:rPr lang="en-CA" dirty="0"/>
              <a:t> and </a:t>
            </a:r>
            <a:r>
              <a:rPr lang="en-CA" dirty="0">
                <a:latin typeface="Courier"/>
              </a:rPr>
              <a:t>b</a:t>
            </a: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32</a:t>
            </a:fld>
            <a:endParaRPr lang="en-C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B4296E-A218-09E6-E18E-68A759416CB8}"/>
              </a:ext>
            </a:extLst>
          </p:cNvPr>
          <p:cNvSpPr txBox="1"/>
          <p:nvPr/>
        </p:nvSpPr>
        <p:spPr>
          <a:xfrm>
            <a:off x="543596" y="2983899"/>
            <a:ext cx="3240562" cy="2169825"/>
          </a:xfrm>
          <a:prstGeom prst="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main(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Two Int Operands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x = 10, y = 20;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Two Int Results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sum, diff;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//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Calculate!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sum_diff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x, y, </a:t>
            </a:r>
            <a:r>
              <a:rPr lang="en-US" sz="12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sum, </a:t>
            </a:r>
            <a:r>
              <a:rPr lang="en-US" sz="12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diff 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1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2E9B644-BA74-0A51-DDB1-39EA73D97734}"/>
              </a:ext>
            </a:extLst>
          </p:cNvPr>
          <p:cNvSpPr/>
          <p:nvPr/>
        </p:nvSpPr>
        <p:spPr>
          <a:xfrm>
            <a:off x="4683009" y="4404250"/>
            <a:ext cx="654285" cy="318035"/>
          </a:xfrm>
          <a:prstGeom prst="roundRect">
            <a:avLst/>
          </a:prstGeom>
          <a:noFill/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rgbClr val="7F1F1F"/>
                </a:solidFill>
              </a:rPr>
              <a:t>20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902F6DC-28D1-2F4B-E92E-EA3AD9F453A7}"/>
              </a:ext>
            </a:extLst>
          </p:cNvPr>
          <p:cNvSpPr/>
          <p:nvPr/>
        </p:nvSpPr>
        <p:spPr>
          <a:xfrm>
            <a:off x="4679961" y="4722262"/>
            <a:ext cx="654285" cy="318035"/>
          </a:xfrm>
          <a:prstGeom prst="roundRect">
            <a:avLst/>
          </a:prstGeom>
          <a:noFill/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rgbClr val="7F1F1F"/>
                </a:solidFill>
              </a:rPr>
              <a:t>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54E4F5-3D84-6846-47FB-80CD5A988FD1}"/>
              </a:ext>
            </a:extLst>
          </p:cNvPr>
          <p:cNvSpPr txBox="1"/>
          <p:nvPr/>
        </p:nvSpPr>
        <p:spPr>
          <a:xfrm>
            <a:off x="4238618" y="3250990"/>
            <a:ext cx="1028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7F1F1F"/>
                </a:solidFill>
              </a:rPr>
              <a:t>Memory</a:t>
            </a:r>
            <a:endParaRPr lang="en-US" sz="1600" dirty="0">
              <a:solidFill>
                <a:srgbClr val="7F1F1F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2DA2D0-77B6-A2F5-A4D7-4F7F0D683CC2}"/>
              </a:ext>
            </a:extLst>
          </p:cNvPr>
          <p:cNvSpPr txBox="1"/>
          <p:nvPr/>
        </p:nvSpPr>
        <p:spPr>
          <a:xfrm>
            <a:off x="5299825" y="4670908"/>
            <a:ext cx="257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rgbClr val="7F1F1F"/>
                </a:solidFill>
              </a:rPr>
              <a:t>x</a:t>
            </a:r>
            <a:endParaRPr lang="en-US" b="1" dirty="0">
              <a:solidFill>
                <a:srgbClr val="7F1F1F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1E778E-4EC6-0CFC-3B37-327456651028}"/>
              </a:ext>
            </a:extLst>
          </p:cNvPr>
          <p:cNvSpPr txBox="1"/>
          <p:nvPr/>
        </p:nvSpPr>
        <p:spPr>
          <a:xfrm>
            <a:off x="5299825" y="4335683"/>
            <a:ext cx="257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rgbClr val="7F1F1F"/>
                </a:solidFill>
              </a:rPr>
              <a:t>y</a:t>
            </a:r>
            <a:endParaRPr lang="en-US" b="1" dirty="0">
              <a:solidFill>
                <a:srgbClr val="7F1F1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D85E4D-3E9C-1407-AAC0-02A589AFC8F2}"/>
              </a:ext>
            </a:extLst>
          </p:cNvPr>
          <p:cNvSpPr txBox="1"/>
          <p:nvPr/>
        </p:nvSpPr>
        <p:spPr>
          <a:xfrm>
            <a:off x="3950304" y="4722905"/>
            <a:ext cx="796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5AE4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F0F771-FB93-1EC1-DA10-56ECC307EE27}"/>
              </a:ext>
            </a:extLst>
          </p:cNvPr>
          <p:cNvSpPr txBox="1"/>
          <p:nvPr/>
        </p:nvSpPr>
        <p:spPr>
          <a:xfrm>
            <a:off x="3956786" y="4398651"/>
            <a:ext cx="796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5AE8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FD3FF18-922A-36A4-D16B-5EBF45777987}"/>
              </a:ext>
            </a:extLst>
          </p:cNvPr>
          <p:cNvSpPr/>
          <p:nvPr/>
        </p:nvSpPr>
        <p:spPr>
          <a:xfrm>
            <a:off x="4692634" y="3768203"/>
            <a:ext cx="654285" cy="318035"/>
          </a:xfrm>
          <a:prstGeom prst="roundRect">
            <a:avLst/>
          </a:prstGeom>
          <a:noFill/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b="1" dirty="0">
              <a:solidFill>
                <a:srgbClr val="7F1F1F"/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18B3BA3-EDB9-84F5-1520-C413B4B367DF}"/>
              </a:ext>
            </a:extLst>
          </p:cNvPr>
          <p:cNvSpPr/>
          <p:nvPr/>
        </p:nvSpPr>
        <p:spPr>
          <a:xfrm>
            <a:off x="4689586" y="4086215"/>
            <a:ext cx="654285" cy="318035"/>
          </a:xfrm>
          <a:prstGeom prst="roundRect">
            <a:avLst/>
          </a:prstGeom>
          <a:noFill/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b="1" dirty="0">
              <a:solidFill>
                <a:srgbClr val="7F1F1F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7631403-97D9-9394-E0A6-F80D0C3F0C3D}"/>
              </a:ext>
            </a:extLst>
          </p:cNvPr>
          <p:cNvSpPr txBox="1"/>
          <p:nvPr/>
        </p:nvSpPr>
        <p:spPr>
          <a:xfrm>
            <a:off x="5309450" y="4034863"/>
            <a:ext cx="5685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7F1F1F"/>
                </a:solidFill>
              </a:rPr>
              <a:t>sum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2E5A1A0-9F78-429B-3678-389A9596BE79}"/>
              </a:ext>
            </a:extLst>
          </p:cNvPr>
          <p:cNvSpPr txBox="1"/>
          <p:nvPr/>
        </p:nvSpPr>
        <p:spPr>
          <a:xfrm>
            <a:off x="5309450" y="3745701"/>
            <a:ext cx="5373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7F1F1F"/>
                </a:solidFill>
              </a:rPr>
              <a:t>diff</a:t>
            </a:r>
            <a:endParaRPr lang="en-US" b="1" dirty="0">
              <a:solidFill>
                <a:srgbClr val="7F1F1F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180DC12-0A23-1C51-E5FE-3789D030B288}"/>
              </a:ext>
            </a:extLst>
          </p:cNvPr>
          <p:cNvSpPr txBox="1"/>
          <p:nvPr/>
        </p:nvSpPr>
        <p:spPr>
          <a:xfrm>
            <a:off x="3959929" y="4086858"/>
            <a:ext cx="796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5AEC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FF88380-5CD8-05F6-518B-43E989302D82}"/>
              </a:ext>
            </a:extLst>
          </p:cNvPr>
          <p:cNvSpPr txBox="1"/>
          <p:nvPr/>
        </p:nvSpPr>
        <p:spPr>
          <a:xfrm>
            <a:off x="3966411" y="3762604"/>
            <a:ext cx="796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5AF0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2F8B386-B47E-FFCF-CBE9-DBCD99CE87D5}"/>
              </a:ext>
            </a:extLst>
          </p:cNvPr>
          <p:cNvSpPr/>
          <p:nvPr/>
        </p:nvSpPr>
        <p:spPr>
          <a:xfrm>
            <a:off x="1765326" y="4550492"/>
            <a:ext cx="571257" cy="191020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9" name="Speech Bubble: Rectangle 28">
            <a:extLst>
              <a:ext uri="{FF2B5EF4-FFF2-40B4-BE49-F238E27FC236}">
                <a16:creationId xmlns:a16="http://schemas.microsoft.com/office/drawing/2014/main" id="{A6BFCE0D-2351-56DB-5E0E-696F6414DCED}"/>
              </a:ext>
            </a:extLst>
          </p:cNvPr>
          <p:cNvSpPr/>
          <p:nvPr/>
        </p:nvSpPr>
        <p:spPr>
          <a:xfrm>
            <a:off x="733446" y="5321550"/>
            <a:ext cx="1374493" cy="313668"/>
          </a:xfrm>
          <a:prstGeom prst="wedgeRectCallout">
            <a:avLst>
              <a:gd name="adj1" fmla="val 50079"/>
              <a:gd name="adj2" fmla="val -214007"/>
            </a:avLst>
          </a:prstGeom>
          <a:solidFill>
            <a:srgbClr val="FFDDDD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Pass the value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F99327C-4431-F8EC-1A46-26ECCD8F7F59}"/>
              </a:ext>
            </a:extLst>
          </p:cNvPr>
          <p:cNvSpPr/>
          <p:nvPr/>
        </p:nvSpPr>
        <p:spPr>
          <a:xfrm>
            <a:off x="2363100" y="4550492"/>
            <a:ext cx="1072932" cy="19102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34" name="Speech Bubble: Rectangle 33">
            <a:extLst>
              <a:ext uri="{FF2B5EF4-FFF2-40B4-BE49-F238E27FC236}">
                <a16:creationId xmlns:a16="http://schemas.microsoft.com/office/drawing/2014/main" id="{396B372C-3E94-5312-450E-684952ED65F5}"/>
              </a:ext>
            </a:extLst>
          </p:cNvPr>
          <p:cNvSpPr/>
          <p:nvPr/>
        </p:nvSpPr>
        <p:spPr>
          <a:xfrm>
            <a:off x="2433404" y="5321550"/>
            <a:ext cx="1663136" cy="313668"/>
          </a:xfrm>
          <a:prstGeom prst="wedgeRectCallout">
            <a:avLst>
              <a:gd name="adj1" fmla="val -1041"/>
              <a:gd name="adj2" fmla="val -210938"/>
            </a:avLst>
          </a:prstGeom>
          <a:solidFill>
            <a:srgbClr val="FFDDDD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Pass the Address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ABD7DBF-56CC-00F3-B6FF-8554129ED58F}"/>
              </a:ext>
            </a:extLst>
          </p:cNvPr>
          <p:cNvSpPr txBox="1"/>
          <p:nvPr/>
        </p:nvSpPr>
        <p:spPr>
          <a:xfrm>
            <a:off x="6423787" y="4813718"/>
            <a:ext cx="4788710" cy="101566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sum_diff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b,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int*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sumP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int*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diffP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*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sumP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a + b;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same as sum = a + b;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*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diffP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a – b;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same as diff = a – b;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6ED42BE-9608-1C25-9E64-68080DB89243}"/>
              </a:ext>
            </a:extLst>
          </p:cNvPr>
          <p:cNvSpPr/>
          <p:nvPr/>
        </p:nvSpPr>
        <p:spPr>
          <a:xfrm>
            <a:off x="7689400" y="4861920"/>
            <a:ext cx="1224541" cy="191020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7" name="Speech Bubble: Rectangle 36">
            <a:extLst>
              <a:ext uri="{FF2B5EF4-FFF2-40B4-BE49-F238E27FC236}">
                <a16:creationId xmlns:a16="http://schemas.microsoft.com/office/drawing/2014/main" id="{10B9B2B9-7729-6A0F-2D63-0759EE65DBA1}"/>
              </a:ext>
            </a:extLst>
          </p:cNvPr>
          <p:cNvSpPr/>
          <p:nvPr/>
        </p:nvSpPr>
        <p:spPr>
          <a:xfrm>
            <a:off x="9111923" y="4280146"/>
            <a:ext cx="1374493" cy="313668"/>
          </a:xfrm>
          <a:prstGeom prst="wedgeRectCallout">
            <a:avLst>
              <a:gd name="adj1" fmla="val -75971"/>
              <a:gd name="adj2" fmla="val 138883"/>
            </a:avLst>
          </a:prstGeom>
          <a:solidFill>
            <a:srgbClr val="FFDDDD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Capture Value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A358296-B5CD-9F4C-757A-3FFF7399670B}"/>
              </a:ext>
            </a:extLst>
          </p:cNvPr>
          <p:cNvSpPr/>
          <p:nvPr/>
        </p:nvSpPr>
        <p:spPr>
          <a:xfrm>
            <a:off x="8929186" y="4866020"/>
            <a:ext cx="2090842" cy="19102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39" name="Speech Bubble: Rectangle 38">
            <a:extLst>
              <a:ext uri="{FF2B5EF4-FFF2-40B4-BE49-F238E27FC236}">
                <a16:creationId xmlns:a16="http://schemas.microsoft.com/office/drawing/2014/main" id="{5BA2CB85-E9B6-69F3-5103-8D4FC40FE9E5}"/>
              </a:ext>
            </a:extLst>
          </p:cNvPr>
          <p:cNvSpPr/>
          <p:nvPr/>
        </p:nvSpPr>
        <p:spPr>
          <a:xfrm>
            <a:off x="9654848" y="3837061"/>
            <a:ext cx="1663136" cy="313668"/>
          </a:xfrm>
          <a:prstGeom prst="wedgeRectCallout">
            <a:avLst>
              <a:gd name="adj1" fmla="val 18058"/>
              <a:gd name="adj2" fmla="val 261629"/>
            </a:avLst>
          </a:prstGeom>
          <a:solidFill>
            <a:srgbClr val="FFDDDD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Capture Address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D2DD515-5F54-1D30-CA07-E4454B647696}"/>
              </a:ext>
            </a:extLst>
          </p:cNvPr>
          <p:cNvSpPr txBox="1"/>
          <p:nvPr/>
        </p:nvSpPr>
        <p:spPr>
          <a:xfrm>
            <a:off x="7272641" y="2881330"/>
            <a:ext cx="12956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Temp Mem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4DAAEE96-E07E-2153-D777-A44D063E1727}"/>
              </a:ext>
            </a:extLst>
          </p:cNvPr>
          <p:cNvSpPr/>
          <p:nvPr/>
        </p:nvSpPr>
        <p:spPr>
          <a:xfrm>
            <a:off x="6895883" y="3681691"/>
            <a:ext cx="1159106" cy="318035"/>
          </a:xfrm>
          <a:prstGeom prst="round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b="1" dirty="0">
              <a:solidFill>
                <a:schemeClr val="accent1"/>
              </a:solidFill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7F4CC905-CCF1-F267-BB91-A76ED15A4D2E}"/>
              </a:ext>
            </a:extLst>
          </p:cNvPr>
          <p:cNvSpPr/>
          <p:nvPr/>
        </p:nvSpPr>
        <p:spPr>
          <a:xfrm>
            <a:off x="6892835" y="3999703"/>
            <a:ext cx="1159106" cy="318035"/>
          </a:xfrm>
          <a:prstGeom prst="round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b="1" dirty="0">
              <a:solidFill>
                <a:schemeClr val="accent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6F047A6-CC15-DC0D-2150-450477337809}"/>
              </a:ext>
            </a:extLst>
          </p:cNvPr>
          <p:cNvSpPr txBox="1"/>
          <p:nvPr/>
        </p:nvSpPr>
        <p:spPr>
          <a:xfrm>
            <a:off x="6626522" y="4004509"/>
            <a:ext cx="6461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/>
                </a:solidFill>
              </a:rPr>
              <a:t>b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FC0F047-5E05-D828-9F48-457644BDC50B}"/>
              </a:ext>
            </a:extLst>
          </p:cNvPr>
          <p:cNvSpPr txBox="1"/>
          <p:nvPr/>
        </p:nvSpPr>
        <p:spPr>
          <a:xfrm>
            <a:off x="6346803" y="3633662"/>
            <a:ext cx="6722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solidFill>
                  <a:schemeClr val="accent1"/>
                </a:solidFill>
              </a:rPr>
              <a:t>sumP</a:t>
            </a:r>
            <a:endParaRPr lang="en-US" sz="1400" b="1" dirty="0">
              <a:solidFill>
                <a:schemeClr val="accent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0888F1A-B0BB-8B06-0D9A-1A9FFC6F1299}"/>
              </a:ext>
            </a:extLst>
          </p:cNvPr>
          <p:cNvSpPr txBox="1"/>
          <p:nvPr/>
        </p:nvSpPr>
        <p:spPr>
          <a:xfrm>
            <a:off x="8036516" y="3986567"/>
            <a:ext cx="796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83B0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E2A9096-08CB-5219-8F0C-582C4CA03FA0}"/>
              </a:ext>
            </a:extLst>
          </p:cNvPr>
          <p:cNvSpPr txBox="1"/>
          <p:nvPr/>
        </p:nvSpPr>
        <p:spPr>
          <a:xfrm>
            <a:off x="8042998" y="3662313"/>
            <a:ext cx="796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83B4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65A137A2-7AC7-4CF7-D5C4-5B85BAAF7CDE}"/>
              </a:ext>
            </a:extLst>
          </p:cNvPr>
          <p:cNvSpPr/>
          <p:nvPr/>
        </p:nvSpPr>
        <p:spPr>
          <a:xfrm>
            <a:off x="6894280" y="3372076"/>
            <a:ext cx="1159106" cy="318035"/>
          </a:xfrm>
          <a:prstGeom prst="round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b="1" dirty="0">
              <a:solidFill>
                <a:schemeClr val="accent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2866285-970F-1F4E-955C-F4FA6C4E80A3}"/>
              </a:ext>
            </a:extLst>
          </p:cNvPr>
          <p:cNvSpPr txBox="1"/>
          <p:nvPr/>
        </p:nvSpPr>
        <p:spPr>
          <a:xfrm>
            <a:off x="8041395" y="3352698"/>
            <a:ext cx="796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83B8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C07327C-F19F-1429-5B45-E096C0AF8833}"/>
              </a:ext>
            </a:extLst>
          </p:cNvPr>
          <p:cNvSpPr txBox="1"/>
          <p:nvPr/>
        </p:nvSpPr>
        <p:spPr>
          <a:xfrm>
            <a:off x="6412575" y="3304504"/>
            <a:ext cx="6722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solidFill>
                  <a:schemeClr val="accent1"/>
                </a:solidFill>
              </a:rPr>
              <a:t>diffP</a:t>
            </a:r>
            <a:endParaRPr lang="en-US" sz="1400" b="1" dirty="0">
              <a:solidFill>
                <a:schemeClr val="accent1"/>
              </a:solidFill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AE46994D-9E93-5F41-71EB-935B193F1800}"/>
              </a:ext>
            </a:extLst>
          </p:cNvPr>
          <p:cNvSpPr/>
          <p:nvPr/>
        </p:nvSpPr>
        <p:spPr>
          <a:xfrm>
            <a:off x="6898487" y="4324745"/>
            <a:ext cx="1159106" cy="318035"/>
          </a:xfrm>
          <a:prstGeom prst="round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b="1" dirty="0">
              <a:solidFill>
                <a:schemeClr val="accent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258F631-FDC2-4A8E-FA4F-1837AA78DCA8}"/>
              </a:ext>
            </a:extLst>
          </p:cNvPr>
          <p:cNvSpPr txBox="1"/>
          <p:nvPr/>
        </p:nvSpPr>
        <p:spPr>
          <a:xfrm>
            <a:off x="6632174" y="4329551"/>
            <a:ext cx="6461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/>
                </a:solidFill>
              </a:rPr>
              <a:t>a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C47FF27-D515-4BD1-6D03-6CEA0DA87398}"/>
              </a:ext>
            </a:extLst>
          </p:cNvPr>
          <p:cNvSpPr txBox="1"/>
          <p:nvPr/>
        </p:nvSpPr>
        <p:spPr>
          <a:xfrm>
            <a:off x="8042168" y="4311609"/>
            <a:ext cx="796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83AC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5369BA5-1406-AC4D-828F-42EDEB3EF9C6}"/>
              </a:ext>
            </a:extLst>
          </p:cNvPr>
          <p:cNvSpPr txBox="1"/>
          <p:nvPr/>
        </p:nvSpPr>
        <p:spPr>
          <a:xfrm>
            <a:off x="7250171" y="4302447"/>
            <a:ext cx="4651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>
                <a:solidFill>
                  <a:srgbClr val="7F1F1F"/>
                </a:solidFill>
              </a:rPr>
              <a:t>10</a:t>
            </a:r>
            <a:endParaRPr 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F5AB923-A4B9-CB7A-025E-0D9C497F111C}"/>
              </a:ext>
            </a:extLst>
          </p:cNvPr>
          <p:cNvSpPr txBox="1"/>
          <p:nvPr/>
        </p:nvSpPr>
        <p:spPr>
          <a:xfrm>
            <a:off x="7256521" y="3984947"/>
            <a:ext cx="4651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>
                <a:solidFill>
                  <a:srgbClr val="7F1F1F"/>
                </a:solidFill>
              </a:rPr>
              <a:t>20</a:t>
            </a:r>
            <a:endParaRPr lang="en-US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E328349-F592-3A41-6A86-E5B880373B0C}"/>
              </a:ext>
            </a:extLst>
          </p:cNvPr>
          <p:cNvSpPr txBox="1"/>
          <p:nvPr/>
        </p:nvSpPr>
        <p:spPr>
          <a:xfrm>
            <a:off x="6995412" y="3665378"/>
            <a:ext cx="9970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>
                <a:solidFill>
                  <a:schemeClr val="accent1"/>
                </a:solidFill>
              </a:rPr>
              <a:t>0x 5AEC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57" name="Arrow: Down 56">
            <a:extLst>
              <a:ext uri="{FF2B5EF4-FFF2-40B4-BE49-F238E27FC236}">
                <a16:creationId xmlns:a16="http://schemas.microsoft.com/office/drawing/2014/main" id="{69678597-6775-5F42-8A70-BC72DC205144}"/>
              </a:ext>
            </a:extLst>
          </p:cNvPr>
          <p:cNvSpPr/>
          <p:nvPr/>
        </p:nvSpPr>
        <p:spPr>
          <a:xfrm rot="4489117">
            <a:off x="6256793" y="3531384"/>
            <a:ext cx="71489" cy="102934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6EFA48F-9D9B-9AD5-0399-A04E3437FE63}"/>
              </a:ext>
            </a:extLst>
          </p:cNvPr>
          <p:cNvSpPr txBox="1"/>
          <p:nvPr/>
        </p:nvSpPr>
        <p:spPr>
          <a:xfrm>
            <a:off x="7001989" y="3335129"/>
            <a:ext cx="9970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>
                <a:solidFill>
                  <a:schemeClr val="accent1"/>
                </a:solidFill>
              </a:rPr>
              <a:t>0x 5AF0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59" name="Arrow: Down 58">
            <a:extLst>
              <a:ext uri="{FF2B5EF4-FFF2-40B4-BE49-F238E27FC236}">
                <a16:creationId xmlns:a16="http://schemas.microsoft.com/office/drawing/2014/main" id="{4BE137FB-20F9-26C6-D815-8867FE21819D}"/>
              </a:ext>
            </a:extLst>
          </p:cNvPr>
          <p:cNvSpPr/>
          <p:nvPr/>
        </p:nvSpPr>
        <p:spPr>
          <a:xfrm rot="4489117">
            <a:off x="6239886" y="3209169"/>
            <a:ext cx="71489" cy="102934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E1C5689-915E-2972-448F-11F2157295A6}"/>
              </a:ext>
            </a:extLst>
          </p:cNvPr>
          <p:cNvSpPr txBox="1"/>
          <p:nvPr/>
        </p:nvSpPr>
        <p:spPr>
          <a:xfrm>
            <a:off x="4810518" y="4062873"/>
            <a:ext cx="4651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>
                <a:solidFill>
                  <a:srgbClr val="FF0000"/>
                </a:solidFill>
              </a:rPr>
              <a:t>30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18C7850-3274-569C-9821-5142CDA46530}"/>
              </a:ext>
            </a:extLst>
          </p:cNvPr>
          <p:cNvSpPr txBox="1"/>
          <p:nvPr/>
        </p:nvSpPr>
        <p:spPr>
          <a:xfrm>
            <a:off x="4756052" y="3749618"/>
            <a:ext cx="5692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>
                <a:solidFill>
                  <a:srgbClr val="FF0000"/>
                </a:solidFill>
              </a:rPr>
              <a:t>-10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ACECC21-7443-632B-E475-8C297F4AB269}"/>
              </a:ext>
            </a:extLst>
          </p:cNvPr>
          <p:cNvSpPr/>
          <p:nvPr/>
        </p:nvSpPr>
        <p:spPr>
          <a:xfrm>
            <a:off x="9065591" y="3048543"/>
            <a:ext cx="2252393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L7Ex6-MultiReturn.c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6645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268464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Takeaways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627383" y="1567674"/>
            <a:ext cx="714501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 dirty="0"/>
              <a:t>Memory Map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 is designed to efficiently utilize memory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To take advantage of the memory efficiency, pointers are needed</a:t>
            </a:r>
          </a:p>
          <a:p>
            <a:pPr lvl="1"/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 dirty="0"/>
              <a:t>Address-Data Duality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 allows free access of any </a:t>
            </a:r>
            <a:r>
              <a:rPr lang="en-CA" i="1" dirty="0" err="1"/>
              <a:t>lvalue</a:t>
            </a:r>
            <a:r>
              <a:rPr lang="en-CA" dirty="0"/>
              <a:t> data and its address interchangeably</a:t>
            </a:r>
            <a:endParaRPr lang="en-CA" i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Address (Referencing) Operator &amp;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Indirection (Dereferencing) Operator *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 dirty="0"/>
              <a:t>Pointer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 data type that accepts memory address of another variable</a:t>
            </a:r>
            <a:endParaRPr lang="en-CA" i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(Simulated) Pass by Reference vs. Pass by Value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Simulating multiple return values from functions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33</a:t>
            </a:fld>
            <a:endParaRPr lang="en-CA" dirty="0"/>
          </a:p>
        </p:txBody>
      </p:sp>
      <p:pic>
        <p:nvPicPr>
          <p:cNvPr id="9" name="Graphic 8" descr="Three circles each containing concentric circles.">
            <a:extLst>
              <a:ext uri="{FF2B5EF4-FFF2-40B4-BE49-F238E27FC236}">
                <a16:creationId xmlns:a16="http://schemas.microsoft.com/office/drawing/2014/main" id="{AD0038CC-0843-437C-BFCF-0646F453B2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8020" y="776106"/>
            <a:ext cx="5305788" cy="5305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344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255916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Upcoming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6900553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 dirty="0"/>
              <a:t>Pointer Arithmetic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Array Name Revisited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Pointer-Offset Notation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Pointer and String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 err="1"/>
              <a:t>sizeof</a:t>
            </a:r>
            <a:r>
              <a:rPr lang="en-CA" dirty="0"/>
              <a:t>() Operator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 dirty="0"/>
              <a:t>Dynamic Memory Allocation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34</a:t>
            </a:fld>
            <a:endParaRPr lang="en-CA" dirty="0"/>
          </a:p>
        </p:txBody>
      </p:sp>
      <p:pic>
        <p:nvPicPr>
          <p:cNvPr id="9" name="Graphic 8" descr="Three circles each containing concentric circles.">
            <a:extLst>
              <a:ext uri="{FF2B5EF4-FFF2-40B4-BE49-F238E27FC236}">
                <a16:creationId xmlns:a16="http://schemas.microsoft.com/office/drawing/2014/main" id="{AD0038CC-0843-437C-BFCF-0646F453B2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8020" y="776106"/>
            <a:ext cx="5305788" cy="5305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051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27154</TotalTime>
  <Words>4921</Words>
  <Application>Microsoft Office PowerPoint</Application>
  <PresentationFormat>Widescreen</PresentationFormat>
  <Paragraphs>1091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Algerian</vt:lpstr>
      <vt:lpstr>Amasis MT Pro Black</vt:lpstr>
      <vt:lpstr>Arial</vt:lpstr>
      <vt:lpstr>Calibri</vt:lpstr>
      <vt:lpstr>Calibri Light</vt:lpstr>
      <vt:lpstr>Courier</vt:lpstr>
      <vt:lpstr>Courier New</vt:lpstr>
      <vt:lpstr>Office Theme</vt:lpstr>
      <vt:lpstr>PowerPoint Presentation</vt:lpstr>
      <vt:lpstr>PowerPoint Presentation</vt:lpstr>
      <vt:lpstr>Address-Data Duality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Operations on Pointers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7 - Pointers</dc:title>
  <dc:creator>Shahrukh Athar</dc:creator>
  <cp:lastModifiedBy>Shahrukh Athar</cp:lastModifiedBy>
  <cp:revision>523</cp:revision>
  <dcterms:created xsi:type="dcterms:W3CDTF">2018-10-02T00:35:18Z</dcterms:created>
  <dcterms:modified xsi:type="dcterms:W3CDTF">2024-10-06T23:40:15Z</dcterms:modified>
</cp:coreProperties>
</file>