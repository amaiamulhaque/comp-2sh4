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4" r:id="rId3"/>
    <p:sldId id="270" r:id="rId4"/>
    <p:sldId id="450" r:id="rId5"/>
    <p:sldId id="451" r:id="rId6"/>
    <p:sldId id="453" r:id="rId7"/>
    <p:sldId id="464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36" r:id="rId19"/>
    <p:sldId id="452" r:id="rId20"/>
    <p:sldId id="465" r:id="rId21"/>
    <p:sldId id="466" r:id="rId22"/>
    <p:sldId id="467" r:id="rId23"/>
    <p:sldId id="377" r:id="rId24"/>
    <p:sldId id="31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F1F1F"/>
    <a:srgbClr val="A870D2"/>
    <a:srgbClr val="E9EBF5"/>
    <a:srgbClr val="FFDDDD"/>
    <a:srgbClr val="EBF1E9"/>
    <a:srgbClr val="FF7D7D"/>
    <a:srgbClr val="FFC000"/>
    <a:srgbClr val="E8D9F3"/>
    <a:srgbClr val="D1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088341" y="2611819"/>
            <a:ext cx="40153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Road to C++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C564E-30D3-8B7A-4423-915F813E4367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E689B-210D-BE04-0393-7EE1379D3A22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Typedef – C Aliasing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Using Structures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Pointers to Structures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Structure Arrays and DMA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From C to C++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Mononomial library resembling a C++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Limitations of C</a:t>
            </a:r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More on C Structures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2CAFA-0DA5-98C0-585B-B8C8DE41D532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Review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10-1] Struct, Union, and Enumeration</a:t>
            </a: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Structure –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Aliasing using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/>
              </a:rPr>
              <a:t>typedef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77824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Complex data type requires repetition of </a:t>
            </a:r>
            <a:r>
              <a:rPr lang="en-CA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CA" dirty="0"/>
              <a:t> keyword everywhere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Compromised readability, pestering annoyance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A2361-877F-B723-8313-CDD7F806BFD0}"/>
              </a:ext>
            </a:extLst>
          </p:cNvPr>
          <p:cNvSpPr txBox="1"/>
          <p:nvPr/>
        </p:nvSpPr>
        <p:spPr>
          <a:xfrm>
            <a:off x="987295" y="2606393"/>
            <a:ext cx="4089800" cy="323165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defines new data type “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mono1 = {0.3, 4};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mono2 = {-2.3, 10};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mono3 = {2.66, 2};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foo(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a)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temp = {3.2, 5};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0C988E4E-9AAC-9BF5-F80A-D0C93D2330C5}"/>
              </a:ext>
            </a:extLst>
          </p:cNvPr>
          <p:cNvSpPr/>
          <p:nvPr/>
        </p:nvSpPr>
        <p:spPr>
          <a:xfrm>
            <a:off x="2895968" y="2696176"/>
            <a:ext cx="2055218" cy="551534"/>
          </a:xfrm>
          <a:prstGeom prst="wedgeRectCallout">
            <a:avLst>
              <a:gd name="adj1" fmla="val -35009"/>
              <a:gd name="adj2" fmla="val 747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CA" sz="1600" b="1" dirty="0">
                <a:solidFill>
                  <a:schemeClr val="tx1"/>
                </a:solidFill>
                <a:latin typeface="Courier"/>
              </a:rPr>
              <a:t> monomial</a:t>
            </a:r>
            <a:br>
              <a:rPr lang="en-CA" sz="1600" b="1" dirty="0">
                <a:solidFill>
                  <a:schemeClr val="tx1"/>
                </a:solidFill>
              </a:rPr>
            </a:br>
            <a:r>
              <a:rPr lang="en-CA" sz="1600" b="1" dirty="0">
                <a:solidFill>
                  <a:srgbClr val="FF0000"/>
                </a:solidFill>
              </a:rPr>
              <a:t>EVERYWHERE</a:t>
            </a:r>
            <a:r>
              <a:rPr lang="en-CA" sz="1600" dirty="0">
                <a:solidFill>
                  <a:schemeClr val="tx1"/>
                </a:solidFill>
              </a:rPr>
              <a:t>…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76673-6FFC-9618-4920-AA7FDB51DD37}"/>
              </a:ext>
            </a:extLst>
          </p:cNvPr>
          <p:cNvSpPr txBox="1"/>
          <p:nvPr/>
        </p:nvSpPr>
        <p:spPr>
          <a:xfrm>
            <a:off x="5250130" y="2606393"/>
            <a:ext cx="4089800" cy="3354765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defines new data type “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</a:t>
            </a:r>
            <a:r>
              <a:rPr lang="en-US" sz="16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 = {3.2, 5};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D5B0D638-390F-6464-ECE1-5B4BC246F5EA}"/>
              </a:ext>
            </a:extLst>
          </p:cNvPr>
          <p:cNvSpPr/>
          <p:nvPr/>
        </p:nvSpPr>
        <p:spPr>
          <a:xfrm>
            <a:off x="9419436" y="2814360"/>
            <a:ext cx="2055218" cy="860658"/>
          </a:xfrm>
          <a:prstGeom prst="wedgeRectCallout">
            <a:avLst>
              <a:gd name="adj1" fmla="val -58738"/>
              <a:gd name="adj2" fmla="val 8790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CA" sz="1600" b="1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sz="1600" b="1" dirty="0">
                <a:solidFill>
                  <a:schemeClr val="tx1"/>
                </a:solidFill>
              </a:rPr>
              <a:t>now a synonym of</a:t>
            </a:r>
          </a:p>
          <a:p>
            <a:pPr algn="ctr"/>
            <a:r>
              <a:rPr lang="en-CA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CA" sz="1600" b="1" dirty="0">
                <a:solidFill>
                  <a:schemeClr val="tx1"/>
                </a:solidFill>
                <a:latin typeface="Courier"/>
              </a:rPr>
              <a:t> monomial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8286CBE2-F549-4259-759C-CAAB2B803BC1}"/>
              </a:ext>
            </a:extLst>
          </p:cNvPr>
          <p:cNvSpPr/>
          <p:nvPr/>
        </p:nvSpPr>
        <p:spPr>
          <a:xfrm>
            <a:off x="8023783" y="4534591"/>
            <a:ext cx="3188714" cy="1303456"/>
          </a:xfrm>
          <a:prstGeom prst="wedgeRectCallout">
            <a:avLst>
              <a:gd name="adj1" fmla="val -52300"/>
              <a:gd name="adj2" fmla="val -7180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>
                <a:solidFill>
                  <a:schemeClr val="tx1"/>
                </a:solidFill>
                <a:latin typeface="Courier"/>
              </a:rPr>
              <a:t>Typedef</a:t>
            </a:r>
            <a:endParaRPr lang="en-US" sz="1600" b="1" u="sng" dirty="0">
              <a:solidFill>
                <a:schemeClr val="tx1"/>
              </a:solidFill>
              <a:latin typeface="Courier"/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Creates synonyms for previously defined data types for improved readability and code manageability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5FAED9-63A0-DF6A-8C4C-6906C49043BF}"/>
              </a:ext>
            </a:extLst>
          </p:cNvPr>
          <p:cNvSpPr/>
          <p:nvPr/>
        </p:nvSpPr>
        <p:spPr>
          <a:xfrm>
            <a:off x="9088165" y="1491590"/>
            <a:ext cx="2124332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First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 Abstraction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5B7E93-F681-A888-2885-34A4221150C2}"/>
              </a:ext>
            </a:extLst>
          </p:cNvPr>
          <p:cNvSpPr/>
          <p:nvPr/>
        </p:nvSpPr>
        <p:spPr>
          <a:xfrm>
            <a:off x="2998418" y="5519898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L10Ex1a-StructS1.c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7401A6-C983-2FF8-3E03-81F9A660AB3B}"/>
              </a:ext>
            </a:extLst>
          </p:cNvPr>
          <p:cNvSpPr/>
          <p:nvPr/>
        </p:nvSpPr>
        <p:spPr>
          <a:xfrm>
            <a:off x="7261253" y="2534470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L10Ex1b-StructS2.c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52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8" grpId="0" animBg="1"/>
      <p:bldP spid="9" grpId="0" animBg="1"/>
      <p:bldP spid="10" grpId="0" animBg="1"/>
      <p:bldP spid="11" grpId="0" animBg="1"/>
      <p:bldP spid="5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Structure –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Aliasing using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/>
              </a:rPr>
              <a:t>typedef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50817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Style 1 – Definition then Typedef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First define the struct as a new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Then associate a synonym through typedef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A17BA-8F87-70FF-ABA7-4C84F7684B21}"/>
              </a:ext>
            </a:extLst>
          </p:cNvPr>
          <p:cNvSpPr txBox="1"/>
          <p:nvPr/>
        </p:nvSpPr>
        <p:spPr>
          <a:xfrm>
            <a:off x="5914417" y="1557878"/>
            <a:ext cx="592515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Style 2 – Typedef on Definition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Typedef directly on a struct variable definition</a:t>
            </a:r>
            <a:endParaRPr lang="en-CA" b="1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Limited namespace contamination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Cannot include pointer to itself as member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D6A91-2FE0-9B01-CD22-0ABD19E0B8DA}"/>
              </a:ext>
            </a:extLst>
          </p:cNvPr>
          <p:cNvSpPr txBox="1"/>
          <p:nvPr/>
        </p:nvSpPr>
        <p:spPr>
          <a:xfrm>
            <a:off x="980221" y="2606393"/>
            <a:ext cx="4729699" cy="2031325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defines new data type “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4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monomial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synonym of “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22225423-46FD-55B4-8956-0235371AC30A}"/>
              </a:ext>
            </a:extLst>
          </p:cNvPr>
          <p:cNvSpPr/>
          <p:nvPr/>
        </p:nvSpPr>
        <p:spPr>
          <a:xfrm>
            <a:off x="1430408" y="4845917"/>
            <a:ext cx="3858344" cy="979305"/>
          </a:xfrm>
          <a:prstGeom prst="wedgeRectCallout">
            <a:avLst>
              <a:gd name="adj1" fmla="val -33341"/>
              <a:gd name="adj2" fmla="val -7491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From this point on, </a:t>
            </a:r>
            <a:r>
              <a:rPr lang="en-US" sz="16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monomial</a:t>
            </a:r>
            <a:r>
              <a:rPr lang="en-US" sz="1600" dirty="0">
                <a:solidFill>
                  <a:schemeClr val="tx1"/>
                </a:solidFill>
              </a:rPr>
              <a:t> can be used interchangeably.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Is it always a good idea though?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85AA6-52B3-012A-2476-3A490726EFD4}"/>
              </a:ext>
            </a:extLst>
          </p:cNvPr>
          <p:cNvSpPr txBox="1"/>
          <p:nvPr/>
        </p:nvSpPr>
        <p:spPr>
          <a:xfrm>
            <a:off x="6272287" y="2977868"/>
            <a:ext cx="4729699" cy="181588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defines new complex data type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endParaRPr lang="en-US" sz="1400" b="1" dirty="0">
              <a:solidFill>
                <a:srgbClr val="A870D2"/>
              </a:solidFill>
              <a:latin typeface="Courier"/>
            </a:endParaRPr>
          </a:p>
          <a:p>
            <a:endParaRPr lang="en-US" sz="1400" b="1" dirty="0">
              <a:solidFill>
                <a:srgbClr val="A870D2"/>
              </a:solidFill>
              <a:latin typeface="Courier"/>
            </a:endParaRPr>
          </a:p>
          <a:p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{-3.1, 12};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07F39AF-C592-4DE2-0D45-3869E71837C6}"/>
              </a:ext>
            </a:extLst>
          </p:cNvPr>
          <p:cNvSpPr/>
          <p:nvPr/>
        </p:nvSpPr>
        <p:spPr>
          <a:xfrm>
            <a:off x="6754170" y="5029200"/>
            <a:ext cx="3858344" cy="871058"/>
          </a:xfrm>
          <a:prstGeom prst="wedgeRectCallout">
            <a:avLst>
              <a:gd name="adj1" fmla="val -33341"/>
              <a:gd name="adj2" fmla="val -74915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600" dirty="0">
                <a:solidFill>
                  <a:schemeClr val="tx1"/>
                </a:solidFill>
              </a:rPr>
              <a:t> is a new composite data type with C struct as its underlying implementation</a:t>
            </a:r>
          </a:p>
          <a:p>
            <a:r>
              <a:rPr lang="en-US" sz="1600" b="1" dirty="0">
                <a:solidFill>
                  <a:srgbClr val="00B0F0"/>
                </a:solidFill>
              </a:rPr>
              <a:t>One less variable name “monomial” taken.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E61D71-EFDC-4F55-F814-2AF241D71FF6}"/>
              </a:ext>
            </a:extLst>
          </p:cNvPr>
          <p:cNvSpPr/>
          <p:nvPr/>
        </p:nvSpPr>
        <p:spPr>
          <a:xfrm>
            <a:off x="8775728" y="3035978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L10Ex1c-StructS3.c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34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Structure –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Members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50817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Structure Member Operator (</a:t>
            </a:r>
            <a:r>
              <a:rPr lang="en-CA" sz="2200" dirty="0">
                <a:latin typeface="Courier"/>
              </a:rPr>
              <a:t>.</a:t>
            </a:r>
            <a:r>
              <a:rPr lang="en-CA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Aka. Dot Operator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Highest precedence as [] and ()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A17BA-8F87-70FF-ABA7-4C84F7684B21}"/>
              </a:ext>
            </a:extLst>
          </p:cNvPr>
          <p:cNvSpPr txBox="1"/>
          <p:nvPr/>
        </p:nvSpPr>
        <p:spPr>
          <a:xfrm>
            <a:off x="5914417" y="1557878"/>
            <a:ext cx="52973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Structure Pointer Operator (</a:t>
            </a:r>
            <a:r>
              <a:rPr lang="en-CA" sz="2200" dirty="0">
                <a:latin typeface="Courier"/>
              </a:rPr>
              <a:t>-&gt;</a:t>
            </a:r>
            <a:r>
              <a:rPr lang="en-CA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Aka. Arrow Operator</a:t>
            </a:r>
            <a:endParaRPr lang="en-CA" b="1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Highest precedence as [] and 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D6A91-2FE0-9B01-CD22-0ABD19E0B8DA}"/>
              </a:ext>
            </a:extLst>
          </p:cNvPr>
          <p:cNvSpPr txBox="1"/>
          <p:nvPr/>
        </p:nvSpPr>
        <p:spPr>
          <a:xfrm>
            <a:off x="1163101" y="2799433"/>
            <a:ext cx="4130259" cy="2462213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b="1" dirty="0">
              <a:solidFill>
                <a:srgbClr val="A870D2"/>
              </a:solidFill>
              <a:latin typeface="Courier"/>
            </a:endParaRPr>
          </a:p>
          <a:p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{-3.1, 12};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 members using dot operator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(“Coeff: %.2f\n”, mono1.coeff);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(“Power: %d\n”, ++mono1.power);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85AA6-52B3-012A-2476-3A490726EFD4}"/>
              </a:ext>
            </a:extLst>
          </p:cNvPr>
          <p:cNvSpPr txBox="1"/>
          <p:nvPr/>
        </p:nvSpPr>
        <p:spPr>
          <a:xfrm>
            <a:off x="6096001" y="2799433"/>
            <a:ext cx="4460240" cy="224676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&amp;mono1;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points to mono1</a:t>
            </a:r>
          </a:p>
          <a:p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(“Power: %d\n”,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-&gt; power);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Accessing power member through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  (*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).power</a:t>
            </a:r>
          </a:p>
          <a:p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(“Coeff: %f\n”, (*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Accessing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member through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Same as  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07F39AF-C592-4DE2-0D45-3869E71837C6}"/>
              </a:ext>
            </a:extLst>
          </p:cNvPr>
          <p:cNvSpPr/>
          <p:nvPr/>
        </p:nvSpPr>
        <p:spPr>
          <a:xfrm>
            <a:off x="6867331" y="5351371"/>
            <a:ext cx="3552091" cy="515803"/>
          </a:xfrm>
          <a:prstGeom prst="wedgeRectCallout">
            <a:avLst>
              <a:gd name="adj1" fmla="val -28812"/>
              <a:gd name="adj2" fmla="val -11234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Tip</a:t>
            </a:r>
            <a:r>
              <a:rPr lang="en-US" sz="1600" dirty="0">
                <a:solidFill>
                  <a:schemeClr val="tx1"/>
                </a:solidFill>
              </a:rPr>
              <a:t>: 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a -&gt; b</a:t>
            </a:r>
            <a:r>
              <a:rPr lang="en-US" sz="1600" dirty="0">
                <a:solidFill>
                  <a:schemeClr val="tx1"/>
                </a:solidFill>
              </a:rPr>
              <a:t>  is equivalent to 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*a).b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F9B365-8A7C-1332-5045-47818EDF321A}"/>
              </a:ext>
            </a:extLst>
          </p:cNvPr>
          <p:cNvSpPr/>
          <p:nvPr/>
        </p:nvSpPr>
        <p:spPr>
          <a:xfrm>
            <a:off x="8991391" y="657194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Second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Hierarchical Access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38DB4B-841C-289E-D6A9-CA1D01E88B9E}"/>
              </a:ext>
            </a:extLst>
          </p:cNvPr>
          <p:cNvSpPr/>
          <p:nvPr/>
        </p:nvSpPr>
        <p:spPr>
          <a:xfrm>
            <a:off x="8775728" y="2693078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L10Ex2-StructOps.c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51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Structure – </a:t>
            </a:r>
            <a:r>
              <a:rPr lang="en-CA" altLang="ja-JP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Permitted Members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543963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Primitive 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Pointers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Other Structure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Pointers to Structure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Including itself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Instance of the Structure Itself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</a:rPr>
              <a:t>NOT PERMITTED!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85AA6-52B3-012A-2476-3A490726EFD4}"/>
              </a:ext>
            </a:extLst>
          </p:cNvPr>
          <p:cNvSpPr txBox="1"/>
          <p:nvPr/>
        </p:nvSpPr>
        <p:spPr>
          <a:xfrm>
            <a:off x="7406779" y="1407402"/>
            <a:ext cx="2076205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year;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 dirty="0">
                <a:solidFill>
                  <a:srgbClr val="A870D2"/>
                </a:solidFill>
                <a:latin typeface="Courier"/>
              </a:rPr>
              <a:t>date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5FEF4-3C71-C41B-22DC-B33B0C9D2203}"/>
              </a:ext>
            </a:extLst>
          </p:cNvPr>
          <p:cNvSpPr txBox="1"/>
          <p:nvPr/>
        </p:nvSpPr>
        <p:spPr>
          <a:xfrm>
            <a:off x="7406779" y="3003918"/>
            <a:ext cx="2156322" cy="116955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name[30];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A870D2"/>
                </a:solidFill>
                <a:latin typeface="Courier"/>
              </a:rPr>
              <a:t>date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birthday;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5E2F7-91EB-5F25-0CC6-80018F74DF24}"/>
              </a:ext>
            </a:extLst>
          </p:cNvPr>
          <p:cNvSpPr txBox="1"/>
          <p:nvPr/>
        </p:nvSpPr>
        <p:spPr>
          <a:xfrm>
            <a:off x="3854532" y="4423258"/>
            <a:ext cx="3590925" cy="138499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name[30];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A870D2"/>
                </a:solidFill>
                <a:latin typeface="Courier"/>
              </a:rPr>
              <a:t>date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birthday;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prevStudent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D76FB-769B-0153-4D96-F11F12D26830}"/>
              </a:ext>
            </a:extLst>
          </p:cNvPr>
          <p:cNvSpPr txBox="1"/>
          <p:nvPr/>
        </p:nvSpPr>
        <p:spPr>
          <a:xfrm>
            <a:off x="7694368" y="4430191"/>
            <a:ext cx="3590924" cy="138499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name[30];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A870D2"/>
                </a:solidFill>
                <a:latin typeface="Courier"/>
              </a:rPr>
              <a:t>date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birthday;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urier"/>
              </a:rPr>
              <a:t>struct student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prevStudent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6061D552-C687-8465-0085-398273F19A69}"/>
              </a:ext>
            </a:extLst>
          </p:cNvPr>
          <p:cNvSpPr/>
          <p:nvPr/>
        </p:nvSpPr>
        <p:spPr>
          <a:xfrm rot="5400000" flipV="1">
            <a:off x="6486849" y="3514591"/>
            <a:ext cx="955808" cy="884052"/>
          </a:xfrm>
          <a:prstGeom prst="bentArrow">
            <a:avLst>
              <a:gd name="adj1" fmla="val 6865"/>
              <a:gd name="adj2" fmla="val 11748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F238911E-D093-3C32-0667-6A369255BD18}"/>
              </a:ext>
            </a:extLst>
          </p:cNvPr>
          <p:cNvSpPr/>
          <p:nvPr/>
        </p:nvSpPr>
        <p:spPr>
          <a:xfrm rot="5400000">
            <a:off x="9527223" y="3529311"/>
            <a:ext cx="955808" cy="884052"/>
          </a:xfrm>
          <a:prstGeom prst="bentArrow">
            <a:avLst>
              <a:gd name="adj1" fmla="val 6865"/>
              <a:gd name="adj2" fmla="val 11748"/>
              <a:gd name="adj3" fmla="val 25000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&quot;Not Allowed&quot; Symbol 17">
            <a:extLst>
              <a:ext uri="{FF2B5EF4-FFF2-40B4-BE49-F238E27FC236}">
                <a16:creationId xmlns:a16="http://schemas.microsoft.com/office/drawing/2014/main" id="{B019F6ED-EB80-7C2A-C6BB-3888B8B81204}"/>
              </a:ext>
            </a:extLst>
          </p:cNvPr>
          <p:cNvSpPr/>
          <p:nvPr/>
        </p:nvSpPr>
        <p:spPr>
          <a:xfrm>
            <a:off x="9950763" y="4075826"/>
            <a:ext cx="746830" cy="746830"/>
          </a:xfrm>
          <a:prstGeom prst="noSmoking">
            <a:avLst>
              <a:gd name="adj" fmla="val 759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8BB3BA8F-55E3-4C3B-DEBD-8D7F18BE4DE7}"/>
              </a:ext>
            </a:extLst>
          </p:cNvPr>
          <p:cNvSpPr/>
          <p:nvPr/>
        </p:nvSpPr>
        <p:spPr>
          <a:xfrm>
            <a:off x="9761290" y="2898046"/>
            <a:ext cx="1409332" cy="455313"/>
          </a:xfrm>
          <a:prstGeom prst="wedgeRectCallout">
            <a:avLst>
              <a:gd name="adj1" fmla="val -35009"/>
              <a:gd name="adj2" fmla="val 7475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FF0000"/>
                </a:solidFill>
              </a:rPr>
              <a:t>Syntax Error!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5582BA-5437-A707-38D5-E688D52480E0}"/>
              </a:ext>
            </a:extLst>
          </p:cNvPr>
          <p:cNvSpPr/>
          <p:nvPr/>
        </p:nvSpPr>
        <p:spPr>
          <a:xfrm>
            <a:off x="9094067" y="433625"/>
            <a:ext cx="21184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L10Ex3-Members.c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46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11" grpId="0" animBg="1"/>
      <p:bldP spid="12" grpId="0" animBg="1"/>
      <p:bldP spid="1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Structures and Functions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5297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Structures into/out of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Default - Pass by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Structure members are copied onto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members are copied onto the Stack too!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Element-by-Element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Both into and out of functions!</a:t>
            </a: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6650593" y="1643015"/>
            <a:ext cx="2590321" cy="132343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cArray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[2];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600" b="1" dirty="0" err="1">
                <a:solidFill>
                  <a:srgbClr val="A870D2"/>
                </a:solidFill>
                <a:latin typeface="Courier"/>
              </a:rPr>
              <a:t>myData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7E4E5-157A-CCFF-4889-D6F0D3035C8F}"/>
              </a:ext>
            </a:extLst>
          </p:cNvPr>
          <p:cNvSpPr/>
          <p:nvPr/>
        </p:nvSpPr>
        <p:spPr>
          <a:xfrm>
            <a:off x="5133864" y="4353815"/>
            <a:ext cx="594805" cy="289124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B3EB5-480D-CF15-A60E-3C94CEE4D658}"/>
              </a:ext>
            </a:extLst>
          </p:cNvPr>
          <p:cNvSpPr txBox="1"/>
          <p:nvPr/>
        </p:nvSpPr>
        <p:spPr>
          <a:xfrm>
            <a:off x="4373448" y="4360799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1F16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8AE170-3E99-7E3E-21C8-64D19A2A3275}"/>
              </a:ext>
            </a:extLst>
          </p:cNvPr>
          <p:cNvSpPr/>
          <p:nvPr/>
        </p:nvSpPr>
        <p:spPr>
          <a:xfrm>
            <a:off x="5133719" y="4924127"/>
            <a:ext cx="594805" cy="289124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‘a’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978F78-14B0-C72C-3349-73728D90E42E}"/>
              </a:ext>
            </a:extLst>
          </p:cNvPr>
          <p:cNvSpPr/>
          <p:nvPr/>
        </p:nvSpPr>
        <p:spPr>
          <a:xfrm>
            <a:off x="5133719" y="4642649"/>
            <a:ext cx="594805" cy="289124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‘b’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C8AE0A-997A-DF79-D43D-9CBA0829B781}"/>
              </a:ext>
            </a:extLst>
          </p:cNvPr>
          <p:cNvSpPr txBox="1"/>
          <p:nvPr/>
        </p:nvSpPr>
        <p:spPr>
          <a:xfrm>
            <a:off x="4378687" y="4916136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1F14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8B9403-7109-22C9-EE44-04FAA5E576C8}"/>
              </a:ext>
            </a:extLst>
          </p:cNvPr>
          <p:cNvSpPr txBox="1"/>
          <p:nvPr/>
        </p:nvSpPr>
        <p:spPr>
          <a:xfrm>
            <a:off x="4378687" y="4639704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1F15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76A5A7-7D8B-74C3-D11F-3186A130B33B}"/>
              </a:ext>
            </a:extLst>
          </p:cNvPr>
          <p:cNvSpPr txBox="1"/>
          <p:nvPr/>
        </p:nvSpPr>
        <p:spPr>
          <a:xfrm>
            <a:off x="4420655" y="3993974"/>
            <a:ext cx="1607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myData</a:t>
            </a:r>
            <a:r>
              <a:rPr lang="en-US" b="1" dirty="0">
                <a:solidFill>
                  <a:schemeClr val="tx1"/>
                </a:solidFill>
              </a:rPr>
              <a:t> data</a:t>
            </a:r>
            <a:endParaRPr lang="en-C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444E97-2724-FDF8-CC21-6F0049940D4E}"/>
              </a:ext>
            </a:extLst>
          </p:cNvPr>
          <p:cNvSpPr txBox="1"/>
          <p:nvPr/>
        </p:nvSpPr>
        <p:spPr>
          <a:xfrm>
            <a:off x="3592872" y="4909479"/>
            <a:ext cx="88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7F1F1F"/>
                </a:solidFill>
              </a:rPr>
              <a:t>cArray</a:t>
            </a:r>
            <a:r>
              <a:rPr lang="en-US" sz="1400" b="1" dirty="0">
                <a:solidFill>
                  <a:srgbClr val="7F1F1F"/>
                </a:solidFill>
              </a:rPr>
              <a:t>[0]</a:t>
            </a:r>
            <a:endParaRPr lang="en-US" sz="1400" dirty="0">
              <a:solidFill>
                <a:srgbClr val="7F1F1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57D8F7-8753-A62D-4951-CF036464BC36}"/>
              </a:ext>
            </a:extLst>
          </p:cNvPr>
          <p:cNvSpPr txBox="1"/>
          <p:nvPr/>
        </p:nvSpPr>
        <p:spPr>
          <a:xfrm>
            <a:off x="3599456" y="4635164"/>
            <a:ext cx="8708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7F1F1F"/>
                </a:solidFill>
              </a:rPr>
              <a:t>cArray</a:t>
            </a:r>
            <a:r>
              <a:rPr lang="en-US" sz="1400" b="1" dirty="0">
                <a:solidFill>
                  <a:srgbClr val="7F1F1F"/>
                </a:solidFill>
              </a:rPr>
              <a:t>[1]</a:t>
            </a:r>
            <a:endParaRPr lang="en-US" sz="1400" dirty="0">
              <a:solidFill>
                <a:srgbClr val="7F1F1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2E30C-7F98-4417-224C-BBACBFE6E02C}"/>
              </a:ext>
            </a:extLst>
          </p:cNvPr>
          <p:cNvSpPr txBox="1"/>
          <p:nvPr/>
        </p:nvSpPr>
        <p:spPr>
          <a:xfrm>
            <a:off x="3707979" y="4347597"/>
            <a:ext cx="766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7F1F1F"/>
                </a:solidFill>
              </a:rPr>
              <a:t>intData</a:t>
            </a:r>
            <a:endParaRPr lang="en-US" sz="1400" dirty="0">
              <a:solidFill>
                <a:srgbClr val="7F1F1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762610" y="3499058"/>
            <a:ext cx="2778076" cy="2000548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myData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data;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[0] = ‘a’;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[1] = ‘b’;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data.intData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123;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After some work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foo(data));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8653058" y="3798499"/>
            <a:ext cx="2615629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myData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dt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dt.intData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dt.cArray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 +=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dt.cArray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944ECCB-F697-6717-FDFD-BC29E04904F6}"/>
              </a:ext>
            </a:extLst>
          </p:cNvPr>
          <p:cNvSpPr/>
          <p:nvPr/>
        </p:nvSpPr>
        <p:spPr>
          <a:xfrm>
            <a:off x="6543945" y="4363780"/>
            <a:ext cx="594805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123</a:t>
            </a:r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326886-09B0-F163-2548-FFAD60291132}"/>
              </a:ext>
            </a:extLst>
          </p:cNvPr>
          <p:cNvSpPr txBox="1"/>
          <p:nvPr/>
        </p:nvSpPr>
        <p:spPr>
          <a:xfrm>
            <a:off x="7133363" y="4370764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2F16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7DB5E71-B8D7-1F7E-31D1-E72086226781}"/>
              </a:ext>
            </a:extLst>
          </p:cNvPr>
          <p:cNvSpPr/>
          <p:nvPr/>
        </p:nvSpPr>
        <p:spPr>
          <a:xfrm>
            <a:off x="6543800" y="4934092"/>
            <a:ext cx="594805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‘a’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6C7C9A7-3C99-B519-AC7B-E6A1FF3881C1}"/>
              </a:ext>
            </a:extLst>
          </p:cNvPr>
          <p:cNvSpPr/>
          <p:nvPr/>
        </p:nvSpPr>
        <p:spPr>
          <a:xfrm>
            <a:off x="6543800" y="4652614"/>
            <a:ext cx="594805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‘b’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B2DF3D-A715-37BF-3714-7373FE752861}"/>
              </a:ext>
            </a:extLst>
          </p:cNvPr>
          <p:cNvSpPr txBox="1"/>
          <p:nvPr/>
        </p:nvSpPr>
        <p:spPr>
          <a:xfrm>
            <a:off x="7138602" y="4926101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2F14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41648F-7EC4-CA80-5F90-4859227F4A7D}"/>
              </a:ext>
            </a:extLst>
          </p:cNvPr>
          <p:cNvSpPr txBox="1"/>
          <p:nvPr/>
        </p:nvSpPr>
        <p:spPr>
          <a:xfrm>
            <a:off x="7138602" y="4649669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2F15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7F1FD4-5DA3-9EBD-03C5-D2BBA5E62888}"/>
              </a:ext>
            </a:extLst>
          </p:cNvPr>
          <p:cNvSpPr txBox="1"/>
          <p:nvPr/>
        </p:nvSpPr>
        <p:spPr>
          <a:xfrm>
            <a:off x="6441367" y="3979107"/>
            <a:ext cx="1607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myData</a:t>
            </a:r>
            <a:r>
              <a:rPr lang="en-US" b="1" dirty="0">
                <a:solidFill>
                  <a:schemeClr val="tx1"/>
                </a:solidFill>
              </a:rPr>
              <a:t> dt</a:t>
            </a:r>
            <a:endParaRPr lang="en-CA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6FAF34-73C6-A24B-CCA4-3793D6E3CC82}"/>
              </a:ext>
            </a:extLst>
          </p:cNvPr>
          <p:cNvSpPr txBox="1"/>
          <p:nvPr/>
        </p:nvSpPr>
        <p:spPr>
          <a:xfrm>
            <a:off x="7754871" y="4919444"/>
            <a:ext cx="88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cArray</a:t>
            </a:r>
            <a:r>
              <a:rPr lang="en-US" sz="1400" b="1" dirty="0">
                <a:solidFill>
                  <a:schemeClr val="accent1"/>
                </a:solidFill>
              </a:rPr>
              <a:t>[0]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534194-3F76-4214-AFAA-BEE62512D5B3}"/>
              </a:ext>
            </a:extLst>
          </p:cNvPr>
          <p:cNvSpPr txBox="1"/>
          <p:nvPr/>
        </p:nvSpPr>
        <p:spPr>
          <a:xfrm>
            <a:off x="7761455" y="4645129"/>
            <a:ext cx="8708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cArray</a:t>
            </a:r>
            <a:r>
              <a:rPr lang="en-US" sz="1400" b="1" dirty="0">
                <a:solidFill>
                  <a:schemeClr val="accent1"/>
                </a:solidFill>
              </a:rPr>
              <a:t>[1]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4821E0-928D-9BE5-E3B3-02DFB5D7BD3A}"/>
              </a:ext>
            </a:extLst>
          </p:cNvPr>
          <p:cNvSpPr txBox="1"/>
          <p:nvPr/>
        </p:nvSpPr>
        <p:spPr>
          <a:xfrm>
            <a:off x="7774180" y="4357562"/>
            <a:ext cx="766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1"/>
                </a:solidFill>
              </a:rPr>
              <a:t>intData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EB1FA6D-37F9-207C-8E43-CBFF091410F5}"/>
              </a:ext>
            </a:extLst>
          </p:cNvPr>
          <p:cNvSpPr/>
          <p:nvPr/>
        </p:nvSpPr>
        <p:spPr>
          <a:xfrm>
            <a:off x="6553559" y="3637626"/>
            <a:ext cx="594805" cy="28912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b="1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7B70E9-B193-46FD-6172-135254313DCD}"/>
              </a:ext>
            </a:extLst>
          </p:cNvPr>
          <p:cNvSpPr txBox="1"/>
          <p:nvPr/>
        </p:nvSpPr>
        <p:spPr>
          <a:xfrm>
            <a:off x="7142977" y="3644610"/>
            <a:ext cx="96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7030A0"/>
                </a:solidFill>
              </a:rPr>
              <a:t>0x 1F1A</a:t>
            </a:r>
            <a:endParaRPr lang="en-CA" sz="1600" b="1" dirty="0">
              <a:solidFill>
                <a:srgbClr val="7030A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A1F2F3-9B69-C3D9-8360-CB0735FF4737}"/>
              </a:ext>
            </a:extLst>
          </p:cNvPr>
          <p:cNvSpPr txBox="1"/>
          <p:nvPr/>
        </p:nvSpPr>
        <p:spPr>
          <a:xfrm>
            <a:off x="7783794" y="3631408"/>
            <a:ext cx="766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temp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0ADC341A-377D-25B3-FF5E-0BAAEDC06686}"/>
              </a:ext>
            </a:extLst>
          </p:cNvPr>
          <p:cNvSpPr/>
          <p:nvPr/>
        </p:nvSpPr>
        <p:spPr>
          <a:xfrm>
            <a:off x="5728524" y="5022577"/>
            <a:ext cx="794526" cy="102443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493D7FA6-607E-4238-B73D-4A79F410D04F}"/>
              </a:ext>
            </a:extLst>
          </p:cNvPr>
          <p:cNvSpPr/>
          <p:nvPr/>
        </p:nvSpPr>
        <p:spPr>
          <a:xfrm>
            <a:off x="5721481" y="4730272"/>
            <a:ext cx="794526" cy="102443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72A97BC3-9922-BC8C-8E9D-3D250480D7AB}"/>
              </a:ext>
            </a:extLst>
          </p:cNvPr>
          <p:cNvSpPr/>
          <p:nvPr/>
        </p:nvSpPr>
        <p:spPr>
          <a:xfrm>
            <a:off x="5737523" y="4447303"/>
            <a:ext cx="794526" cy="102443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D0F365-859E-13F3-77CF-560CFD397917}"/>
              </a:ext>
            </a:extLst>
          </p:cNvPr>
          <p:cNvSpPr txBox="1"/>
          <p:nvPr/>
        </p:nvSpPr>
        <p:spPr>
          <a:xfrm>
            <a:off x="10173094" y="4665486"/>
            <a:ext cx="54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solidFill>
                  <a:srgbClr val="FF0000"/>
                </a:solidFill>
              </a:rPr>
              <a:t>318</a:t>
            </a:r>
            <a:endParaRPr lang="en-CA" sz="1200" b="1" dirty="0">
              <a:solidFill>
                <a:srgbClr val="FF0000"/>
              </a:solidFill>
            </a:endParaRPr>
          </a:p>
        </p:txBody>
      </p:sp>
      <p:sp>
        <p:nvSpPr>
          <p:cNvPr id="70" name="Speech Bubble: Rectangle 69">
            <a:extLst>
              <a:ext uri="{FF2B5EF4-FFF2-40B4-BE49-F238E27FC236}">
                <a16:creationId xmlns:a16="http://schemas.microsoft.com/office/drawing/2014/main" id="{1AF0ED2A-092F-0B2D-3977-6DAD7748DBC5}"/>
              </a:ext>
            </a:extLst>
          </p:cNvPr>
          <p:cNvSpPr/>
          <p:nvPr/>
        </p:nvSpPr>
        <p:spPr>
          <a:xfrm>
            <a:off x="7615014" y="5462158"/>
            <a:ext cx="3597483" cy="455313"/>
          </a:xfrm>
          <a:prstGeom prst="wedgeRectCallout">
            <a:avLst>
              <a:gd name="adj1" fmla="val -58679"/>
              <a:gd name="adj2" fmla="val -5703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Try to build the code yourself to verify!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44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07407E-6 L -0.29557 -0.15556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79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557 -0.15556 L -0.62083 -0.00047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63" y="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 tmFilter="0, 0; .2, .5; .8, .5; 1, 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250" autoRev="1" fill="hold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6" grpId="0" animBg="1"/>
      <p:bldP spid="51" grpId="0" animBg="1"/>
      <p:bldP spid="52" grpId="0"/>
      <p:bldP spid="53" grpId="0" animBg="1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 animBg="1"/>
      <p:bldP spid="62" grpId="0"/>
      <p:bldP spid="63" grpId="0"/>
      <p:bldP spid="64" grpId="0" animBg="1"/>
      <p:bldP spid="65" grpId="0" animBg="1"/>
      <p:bldP spid="66" grpId="0" animBg="1"/>
      <p:bldP spid="68" grpId="0"/>
      <p:bldP spid="68" grpId="1"/>
      <p:bldP spid="68" grpId="2"/>
      <p:bldP spid="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36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Associated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therefore develop functions around 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1 – Calculate Monomial Product </a:t>
            </a:r>
            <a:r>
              <a:rPr lang="en-CA" b="1" dirty="0"/>
              <a:t>(pass by value)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8671465" y="1566708"/>
            <a:ext cx="2206085" cy="116955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1222963" y="2480431"/>
            <a:ext cx="4768261" cy="1831271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{-2.3, 10};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Result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Monomial Product – pass by value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mono3 =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(mono1, mono2);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6805208" y="2873120"/>
            <a:ext cx="407234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op2)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op1.coeff *= op2.coeff;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op1.power += op2.power;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op1;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8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36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Associated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therefore develop functions around 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2 – Calculate Monomial Quotient </a:t>
            </a:r>
            <a:r>
              <a:rPr lang="en-CA" b="1" dirty="0"/>
              <a:t>(pass by reference)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9309640" y="1515140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1222963" y="2480431"/>
            <a:ext cx="4768261" cy="2508379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{-2.3, 10};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Product Result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mono4;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Quotient Result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Monomial Product – pass by value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mono3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(mono1, mono2);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Monomial Quotient – pass by reference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mono4 =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mono1,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mono2);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7443383" y="2502356"/>
            <a:ext cx="3434167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op1.coeff *= op2.coeff;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op1.power += op2.power;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5B13C-A5F9-AE24-E5C6-B7E1CAE75CE7}"/>
              </a:ext>
            </a:extLst>
          </p:cNvPr>
          <p:cNvSpPr txBox="1"/>
          <p:nvPr/>
        </p:nvSpPr>
        <p:spPr>
          <a:xfrm>
            <a:off x="6343650" y="3586799"/>
            <a:ext cx="4534512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op2)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(*op1).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 (*op2).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opTemp.power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(*op1).power - (*op2).power;     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4EA2DD4-AB65-93D0-371E-ED13952FF0FD}"/>
              </a:ext>
            </a:extLst>
          </p:cNvPr>
          <p:cNvSpPr/>
          <p:nvPr/>
        </p:nvSpPr>
        <p:spPr>
          <a:xfrm>
            <a:off x="6343649" y="5075966"/>
            <a:ext cx="3574791" cy="432407"/>
          </a:xfrm>
          <a:prstGeom prst="wedgeRectCallout">
            <a:avLst>
              <a:gd name="adj1" fmla="val -36100"/>
              <a:gd name="adj2" fmla="val -7271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Question: </a:t>
            </a:r>
            <a:r>
              <a:rPr lang="en-US" sz="1600" b="1" dirty="0">
                <a:solidFill>
                  <a:srgbClr val="FF0000"/>
                </a:solidFill>
              </a:rPr>
              <a:t>Which way is more efficient?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F78D989-300E-365F-9E28-C34441002E76}"/>
              </a:ext>
            </a:extLst>
          </p:cNvPr>
          <p:cNvSpPr/>
          <p:nvPr/>
        </p:nvSpPr>
        <p:spPr>
          <a:xfrm>
            <a:off x="7514328" y="5548793"/>
            <a:ext cx="3453172" cy="432407"/>
          </a:xfrm>
          <a:prstGeom prst="wedgeRectCallout">
            <a:avLst>
              <a:gd name="adj1" fmla="val -36100"/>
              <a:gd name="adj2" fmla="val -7271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Question: </a:t>
            </a:r>
            <a:r>
              <a:rPr lang="en-US" sz="1600" b="1" dirty="0">
                <a:solidFill>
                  <a:srgbClr val="FF0000"/>
                </a:solidFill>
              </a:rPr>
              <a:t>Is there an even better way?</a:t>
            </a:r>
          </a:p>
        </p:txBody>
      </p:sp>
    </p:spTree>
    <p:extLst>
      <p:ext uri="{BB962C8B-B14F-4D97-AF65-F5344CB8AC3E}">
        <p14:creationId xmlns:p14="http://schemas.microsoft.com/office/powerpoint/2010/main" val="332428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36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Associated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therefore develop functions around 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2 – Calculate Monomial Quotient </a:t>
            </a:r>
            <a:r>
              <a:rPr lang="en-CA" b="1" dirty="0"/>
              <a:t>(pass by reference)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9309640" y="1515140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1222963" y="2480431"/>
            <a:ext cx="4768261" cy="2508379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{-2.3, 10};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Product Result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mono4;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Quotient Result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Monomial Product – pass by value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mono3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(mono1, mono2);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Monomial Quotient – pass by reference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mono4 = </a:t>
            </a:r>
            <a:r>
              <a:rPr lang="en-US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mono1,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mono2);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7443383" y="2502356"/>
            <a:ext cx="3434167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op1.coeff *= op2.coeff;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op1.power += op2.power;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5B13C-A5F9-AE24-E5C6-B7E1CAE75CE7}"/>
              </a:ext>
            </a:extLst>
          </p:cNvPr>
          <p:cNvSpPr txBox="1"/>
          <p:nvPr/>
        </p:nvSpPr>
        <p:spPr>
          <a:xfrm>
            <a:off x="6343650" y="3586799"/>
            <a:ext cx="4534512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op2)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/ op2-&gt;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opTemp.power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op1-&gt;power - op2-&gt;power;     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849A35-76D8-53B7-0C0F-8F779D5D925A}"/>
              </a:ext>
            </a:extLst>
          </p:cNvPr>
          <p:cNvSpPr/>
          <p:nvPr/>
        </p:nvSpPr>
        <p:spPr>
          <a:xfrm>
            <a:off x="6619875" y="4154424"/>
            <a:ext cx="3867150" cy="4114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56031CFD-90C9-868C-5C08-96E8226FFE57}"/>
              </a:ext>
            </a:extLst>
          </p:cNvPr>
          <p:cNvSpPr/>
          <p:nvPr/>
        </p:nvSpPr>
        <p:spPr>
          <a:xfrm>
            <a:off x="6640423" y="5283662"/>
            <a:ext cx="3453172" cy="432407"/>
          </a:xfrm>
          <a:prstGeom prst="wedgeRectCallout">
            <a:avLst>
              <a:gd name="adj1" fmla="val 17688"/>
              <a:gd name="adj2" fmla="val -2114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Can also use the </a:t>
            </a:r>
            <a:r>
              <a:rPr lang="en-US" sz="1600" b="1" dirty="0">
                <a:solidFill>
                  <a:srgbClr val="FF0000"/>
                </a:solidFill>
              </a:rPr>
              <a:t>Arrow Operator (-&gt;)</a:t>
            </a:r>
          </a:p>
        </p:txBody>
      </p:sp>
    </p:spTree>
    <p:extLst>
      <p:ext uri="{BB962C8B-B14F-4D97-AF65-F5344CB8AC3E}">
        <p14:creationId xmlns:p14="http://schemas.microsoft.com/office/powerpoint/2010/main" val="81130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36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Associated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therefore develop functions around 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3 – Print Monomial </a:t>
            </a:r>
            <a:r>
              <a:rPr lang="en-CA" b="1" dirty="0"/>
              <a:t>(pass by reference, const)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9309640" y="1515140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1222963" y="2480431"/>
            <a:ext cx="4768261" cy="3139321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{-2.3, 10};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Product Result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mono4;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Quotient Result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Monomial Product – pass by value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mono3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(mono1, mono2);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Monomial Quotient – pass by reference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mono4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mono1,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mono2);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Monomial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mono3);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mono4);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7381875" y="2502356"/>
            <a:ext cx="3495675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op1.coeff *= op2.coeff;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op1.power += op2.power;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5B13C-A5F9-AE24-E5C6-B7E1CAE75CE7}"/>
              </a:ext>
            </a:extLst>
          </p:cNvPr>
          <p:cNvSpPr txBox="1"/>
          <p:nvPr/>
        </p:nvSpPr>
        <p:spPr>
          <a:xfrm>
            <a:off x="7096125" y="3396299"/>
            <a:ext cx="3781425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/ op2-&gt;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op1-&gt;power - op2-&gt;power;       </a:t>
            </a:r>
          </a:p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D6388-C35D-5AD6-2FD6-674F1FDCD4C0}"/>
              </a:ext>
            </a:extLst>
          </p:cNvPr>
          <p:cNvSpPr txBox="1"/>
          <p:nvPr/>
        </p:nvSpPr>
        <p:spPr>
          <a:xfrm>
            <a:off x="6200778" y="4488906"/>
            <a:ext cx="4676772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(“%.2fx^%d\n”, op-&gt;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op-&gt;power);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29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36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Associated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can therefore develop functions around 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3 – Print Monomial </a:t>
            </a:r>
            <a:r>
              <a:rPr lang="en-CA" b="1" dirty="0"/>
              <a:t>(pass by reference, const)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9309640" y="1515140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1222963" y="2480431"/>
            <a:ext cx="4768261" cy="3139321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{0.3, 4};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{-2.3, 10};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mono3;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Product Result</a:t>
            </a:r>
          </a:p>
          <a:p>
            <a:r>
              <a:rPr lang="en-US" sz="1100" b="1" dirty="0">
                <a:solidFill>
                  <a:srgbClr val="A870D2"/>
                </a:solidFill>
                <a:latin typeface="Courier"/>
              </a:rPr>
              <a:t>   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mono4;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Quotient Result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Monomial Product – pass by value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mono3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(mono1, mono2);</a:t>
            </a:r>
          </a:p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Monomial Quotient – pass by reference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mono4 =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mono1,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mono2);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Monomial</a:t>
            </a:r>
          </a:p>
          <a:p>
            <a:r>
              <a:rPr lang="en-US" sz="11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mono3);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mono4);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C474-99CA-7FB6-79B0-C31A7E0194F7}"/>
              </a:ext>
            </a:extLst>
          </p:cNvPr>
          <p:cNvSpPr txBox="1"/>
          <p:nvPr/>
        </p:nvSpPr>
        <p:spPr>
          <a:xfrm>
            <a:off x="7096125" y="2673806"/>
            <a:ext cx="3781426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op1.coeff *= op2.coeff;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op1.power += op2.power;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op1;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5B13C-A5F9-AE24-E5C6-B7E1CAE75CE7}"/>
              </a:ext>
            </a:extLst>
          </p:cNvPr>
          <p:cNvSpPr txBox="1"/>
          <p:nvPr/>
        </p:nvSpPr>
        <p:spPr>
          <a:xfrm>
            <a:off x="7096125" y="3567749"/>
            <a:ext cx="3781425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/ op2-&gt;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opTemp.power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op1-&gt;power - op2-&gt;power;       </a:t>
            </a:r>
          </a:p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opTemp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D6388-C35D-5AD6-2FD6-674F1FDCD4C0}"/>
              </a:ext>
            </a:extLst>
          </p:cNvPr>
          <p:cNvSpPr txBox="1"/>
          <p:nvPr/>
        </p:nvSpPr>
        <p:spPr>
          <a:xfrm>
            <a:off x="7096124" y="4622256"/>
            <a:ext cx="378142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(“%.2fx^%d\n”, op-&gt;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op-&gt;power);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4DFB34-5F83-7EDE-0D41-497DC0979179}"/>
              </a:ext>
            </a:extLst>
          </p:cNvPr>
          <p:cNvSpPr/>
          <p:nvPr/>
        </p:nvSpPr>
        <p:spPr>
          <a:xfrm>
            <a:off x="6972300" y="2562225"/>
            <a:ext cx="4029687" cy="285750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4760641-7576-39F0-D36A-FE53E353100F}"/>
              </a:ext>
            </a:extLst>
          </p:cNvPr>
          <p:cNvSpPr/>
          <p:nvPr/>
        </p:nvSpPr>
        <p:spPr>
          <a:xfrm>
            <a:off x="6972300" y="5530655"/>
            <a:ext cx="3714750" cy="432407"/>
          </a:xfrm>
          <a:prstGeom prst="wedgeRectCallout">
            <a:avLst>
              <a:gd name="adj1" fmla="val 8457"/>
              <a:gd name="adj2" fmla="val -72711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 “</a:t>
            </a:r>
            <a:r>
              <a:rPr lang="en-US" sz="1600" b="1" dirty="0">
                <a:solidFill>
                  <a:schemeClr val="tx1"/>
                </a:solidFill>
              </a:rPr>
              <a:t>Member Functions</a:t>
            </a:r>
            <a:r>
              <a:rPr lang="en-US" sz="1600" dirty="0">
                <a:solidFill>
                  <a:schemeClr val="tx1"/>
                </a:solidFill>
              </a:rPr>
              <a:t>” (C++ Terminology)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CCE991-AB2D-F246-0E01-96DC434083CA}"/>
              </a:ext>
            </a:extLst>
          </p:cNvPr>
          <p:cNvSpPr/>
          <p:nvPr/>
        </p:nvSpPr>
        <p:spPr>
          <a:xfrm>
            <a:off x="9647349" y="204747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Third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Member Functions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97D67B-8EF9-0898-6ABA-C09A203C3B31}"/>
              </a:ext>
            </a:extLst>
          </p:cNvPr>
          <p:cNvSpPr/>
          <p:nvPr/>
        </p:nvSpPr>
        <p:spPr>
          <a:xfrm>
            <a:off x="4143375" y="5342620"/>
            <a:ext cx="2338387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L10Ex4-MonomLib.c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94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Operations on Structures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8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117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Permitted (Primitive) Operations on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Primitive Operations – Operations available in Native 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Assignment		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Reference Operator		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Dereference Operator	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 err="1"/>
              <a:t>sizeof</a:t>
            </a:r>
            <a:r>
              <a:rPr lang="en-CA" dirty="0"/>
              <a:t>() Operator		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Returns the total byte size of the struct (all member sizes)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Arithmetic Operators	</a:t>
            </a:r>
            <a:r>
              <a:rPr lang="en-CA" b="1" dirty="0">
                <a:solidFill>
                  <a:srgbClr val="FF0000"/>
                </a:solidFill>
              </a:rPr>
              <a:t>Not 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Logic Operators		</a:t>
            </a:r>
            <a:r>
              <a:rPr lang="en-CA" b="1" dirty="0">
                <a:solidFill>
                  <a:srgbClr val="FF0000"/>
                </a:solidFill>
              </a:rPr>
              <a:t>Not 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Conversion Specifiers	</a:t>
            </a:r>
            <a:r>
              <a:rPr lang="en-CA" b="1" dirty="0">
                <a:solidFill>
                  <a:schemeClr val="accent2"/>
                </a:solidFill>
              </a:rPr>
              <a:t>Not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if we need the functionalities of primitive op’s?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C, you need to write your own functions to support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C++, you can do “</a:t>
            </a:r>
            <a:r>
              <a:rPr lang="en-CA" b="1" u="sng" dirty="0"/>
              <a:t>operator overload</a:t>
            </a:r>
            <a:r>
              <a:rPr lang="en-CA" dirty="0"/>
              <a:t>” (more to come)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8124826" y="2849699"/>
            <a:ext cx="3087672" cy="3046988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{3.2, 2};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mono2 = mono1;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&amp;mono1;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szMono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(mono1);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szmPtr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mPtr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Cannot Compare Struct!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Cannot Add Struct!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(mono1 == mono2)</a:t>
            </a:r>
            <a:b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mono1 += mono2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AA0721-D71F-072D-1C92-B8D3954E6CF1}"/>
              </a:ext>
            </a:extLst>
          </p:cNvPr>
          <p:cNvSpPr txBox="1"/>
          <p:nvPr/>
        </p:nvSpPr>
        <p:spPr>
          <a:xfrm>
            <a:off x="9644587" y="1746664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924B5E-FF0A-72AF-9703-9C0C292BC698}"/>
              </a:ext>
            </a:extLst>
          </p:cNvPr>
          <p:cNvSpPr/>
          <p:nvPr/>
        </p:nvSpPr>
        <p:spPr>
          <a:xfrm>
            <a:off x="5788061" y="2037074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Fourth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Operation Support</a:t>
            </a:r>
            <a:endParaRPr lang="en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87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514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DMA of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Primitive Array Operations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Declaration	    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Initialization	    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Indexed Access	    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Pointer-Offset Access   </a:t>
            </a: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DMA on Structures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B050"/>
                </a:solidFill>
              </a:rPr>
              <a:t>Permitted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Conceptually Identical as </a:t>
            </a:r>
            <a:br>
              <a:rPr lang="en-CA" dirty="0"/>
            </a:br>
            <a:r>
              <a:rPr lang="en-CA" dirty="0"/>
              <a:t>Multidimensional Array</a:t>
            </a:r>
            <a:r>
              <a:rPr lang="en-CA" b="1" dirty="0">
                <a:solidFill>
                  <a:srgbClr val="00B050"/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00B05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Still need to free() them</a:t>
            </a:r>
            <a:r>
              <a:rPr lang="en-CA" b="1" dirty="0">
                <a:solidFill>
                  <a:srgbClr val="00B050"/>
                </a:solidFill>
              </a:rPr>
              <a:t> </a:t>
            </a:r>
            <a:endParaRPr lang="en-CA" b="1" dirty="0">
              <a:solidFill>
                <a:schemeClr val="accent2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1701-2BEC-0ED7-C9EA-D154761539BC}"/>
              </a:ext>
            </a:extLst>
          </p:cNvPr>
          <p:cNvSpPr txBox="1"/>
          <p:nvPr/>
        </p:nvSpPr>
        <p:spPr>
          <a:xfrm>
            <a:off x="5953125" y="2147820"/>
            <a:ext cx="5257800" cy="3785652"/>
          </a:xfrm>
          <a:prstGeom prst="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poly[3] = {{3.2, 2}, {-2.0, 1}, {6.33, 4}};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(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**)malloc(3*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*));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(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*)malloc(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poly[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(&amp;poly[1]);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Indexed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((poly + 2));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Offset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(poly);	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&amp;poly[0]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[1]);   </a:t>
            </a:r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AA0721-D71F-072D-1C92-B8D3954E6CF1}"/>
              </a:ext>
            </a:extLst>
          </p:cNvPr>
          <p:cNvSpPr txBox="1"/>
          <p:nvPr/>
        </p:nvSpPr>
        <p:spPr>
          <a:xfrm>
            <a:off x="9643015" y="306370"/>
            <a:ext cx="1567910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924B5E-FF0A-72AF-9703-9C0C292BC698}"/>
              </a:ext>
            </a:extLst>
          </p:cNvPr>
          <p:cNvSpPr/>
          <p:nvPr/>
        </p:nvSpPr>
        <p:spPr>
          <a:xfrm>
            <a:off x="3219450" y="5270985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Fourth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Operation Support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DE021-F2DA-8FEE-0BA1-F746187F30AF}"/>
              </a:ext>
            </a:extLst>
          </p:cNvPr>
          <p:cNvSpPr txBox="1"/>
          <p:nvPr/>
        </p:nvSpPr>
        <p:spPr>
          <a:xfrm>
            <a:off x="7429500" y="1330260"/>
            <a:ext cx="378142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(“%.2fx^%d\n”, op-&gt;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op-&gt;power);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CE8584-896D-7A94-4153-E5E362ABF3B6}"/>
              </a:ext>
            </a:extLst>
          </p:cNvPr>
          <p:cNvSpPr/>
          <p:nvPr/>
        </p:nvSpPr>
        <p:spPr>
          <a:xfrm>
            <a:off x="8677276" y="5433099"/>
            <a:ext cx="24050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L10Ex5-MonomDMA.c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35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From C to C++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C’s best abstraction attempt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68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4988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Detour – C Namespace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09774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The Available Variable/Function Names in a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more variables declared with overlapping scopes, the more likely a variable or a function name will be accidentally redefined / redeclared =&gt; </a:t>
            </a:r>
            <a:r>
              <a:rPr lang="en-CA" b="1" dirty="0"/>
              <a:t>Program Malfunction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Namespace Contamination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Unnecessary occupation of variable / function names for no real added benefits</a:t>
            </a: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Increasing risk of variable/function misuse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Means for Namespace Protection in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Limit the use of global variables</a:t>
            </a: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 longer and more descriptive names for variables </a:t>
            </a:r>
            <a:br>
              <a:rPr lang="en-CA" dirty="0"/>
            </a:br>
            <a:r>
              <a:rPr lang="en-CA" dirty="0"/>
              <a:t>and functions with larger scopes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implementation-critical variables and functions, </a:t>
            </a:r>
            <a:br>
              <a:rPr lang="en-CA" dirty="0"/>
            </a:br>
            <a:r>
              <a:rPr lang="en-CA" dirty="0"/>
              <a:t>use </a:t>
            </a:r>
            <a:r>
              <a:rPr lang="en-CA" b="1" dirty="0"/>
              <a:t>special naming conventions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2E1CA-E41A-3285-973D-C758532AD112}"/>
              </a:ext>
            </a:extLst>
          </p:cNvPr>
          <p:cNvSpPr txBox="1"/>
          <p:nvPr/>
        </p:nvSpPr>
        <p:spPr>
          <a:xfrm>
            <a:off x="7298447" y="3902861"/>
            <a:ext cx="2871713" cy="181588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power;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b="1" dirty="0">
              <a:solidFill>
                <a:srgbClr val="A870D2"/>
              </a:solidFill>
              <a:latin typeface="Courier"/>
            </a:endParaRPr>
          </a:p>
          <a:p>
            <a:r>
              <a:rPr lang="en-US" sz="14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mono1 = {-3.1, 12};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E2F5B-CD11-EC9E-C5A2-A93C8409F916}"/>
              </a:ext>
            </a:extLst>
          </p:cNvPr>
          <p:cNvSpPr txBox="1"/>
          <p:nvPr/>
        </p:nvSpPr>
        <p:spPr>
          <a:xfrm>
            <a:off x="7647183" y="4318533"/>
            <a:ext cx="211328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__power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4B962487-9722-4082-5806-8B3529E37012}"/>
              </a:ext>
            </a:extLst>
          </p:cNvPr>
          <p:cNvSpPr/>
          <p:nvPr/>
        </p:nvSpPr>
        <p:spPr>
          <a:xfrm>
            <a:off x="9398464" y="2955139"/>
            <a:ext cx="1919776" cy="643283"/>
          </a:xfrm>
          <a:prstGeom prst="wedgeRectCallout">
            <a:avLst>
              <a:gd name="adj1" fmla="val -61714"/>
              <a:gd name="adj2" fmla="val 153573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C’s way of imitating </a:t>
            </a:r>
            <a:r>
              <a:rPr lang="en-CA" sz="1600" b="1" dirty="0">
                <a:solidFill>
                  <a:schemeClr val="accent1"/>
                </a:solidFill>
                <a:latin typeface="Courier"/>
              </a:rPr>
              <a:t>private</a:t>
            </a:r>
            <a:endParaRPr lang="en-US" sz="16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23210E-11C7-B866-73F5-CAD1C1A89A75}"/>
              </a:ext>
            </a:extLst>
          </p:cNvPr>
          <p:cNvSpPr/>
          <p:nvPr/>
        </p:nvSpPr>
        <p:spPr>
          <a:xfrm>
            <a:off x="9001778" y="638482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Fifth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Scope Control</a:t>
            </a:r>
            <a:endParaRPr lang="en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0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189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Detour – Static vs. Extern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104343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/>
                </a:solidFill>
              </a:rPr>
              <a:t>Recall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chemeClr val="accent1"/>
                </a:solidFill>
                <a:latin typeface="Courier"/>
              </a:rPr>
              <a:t>static</a:t>
            </a:r>
            <a:r>
              <a:rPr lang="en-CA" sz="2200" dirty="0"/>
              <a:t>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Put variable on static storage duration, </a:t>
            </a:r>
            <a:r>
              <a:rPr lang="en-CA" b="1" u="sng" dirty="0"/>
              <a:t>persisting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Make variables visible only within the current C source code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Effectively </a:t>
            </a:r>
            <a:r>
              <a:rPr lang="en-CA" b="1" dirty="0"/>
              <a:t>private</a:t>
            </a:r>
            <a:r>
              <a:rPr lang="en-CA" dirty="0"/>
              <a:t>, but only a side effect of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static</a:t>
            </a:r>
            <a:r>
              <a:rPr lang="en-CA" dirty="0"/>
              <a:t> keyword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/>
                </a:solidFill>
              </a:rPr>
              <a:t>Recall</a:t>
            </a:r>
            <a:r>
              <a:rPr lang="en-CA" sz="2200" dirty="0"/>
              <a:t> – </a:t>
            </a:r>
            <a:r>
              <a:rPr lang="en-CA" sz="2200" b="1" dirty="0">
                <a:solidFill>
                  <a:schemeClr val="accent1"/>
                </a:solidFill>
                <a:latin typeface="Courier"/>
              </a:rPr>
              <a:t>extern</a:t>
            </a:r>
            <a:r>
              <a:rPr lang="en-CA" sz="2200" dirty="0"/>
              <a:t> Variables and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Intended for defining Inter-Module Linkage and Visibility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Wherever Defined - extending visibility of functions / variables across the entire software project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Wherever Linkage Needed - declaring variables / functions that are defined in other modules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By default, all functions in modules are externed</a:t>
            </a: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By default, all source-code level, non-static global variables are NOT externed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Add extern to make it project-level visible and linkable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Effectively </a:t>
            </a:r>
            <a:r>
              <a:rPr lang="en-CA" b="1" dirty="0"/>
              <a:t>public</a:t>
            </a:r>
            <a:r>
              <a:rPr lang="en-CA" dirty="0"/>
              <a:t>, but only a side effect of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extern</a:t>
            </a:r>
            <a:r>
              <a:rPr lang="en-CA" dirty="0"/>
              <a:t> keyword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</a:rPr>
              <a:t>These two keywords are not to be used solely for the purpose of scope control!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23210E-11C7-B866-73F5-CAD1C1A89A75}"/>
              </a:ext>
            </a:extLst>
          </p:cNvPr>
          <p:cNvSpPr/>
          <p:nvPr/>
        </p:nvSpPr>
        <p:spPr>
          <a:xfrm>
            <a:off x="9001778" y="638482"/>
            <a:ext cx="2336765" cy="6773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Fifth Step to OOD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Scope Control</a:t>
            </a:r>
            <a:endParaRPr lang="en-CA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6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569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From C to C++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39" y="1563637"/>
            <a:ext cx="602043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have we built?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Monomial </a:t>
            </a:r>
            <a:r>
              <a:rPr lang="en-CA" b="1" dirty="0">
                <a:solidFill>
                  <a:schemeClr val="accent6"/>
                </a:solidFill>
              </a:rPr>
              <a:t>Object</a:t>
            </a:r>
            <a:r>
              <a:rPr lang="en-CA" dirty="0"/>
              <a:t>!!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Private Data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Non-Primitive Operation Functions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Product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Quotient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Print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Getter/Setter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Init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can use </a:t>
            </a:r>
            <a:r>
              <a:rPr lang="en-CA" dirty="0" err="1"/>
              <a:t>Monom</a:t>
            </a:r>
            <a:r>
              <a:rPr lang="en-CA" dirty="0"/>
              <a:t> as a new data type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It supports (almost) all sensible real-life operations that we can carry out on a monomial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Fundamental Concept of OOD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D499F6-01AD-0DE5-AF75-88DF1222AC45}"/>
              </a:ext>
            </a:extLst>
          </p:cNvPr>
          <p:cNvSpPr txBox="1"/>
          <p:nvPr/>
        </p:nvSpPr>
        <p:spPr>
          <a:xfrm>
            <a:off x="9096375" y="361713"/>
            <a:ext cx="1914524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ACF1C5-3FF7-AAA1-9403-6E73E751FD2A}"/>
              </a:ext>
            </a:extLst>
          </p:cNvPr>
          <p:cNvSpPr txBox="1"/>
          <p:nvPr/>
        </p:nvSpPr>
        <p:spPr>
          <a:xfrm>
            <a:off x="7229475" y="1393701"/>
            <a:ext cx="3781426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01E413-1DDB-F7C5-7083-2FB492F16D41}"/>
              </a:ext>
            </a:extLst>
          </p:cNvPr>
          <p:cNvSpPr txBox="1"/>
          <p:nvPr/>
        </p:nvSpPr>
        <p:spPr>
          <a:xfrm>
            <a:off x="7229475" y="1687569"/>
            <a:ext cx="378142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F2A1A-5809-40CF-3D0C-692C8395E391}"/>
              </a:ext>
            </a:extLst>
          </p:cNvPr>
          <p:cNvSpPr txBox="1"/>
          <p:nvPr/>
        </p:nvSpPr>
        <p:spPr>
          <a:xfrm>
            <a:off x="7229474" y="1970551"/>
            <a:ext cx="378142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F392C-FE70-9630-8251-7EDD53F8CC10}"/>
              </a:ext>
            </a:extLst>
          </p:cNvPr>
          <p:cNvSpPr txBox="1"/>
          <p:nvPr/>
        </p:nvSpPr>
        <p:spPr>
          <a:xfrm>
            <a:off x="6724650" y="2372860"/>
            <a:ext cx="4286249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 -&gt;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Private setter member function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AAA81D-5E94-75D0-30EB-97ACAB715477}"/>
              </a:ext>
            </a:extLst>
          </p:cNvPr>
          <p:cNvSpPr txBox="1"/>
          <p:nvPr/>
        </p:nvSpPr>
        <p:spPr>
          <a:xfrm>
            <a:off x="6724650" y="2964461"/>
            <a:ext cx="4286249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power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 -&gt; __power = 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Private setter member function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37C536-B9AB-5C7F-060C-5E7A215B20AD}"/>
              </a:ext>
            </a:extLst>
          </p:cNvPr>
          <p:cNvSpPr txBox="1"/>
          <p:nvPr/>
        </p:nvSpPr>
        <p:spPr>
          <a:xfrm>
            <a:off x="7234237" y="4532931"/>
            <a:ext cx="3781425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Monom_GetCoeff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 -&gt;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 member function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F5C600-2598-2A43-1BAD-3D890DD9976B}"/>
              </a:ext>
            </a:extLst>
          </p:cNvPr>
          <p:cNvSpPr txBox="1"/>
          <p:nvPr/>
        </p:nvSpPr>
        <p:spPr>
          <a:xfrm>
            <a:off x="7229474" y="5122331"/>
            <a:ext cx="3781425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Monom_GetPower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 -&gt; __power;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 member function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B4CBEC-D365-A1B2-6EB8-62D02CA2CF26}"/>
              </a:ext>
            </a:extLst>
          </p:cNvPr>
          <p:cNvSpPr txBox="1"/>
          <p:nvPr/>
        </p:nvSpPr>
        <p:spPr>
          <a:xfrm>
            <a:off x="6724650" y="3651561"/>
            <a:ext cx="428624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Monom_Init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power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(op,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(op, power);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Initialization member function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B97FD3-37F5-AF4E-8A54-CD6C4FA3C6F6}"/>
              </a:ext>
            </a:extLst>
          </p:cNvPr>
          <p:cNvSpPr/>
          <p:nvPr/>
        </p:nvSpPr>
        <p:spPr>
          <a:xfrm>
            <a:off x="6026943" y="682414"/>
            <a:ext cx="240506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L10Ex6-MonomOOD.c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7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569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From C to C++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904240" y="1563637"/>
            <a:ext cx="57156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have we built?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Monomial </a:t>
            </a:r>
            <a:r>
              <a:rPr lang="en-CA" b="1" dirty="0">
                <a:solidFill>
                  <a:schemeClr val="accent6"/>
                </a:solidFill>
              </a:rPr>
              <a:t>Object</a:t>
            </a:r>
            <a:r>
              <a:rPr lang="en-CA" dirty="0"/>
              <a:t>!!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are the limitations?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Manual variable and function scope control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Special characters great, but not bulletproof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Manual member function naming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No mandatory association of member functions to their intended struct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 all primitive operations are supported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Need custom member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Requires very high self-discipline to maintain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D9DEB-6BF9-F956-E0FF-47D044BC7E9D}"/>
              </a:ext>
            </a:extLst>
          </p:cNvPr>
          <p:cNvSpPr txBox="1"/>
          <p:nvPr/>
        </p:nvSpPr>
        <p:spPr>
          <a:xfrm>
            <a:off x="9096375" y="361713"/>
            <a:ext cx="1914524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__power;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4243B-9748-84DA-EE09-7F6AFF5F6771}"/>
              </a:ext>
            </a:extLst>
          </p:cNvPr>
          <p:cNvSpPr txBox="1"/>
          <p:nvPr/>
        </p:nvSpPr>
        <p:spPr>
          <a:xfrm>
            <a:off x="7229475" y="1393701"/>
            <a:ext cx="3781426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Monom_Product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83192-CD60-F274-F976-2CCE581DF488}"/>
              </a:ext>
            </a:extLst>
          </p:cNvPr>
          <p:cNvSpPr txBox="1"/>
          <p:nvPr/>
        </p:nvSpPr>
        <p:spPr>
          <a:xfrm>
            <a:off x="7229475" y="1687569"/>
            <a:ext cx="378142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Monom_Quotient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op1,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op2);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7C92E-C5BA-2A48-2C49-65B4C419210B}"/>
              </a:ext>
            </a:extLst>
          </p:cNvPr>
          <p:cNvSpPr txBox="1"/>
          <p:nvPr/>
        </p:nvSpPr>
        <p:spPr>
          <a:xfrm>
            <a:off x="7229474" y="1970551"/>
            <a:ext cx="3781425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);</a:t>
            </a:r>
            <a:endParaRPr lang="en-US" sz="10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7686C-9FEB-7E1B-78E6-B6AF250BF4F8}"/>
              </a:ext>
            </a:extLst>
          </p:cNvPr>
          <p:cNvSpPr txBox="1"/>
          <p:nvPr/>
        </p:nvSpPr>
        <p:spPr>
          <a:xfrm>
            <a:off x="6724650" y="2372860"/>
            <a:ext cx="4286249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 -&gt;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Private setter member 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2C3A1-979A-8113-A239-D2864CDCA361}"/>
              </a:ext>
            </a:extLst>
          </p:cNvPr>
          <p:cNvSpPr txBox="1"/>
          <p:nvPr/>
        </p:nvSpPr>
        <p:spPr>
          <a:xfrm>
            <a:off x="6724650" y="2964461"/>
            <a:ext cx="4286249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power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op -&gt; __power = 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Private setter member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55D08-2AD1-36CC-1F02-1AF454539998}"/>
              </a:ext>
            </a:extLst>
          </p:cNvPr>
          <p:cNvSpPr txBox="1"/>
          <p:nvPr/>
        </p:nvSpPr>
        <p:spPr>
          <a:xfrm>
            <a:off x="7234237" y="4532931"/>
            <a:ext cx="3781425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Monom_GetCoeff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 -&gt;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 member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86E94-FEDD-FA49-7033-F5651E0AAEB9}"/>
              </a:ext>
            </a:extLst>
          </p:cNvPr>
          <p:cNvSpPr txBox="1"/>
          <p:nvPr/>
        </p:nvSpPr>
        <p:spPr>
          <a:xfrm>
            <a:off x="7229474" y="5122331"/>
            <a:ext cx="3781425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Monom_GetPower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op -&gt; __power;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getter member 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18B6A0-93A8-AB9B-5E08-817F9ED4550E}"/>
              </a:ext>
            </a:extLst>
          </p:cNvPr>
          <p:cNvSpPr txBox="1"/>
          <p:nvPr/>
        </p:nvSpPr>
        <p:spPr>
          <a:xfrm>
            <a:off x="6724650" y="3651561"/>
            <a:ext cx="428624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Monom_Init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000" b="1" dirty="0" err="1">
                <a:solidFill>
                  <a:srgbClr val="A870D2"/>
                </a:solidFill>
                <a:latin typeface="Courier"/>
              </a:rPr>
              <a:t>Monom</a:t>
            </a:r>
            <a:r>
              <a:rPr lang="en-US" sz="1000" b="1" dirty="0">
                <a:solidFill>
                  <a:srgbClr val="A870D2"/>
                </a:solidFill>
                <a:latin typeface="Courier"/>
              </a:rPr>
              <a:t>*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op,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power ){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(op,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__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Monom_SetPower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(op, power);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Initialization member function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7610FFBF-18A8-66E6-EE68-07901B62927C}"/>
              </a:ext>
            </a:extLst>
          </p:cNvPr>
          <p:cNvSpPr/>
          <p:nvPr/>
        </p:nvSpPr>
        <p:spPr>
          <a:xfrm>
            <a:off x="704851" y="5208850"/>
            <a:ext cx="6219824" cy="643283"/>
          </a:xfrm>
          <a:prstGeom prst="wedgeRectCallout">
            <a:avLst>
              <a:gd name="adj1" fmla="val -34019"/>
              <a:gd name="adj2" fmla="val -7149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0000"/>
                </a:solidFill>
              </a:rPr>
              <a:t>C++ is designed to syntactically address these limitations</a:t>
            </a:r>
            <a:r>
              <a:rPr lang="en-CA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CA" sz="1600" b="1" dirty="0">
                <a:solidFill>
                  <a:schemeClr val="tx1"/>
                </a:solidFill>
                <a:latin typeface="Courier"/>
              </a:rPr>
              <a:t>And add more code management features!</a:t>
            </a:r>
            <a:endParaRPr lang="en-US" sz="1600" b="1" dirty="0">
              <a:solidFill>
                <a:schemeClr val="accent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8264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 Struct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more versatile and organized way to pass multiple parameters in and out of a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use Typedef to help simplify its usage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Heed to differences between dot-operator </a:t>
            </a:r>
            <a:r>
              <a:rPr lang="en-CA" dirty="0">
                <a:latin typeface="Courier"/>
              </a:rPr>
              <a:t>’.’</a:t>
            </a:r>
            <a:r>
              <a:rPr lang="en-CA" dirty="0"/>
              <a:t> and structure pointer operator </a:t>
            </a:r>
            <a:r>
              <a:rPr lang="en-CA" dirty="0">
                <a:latin typeface="Courier"/>
              </a:rPr>
              <a:t>‘-&gt;’</a:t>
            </a:r>
            <a:br>
              <a:rPr lang="en-CA" dirty="0">
                <a:latin typeface="Courier"/>
              </a:rPr>
            </a:br>
            <a:endParaRPr lang="en-CA" dirty="0"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Roadmap to C++</a:t>
            </a:r>
            <a:endParaRPr lang="en-CA" sz="2200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Struct + Typedef + Library is the predecessor of C++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With high self-discipline, C can be used </a:t>
            </a:r>
            <a:r>
              <a:rPr lang="en-CA" b="1" i="1" dirty="0"/>
              <a:t>almost</a:t>
            </a:r>
            <a:r>
              <a:rPr lang="en-CA" dirty="0"/>
              <a:t> like C++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But with limitations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Introduction to C++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Commonalities between C and C++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Introduction to Object Oriented Design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30990</TotalTime>
  <Words>3386</Words>
  <Application>Microsoft Office PowerPoint</Application>
  <PresentationFormat>Widescreen</PresentationFormat>
  <Paragraphs>627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More on C Structures</vt:lpstr>
      <vt:lpstr>PowerPoint Presentation</vt:lpstr>
      <vt:lpstr>PowerPoint Presentation</vt:lpstr>
      <vt:lpstr>PowerPoint Presentation</vt:lpstr>
      <vt:lpstr>PowerPoint Presentation</vt:lpstr>
      <vt:lpstr>Structures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Operations on Structures</vt:lpstr>
      <vt:lpstr>PowerPoint Presentation</vt:lpstr>
      <vt:lpstr>PowerPoint Presentation</vt:lpstr>
      <vt:lpstr>From C to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10 - C Struct and Road to C++</dc:title>
  <dc:creator>Shahrukh Athar</dc:creator>
  <cp:lastModifiedBy>Shahrukh Athar</cp:lastModifiedBy>
  <cp:revision>455</cp:revision>
  <dcterms:created xsi:type="dcterms:W3CDTF">2018-10-02T00:35:18Z</dcterms:created>
  <dcterms:modified xsi:type="dcterms:W3CDTF">2024-11-04T11:11:32Z</dcterms:modified>
</cp:coreProperties>
</file>