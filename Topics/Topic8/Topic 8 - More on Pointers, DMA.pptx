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64" r:id="rId3"/>
    <p:sldId id="524" r:id="rId4"/>
    <p:sldId id="297" r:id="rId5"/>
    <p:sldId id="490" r:id="rId6"/>
    <p:sldId id="494" r:id="rId7"/>
    <p:sldId id="499" r:id="rId8"/>
    <p:sldId id="461" r:id="rId9"/>
    <p:sldId id="501" r:id="rId10"/>
    <p:sldId id="502" r:id="rId11"/>
    <p:sldId id="503" r:id="rId12"/>
    <p:sldId id="504" r:id="rId13"/>
    <p:sldId id="505" r:id="rId14"/>
    <p:sldId id="462" r:id="rId15"/>
    <p:sldId id="506" r:id="rId16"/>
    <p:sldId id="507" r:id="rId17"/>
    <p:sldId id="520" r:id="rId18"/>
    <p:sldId id="508" r:id="rId19"/>
    <p:sldId id="509" r:id="rId20"/>
    <p:sldId id="510" r:id="rId21"/>
    <p:sldId id="511" r:id="rId22"/>
    <p:sldId id="516" r:id="rId23"/>
    <p:sldId id="517" r:id="rId24"/>
    <p:sldId id="518" r:id="rId25"/>
    <p:sldId id="519" r:id="rId26"/>
    <p:sldId id="463" r:id="rId27"/>
    <p:sldId id="521" r:id="rId28"/>
    <p:sldId id="522" r:id="rId29"/>
    <p:sldId id="523" r:id="rId30"/>
    <p:sldId id="377" r:id="rId31"/>
    <p:sldId id="31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DDDD"/>
    <a:srgbClr val="7F1F1F"/>
    <a:srgbClr val="FF7D7D"/>
    <a:srgbClr val="E8D9F3"/>
    <a:srgbClr val="AF7CD6"/>
    <a:srgbClr val="E9EBF5"/>
    <a:srgbClr val="A870D2"/>
    <a:srgbClr val="EBF1E9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49FD1-C801-49A5-8B3B-7E4466140B0B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F8C59-6400-4A47-9B68-202DC97D1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4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0B6A-6EA8-48B1-890E-DBE9F55C9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41BC4-FC72-4C99-A6E3-D36F48E00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B7F54-454F-4230-BCD0-7E298954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61BE9-5CD9-4798-8B28-41A7B3B2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23F6D-6949-4755-9EB3-0B4CF368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653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6A-6FB6-43A1-923B-948DA70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2D120-9635-40F5-BD6A-8B18A091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2D18D-D540-45BC-92C8-5C043E6B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9A943-3396-4512-9E17-E9C48D40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3FB98-9712-4920-84AA-67299297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84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C0B3-F2E8-4150-9C9F-249EA1EE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89AC4-4CCA-41C9-8CD3-FDA4F8BFD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7CB5-DCF0-4F91-A3A4-AC18FA8D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0D37-7F5D-4DA2-928A-A46FC161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5497-1021-4F40-B052-5FDB6EA0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171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113F-9A27-4454-9066-1D4816CB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B618-A31F-4B60-9C62-B8612EFF3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96AB5-6DB6-442F-A300-81550E203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FC75A-6003-426C-9DB2-9B39A4B0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B4B50-F363-4912-A26C-0359D566C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16A83-7103-44F3-87B3-CEE5D96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426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1195-ACB2-4934-8F4E-F2958669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58A89-F5A9-4F9B-A223-97C13BC23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6795C-363C-48DB-AD3D-2F9C61E1E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36750-9C96-4B01-9805-33AC96466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DC454-D419-49C4-8D63-67A4795D9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3FABF-0142-467C-AE89-DE5CD45B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B3F96-5224-4C13-AD6F-1105B1AD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5A20E-F42A-4D9D-B91C-6088C1DC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012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7978-81C5-4AE1-8616-9BD6D82E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CD8A4-8B49-41C6-B266-DDCE9828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EAF09-62CD-4D41-A12D-7A187B15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16380-B9B6-4A57-92A4-92928B66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880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50F4B-56DD-47FF-8723-5B8E812D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A2383-5FD6-4CA9-B869-66F36C29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04989-A74B-47B9-BBF3-7E03ED0A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82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E9DE-5FE6-448D-8017-76CEB79B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F5170-09A8-4802-948A-2FC13424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3ADFF-B73A-409D-B75B-F2CD7B6DD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10021-EAD0-4B81-B79C-468DFF64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38279-373B-4DD6-9B4D-8391BC7B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7FDA3-5AFE-4A11-A0BE-334D33D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94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9788-A568-4DD7-ADA9-9ABF1663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C9A0F-20B9-4F4D-8494-51CC0F0F1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D0EFE-BCFC-4795-81FA-C1868FB99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51377-1691-4253-8517-5C1042A9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94FC9-DA1F-4922-BE56-216E722B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2F70E-C891-4B2C-90E2-48DF1E69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69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1662-B2C5-4D3D-A91F-576556E3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83262-9C38-48C2-92DD-DFF488E74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F95AE-11FE-461F-86AA-DD7226E11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4B16A-019A-4707-B5FE-6A7A4FAA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9DE2A-7C3E-4387-BD36-F66C7D0C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934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34312D-85D8-4F4E-9225-EE35F6777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A2784-F633-44EE-8524-4C659B6A1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275D-A9E9-4573-A113-62A0D463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45AB9-9C02-4C46-A2F5-EA99128A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DAC47-ACD1-475E-929F-BEA3913C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022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61F7F-5C44-431A-8DF8-3CE3DE3D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1CD12-5D97-4A00-9D87-C774CAFD4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3DE7A-C95D-4242-B510-AF0B31262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BFC9D-8A37-4207-9EED-DA2ABD1734E0}" type="datetimeFigureOut">
              <a:rPr lang="en-CA" smtClean="0"/>
              <a:t>2024-10-20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0F37-BB84-4C94-94FA-DF3238032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C9D4C-3C3D-49C6-9E5A-9FEE72A28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709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39D983-FBB4-420A-9D1B-9D486DEE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4" y="0"/>
            <a:ext cx="3158763" cy="1870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2BEA56-DD51-434A-8A58-1499DABCDB67}"/>
              </a:ext>
            </a:extLst>
          </p:cNvPr>
          <p:cNvSpPr txBox="1"/>
          <p:nvPr/>
        </p:nvSpPr>
        <p:spPr>
          <a:xfrm>
            <a:off x="2686265" y="2611819"/>
            <a:ext cx="681955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6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More on Pointers</a:t>
            </a:r>
            <a:br>
              <a:rPr lang="en-CA" sz="6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CA" sz="6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DMA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2D380-33B6-48EC-8744-F89F20911832}"/>
              </a:ext>
            </a:extLst>
          </p:cNvPr>
          <p:cNvSpPr txBox="1"/>
          <p:nvPr/>
        </p:nvSpPr>
        <p:spPr>
          <a:xfrm>
            <a:off x="3975701" y="1867574"/>
            <a:ext cx="4225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32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COMPENG 2SH4 Topic 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025511-100B-E690-3E26-375F1AAEF890}"/>
              </a:ext>
            </a:extLst>
          </p:cNvPr>
          <p:cNvSpPr txBox="1"/>
          <p:nvPr/>
        </p:nvSpPr>
        <p:spPr>
          <a:xfrm>
            <a:off x="4185188" y="5068547"/>
            <a:ext cx="3821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/>
              <a:t>Dr. Shahrukh Athar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5CCD24-9858-6BBE-C9DF-B0870021C1CC}"/>
              </a:ext>
            </a:extLst>
          </p:cNvPr>
          <p:cNvSpPr txBox="1"/>
          <p:nvPr/>
        </p:nvSpPr>
        <p:spPr>
          <a:xfrm>
            <a:off x="1388853" y="6596390"/>
            <a:ext cx="10803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Credit: The current version of these slides has been developed by Dr. Scott Chen (2SH4 F23 C02). I am using these slides with his permission and have made only slight modifications.</a:t>
            </a:r>
          </a:p>
        </p:txBody>
      </p:sp>
    </p:spTree>
    <p:extLst>
      <p:ext uri="{BB962C8B-B14F-4D97-AF65-F5344CB8AC3E}">
        <p14:creationId xmlns:p14="http://schemas.microsoft.com/office/powerpoint/2010/main" val="195778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9563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543502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Pointer Arithmetic Review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Pointers and Arrays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Array-Index Format vs. Pointer-Offset Format</a:t>
            </a:r>
            <a:endParaRPr lang="en-CA" b="1" dirty="0">
              <a:latin typeface="Couri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Differences and Similarities in Declarations and Usages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Pointers and Strings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Introduction to Dynamic Memory Allocation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Review of Motivation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Memory Management Routines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Basic Usage of Memory Allocation Calls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12" name="Graphic 11" descr="Three circles each containing concentric circles.">
            <a:extLst>
              <a:ext uri="{FF2B5EF4-FFF2-40B4-BE49-F238E27FC236}">
                <a16:creationId xmlns:a16="http://schemas.microsoft.com/office/drawing/2014/main" id="{A4D28325-1E70-41A7-BF16-E0919AFAD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5895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Pointer Arithmetic Review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D4AE10-7AFB-5F3F-B637-5D71518CD791}"/>
              </a:ext>
            </a:extLst>
          </p:cNvPr>
          <p:cNvSpPr txBox="1"/>
          <p:nvPr/>
        </p:nvSpPr>
        <p:spPr>
          <a:xfrm>
            <a:off x="831850" y="551471"/>
            <a:ext cx="526415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8-1] Pointer Arithmetic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8-2] const Qualifier on Pointers</a:t>
            </a:r>
            <a:endParaRPr lang="en-US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375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6247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 Arithmetic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317539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Given pointer </a:t>
            </a:r>
            <a:r>
              <a:rPr lang="en-CA" sz="2200" b="1" dirty="0"/>
              <a:t>p</a:t>
            </a:r>
            <a:r>
              <a:rPr lang="en-CA" sz="2200" dirty="0"/>
              <a:t> points to an element of an array, and </a:t>
            </a:r>
            <a:r>
              <a:rPr lang="en-CA" sz="2200" b="1" dirty="0" err="1"/>
              <a:t>i</a:t>
            </a:r>
            <a:r>
              <a:rPr lang="en-CA" sz="2200" b="1" dirty="0"/>
              <a:t> &gt; 0</a:t>
            </a:r>
            <a:r>
              <a:rPr lang="en-CA" sz="2200" dirty="0"/>
              <a:t> is of type </a:t>
            </a:r>
            <a:r>
              <a:rPr lang="en-CA" sz="2200" b="1" dirty="0"/>
              <a:t>int</a:t>
            </a:r>
            <a:r>
              <a:rPr lang="en-CA" sz="2200" dirty="0"/>
              <a:t>, then…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p + </a:t>
            </a:r>
            <a:r>
              <a:rPr lang="en-CA" b="1" dirty="0" err="1">
                <a:solidFill>
                  <a:srgbClr val="FF0000"/>
                </a:solidFill>
              </a:rPr>
              <a:t>i</a:t>
            </a:r>
            <a:r>
              <a:rPr lang="en-CA" dirty="0"/>
              <a:t> is a pointer to the array element situated </a:t>
            </a:r>
            <a:r>
              <a:rPr lang="en-CA" b="1" dirty="0" err="1">
                <a:solidFill>
                  <a:srgbClr val="FF0000"/>
                </a:solidFill>
              </a:rPr>
              <a:t>i</a:t>
            </a:r>
            <a:r>
              <a:rPr lang="en-CA" b="1" dirty="0">
                <a:solidFill>
                  <a:srgbClr val="FF0000"/>
                </a:solidFill>
              </a:rPr>
              <a:t>-positions </a:t>
            </a:r>
            <a:br>
              <a:rPr lang="en-CA" b="1" dirty="0">
                <a:solidFill>
                  <a:srgbClr val="FF0000"/>
                </a:solidFill>
              </a:rPr>
            </a:br>
            <a:r>
              <a:rPr lang="en-CA" b="1" dirty="0">
                <a:solidFill>
                  <a:srgbClr val="FF0000"/>
                </a:solidFill>
              </a:rPr>
              <a:t>towards the array end from the element pointed by p</a:t>
            </a:r>
            <a:r>
              <a:rPr lang="en-CA" dirty="0"/>
              <a:t>, </a:t>
            </a:r>
            <a:br>
              <a:rPr lang="en-CA" dirty="0"/>
            </a:br>
            <a:r>
              <a:rPr lang="en-CA" dirty="0"/>
              <a:t>provided that it is within the array boundary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00B050"/>
                </a:solidFill>
              </a:rPr>
              <a:t>p - </a:t>
            </a:r>
            <a:r>
              <a:rPr lang="en-CA" b="1" dirty="0" err="1">
                <a:solidFill>
                  <a:srgbClr val="00B050"/>
                </a:solidFill>
              </a:rPr>
              <a:t>i</a:t>
            </a:r>
            <a:r>
              <a:rPr lang="en-CA" dirty="0"/>
              <a:t> is a pointer to the array element situated </a:t>
            </a:r>
            <a:r>
              <a:rPr lang="en-CA" b="1" dirty="0" err="1">
                <a:solidFill>
                  <a:srgbClr val="00B050"/>
                </a:solidFill>
              </a:rPr>
              <a:t>i</a:t>
            </a:r>
            <a:r>
              <a:rPr lang="en-CA" b="1" dirty="0">
                <a:solidFill>
                  <a:srgbClr val="00B050"/>
                </a:solidFill>
              </a:rPr>
              <a:t>-positions </a:t>
            </a:r>
            <a:br>
              <a:rPr lang="en-CA" b="1" dirty="0">
                <a:solidFill>
                  <a:srgbClr val="00B050"/>
                </a:solidFill>
              </a:rPr>
            </a:br>
            <a:r>
              <a:rPr lang="en-CA" b="1" dirty="0">
                <a:solidFill>
                  <a:srgbClr val="00B050"/>
                </a:solidFill>
              </a:rPr>
              <a:t>towards the array head from the element pointed by p</a:t>
            </a:r>
            <a:r>
              <a:rPr lang="en-CA" dirty="0"/>
              <a:t>, </a:t>
            </a:r>
            <a:br>
              <a:rPr lang="en-CA" dirty="0"/>
            </a:br>
            <a:r>
              <a:rPr lang="en-CA" dirty="0"/>
              <a:t>provided that it is within the array boundary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Thus, </a:t>
            </a:r>
            <a:r>
              <a:rPr lang="en-CA" b="1" dirty="0">
                <a:solidFill>
                  <a:srgbClr val="FF0000"/>
                </a:solidFill>
              </a:rPr>
              <a:t>p + </a:t>
            </a:r>
            <a:r>
              <a:rPr lang="en-CA" b="1" dirty="0" err="1">
                <a:solidFill>
                  <a:srgbClr val="FF0000"/>
                </a:solidFill>
              </a:rPr>
              <a:t>i</a:t>
            </a:r>
            <a:r>
              <a:rPr lang="en-CA" dirty="0"/>
              <a:t> and </a:t>
            </a:r>
            <a:r>
              <a:rPr lang="en-CA" b="1" dirty="0">
                <a:solidFill>
                  <a:srgbClr val="00B050"/>
                </a:solidFill>
              </a:rPr>
              <a:t>p - </a:t>
            </a:r>
            <a:r>
              <a:rPr lang="en-CA" b="1" dirty="0" err="1">
                <a:solidFill>
                  <a:srgbClr val="00B050"/>
                </a:solidFill>
              </a:rPr>
              <a:t>i</a:t>
            </a:r>
            <a:r>
              <a:rPr lang="en-CA" dirty="0"/>
              <a:t> are pointers of the same type as </a:t>
            </a:r>
            <a:r>
              <a:rPr lang="en-CA" b="1" dirty="0"/>
              <a:t>p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</a:t>
            </a:fld>
            <a:endParaRPr lang="en-CA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68B776F-B1B0-8913-139D-85D3A0071513}"/>
              </a:ext>
            </a:extLst>
          </p:cNvPr>
          <p:cNvSpPr/>
          <p:nvPr/>
        </p:nvSpPr>
        <p:spPr>
          <a:xfrm>
            <a:off x="9308217" y="3767001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6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D858AD-E4E6-BD34-F0FF-FF8C0DCDA8FB}"/>
              </a:ext>
            </a:extLst>
          </p:cNvPr>
          <p:cNvSpPr/>
          <p:nvPr/>
        </p:nvSpPr>
        <p:spPr>
          <a:xfrm>
            <a:off x="9308217" y="3485523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B1F02A0-BBFF-BB53-41B1-F56BDAC71009}"/>
              </a:ext>
            </a:extLst>
          </p:cNvPr>
          <p:cNvSpPr/>
          <p:nvPr/>
        </p:nvSpPr>
        <p:spPr>
          <a:xfrm>
            <a:off x="9308217" y="4058006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5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06AC78-BCEC-9B71-9B67-280AB8041E4B}"/>
              </a:ext>
            </a:extLst>
          </p:cNvPr>
          <p:cNvSpPr txBox="1"/>
          <p:nvPr/>
        </p:nvSpPr>
        <p:spPr>
          <a:xfrm>
            <a:off x="8236333" y="406499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32363-56E6-23D8-62A8-277DA7C7D376}"/>
              </a:ext>
            </a:extLst>
          </p:cNvPr>
          <p:cNvSpPr txBox="1"/>
          <p:nvPr/>
        </p:nvSpPr>
        <p:spPr>
          <a:xfrm>
            <a:off x="8233008" y="3782205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9F5367-512C-86E2-6840-C8E03A7282EA}"/>
              </a:ext>
            </a:extLst>
          </p:cNvPr>
          <p:cNvSpPr txBox="1"/>
          <p:nvPr/>
        </p:nvSpPr>
        <p:spPr>
          <a:xfrm>
            <a:off x="8233008" y="3482578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6697025-AD68-047A-E130-627E68F67E44}"/>
              </a:ext>
            </a:extLst>
          </p:cNvPr>
          <p:cNvSpPr/>
          <p:nvPr/>
        </p:nvSpPr>
        <p:spPr>
          <a:xfrm>
            <a:off x="9316781" y="4628318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8C12D93-9D1F-0146-0896-4A73274122D0}"/>
              </a:ext>
            </a:extLst>
          </p:cNvPr>
          <p:cNvSpPr/>
          <p:nvPr/>
        </p:nvSpPr>
        <p:spPr>
          <a:xfrm>
            <a:off x="9316781" y="4346840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EF315C-C9FD-DA67-8AE4-B4FF59150FA4}"/>
              </a:ext>
            </a:extLst>
          </p:cNvPr>
          <p:cNvSpPr txBox="1"/>
          <p:nvPr/>
        </p:nvSpPr>
        <p:spPr>
          <a:xfrm>
            <a:off x="8241572" y="4620327"/>
            <a:ext cx="1165596" cy="312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0061FF14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42863B-3B90-BC66-E1B9-10D01BC50BA7}"/>
              </a:ext>
            </a:extLst>
          </p:cNvPr>
          <p:cNvSpPr txBox="1"/>
          <p:nvPr/>
        </p:nvSpPr>
        <p:spPr>
          <a:xfrm>
            <a:off x="8241572" y="434389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F1E15C-20BC-3998-FB3C-5BDE5D79E724}"/>
              </a:ext>
            </a:extLst>
          </p:cNvPr>
          <p:cNvSpPr txBox="1"/>
          <p:nvPr/>
        </p:nvSpPr>
        <p:spPr>
          <a:xfrm>
            <a:off x="9217175" y="3083027"/>
            <a:ext cx="1368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 </a:t>
            </a:r>
            <a:r>
              <a:rPr lang="en-US" b="1" dirty="0" err="1">
                <a:solidFill>
                  <a:schemeClr val="tx1"/>
                </a:solidFill>
              </a:rPr>
              <a:t>arr</a:t>
            </a:r>
            <a:r>
              <a:rPr lang="en-US" b="1" dirty="0">
                <a:solidFill>
                  <a:schemeClr val="tx1"/>
                </a:solidFill>
              </a:rPr>
              <a:t>[5]</a:t>
            </a:r>
            <a:endParaRPr lang="en-CA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272556E-43C3-2BA6-66E9-1D7B8BC6D1A8}"/>
              </a:ext>
            </a:extLst>
          </p:cNvPr>
          <p:cNvSpPr/>
          <p:nvPr/>
        </p:nvSpPr>
        <p:spPr>
          <a:xfrm>
            <a:off x="9607425" y="2532153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0061FF20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B347FA-60A5-7814-FE38-92A208299CBE}"/>
              </a:ext>
            </a:extLst>
          </p:cNvPr>
          <p:cNvSpPr txBox="1"/>
          <p:nvPr/>
        </p:nvSpPr>
        <p:spPr>
          <a:xfrm>
            <a:off x="8519829" y="2530224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00732011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034D5-8BFC-9627-89AD-0D88C88578CE}"/>
              </a:ext>
            </a:extLst>
          </p:cNvPr>
          <p:cNvSpPr txBox="1"/>
          <p:nvPr/>
        </p:nvSpPr>
        <p:spPr>
          <a:xfrm>
            <a:off x="9983775" y="2160892"/>
            <a:ext cx="1368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int* p;</a:t>
            </a:r>
            <a:endParaRPr lang="en-CA" dirty="0"/>
          </a:p>
        </p:txBody>
      </p:sp>
      <p:sp>
        <p:nvSpPr>
          <p:cNvPr id="18" name="Arrow: Bent-Up 17">
            <a:extLst>
              <a:ext uri="{FF2B5EF4-FFF2-40B4-BE49-F238E27FC236}">
                <a16:creationId xmlns:a16="http://schemas.microsoft.com/office/drawing/2014/main" id="{53902F78-B4BA-865F-0F1D-C484E442C4B8}"/>
              </a:ext>
            </a:extLst>
          </p:cNvPr>
          <p:cNvSpPr/>
          <p:nvPr/>
        </p:nvSpPr>
        <p:spPr>
          <a:xfrm rot="16200000" flipH="1">
            <a:off x="9719771" y="3288577"/>
            <a:ext cx="1137565" cy="218964"/>
          </a:xfrm>
          <a:prstGeom prst="bentUpArrow">
            <a:avLst>
              <a:gd name="adj1" fmla="val 15014"/>
              <a:gd name="adj2" fmla="val 28125"/>
              <a:gd name="adj3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C6C49DD1-F4F0-D52D-72CC-283E36F6E9F0}"/>
              </a:ext>
            </a:extLst>
          </p:cNvPr>
          <p:cNvSpPr/>
          <p:nvPr/>
        </p:nvSpPr>
        <p:spPr>
          <a:xfrm rot="16200000" flipH="1">
            <a:off x="10087339" y="2921581"/>
            <a:ext cx="862445" cy="661852"/>
          </a:xfrm>
          <a:prstGeom prst="bentUpArrow">
            <a:avLst>
              <a:gd name="adj1" fmla="val 6333"/>
              <a:gd name="adj2" fmla="val 10808"/>
              <a:gd name="adj3" fmla="val 16594"/>
            </a:avLst>
          </a:prstGeom>
          <a:solidFill>
            <a:srgbClr val="FF0000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E3408B-D687-707F-6000-FD2CD352E865}"/>
              </a:ext>
            </a:extLst>
          </p:cNvPr>
          <p:cNvSpPr txBox="1"/>
          <p:nvPr/>
        </p:nvSpPr>
        <p:spPr>
          <a:xfrm>
            <a:off x="10819269" y="3111816"/>
            <a:ext cx="661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p + 1</a:t>
            </a:r>
            <a:endParaRPr lang="en-US" dirty="0"/>
          </a:p>
        </p:txBody>
      </p:sp>
      <p:sp>
        <p:nvSpPr>
          <p:cNvPr id="29" name="Arrow: Bent-Up 28">
            <a:extLst>
              <a:ext uri="{FF2B5EF4-FFF2-40B4-BE49-F238E27FC236}">
                <a16:creationId xmlns:a16="http://schemas.microsoft.com/office/drawing/2014/main" id="{AA060117-62AC-D03C-CE57-A39F6BAE638F}"/>
              </a:ext>
            </a:extLst>
          </p:cNvPr>
          <p:cNvSpPr/>
          <p:nvPr/>
        </p:nvSpPr>
        <p:spPr>
          <a:xfrm rot="16200000" flipH="1">
            <a:off x="9386917" y="3613431"/>
            <a:ext cx="2033834" cy="449528"/>
          </a:xfrm>
          <a:prstGeom prst="bentUpArrow">
            <a:avLst>
              <a:gd name="adj1" fmla="val 9202"/>
              <a:gd name="adj2" fmla="val 15533"/>
              <a:gd name="adj3" fmla="val 26753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198E71-CA44-4937-42EF-EF76F6BFD947}"/>
              </a:ext>
            </a:extLst>
          </p:cNvPr>
          <p:cNvSpPr txBox="1"/>
          <p:nvPr/>
        </p:nvSpPr>
        <p:spPr>
          <a:xfrm>
            <a:off x="10584597" y="4128454"/>
            <a:ext cx="60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00B050"/>
                </a:solidFill>
              </a:rPr>
              <a:t>p - 3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4DACB1-0E16-E077-DFCA-C1F5F4D38664}"/>
              </a:ext>
            </a:extLst>
          </p:cNvPr>
          <p:cNvSpPr txBox="1"/>
          <p:nvPr/>
        </p:nvSpPr>
        <p:spPr>
          <a:xfrm>
            <a:off x="7715882" y="4613670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chemeClr val="accent1"/>
                </a:solidFill>
              </a:rPr>
              <a:t>arr</a:t>
            </a:r>
            <a:r>
              <a:rPr lang="en-US" sz="1400" b="1" dirty="0">
                <a:solidFill>
                  <a:schemeClr val="accent1"/>
                </a:solidFill>
              </a:rPr>
              <a:t>[0]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B32CAF-933A-249C-C375-A89A2EA74410}"/>
              </a:ext>
            </a:extLst>
          </p:cNvPr>
          <p:cNvSpPr txBox="1"/>
          <p:nvPr/>
        </p:nvSpPr>
        <p:spPr>
          <a:xfrm>
            <a:off x="7711526" y="4339355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chemeClr val="accent1"/>
                </a:solidFill>
              </a:rPr>
              <a:t>arr</a:t>
            </a:r>
            <a:r>
              <a:rPr lang="en-US" sz="1400" b="1" dirty="0">
                <a:solidFill>
                  <a:schemeClr val="accent1"/>
                </a:solidFill>
              </a:rPr>
              <a:t>[1]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8D843F-7704-85F7-57D3-EEF559D10CD5}"/>
              </a:ext>
            </a:extLst>
          </p:cNvPr>
          <p:cNvSpPr txBox="1"/>
          <p:nvPr/>
        </p:nvSpPr>
        <p:spPr>
          <a:xfrm>
            <a:off x="7716027" y="4051788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chemeClr val="accent1"/>
                </a:solidFill>
              </a:rPr>
              <a:t>arr</a:t>
            </a:r>
            <a:r>
              <a:rPr lang="en-US" sz="1400" b="1" dirty="0">
                <a:solidFill>
                  <a:schemeClr val="accent1"/>
                </a:solidFill>
              </a:rPr>
              <a:t>[2]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37CB77-297D-9656-0B2F-6B703D88BC67}"/>
              </a:ext>
            </a:extLst>
          </p:cNvPr>
          <p:cNvSpPr txBox="1"/>
          <p:nvPr/>
        </p:nvSpPr>
        <p:spPr>
          <a:xfrm>
            <a:off x="7716027" y="3773073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chemeClr val="accent1"/>
                </a:solidFill>
              </a:rPr>
              <a:t>arr</a:t>
            </a:r>
            <a:r>
              <a:rPr lang="en-US" sz="1400" b="1" dirty="0">
                <a:solidFill>
                  <a:schemeClr val="accent1"/>
                </a:solidFill>
              </a:rPr>
              <a:t>[3]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7A0345-0DCD-7E4B-AEE8-4F9DB93E1E57}"/>
              </a:ext>
            </a:extLst>
          </p:cNvPr>
          <p:cNvSpPr txBox="1"/>
          <p:nvPr/>
        </p:nvSpPr>
        <p:spPr>
          <a:xfrm>
            <a:off x="7714111" y="3469172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chemeClr val="accent1"/>
                </a:solidFill>
              </a:rPr>
              <a:t>arr</a:t>
            </a:r>
            <a:r>
              <a:rPr lang="en-US" sz="1400" b="1" dirty="0">
                <a:solidFill>
                  <a:schemeClr val="accent1"/>
                </a:solidFill>
              </a:rPr>
              <a:t>[4]</a:t>
            </a:r>
            <a:endParaRPr lang="en-US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22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 animBg="1"/>
      <p:bldP spid="12" grpId="0"/>
      <p:bldP spid="14" grpId="0"/>
      <p:bldP spid="15" grpId="0"/>
      <p:bldP spid="16" grpId="0" animBg="1"/>
      <p:bldP spid="17" grpId="0" animBg="1"/>
      <p:bldP spid="20" grpId="0"/>
      <p:bldP spid="21" grpId="0"/>
      <p:bldP spid="23" grpId="0"/>
      <p:bldP spid="24" grpId="0" animBg="1"/>
      <p:bldP spid="25" grpId="0"/>
      <p:bldP spid="26" grpId="0"/>
      <p:bldP spid="18" grpId="0" animBg="1"/>
      <p:bldP spid="19" grpId="0" animBg="1"/>
      <p:bldP spid="27" grpId="0"/>
      <p:bldP spid="29" grpId="0" animBg="1"/>
      <p:bldP spid="31" grpId="0"/>
      <p:bldP spid="8" grpId="0"/>
      <p:bldP spid="9" grpId="0"/>
      <p:bldP spid="22" grpId="0"/>
      <p:bldP spid="28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6247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 Arithmetic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317539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Given pointer </a:t>
            </a:r>
            <a:r>
              <a:rPr lang="en-CA" sz="2200" b="1" dirty="0"/>
              <a:t>p</a:t>
            </a:r>
            <a:r>
              <a:rPr lang="en-CA" sz="2200" dirty="0"/>
              <a:t> points to an element of an array, and </a:t>
            </a:r>
            <a:r>
              <a:rPr lang="en-CA" sz="2200" b="1" dirty="0" err="1"/>
              <a:t>i</a:t>
            </a:r>
            <a:r>
              <a:rPr lang="en-CA" sz="2200" b="1" dirty="0"/>
              <a:t> &gt; 0</a:t>
            </a:r>
            <a:r>
              <a:rPr lang="en-CA" sz="2200" dirty="0"/>
              <a:t> is of type </a:t>
            </a:r>
            <a:r>
              <a:rPr lang="en-CA" sz="2200" b="1" dirty="0"/>
              <a:t>int</a:t>
            </a:r>
            <a:r>
              <a:rPr lang="en-CA" sz="2200" dirty="0"/>
              <a:t>, then…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If </a:t>
            </a:r>
            <a:r>
              <a:rPr lang="en-CA" b="1" dirty="0"/>
              <a:t>q</a:t>
            </a:r>
            <a:r>
              <a:rPr lang="en-CA" dirty="0"/>
              <a:t> is another pointer to elements of an array, and </a:t>
            </a:r>
            <a:r>
              <a:rPr lang="en-CA" b="1" dirty="0"/>
              <a:t>q</a:t>
            </a:r>
            <a:r>
              <a:rPr lang="en-CA" dirty="0"/>
              <a:t> &lt; </a:t>
            </a:r>
            <a:r>
              <a:rPr lang="en-CA" b="1" dirty="0"/>
              <a:t>p</a:t>
            </a:r>
            <a:r>
              <a:rPr lang="en-CA" dirty="0"/>
              <a:t>, then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0070C0"/>
                </a:solidFill>
              </a:rPr>
              <a:t>p – q</a:t>
            </a:r>
            <a:r>
              <a:rPr lang="en-CA" dirty="0"/>
              <a:t> is the </a:t>
            </a:r>
            <a:r>
              <a:rPr lang="en-CA" b="1" dirty="0"/>
              <a:t>number of array elements EXCLUSIVELY</a:t>
            </a:r>
            <a:br>
              <a:rPr lang="en-CA" b="1" dirty="0"/>
            </a:br>
            <a:r>
              <a:rPr lang="en-CA" b="1" dirty="0"/>
              <a:t>between the pointed elements + 1</a:t>
            </a: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i.e. the difference between the pointed positions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How does, for example, </a:t>
            </a:r>
            <a:r>
              <a:rPr lang="en-CA" b="1" dirty="0">
                <a:solidFill>
                  <a:srgbClr val="FF0000"/>
                </a:solidFill>
              </a:rPr>
              <a:t>p + 1 </a:t>
            </a:r>
            <a:r>
              <a:rPr lang="en-CA" dirty="0"/>
              <a:t>translate to a 4 memory</a:t>
            </a:r>
            <a:br>
              <a:rPr lang="en-CA" dirty="0"/>
            </a:br>
            <a:r>
              <a:rPr lang="en-CA" dirty="0"/>
              <a:t>slot offset?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0000FF"/>
                </a:solidFill>
              </a:rPr>
              <a:t>C</a:t>
            </a:r>
            <a:r>
              <a:rPr lang="en-CA" dirty="0"/>
              <a:t> converts the pointer offset (1 unit) to memory</a:t>
            </a:r>
            <a:br>
              <a:rPr lang="en-CA" dirty="0"/>
            </a:br>
            <a:r>
              <a:rPr lang="en-CA" dirty="0"/>
              <a:t>slot offset (4 bytes) based on the </a:t>
            </a:r>
            <a:r>
              <a:rPr lang="en-CA" b="1" u="sng" dirty="0"/>
              <a:t>size of int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/>
              <a:t>Implication: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Same </a:t>
            </a:r>
            <a:r>
              <a:rPr lang="en-CA" b="1" dirty="0">
                <a:solidFill>
                  <a:srgbClr val="0000FF"/>
                </a:solidFill>
              </a:rPr>
              <a:t>pointer offset </a:t>
            </a:r>
            <a:r>
              <a:rPr lang="en-CA" dirty="0"/>
              <a:t>results in different </a:t>
            </a:r>
            <a:r>
              <a:rPr lang="en-CA" b="1" dirty="0">
                <a:solidFill>
                  <a:srgbClr val="0000FF"/>
                </a:solidFill>
              </a:rPr>
              <a:t>byte offset</a:t>
            </a:r>
            <a:br>
              <a:rPr lang="en-CA" dirty="0"/>
            </a:br>
            <a:r>
              <a:rPr lang="en-CA" dirty="0"/>
              <a:t>depending on the data type of the array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</a:t>
            </a:fld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F091AB-C814-D9EF-5683-A38E8B92FDD3}"/>
              </a:ext>
            </a:extLst>
          </p:cNvPr>
          <p:cNvSpPr/>
          <p:nvPr/>
        </p:nvSpPr>
        <p:spPr>
          <a:xfrm>
            <a:off x="9308217" y="3767001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6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C41E65-7F05-8B91-F2EB-6719A0E936EB}"/>
              </a:ext>
            </a:extLst>
          </p:cNvPr>
          <p:cNvSpPr/>
          <p:nvPr/>
        </p:nvSpPr>
        <p:spPr>
          <a:xfrm>
            <a:off x="9308217" y="3485523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F7B920-AFC5-11A9-D948-79D9D5A6E8E8}"/>
              </a:ext>
            </a:extLst>
          </p:cNvPr>
          <p:cNvSpPr/>
          <p:nvPr/>
        </p:nvSpPr>
        <p:spPr>
          <a:xfrm>
            <a:off x="9308217" y="4058006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5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B1D399-FB79-D2EC-1852-A7F4D99A3D04}"/>
              </a:ext>
            </a:extLst>
          </p:cNvPr>
          <p:cNvSpPr txBox="1"/>
          <p:nvPr/>
        </p:nvSpPr>
        <p:spPr>
          <a:xfrm>
            <a:off x="8236333" y="406499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8295FF-1C90-B54E-F333-E023E3EEBC60}"/>
              </a:ext>
            </a:extLst>
          </p:cNvPr>
          <p:cNvSpPr txBox="1"/>
          <p:nvPr/>
        </p:nvSpPr>
        <p:spPr>
          <a:xfrm>
            <a:off x="8233008" y="3782205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67F1AD-65DB-D1F7-4F48-F5B42A127F86}"/>
              </a:ext>
            </a:extLst>
          </p:cNvPr>
          <p:cNvSpPr txBox="1"/>
          <p:nvPr/>
        </p:nvSpPr>
        <p:spPr>
          <a:xfrm>
            <a:off x="8233008" y="3482578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E30DD6F-6C72-F3B3-DBC7-96C4741F2910}"/>
              </a:ext>
            </a:extLst>
          </p:cNvPr>
          <p:cNvSpPr/>
          <p:nvPr/>
        </p:nvSpPr>
        <p:spPr>
          <a:xfrm>
            <a:off x="9316781" y="4628318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0182419-8AB2-78EC-0B32-0A62A6F6D9BA}"/>
              </a:ext>
            </a:extLst>
          </p:cNvPr>
          <p:cNvSpPr/>
          <p:nvPr/>
        </p:nvSpPr>
        <p:spPr>
          <a:xfrm>
            <a:off x="9316781" y="4346840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C82B8E-5B25-DC37-B741-50FE55A1A270}"/>
              </a:ext>
            </a:extLst>
          </p:cNvPr>
          <p:cNvSpPr txBox="1"/>
          <p:nvPr/>
        </p:nvSpPr>
        <p:spPr>
          <a:xfrm>
            <a:off x="8241572" y="4620327"/>
            <a:ext cx="1165596" cy="312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0061FF14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26BDF7-D778-650D-4DF7-FA372EB186B5}"/>
              </a:ext>
            </a:extLst>
          </p:cNvPr>
          <p:cNvSpPr txBox="1"/>
          <p:nvPr/>
        </p:nvSpPr>
        <p:spPr>
          <a:xfrm>
            <a:off x="8241572" y="434389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43D07B-B74A-B76A-B3A6-35BDDC612AA6}"/>
              </a:ext>
            </a:extLst>
          </p:cNvPr>
          <p:cNvSpPr txBox="1"/>
          <p:nvPr/>
        </p:nvSpPr>
        <p:spPr>
          <a:xfrm>
            <a:off x="9217175" y="3083027"/>
            <a:ext cx="1368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 </a:t>
            </a:r>
            <a:r>
              <a:rPr lang="en-US" b="1" dirty="0" err="1">
                <a:solidFill>
                  <a:schemeClr val="tx1"/>
                </a:solidFill>
              </a:rPr>
              <a:t>arr</a:t>
            </a:r>
            <a:r>
              <a:rPr lang="en-US" b="1" dirty="0">
                <a:solidFill>
                  <a:schemeClr val="tx1"/>
                </a:solidFill>
              </a:rPr>
              <a:t>[5]</a:t>
            </a:r>
            <a:endParaRPr lang="en-CA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8009700-D57A-AD67-4ABD-7BFF8A67C964}"/>
              </a:ext>
            </a:extLst>
          </p:cNvPr>
          <p:cNvSpPr/>
          <p:nvPr/>
        </p:nvSpPr>
        <p:spPr>
          <a:xfrm>
            <a:off x="9607425" y="2532153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0061FF20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778B4F-BA62-2189-CB23-0B6EBC2D48B2}"/>
              </a:ext>
            </a:extLst>
          </p:cNvPr>
          <p:cNvSpPr txBox="1"/>
          <p:nvPr/>
        </p:nvSpPr>
        <p:spPr>
          <a:xfrm>
            <a:off x="8519829" y="2530224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00732011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BA35FD-AEF9-32FD-C8B2-DB198AC77656}"/>
              </a:ext>
            </a:extLst>
          </p:cNvPr>
          <p:cNvSpPr txBox="1"/>
          <p:nvPr/>
        </p:nvSpPr>
        <p:spPr>
          <a:xfrm>
            <a:off x="9983775" y="2160892"/>
            <a:ext cx="1368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int* p;</a:t>
            </a:r>
            <a:endParaRPr lang="en-CA" dirty="0"/>
          </a:p>
        </p:txBody>
      </p:sp>
      <p:sp>
        <p:nvSpPr>
          <p:cNvPr id="40" name="Arrow: Bent-Up 39">
            <a:extLst>
              <a:ext uri="{FF2B5EF4-FFF2-40B4-BE49-F238E27FC236}">
                <a16:creationId xmlns:a16="http://schemas.microsoft.com/office/drawing/2014/main" id="{B4F8977D-F756-98E7-683F-8797E7676DCD}"/>
              </a:ext>
            </a:extLst>
          </p:cNvPr>
          <p:cNvSpPr/>
          <p:nvPr/>
        </p:nvSpPr>
        <p:spPr>
          <a:xfrm rot="16200000" flipH="1">
            <a:off x="9719771" y="3288577"/>
            <a:ext cx="1137565" cy="218964"/>
          </a:xfrm>
          <a:prstGeom prst="bentUpArrow">
            <a:avLst>
              <a:gd name="adj1" fmla="val 15014"/>
              <a:gd name="adj2" fmla="val 28125"/>
              <a:gd name="adj3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Bent-Up 40">
            <a:extLst>
              <a:ext uri="{FF2B5EF4-FFF2-40B4-BE49-F238E27FC236}">
                <a16:creationId xmlns:a16="http://schemas.microsoft.com/office/drawing/2014/main" id="{E208CE35-0C96-B381-C705-657330199764}"/>
              </a:ext>
            </a:extLst>
          </p:cNvPr>
          <p:cNvSpPr/>
          <p:nvPr/>
        </p:nvSpPr>
        <p:spPr>
          <a:xfrm rot="16200000" flipH="1">
            <a:off x="10087339" y="2921581"/>
            <a:ext cx="862445" cy="661852"/>
          </a:xfrm>
          <a:prstGeom prst="bentUpArrow">
            <a:avLst>
              <a:gd name="adj1" fmla="val 6333"/>
              <a:gd name="adj2" fmla="val 10808"/>
              <a:gd name="adj3" fmla="val 16594"/>
            </a:avLst>
          </a:prstGeom>
          <a:solidFill>
            <a:srgbClr val="FF0000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36EEFC-1E84-ECB6-E45A-CA288B6EE468}"/>
              </a:ext>
            </a:extLst>
          </p:cNvPr>
          <p:cNvSpPr txBox="1"/>
          <p:nvPr/>
        </p:nvSpPr>
        <p:spPr>
          <a:xfrm>
            <a:off x="10819269" y="3111816"/>
            <a:ext cx="661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p + 1</a:t>
            </a:r>
            <a:endParaRPr lang="en-US" dirty="0"/>
          </a:p>
        </p:txBody>
      </p:sp>
      <p:sp>
        <p:nvSpPr>
          <p:cNvPr id="43" name="Arrow: Bent-Up 42">
            <a:extLst>
              <a:ext uri="{FF2B5EF4-FFF2-40B4-BE49-F238E27FC236}">
                <a16:creationId xmlns:a16="http://schemas.microsoft.com/office/drawing/2014/main" id="{4DF29E49-EABF-685C-1366-06AF18559554}"/>
              </a:ext>
            </a:extLst>
          </p:cNvPr>
          <p:cNvSpPr/>
          <p:nvPr/>
        </p:nvSpPr>
        <p:spPr>
          <a:xfrm rot="16200000" flipH="1">
            <a:off x="9386917" y="3613431"/>
            <a:ext cx="2033834" cy="449528"/>
          </a:xfrm>
          <a:prstGeom prst="bentUpArrow">
            <a:avLst>
              <a:gd name="adj1" fmla="val 9202"/>
              <a:gd name="adj2" fmla="val 15533"/>
              <a:gd name="adj3" fmla="val 26753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C89B98-B117-3D1E-A421-287FD1536392}"/>
              </a:ext>
            </a:extLst>
          </p:cNvPr>
          <p:cNvSpPr txBox="1"/>
          <p:nvPr/>
        </p:nvSpPr>
        <p:spPr>
          <a:xfrm>
            <a:off x="10584597" y="4128454"/>
            <a:ext cx="60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00B050"/>
                </a:solidFill>
              </a:rPr>
              <a:t>p - 3</a:t>
            </a:r>
            <a:endParaRPr lang="en-US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7BB3110-33EA-AFC7-D093-F0A83D8542AF}"/>
              </a:ext>
            </a:extLst>
          </p:cNvPr>
          <p:cNvSpPr/>
          <p:nvPr/>
        </p:nvSpPr>
        <p:spPr>
          <a:xfrm>
            <a:off x="9592559" y="5314764"/>
            <a:ext cx="1542770" cy="289124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0061FF18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B456BE-380E-BE8E-4080-C085F3455C48}"/>
              </a:ext>
            </a:extLst>
          </p:cNvPr>
          <p:cNvSpPr txBox="1"/>
          <p:nvPr/>
        </p:nvSpPr>
        <p:spPr>
          <a:xfrm>
            <a:off x="8504963" y="5312835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005A33E2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192DBA-5B01-3D1A-1569-3EEEB70F0C76}"/>
              </a:ext>
            </a:extLst>
          </p:cNvPr>
          <p:cNvSpPr txBox="1"/>
          <p:nvPr/>
        </p:nvSpPr>
        <p:spPr>
          <a:xfrm>
            <a:off x="9954609" y="5587948"/>
            <a:ext cx="1368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int* q;</a:t>
            </a:r>
            <a:endParaRPr lang="en-CA" dirty="0"/>
          </a:p>
        </p:txBody>
      </p:sp>
      <p:sp>
        <p:nvSpPr>
          <p:cNvPr id="48" name="Arrow: Bent-Up 47">
            <a:extLst>
              <a:ext uri="{FF2B5EF4-FFF2-40B4-BE49-F238E27FC236}">
                <a16:creationId xmlns:a16="http://schemas.microsoft.com/office/drawing/2014/main" id="{09F54B14-09DA-2F28-B251-932F1B471091}"/>
              </a:ext>
            </a:extLst>
          </p:cNvPr>
          <p:cNvSpPr/>
          <p:nvPr/>
        </p:nvSpPr>
        <p:spPr>
          <a:xfrm rot="16200000">
            <a:off x="9881157" y="4757134"/>
            <a:ext cx="855494" cy="218964"/>
          </a:xfrm>
          <a:prstGeom prst="bentUpArrow">
            <a:avLst>
              <a:gd name="adj1" fmla="val 15014"/>
              <a:gd name="adj2" fmla="val 28125"/>
              <a:gd name="adj3" fmla="val 50000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Left Brace 48">
            <a:extLst>
              <a:ext uri="{FF2B5EF4-FFF2-40B4-BE49-F238E27FC236}">
                <a16:creationId xmlns:a16="http://schemas.microsoft.com/office/drawing/2014/main" id="{C9CA8BF5-4EB2-32A0-B56C-38802039C999}"/>
              </a:ext>
            </a:extLst>
          </p:cNvPr>
          <p:cNvSpPr/>
          <p:nvPr/>
        </p:nvSpPr>
        <p:spPr>
          <a:xfrm>
            <a:off x="7532910" y="3927567"/>
            <a:ext cx="217207" cy="604576"/>
          </a:xfrm>
          <a:prstGeom prst="leftBrac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85BAF0-7B66-D99F-714D-A9A646C71C3A}"/>
              </a:ext>
            </a:extLst>
          </p:cNvPr>
          <p:cNvSpPr txBox="1"/>
          <p:nvPr/>
        </p:nvSpPr>
        <p:spPr>
          <a:xfrm>
            <a:off x="6962268" y="3692445"/>
            <a:ext cx="923215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0070C0"/>
                </a:solidFill>
              </a:rPr>
              <a:t>p – q</a:t>
            </a:r>
          </a:p>
          <a:p>
            <a:r>
              <a:rPr lang="en-CA" b="1" dirty="0">
                <a:solidFill>
                  <a:srgbClr val="0070C0"/>
                </a:solidFill>
              </a:rPr>
              <a:t>= </a:t>
            </a:r>
            <a:r>
              <a:rPr lang="en-CA" sz="2800" b="1" dirty="0">
                <a:solidFill>
                  <a:srgbClr val="0070C0"/>
                </a:solidFill>
              </a:rPr>
              <a:t>2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B6EC3D-B9B5-AE3B-2D87-10EB79CC5D0B}"/>
              </a:ext>
            </a:extLst>
          </p:cNvPr>
          <p:cNvSpPr txBox="1"/>
          <p:nvPr/>
        </p:nvSpPr>
        <p:spPr>
          <a:xfrm>
            <a:off x="7715882" y="4613670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chemeClr val="accent1"/>
                </a:solidFill>
              </a:rPr>
              <a:t>arr</a:t>
            </a:r>
            <a:r>
              <a:rPr lang="en-US" sz="1400" b="1" dirty="0">
                <a:solidFill>
                  <a:schemeClr val="accent1"/>
                </a:solidFill>
              </a:rPr>
              <a:t>[0]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2AC26E-C184-A9A6-81E1-2DD86662750F}"/>
              </a:ext>
            </a:extLst>
          </p:cNvPr>
          <p:cNvSpPr txBox="1"/>
          <p:nvPr/>
        </p:nvSpPr>
        <p:spPr>
          <a:xfrm>
            <a:off x="7711526" y="4339355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chemeClr val="accent1"/>
                </a:solidFill>
              </a:rPr>
              <a:t>arr</a:t>
            </a:r>
            <a:r>
              <a:rPr lang="en-US" sz="1400" b="1" dirty="0">
                <a:solidFill>
                  <a:schemeClr val="accent1"/>
                </a:solidFill>
              </a:rPr>
              <a:t>[1]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A7ADC8-F58A-B9BE-EB49-0E561C29EF09}"/>
              </a:ext>
            </a:extLst>
          </p:cNvPr>
          <p:cNvSpPr txBox="1"/>
          <p:nvPr/>
        </p:nvSpPr>
        <p:spPr>
          <a:xfrm>
            <a:off x="7716027" y="4051788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chemeClr val="accent1"/>
                </a:solidFill>
              </a:rPr>
              <a:t>arr</a:t>
            </a:r>
            <a:r>
              <a:rPr lang="en-US" sz="1400" b="1" dirty="0">
                <a:solidFill>
                  <a:schemeClr val="accent1"/>
                </a:solidFill>
              </a:rPr>
              <a:t>[2]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D5A4D4-4417-46F2-302B-C14DEDCB4592}"/>
              </a:ext>
            </a:extLst>
          </p:cNvPr>
          <p:cNvSpPr txBox="1"/>
          <p:nvPr/>
        </p:nvSpPr>
        <p:spPr>
          <a:xfrm>
            <a:off x="7716027" y="3773073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chemeClr val="accent1"/>
                </a:solidFill>
              </a:rPr>
              <a:t>arr</a:t>
            </a:r>
            <a:r>
              <a:rPr lang="en-US" sz="1400" b="1" dirty="0">
                <a:solidFill>
                  <a:schemeClr val="accent1"/>
                </a:solidFill>
              </a:rPr>
              <a:t>[3]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E12AD2-6CFE-B25A-47D5-D0F3D3DC7AFC}"/>
              </a:ext>
            </a:extLst>
          </p:cNvPr>
          <p:cNvSpPr txBox="1"/>
          <p:nvPr/>
        </p:nvSpPr>
        <p:spPr>
          <a:xfrm>
            <a:off x="7714111" y="3469172"/>
            <a:ext cx="627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chemeClr val="accent1"/>
                </a:solidFill>
              </a:rPr>
              <a:t>arr</a:t>
            </a:r>
            <a:r>
              <a:rPr lang="en-US" sz="1400" b="1" dirty="0">
                <a:solidFill>
                  <a:schemeClr val="accent1"/>
                </a:solidFill>
              </a:rPr>
              <a:t>[4]</a:t>
            </a:r>
            <a:endParaRPr lang="en-US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500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/>
      <p:bldP spid="47" grpId="0"/>
      <p:bldP spid="48" grpId="0" animBg="1"/>
      <p:bldP spid="49" grpId="0" animBg="1"/>
      <p:bldP spid="5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83845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 Arithmetic –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60D206-E3DF-4911-BD95-937910224DC7}"/>
                  </a:ext>
                </a:extLst>
              </p:cNvPr>
              <p:cNvSpPr txBox="1"/>
              <p:nvPr/>
            </p:nvSpPr>
            <p:spPr>
              <a:xfrm>
                <a:off x="832657" y="1563637"/>
                <a:ext cx="10526686" cy="43140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sz="2200" dirty="0"/>
                  <a:t>Consider the following code snippet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CA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CA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CA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CA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In more detail…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𝑎𝑃𝑡𝑟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𝑏𝑃𝑡𝑟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𝑣𝑎𝑙𝑢𝑒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𝑎𝑃𝑡𝑟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𝑣𝑎𝑙𝑢𝑒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𝑏𝑃𝑡𝑟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𝑠𝑖𝑧𝑒𝑜𝑓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CA" dirty="0"/>
              </a:p>
              <a:p>
                <a:pPr marL="1714500" lvl="3" indent="-342900">
                  <a:buFont typeface="Arial" panose="020B0604020202020204" pitchFamily="34" charset="0"/>
                  <a:buChar char="•"/>
                </a:pPr>
                <a:r>
                  <a:rPr lang="en-CA" sz="1400" b="1" dirty="0">
                    <a:solidFill>
                      <a:srgbClr val="FF0000"/>
                    </a:solidFill>
                    <a:latin typeface="Courier"/>
                  </a:rPr>
                  <a:t>T</a:t>
                </a:r>
                <a:r>
                  <a:rPr lang="en-CA" sz="1400" dirty="0"/>
                  <a:t> is the data type of the array elements</a:t>
                </a:r>
              </a:p>
              <a:p>
                <a:pPr marL="1714500" lvl="3" indent="-342900">
                  <a:buFont typeface="Arial" panose="020B0604020202020204" pitchFamily="34" charset="0"/>
                  <a:buChar char="•"/>
                </a:pPr>
                <a:r>
                  <a:rPr lang="en-CA" sz="1400" dirty="0" err="1">
                    <a:latin typeface="Courier"/>
                  </a:rPr>
                  <a:t>sizeof</a:t>
                </a:r>
                <a:r>
                  <a:rPr lang="en-CA" sz="1400" dirty="0">
                    <a:latin typeface="Courier"/>
                  </a:rPr>
                  <a:t>(</a:t>
                </a:r>
                <a:r>
                  <a:rPr lang="en-CA" sz="1400" b="1" dirty="0">
                    <a:solidFill>
                      <a:srgbClr val="FF0000"/>
                    </a:solidFill>
                    <a:latin typeface="Courier"/>
                  </a:rPr>
                  <a:t>T</a:t>
                </a:r>
                <a:r>
                  <a:rPr lang="en-CA" sz="1400" dirty="0">
                    <a:latin typeface="Courier"/>
                  </a:rPr>
                  <a:t>)</a:t>
                </a:r>
                <a:r>
                  <a:rPr lang="en-CA" sz="1400" dirty="0"/>
                  <a:t> returns </a:t>
                </a:r>
                <a:r>
                  <a:rPr lang="en-CA" sz="1400" b="1" u="sng" dirty="0"/>
                  <a:t>number of bytes</a:t>
                </a:r>
                <a:r>
                  <a:rPr lang="en-CA" sz="1400" dirty="0"/>
                  <a:t> of a variable of type </a:t>
                </a:r>
                <a:r>
                  <a:rPr lang="en-CA" sz="1400" b="1" dirty="0">
                    <a:solidFill>
                      <a:srgbClr val="FF0000"/>
                    </a:solidFill>
                    <a:latin typeface="Courier"/>
                  </a:rPr>
                  <a:t>T</a:t>
                </a:r>
                <a:br>
                  <a:rPr lang="en-CA" sz="1400" b="1" dirty="0">
                    <a:solidFill>
                      <a:srgbClr val="FF0000"/>
                    </a:solidFill>
                    <a:latin typeface="Courier"/>
                  </a:rPr>
                </a:br>
                <a:endParaRPr lang="en-CA" sz="1400" b="1" dirty="0">
                  <a:solidFill>
                    <a:srgbClr val="FF0000"/>
                  </a:solidFill>
                  <a:latin typeface="Courier"/>
                </a:endParaRP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𝑎𝑃𝑡𝑟</m:t>
                    </m:r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=&amp;</m:t>
                    </m:r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= 0</m:t>
                    </m:r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61</m:t>
                    </m:r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𝐹𝐹</m:t>
                    </m:r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20 </m:t>
                    </m:r>
                    <m:d>
                      <m:dPr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6,422,304</m:t>
                        </m:r>
                        <m:r>
                          <a:rPr lang="en-CA" sz="1600" b="0" i="1" baseline="-2500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endParaRPr lang="en-CA" sz="1600" b="0" dirty="0"/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CA" sz="1600" i="1">
                        <a:latin typeface="Cambria Math" panose="02040503050406030204" pitchFamily="18" charset="0"/>
                      </a:rPr>
                      <m:t>𝑃𝑡𝑟</m:t>
                    </m:r>
                    <m:r>
                      <a:rPr lang="en-CA" sz="1600" i="1">
                        <a:latin typeface="Cambria Math" panose="02040503050406030204" pitchFamily="18" charset="0"/>
                      </a:rPr>
                      <m:t>=&amp;</m:t>
                    </m:r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CA" sz="16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CA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sz="1600" i="1">
                        <a:latin typeface="Cambria Math" panose="02040503050406030204" pitchFamily="18" charset="0"/>
                      </a:rPr>
                      <m:t>61</m:t>
                    </m:r>
                    <m:r>
                      <a:rPr lang="en-CA" sz="1600" i="1">
                        <a:latin typeface="Cambria Math" panose="02040503050406030204" pitchFamily="18" charset="0"/>
                      </a:rPr>
                      <m:t>𝐹𝐹</m:t>
                    </m:r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CA" sz="1600" i="1">
                        <a:latin typeface="Cambria Math" panose="02040503050406030204" pitchFamily="18" charset="0"/>
                      </a:rPr>
                      <m:t>0 </m:t>
                    </m:r>
                    <m:d>
                      <m:dPr>
                        <m:ctrlPr>
                          <a:rPr lang="en-CA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6,422,</m:t>
                        </m:r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288</m:t>
                        </m:r>
                        <m:r>
                          <a:rPr lang="en-CA" sz="1600" i="1" baseline="-250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endParaRPr lang="en-CA" sz="1600" baseline="-25000" dirty="0"/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𝑠𝑖𝑧𝑒𝑜𝑓</m:t>
                    </m:r>
                    <m:d>
                      <m:dPr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𝑓𝑙𝑜𝑎𝑡</m:t>
                        </m:r>
                      </m:e>
                    </m:d>
                    <m:r>
                      <a:rPr lang="en-CA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4 </m:t>
                    </m:r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𝑏𝑦𝑡𝑒𝑠</m:t>
                    </m:r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32 </m:t>
                        </m:r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e>
                    </m:d>
                  </m:oMath>
                </a14:m>
                <a:endParaRPr lang="en-CA" sz="1600" b="0" dirty="0"/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endParaRPr lang="en-CA" sz="1600" b="0" dirty="0"/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CA" sz="2000" i="1">
                        <a:latin typeface="Cambria Math" panose="02040503050406030204" pitchFamily="18" charset="0"/>
                      </a:rPr>
                      <m:t>𝑎𝑃𝑡𝑟</m:t>
                    </m:r>
                    <m:r>
                      <a:rPr lang="en-CA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sz="2000" i="1">
                        <a:latin typeface="Cambria Math" panose="02040503050406030204" pitchFamily="18" charset="0"/>
                      </a:rPr>
                      <m:t>𝑏𝑃𝑡𝑟</m:t>
                    </m:r>
                    <m:r>
                      <a:rPr lang="en-CA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6,422,304</m:t>
                        </m:r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6,422,288</m:t>
                        </m:r>
                      </m:num>
                      <m:den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60D206-E3DF-4911-BD95-937910224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657" y="1563637"/>
                <a:ext cx="10526686" cy="4314066"/>
              </a:xfrm>
              <a:prstGeom prst="rect">
                <a:avLst/>
              </a:prstGeom>
              <a:blipFill>
                <a:blip r:embed="rId3"/>
                <a:stretch>
                  <a:fillRect l="-695" t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</a:t>
            </a:fld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F091AB-C814-D9EF-5683-A38E8B92FDD3}"/>
              </a:ext>
            </a:extLst>
          </p:cNvPr>
          <p:cNvSpPr/>
          <p:nvPr/>
        </p:nvSpPr>
        <p:spPr>
          <a:xfrm>
            <a:off x="8758760" y="2640026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6.0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C41E65-7F05-8B91-F2EB-6719A0E936EB}"/>
              </a:ext>
            </a:extLst>
          </p:cNvPr>
          <p:cNvSpPr/>
          <p:nvPr/>
        </p:nvSpPr>
        <p:spPr>
          <a:xfrm>
            <a:off x="8758760" y="2358548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7.0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F7B920-AFC5-11A9-D948-79D9D5A6E8E8}"/>
              </a:ext>
            </a:extLst>
          </p:cNvPr>
          <p:cNvSpPr/>
          <p:nvPr/>
        </p:nvSpPr>
        <p:spPr>
          <a:xfrm>
            <a:off x="8758760" y="2931031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5.0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B1D399-FB79-D2EC-1852-A7F4D99A3D04}"/>
              </a:ext>
            </a:extLst>
          </p:cNvPr>
          <p:cNvSpPr txBox="1"/>
          <p:nvPr/>
        </p:nvSpPr>
        <p:spPr>
          <a:xfrm>
            <a:off x="7686876" y="293801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8295FF-1C90-B54E-F333-E023E3EEBC60}"/>
              </a:ext>
            </a:extLst>
          </p:cNvPr>
          <p:cNvSpPr txBox="1"/>
          <p:nvPr/>
        </p:nvSpPr>
        <p:spPr>
          <a:xfrm>
            <a:off x="7683551" y="2655230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67F1AD-65DB-D1F7-4F48-F5B42A127F86}"/>
              </a:ext>
            </a:extLst>
          </p:cNvPr>
          <p:cNvSpPr txBox="1"/>
          <p:nvPr/>
        </p:nvSpPr>
        <p:spPr>
          <a:xfrm>
            <a:off x="7683551" y="2355603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E30DD6F-6C72-F3B3-DBC7-96C4741F2910}"/>
              </a:ext>
            </a:extLst>
          </p:cNvPr>
          <p:cNvSpPr/>
          <p:nvPr/>
        </p:nvSpPr>
        <p:spPr>
          <a:xfrm>
            <a:off x="8767324" y="3501343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3.0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0182419-8AB2-78EC-0B32-0A62A6F6D9BA}"/>
              </a:ext>
            </a:extLst>
          </p:cNvPr>
          <p:cNvSpPr/>
          <p:nvPr/>
        </p:nvSpPr>
        <p:spPr>
          <a:xfrm>
            <a:off x="8767324" y="3219865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4.0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C82B8E-5B25-DC37-B741-50FE55A1A270}"/>
              </a:ext>
            </a:extLst>
          </p:cNvPr>
          <p:cNvSpPr txBox="1"/>
          <p:nvPr/>
        </p:nvSpPr>
        <p:spPr>
          <a:xfrm>
            <a:off x="7692115" y="3493352"/>
            <a:ext cx="1165596" cy="312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0061FF14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26BDF7-D778-650D-4DF7-FA372EB186B5}"/>
              </a:ext>
            </a:extLst>
          </p:cNvPr>
          <p:cNvSpPr txBox="1"/>
          <p:nvPr/>
        </p:nvSpPr>
        <p:spPr>
          <a:xfrm>
            <a:off x="7692115" y="321692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8009700-D57A-AD67-4ABD-7BFF8A67C964}"/>
              </a:ext>
            </a:extLst>
          </p:cNvPr>
          <p:cNvSpPr/>
          <p:nvPr/>
        </p:nvSpPr>
        <p:spPr>
          <a:xfrm>
            <a:off x="9057968" y="1405178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778B4F-BA62-2189-CB23-0B6EBC2D48B2}"/>
              </a:ext>
            </a:extLst>
          </p:cNvPr>
          <p:cNvSpPr txBox="1"/>
          <p:nvPr/>
        </p:nvSpPr>
        <p:spPr>
          <a:xfrm>
            <a:off x="7970372" y="1403249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00732011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0" name="Arrow: Bent-Up 39">
            <a:extLst>
              <a:ext uri="{FF2B5EF4-FFF2-40B4-BE49-F238E27FC236}">
                <a16:creationId xmlns:a16="http://schemas.microsoft.com/office/drawing/2014/main" id="{B4F8977D-F756-98E7-683F-8797E7676DCD}"/>
              </a:ext>
            </a:extLst>
          </p:cNvPr>
          <p:cNvSpPr/>
          <p:nvPr/>
        </p:nvSpPr>
        <p:spPr>
          <a:xfrm rot="16200000" flipH="1">
            <a:off x="9175107" y="2156810"/>
            <a:ext cx="1127980" cy="218964"/>
          </a:xfrm>
          <a:prstGeom prst="bentUpArrow">
            <a:avLst>
              <a:gd name="adj1" fmla="val 15014"/>
              <a:gd name="adj2" fmla="val 28125"/>
              <a:gd name="adj3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C74B560-C8CE-8709-2EE7-712B41A73142}"/>
              </a:ext>
            </a:extLst>
          </p:cNvPr>
          <p:cNvSpPr/>
          <p:nvPr/>
        </p:nvSpPr>
        <p:spPr>
          <a:xfrm>
            <a:off x="8771605" y="3790177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2.0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E5918D-AC68-F7A0-6CA6-2FB405C4B028}"/>
              </a:ext>
            </a:extLst>
          </p:cNvPr>
          <p:cNvSpPr txBox="1"/>
          <p:nvPr/>
        </p:nvSpPr>
        <p:spPr>
          <a:xfrm>
            <a:off x="7699721" y="3797161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2D4CF4-06A9-63C9-72A4-EBFD8012C162}"/>
              </a:ext>
            </a:extLst>
          </p:cNvPr>
          <p:cNvSpPr/>
          <p:nvPr/>
        </p:nvSpPr>
        <p:spPr>
          <a:xfrm>
            <a:off x="8780169" y="4360489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42568B8-F075-469E-8F44-E91AEF808861}"/>
              </a:ext>
            </a:extLst>
          </p:cNvPr>
          <p:cNvSpPr/>
          <p:nvPr/>
        </p:nvSpPr>
        <p:spPr>
          <a:xfrm>
            <a:off x="8780169" y="4079011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72B852-3E1F-5574-27D5-5816775A403F}"/>
              </a:ext>
            </a:extLst>
          </p:cNvPr>
          <p:cNvSpPr txBox="1"/>
          <p:nvPr/>
        </p:nvSpPr>
        <p:spPr>
          <a:xfrm>
            <a:off x="7704960" y="4352498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0061FF08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D2DA28-D4B1-C9A9-0097-2BA3369F204B}"/>
              </a:ext>
            </a:extLst>
          </p:cNvPr>
          <p:cNvSpPr txBox="1"/>
          <p:nvPr/>
        </p:nvSpPr>
        <p:spPr>
          <a:xfrm>
            <a:off x="7704960" y="4076066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0061FF0C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C398E6-5095-EF86-3BEB-880081C06462}"/>
              </a:ext>
            </a:extLst>
          </p:cNvPr>
          <p:cNvSpPr txBox="1"/>
          <p:nvPr/>
        </p:nvSpPr>
        <p:spPr>
          <a:xfrm>
            <a:off x="1720639" y="2068892"/>
            <a:ext cx="5246563" cy="830997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a[8] = {0.0, 1.0, 2.0, 3.0, 4.0, 5.0, 6.0, 7.0};</a:t>
            </a: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&amp;a[6];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Assume 32-bit (4 bytes) float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&amp;a[2];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Assume 32-bit (4 bytes) float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152F05-6848-6206-0BC0-44F1CAE69A81}"/>
              </a:ext>
            </a:extLst>
          </p:cNvPr>
          <p:cNvSpPr txBox="1"/>
          <p:nvPr/>
        </p:nvSpPr>
        <p:spPr>
          <a:xfrm>
            <a:off x="8983715" y="4318894"/>
            <a:ext cx="509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0.0</a:t>
            </a:r>
            <a:endParaRPr 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63E2D1-D5AC-9399-24BB-B8FA0C964EE1}"/>
              </a:ext>
            </a:extLst>
          </p:cNvPr>
          <p:cNvSpPr txBox="1"/>
          <p:nvPr/>
        </p:nvSpPr>
        <p:spPr>
          <a:xfrm>
            <a:off x="9105593" y="1372127"/>
            <a:ext cx="1459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0061FF20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139F2D-81A0-3F0C-0DBA-94464E4B09D5}"/>
              </a:ext>
            </a:extLst>
          </p:cNvPr>
          <p:cNvSpPr txBox="1"/>
          <p:nvPr/>
        </p:nvSpPr>
        <p:spPr>
          <a:xfrm>
            <a:off x="8956610" y="4036874"/>
            <a:ext cx="50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1</a:t>
            </a:r>
            <a:r>
              <a:rPr lang="en-US" b="1" dirty="0">
                <a:solidFill>
                  <a:schemeClr val="tx1"/>
                </a:solidFill>
              </a:rPr>
              <a:t>.0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1AE2A44-47C9-EF59-0D23-ED19EC5B5207}"/>
              </a:ext>
            </a:extLst>
          </p:cNvPr>
          <p:cNvSpPr/>
          <p:nvPr/>
        </p:nvSpPr>
        <p:spPr>
          <a:xfrm>
            <a:off x="9038166" y="5268811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9EA589-7EDD-9A83-AD18-48612E469503}"/>
              </a:ext>
            </a:extLst>
          </p:cNvPr>
          <p:cNvSpPr txBox="1"/>
          <p:nvPr/>
        </p:nvSpPr>
        <p:spPr>
          <a:xfrm>
            <a:off x="7950570" y="5266882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004A0E33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5B9600-44F6-19D4-DCE5-1C5AC2319379}"/>
              </a:ext>
            </a:extLst>
          </p:cNvPr>
          <p:cNvSpPr txBox="1"/>
          <p:nvPr/>
        </p:nvSpPr>
        <p:spPr>
          <a:xfrm>
            <a:off x="9085791" y="5569289"/>
            <a:ext cx="1605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float</a:t>
            </a:r>
            <a:r>
              <a:rPr lang="en-US" b="1" dirty="0">
                <a:solidFill>
                  <a:schemeClr val="tx1"/>
                </a:solidFill>
              </a:rPr>
              <a:t>* </a:t>
            </a:r>
            <a:r>
              <a:rPr lang="en-US" b="1" dirty="0" err="1"/>
              <a:t>b</a:t>
            </a:r>
            <a:r>
              <a:rPr lang="en-US" b="1" dirty="0" err="1">
                <a:solidFill>
                  <a:schemeClr val="tx1"/>
                </a:solidFill>
              </a:rPr>
              <a:t>Ptr</a:t>
            </a:r>
            <a:r>
              <a:rPr lang="en-US" b="1" dirty="0">
                <a:solidFill>
                  <a:schemeClr val="tx1"/>
                </a:solidFill>
              </a:rPr>
              <a:t>;</a:t>
            </a:r>
            <a:endParaRPr lang="en-CA" dirty="0"/>
          </a:p>
        </p:txBody>
      </p:sp>
      <p:sp>
        <p:nvSpPr>
          <p:cNvPr id="45" name="Arrow: Bent-Up 44">
            <a:extLst>
              <a:ext uri="{FF2B5EF4-FFF2-40B4-BE49-F238E27FC236}">
                <a16:creationId xmlns:a16="http://schemas.microsoft.com/office/drawing/2014/main" id="{19EFD072-7043-E4C9-FFD0-052D7802B546}"/>
              </a:ext>
            </a:extLst>
          </p:cNvPr>
          <p:cNvSpPr/>
          <p:nvPr/>
        </p:nvSpPr>
        <p:spPr>
          <a:xfrm rot="16200000">
            <a:off x="9036114" y="4467006"/>
            <a:ext cx="1384932" cy="218964"/>
          </a:xfrm>
          <a:prstGeom prst="bentUpArrow">
            <a:avLst>
              <a:gd name="adj1" fmla="val 15014"/>
              <a:gd name="adj2" fmla="val 28125"/>
              <a:gd name="adj3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3E82B3-9E15-9722-9244-7BAC6DF6945D}"/>
              </a:ext>
            </a:extLst>
          </p:cNvPr>
          <p:cNvSpPr txBox="1"/>
          <p:nvPr/>
        </p:nvSpPr>
        <p:spPr>
          <a:xfrm>
            <a:off x="9085791" y="5235760"/>
            <a:ext cx="1459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0061FF10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7" name="Left Brace 46">
            <a:extLst>
              <a:ext uri="{FF2B5EF4-FFF2-40B4-BE49-F238E27FC236}">
                <a16:creationId xmlns:a16="http://schemas.microsoft.com/office/drawing/2014/main" id="{53AA166A-9F4F-C46F-A5CF-DFCDE5206A38}"/>
              </a:ext>
            </a:extLst>
          </p:cNvPr>
          <p:cNvSpPr/>
          <p:nvPr/>
        </p:nvSpPr>
        <p:spPr>
          <a:xfrm flipH="1">
            <a:off x="9927681" y="2763237"/>
            <a:ext cx="355086" cy="986339"/>
          </a:xfrm>
          <a:prstGeom prst="leftBrac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2B20DF-7FE4-04D8-5E4B-C91C53E92C02}"/>
              </a:ext>
            </a:extLst>
          </p:cNvPr>
          <p:cNvSpPr txBox="1"/>
          <p:nvPr/>
        </p:nvSpPr>
        <p:spPr>
          <a:xfrm>
            <a:off x="10299005" y="2679195"/>
            <a:ext cx="126368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 err="1">
                <a:solidFill>
                  <a:srgbClr val="0070C0"/>
                </a:solidFill>
              </a:rPr>
              <a:t>aPtr</a:t>
            </a:r>
            <a:r>
              <a:rPr lang="en-CA" b="1" dirty="0">
                <a:solidFill>
                  <a:srgbClr val="0070C0"/>
                </a:solidFill>
              </a:rPr>
              <a:t> – </a:t>
            </a:r>
            <a:r>
              <a:rPr lang="en-CA" b="1" dirty="0" err="1">
                <a:solidFill>
                  <a:srgbClr val="0070C0"/>
                </a:solidFill>
              </a:rPr>
              <a:t>bPtr</a:t>
            </a:r>
            <a:endParaRPr lang="en-CA" b="1" dirty="0">
              <a:solidFill>
                <a:srgbClr val="0070C0"/>
              </a:solidFill>
            </a:endParaRPr>
          </a:p>
          <a:p>
            <a:r>
              <a:rPr lang="en-CA" b="1" dirty="0">
                <a:solidFill>
                  <a:srgbClr val="0070C0"/>
                </a:solidFill>
              </a:rPr>
              <a:t>= </a:t>
            </a:r>
            <a:r>
              <a:rPr lang="en-CA" sz="2800" b="1" dirty="0">
                <a:solidFill>
                  <a:srgbClr val="0070C0"/>
                </a:solidFill>
              </a:rPr>
              <a:t>4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C0A35D-3D88-1FD5-D891-0A9B9BC858C5}"/>
              </a:ext>
            </a:extLst>
          </p:cNvPr>
          <p:cNvSpPr txBox="1"/>
          <p:nvPr/>
        </p:nvSpPr>
        <p:spPr>
          <a:xfrm>
            <a:off x="8676418" y="1973470"/>
            <a:ext cx="1368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float a[8]</a:t>
            </a:r>
            <a:endParaRPr lang="en-CA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BE3B80-CEA4-2BAB-223D-DD3E8A3960B6}"/>
              </a:ext>
            </a:extLst>
          </p:cNvPr>
          <p:cNvSpPr txBox="1"/>
          <p:nvPr/>
        </p:nvSpPr>
        <p:spPr>
          <a:xfrm>
            <a:off x="9235621" y="1051335"/>
            <a:ext cx="1605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float* </a:t>
            </a:r>
            <a:r>
              <a:rPr lang="en-US" b="1" dirty="0" err="1">
                <a:solidFill>
                  <a:schemeClr val="tx1"/>
                </a:solidFill>
              </a:rPr>
              <a:t>aPtr</a:t>
            </a:r>
            <a:r>
              <a:rPr lang="en-US" b="1" dirty="0">
                <a:solidFill>
                  <a:schemeClr val="tx1"/>
                </a:solidFill>
              </a:rPr>
              <a:t>;</a:t>
            </a:r>
            <a:endParaRPr lang="en-CA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03720B-5DF7-F683-929F-8FFBD0C418DA}"/>
              </a:ext>
            </a:extLst>
          </p:cNvPr>
          <p:cNvSpPr txBox="1"/>
          <p:nvPr/>
        </p:nvSpPr>
        <p:spPr>
          <a:xfrm>
            <a:off x="7345860" y="4343789"/>
            <a:ext cx="518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a[0]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929F6C-E228-5E3D-6C7A-05462B8F446E}"/>
              </a:ext>
            </a:extLst>
          </p:cNvPr>
          <p:cNvSpPr txBox="1"/>
          <p:nvPr/>
        </p:nvSpPr>
        <p:spPr>
          <a:xfrm>
            <a:off x="7341504" y="4069474"/>
            <a:ext cx="518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a[1]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6C981E-4402-D278-6D3B-FF09BCA4765D}"/>
              </a:ext>
            </a:extLst>
          </p:cNvPr>
          <p:cNvSpPr txBox="1"/>
          <p:nvPr/>
        </p:nvSpPr>
        <p:spPr>
          <a:xfrm>
            <a:off x="7346005" y="3781907"/>
            <a:ext cx="518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a[2]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3106EE-21D6-A440-2689-98A2F5C39BD5}"/>
              </a:ext>
            </a:extLst>
          </p:cNvPr>
          <p:cNvSpPr txBox="1"/>
          <p:nvPr/>
        </p:nvSpPr>
        <p:spPr>
          <a:xfrm>
            <a:off x="7346005" y="3503192"/>
            <a:ext cx="518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a[3]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631F8F-A3DD-DDAE-EEAB-430A25259292}"/>
              </a:ext>
            </a:extLst>
          </p:cNvPr>
          <p:cNvSpPr txBox="1"/>
          <p:nvPr/>
        </p:nvSpPr>
        <p:spPr>
          <a:xfrm>
            <a:off x="7344089" y="3199291"/>
            <a:ext cx="518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a[4]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30CA34-F497-06C4-B6F1-0F8CADAAF514}"/>
              </a:ext>
            </a:extLst>
          </p:cNvPr>
          <p:cNvSpPr txBox="1"/>
          <p:nvPr/>
        </p:nvSpPr>
        <p:spPr>
          <a:xfrm>
            <a:off x="7341845" y="2929785"/>
            <a:ext cx="518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a[5]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D660A3-CF8A-A143-A6D9-C1F6D658CD7B}"/>
              </a:ext>
            </a:extLst>
          </p:cNvPr>
          <p:cNvSpPr txBox="1"/>
          <p:nvPr/>
        </p:nvSpPr>
        <p:spPr>
          <a:xfrm>
            <a:off x="7337489" y="2655470"/>
            <a:ext cx="518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a[6]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282319A-48AC-83B5-7BD9-1EE5B51B76F5}"/>
              </a:ext>
            </a:extLst>
          </p:cNvPr>
          <p:cNvSpPr txBox="1"/>
          <p:nvPr/>
        </p:nvSpPr>
        <p:spPr>
          <a:xfrm>
            <a:off x="7341990" y="2367903"/>
            <a:ext cx="518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a[7]</a:t>
            </a:r>
            <a:endParaRPr lang="en-US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80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2000" fill="hold"/>
                                        <p:tgtEl>
                                          <p:spTgt spid="4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Pointers and Arrays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432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968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CA" sz="4400" b="1" dirty="0" err="1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eview</a:t>
            </a:r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C Array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Recall – Name of an array is the address of the first element of the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FF"/>
                </a:solidFill>
              </a:rPr>
              <a:t>Therefore, the name of an array is of pointer type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However, </a:t>
            </a:r>
            <a:r>
              <a:rPr lang="en-CA" b="1" u="sng" dirty="0"/>
              <a:t>NOT</a:t>
            </a:r>
            <a:r>
              <a:rPr lang="en-CA" dirty="0"/>
              <a:t> a pointer variable, but a </a:t>
            </a:r>
            <a:r>
              <a:rPr lang="en-CA" b="1" i="1" dirty="0"/>
              <a:t>constant pointer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i.e. the address corresponding to the array name </a:t>
            </a:r>
            <a:r>
              <a:rPr lang="en-CA" b="1" u="sng" dirty="0"/>
              <a:t>CANNOT</a:t>
            </a:r>
            <a:r>
              <a:rPr lang="en-CA" dirty="0"/>
              <a:t> be modified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As a result, the dereferencing operator can be applied on array names!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dirty="0">
                <a:latin typeface="Courier"/>
              </a:rPr>
              <a:t> </a:t>
            </a:r>
            <a:r>
              <a:rPr lang="en-CA" dirty="0" err="1">
                <a:latin typeface="Courier"/>
              </a:rPr>
              <a:t>numBuffer</a:t>
            </a:r>
            <a:r>
              <a:rPr lang="en-CA" dirty="0">
                <a:latin typeface="Courier"/>
              </a:rPr>
              <a:t>[4];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 err="1">
                <a:latin typeface="Courier"/>
              </a:rPr>
              <a:t>numBuffer</a:t>
            </a:r>
            <a:r>
              <a:rPr lang="en-CA" dirty="0"/>
              <a:t> is a pointer to </a:t>
            </a:r>
            <a:r>
              <a:rPr lang="en-CA" dirty="0" err="1">
                <a:latin typeface="Courier"/>
              </a:rPr>
              <a:t>numBuffer</a:t>
            </a:r>
            <a:r>
              <a:rPr lang="en-CA" dirty="0">
                <a:latin typeface="Courier"/>
              </a:rPr>
              <a:t>[0]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 err="1">
                <a:latin typeface="Courier"/>
              </a:rPr>
              <a:t>numBuffer+i</a:t>
            </a:r>
            <a:r>
              <a:rPr lang="en-CA" dirty="0"/>
              <a:t> is a pointer to </a:t>
            </a:r>
            <a:r>
              <a:rPr lang="en-CA" dirty="0" err="1">
                <a:latin typeface="Courier"/>
              </a:rPr>
              <a:t>numBuffer</a:t>
            </a:r>
            <a:r>
              <a:rPr lang="en-CA" dirty="0">
                <a:latin typeface="Courier"/>
              </a:rPr>
              <a:t>[</a:t>
            </a:r>
            <a:r>
              <a:rPr lang="en-CA" dirty="0" err="1">
                <a:latin typeface="Courier"/>
              </a:rPr>
              <a:t>i</a:t>
            </a:r>
            <a:r>
              <a:rPr lang="en-CA" dirty="0">
                <a:latin typeface="Courier"/>
              </a:rPr>
              <a:t>]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sz="2000" b="1" dirty="0">
                <a:solidFill>
                  <a:srgbClr val="0000FF"/>
                </a:solidFill>
                <a:latin typeface="Courier"/>
              </a:rPr>
              <a:t>*(</a:t>
            </a:r>
            <a:r>
              <a:rPr lang="en-CA" sz="2000" b="1" dirty="0" err="1">
                <a:solidFill>
                  <a:srgbClr val="0000FF"/>
                </a:solidFill>
                <a:latin typeface="Courier"/>
              </a:rPr>
              <a:t>numBuffer+i</a:t>
            </a:r>
            <a:r>
              <a:rPr lang="en-CA" sz="2000" b="1" dirty="0">
                <a:solidFill>
                  <a:srgbClr val="0000FF"/>
                </a:solidFill>
                <a:latin typeface="Courier"/>
              </a:rPr>
              <a:t>)</a:t>
            </a:r>
            <a:r>
              <a:rPr lang="en-CA" sz="2000" b="1" dirty="0">
                <a:solidFill>
                  <a:srgbClr val="0000FF"/>
                </a:solidFill>
              </a:rPr>
              <a:t> is equivalent to </a:t>
            </a:r>
            <a:r>
              <a:rPr lang="en-CA" sz="2000" b="1" dirty="0" err="1">
                <a:solidFill>
                  <a:srgbClr val="0000FF"/>
                </a:solidFill>
                <a:latin typeface="Courier"/>
              </a:rPr>
              <a:t>numBuffer</a:t>
            </a:r>
            <a:r>
              <a:rPr lang="en-CA" sz="2000" b="1" dirty="0">
                <a:solidFill>
                  <a:srgbClr val="0000FF"/>
                </a:solidFill>
                <a:latin typeface="Courier"/>
              </a:rPr>
              <a:t>[</a:t>
            </a:r>
            <a:r>
              <a:rPr lang="en-CA" sz="2000" b="1" dirty="0" err="1">
                <a:solidFill>
                  <a:srgbClr val="0000FF"/>
                </a:solidFill>
                <a:latin typeface="Courier"/>
              </a:rPr>
              <a:t>i</a:t>
            </a:r>
            <a:r>
              <a:rPr lang="en-CA" sz="2000" b="1" dirty="0">
                <a:solidFill>
                  <a:srgbClr val="0000FF"/>
                </a:solidFill>
                <a:latin typeface="Courier"/>
              </a:rPr>
              <a:t>]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CA" dirty="0">
              <a:latin typeface="Courier"/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CA" dirty="0">
              <a:latin typeface="Couri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8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4E4B1C-CB77-2983-EB64-48271BE26F68}"/>
              </a:ext>
            </a:extLst>
          </p:cNvPr>
          <p:cNvSpPr txBox="1"/>
          <p:nvPr/>
        </p:nvSpPr>
        <p:spPr>
          <a:xfrm>
            <a:off x="2578899" y="2967335"/>
            <a:ext cx="3624896" cy="92333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a[6];</a:t>
            </a:r>
          </a:p>
          <a:p>
            <a:r>
              <a:rPr lang="en-US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*p = &amp;a[1];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= p;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Syntax Error!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2A76C1-C054-AAD7-735D-F337F017E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225" y="3016492"/>
            <a:ext cx="2986118" cy="251120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D029D0-0BF7-99D8-8197-2FAC71927DBA}"/>
              </a:ext>
            </a:extLst>
          </p:cNvPr>
          <p:cNvSpPr/>
          <p:nvPr/>
        </p:nvSpPr>
        <p:spPr>
          <a:xfrm>
            <a:off x="10071246" y="246308"/>
            <a:ext cx="186148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L8Ex3-PtrArray.c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652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7" presetClass="emph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968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Applying Pointer Arithmetic to Arrays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Introducing – Pointer-Offset Form for Array Element Access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Given the following code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After </a:t>
            </a:r>
            <a:r>
              <a:rPr lang="en-CA" b="1" dirty="0">
                <a:latin typeface="Courier"/>
              </a:rPr>
              <a:t>p</a:t>
            </a:r>
            <a:r>
              <a:rPr lang="en-CA" dirty="0"/>
              <a:t> is assigned the value of </a:t>
            </a:r>
            <a:r>
              <a:rPr lang="en-CA" b="1" dirty="0">
                <a:latin typeface="Courier"/>
              </a:rPr>
              <a:t>a</a:t>
            </a:r>
            <a:r>
              <a:rPr lang="en-CA" dirty="0"/>
              <a:t>, </a:t>
            </a:r>
            <a:r>
              <a:rPr lang="en-CA" b="1" dirty="0">
                <a:latin typeface="Courier"/>
              </a:rPr>
              <a:t>p</a:t>
            </a:r>
            <a:r>
              <a:rPr lang="en-CA" dirty="0"/>
              <a:t> can be regarded as another name for array </a:t>
            </a:r>
            <a:r>
              <a:rPr lang="en-CA" b="1" dirty="0">
                <a:latin typeface="Courier"/>
              </a:rPr>
              <a:t>a</a:t>
            </a:r>
            <a:r>
              <a:rPr lang="en-CA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Thus, we have </a:t>
            </a:r>
            <a:r>
              <a:rPr lang="en-CA" b="1" dirty="0">
                <a:solidFill>
                  <a:srgbClr val="0000FF"/>
                </a:solidFill>
              </a:rPr>
              <a:t>four possibilities </a:t>
            </a:r>
            <a:r>
              <a:rPr lang="en-CA" dirty="0"/>
              <a:t>to refer to element </a:t>
            </a:r>
            <a:r>
              <a:rPr lang="en-CA" b="1" dirty="0">
                <a:latin typeface="Courier"/>
              </a:rPr>
              <a:t>a[</a:t>
            </a:r>
            <a:r>
              <a:rPr lang="en-CA" b="1" dirty="0" err="1">
                <a:latin typeface="Courier"/>
              </a:rPr>
              <a:t>i</a:t>
            </a:r>
            <a:r>
              <a:rPr lang="en-CA" b="1" dirty="0">
                <a:latin typeface="Courier"/>
              </a:rPr>
              <a:t>]</a:t>
            </a:r>
            <a:r>
              <a:rPr lang="en-CA" dirty="0"/>
              <a:t>.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CA" dirty="0"/>
              <a:t>Array-Index(Subscript) Notation	</a:t>
            </a:r>
            <a:r>
              <a:rPr lang="en-CA" b="1" dirty="0">
                <a:latin typeface="Courier"/>
              </a:rPr>
              <a:t>a[</a:t>
            </a:r>
            <a:r>
              <a:rPr lang="en-CA" b="1" dirty="0" err="1">
                <a:latin typeface="Courier"/>
              </a:rPr>
              <a:t>i</a:t>
            </a:r>
            <a:r>
              <a:rPr lang="en-CA" b="1" dirty="0">
                <a:latin typeface="Courier"/>
              </a:rPr>
              <a:t>]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CA" dirty="0"/>
              <a:t>Pointer-Index(Subscript) Notation	</a:t>
            </a:r>
            <a:r>
              <a:rPr lang="en-CA" b="1" dirty="0">
                <a:latin typeface="Courier"/>
              </a:rPr>
              <a:t>p[</a:t>
            </a:r>
            <a:r>
              <a:rPr lang="en-CA" b="1" dirty="0" err="1">
                <a:latin typeface="Courier"/>
              </a:rPr>
              <a:t>i</a:t>
            </a:r>
            <a:r>
              <a:rPr lang="en-CA" b="1" dirty="0">
                <a:latin typeface="Courier"/>
              </a:rPr>
              <a:t>]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CA" dirty="0"/>
              <a:t>Pointer-Offset Notation		</a:t>
            </a:r>
            <a:r>
              <a:rPr lang="en-CA" b="1" dirty="0">
                <a:latin typeface="Courier"/>
              </a:rPr>
              <a:t>*(p + </a:t>
            </a:r>
            <a:r>
              <a:rPr lang="en-CA" b="1" dirty="0" err="1">
                <a:latin typeface="Courier"/>
              </a:rPr>
              <a:t>i</a:t>
            </a:r>
            <a:r>
              <a:rPr lang="en-CA" b="1" dirty="0">
                <a:latin typeface="Courier"/>
              </a:rPr>
              <a:t>)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CA" dirty="0"/>
              <a:t>Pointer-Offset with Array Name	</a:t>
            </a:r>
            <a:r>
              <a:rPr lang="en-CA" b="1" dirty="0">
                <a:latin typeface="Courier"/>
              </a:rPr>
              <a:t>*(a + </a:t>
            </a:r>
            <a:r>
              <a:rPr lang="en-CA" b="1" dirty="0" err="1">
                <a:latin typeface="Courier"/>
              </a:rPr>
              <a:t>i</a:t>
            </a:r>
            <a:r>
              <a:rPr lang="en-CA" b="1" dirty="0">
                <a:latin typeface="Courier"/>
              </a:rPr>
              <a:t>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sz="2000" b="1" dirty="0">
              <a:solidFill>
                <a:schemeClr val="accent6"/>
              </a:solidFill>
              <a:latin typeface="Courier"/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CA" dirty="0">
              <a:latin typeface="Courier"/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CA" dirty="0">
              <a:latin typeface="Couri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9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4E4B1C-CB77-2983-EB64-48271BE26F68}"/>
              </a:ext>
            </a:extLst>
          </p:cNvPr>
          <p:cNvSpPr txBox="1"/>
          <p:nvPr/>
        </p:nvSpPr>
        <p:spPr>
          <a:xfrm>
            <a:off x="2404569" y="2328980"/>
            <a:ext cx="4996896" cy="92333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a[10];</a:t>
            </a:r>
          </a:p>
          <a:p>
            <a:r>
              <a:rPr lang="en-US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*p = &amp;a[1];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 = a; 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 Syntax Error, why?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24501A6-A48D-2BF1-98A2-C5D57E1C636D}"/>
              </a:ext>
            </a:extLst>
          </p:cNvPr>
          <p:cNvSpPr/>
          <p:nvPr/>
        </p:nvSpPr>
        <p:spPr>
          <a:xfrm>
            <a:off x="10071246" y="246308"/>
            <a:ext cx="186148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L8Ex3-PtrArray.c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240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83845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and Arrays – Example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6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Consider the following code snippet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Then, in order to access the </a:t>
            </a:r>
            <a:r>
              <a:rPr lang="en-CA" b="1" dirty="0">
                <a:solidFill>
                  <a:srgbClr val="FF0000"/>
                </a:solidFill>
              </a:rPr>
              <a:t>last element </a:t>
            </a:r>
            <a:r>
              <a:rPr lang="en-CA" dirty="0"/>
              <a:t>in the array…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CA" dirty="0"/>
              <a:t>Array-Index(Subscript) Notation	</a:t>
            </a:r>
            <a:r>
              <a:rPr lang="en-CA" b="1" dirty="0">
                <a:latin typeface="Courier"/>
              </a:rPr>
              <a:t>a[4]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CA" dirty="0"/>
              <a:t>Pointer-Index(Subscript) Notation	</a:t>
            </a:r>
            <a:r>
              <a:rPr lang="en-CA" b="1" dirty="0">
                <a:latin typeface="Courier"/>
              </a:rPr>
              <a:t>p[4]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CA" dirty="0"/>
              <a:t>Pointer-Offset Notation		</a:t>
            </a:r>
            <a:r>
              <a:rPr lang="en-CA" b="1" dirty="0">
                <a:latin typeface="Courier"/>
              </a:rPr>
              <a:t>*(p + 4)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CA" dirty="0"/>
              <a:t>Pointer-Offset with Array Name	</a:t>
            </a:r>
            <a:r>
              <a:rPr lang="en-CA" b="1" dirty="0">
                <a:latin typeface="Courier"/>
              </a:rPr>
              <a:t>*(a + 4)</a:t>
            </a:r>
            <a:br>
              <a:rPr lang="en-CA" dirty="0">
                <a:latin typeface="Courier"/>
              </a:rPr>
            </a:b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If attempting </a:t>
            </a:r>
            <a:r>
              <a:rPr lang="en-CA" dirty="0">
                <a:latin typeface="Courier"/>
              </a:rPr>
              <a:t>*(p + 5) = 6</a:t>
            </a:r>
            <a:r>
              <a:rPr lang="en-CA" dirty="0"/>
              <a:t> OR </a:t>
            </a:r>
            <a:r>
              <a:rPr lang="en-CA" dirty="0">
                <a:latin typeface="Courier"/>
              </a:rPr>
              <a:t>a[5] = 6</a:t>
            </a:r>
            <a:r>
              <a:rPr lang="en-CA" dirty="0"/>
              <a:t> OR other equivalence…</a:t>
            </a:r>
            <a:endParaRPr lang="en-CA" dirty="0">
              <a:latin typeface="Courier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Outcome 1 – Step into unused memory region (heap or stack) </a:t>
            </a:r>
            <a:r>
              <a:rPr lang="en-CA" b="1" dirty="0">
                <a:solidFill>
                  <a:schemeClr val="accent6"/>
                </a:solidFill>
              </a:rPr>
              <a:t>by pure luck, nothing happens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Outcome 2 – Step into used memory region by other part of the program, </a:t>
            </a:r>
            <a:r>
              <a:rPr lang="en-CA" b="1" dirty="0">
                <a:solidFill>
                  <a:schemeClr val="accent2"/>
                </a:solidFill>
              </a:rPr>
              <a:t>program malfunctions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Outcome 3 – Step out of your defined memory region, either </a:t>
            </a:r>
            <a:r>
              <a:rPr lang="en-CA" b="1" dirty="0">
                <a:solidFill>
                  <a:srgbClr val="FF0000"/>
                </a:solidFill>
              </a:rPr>
              <a:t>OS intervenes, or program crashes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Takeaway – Just don’t.  Be Careful.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10</a:t>
            </a:fld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F091AB-C814-D9EF-5683-A38E8B92FDD3}"/>
              </a:ext>
            </a:extLst>
          </p:cNvPr>
          <p:cNvSpPr/>
          <p:nvPr/>
        </p:nvSpPr>
        <p:spPr>
          <a:xfrm>
            <a:off x="9293331" y="2921760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8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C41E65-7F05-8B91-F2EB-6719A0E936EB}"/>
              </a:ext>
            </a:extLst>
          </p:cNvPr>
          <p:cNvSpPr/>
          <p:nvPr/>
        </p:nvSpPr>
        <p:spPr>
          <a:xfrm>
            <a:off x="9293331" y="2640282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F7B920-AFC5-11A9-D948-79D9D5A6E8E8}"/>
              </a:ext>
            </a:extLst>
          </p:cNvPr>
          <p:cNvSpPr/>
          <p:nvPr/>
        </p:nvSpPr>
        <p:spPr>
          <a:xfrm>
            <a:off x="9293331" y="3212765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B1D399-FB79-D2EC-1852-A7F4D99A3D04}"/>
              </a:ext>
            </a:extLst>
          </p:cNvPr>
          <p:cNvSpPr txBox="1"/>
          <p:nvPr/>
        </p:nvSpPr>
        <p:spPr>
          <a:xfrm>
            <a:off x="8221447" y="3219749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8295FF-1C90-B54E-F333-E023E3EEBC60}"/>
              </a:ext>
            </a:extLst>
          </p:cNvPr>
          <p:cNvSpPr txBox="1"/>
          <p:nvPr/>
        </p:nvSpPr>
        <p:spPr>
          <a:xfrm>
            <a:off x="8218122" y="2936964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67F1AD-65DB-D1F7-4F48-F5B42A127F86}"/>
              </a:ext>
            </a:extLst>
          </p:cNvPr>
          <p:cNvSpPr txBox="1"/>
          <p:nvPr/>
        </p:nvSpPr>
        <p:spPr>
          <a:xfrm>
            <a:off x="8218122" y="263733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E30DD6F-6C72-F3B3-DBC7-96C4741F2910}"/>
              </a:ext>
            </a:extLst>
          </p:cNvPr>
          <p:cNvSpPr/>
          <p:nvPr/>
        </p:nvSpPr>
        <p:spPr>
          <a:xfrm>
            <a:off x="9301895" y="3783077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0182419-8AB2-78EC-0B32-0A62A6F6D9BA}"/>
              </a:ext>
            </a:extLst>
          </p:cNvPr>
          <p:cNvSpPr/>
          <p:nvPr/>
        </p:nvSpPr>
        <p:spPr>
          <a:xfrm>
            <a:off x="9301895" y="3501599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C82B8E-5B25-DC37-B741-50FE55A1A270}"/>
              </a:ext>
            </a:extLst>
          </p:cNvPr>
          <p:cNvSpPr txBox="1"/>
          <p:nvPr/>
        </p:nvSpPr>
        <p:spPr>
          <a:xfrm>
            <a:off x="8226686" y="3775086"/>
            <a:ext cx="1165596" cy="312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0061FF14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26BDF7-D778-650D-4DF7-FA372EB186B5}"/>
              </a:ext>
            </a:extLst>
          </p:cNvPr>
          <p:cNvSpPr txBox="1"/>
          <p:nvPr/>
        </p:nvSpPr>
        <p:spPr>
          <a:xfrm>
            <a:off x="8226686" y="3498654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43D07B-B74A-B76A-B3A6-35BDDC612AA6}"/>
              </a:ext>
            </a:extLst>
          </p:cNvPr>
          <p:cNvSpPr txBox="1"/>
          <p:nvPr/>
        </p:nvSpPr>
        <p:spPr>
          <a:xfrm>
            <a:off x="9370479" y="4057009"/>
            <a:ext cx="1368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 a[ ]</a:t>
            </a:r>
            <a:endParaRPr lang="en-CA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8009700-D57A-AD67-4ABD-7BFF8A67C964}"/>
              </a:ext>
            </a:extLst>
          </p:cNvPr>
          <p:cNvSpPr/>
          <p:nvPr/>
        </p:nvSpPr>
        <p:spPr>
          <a:xfrm>
            <a:off x="9592539" y="1686912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778B4F-BA62-2189-CB23-0B6EBC2D48B2}"/>
              </a:ext>
            </a:extLst>
          </p:cNvPr>
          <p:cNvSpPr txBox="1"/>
          <p:nvPr/>
        </p:nvSpPr>
        <p:spPr>
          <a:xfrm>
            <a:off x="8504943" y="1684983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00732011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BA35FD-AEF9-32FD-C8B2-DB198AC77656}"/>
              </a:ext>
            </a:extLst>
          </p:cNvPr>
          <p:cNvSpPr txBox="1"/>
          <p:nvPr/>
        </p:nvSpPr>
        <p:spPr>
          <a:xfrm>
            <a:off x="9770195" y="1315651"/>
            <a:ext cx="1605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int* p;</a:t>
            </a:r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C398E6-5095-EF86-3BEB-880081C06462}"/>
              </a:ext>
            </a:extLst>
          </p:cNvPr>
          <p:cNvSpPr txBox="1"/>
          <p:nvPr/>
        </p:nvSpPr>
        <p:spPr>
          <a:xfrm>
            <a:off x="1720639" y="2022737"/>
            <a:ext cx="5631431" cy="646331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a[ ] = {2, 4, 6, 8, 9};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 = a;   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Alternatively, int* p = &amp;a[0];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152F05-6848-6206-0BC0-44F1CAE69A81}"/>
              </a:ext>
            </a:extLst>
          </p:cNvPr>
          <p:cNvSpPr txBox="1"/>
          <p:nvPr/>
        </p:nvSpPr>
        <p:spPr>
          <a:xfrm>
            <a:off x="9492156" y="3176482"/>
            <a:ext cx="509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/>
              <a:t>6</a:t>
            </a:r>
            <a:endParaRPr 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63E2D1-D5AC-9399-24BB-B8FA0C964EE1}"/>
              </a:ext>
            </a:extLst>
          </p:cNvPr>
          <p:cNvSpPr txBox="1"/>
          <p:nvPr/>
        </p:nvSpPr>
        <p:spPr>
          <a:xfrm>
            <a:off x="9640164" y="1653861"/>
            <a:ext cx="1459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0061FF14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" name="Arrow: Bent-Up 30">
            <a:extLst>
              <a:ext uri="{FF2B5EF4-FFF2-40B4-BE49-F238E27FC236}">
                <a16:creationId xmlns:a16="http://schemas.microsoft.com/office/drawing/2014/main" id="{04013688-8EC6-87B6-1253-062541AB0025}"/>
              </a:ext>
            </a:extLst>
          </p:cNvPr>
          <p:cNvSpPr/>
          <p:nvPr/>
        </p:nvSpPr>
        <p:spPr>
          <a:xfrm rot="16200000" flipH="1">
            <a:off x="9284633" y="2872153"/>
            <a:ext cx="1983432" cy="207201"/>
          </a:xfrm>
          <a:prstGeom prst="bentUpArrow">
            <a:avLst>
              <a:gd name="adj1" fmla="val 15014"/>
              <a:gd name="adj2" fmla="val 28125"/>
              <a:gd name="adj3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139F2D-81A0-3F0C-0DBA-94464E4B09D5}"/>
              </a:ext>
            </a:extLst>
          </p:cNvPr>
          <p:cNvSpPr txBox="1"/>
          <p:nvPr/>
        </p:nvSpPr>
        <p:spPr>
          <a:xfrm>
            <a:off x="9489726" y="3751800"/>
            <a:ext cx="500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8370CC-793A-E835-B7C0-2E356B162E44}"/>
              </a:ext>
            </a:extLst>
          </p:cNvPr>
          <p:cNvSpPr txBox="1"/>
          <p:nvPr/>
        </p:nvSpPr>
        <p:spPr>
          <a:xfrm>
            <a:off x="7889297" y="3755963"/>
            <a:ext cx="518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a[0]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0DC4CE-6E77-BF29-9730-FBA4B6A6F6FE}"/>
              </a:ext>
            </a:extLst>
          </p:cNvPr>
          <p:cNvSpPr txBox="1"/>
          <p:nvPr/>
        </p:nvSpPr>
        <p:spPr>
          <a:xfrm>
            <a:off x="7887381" y="3492254"/>
            <a:ext cx="518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a[1]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17B300-D965-0F25-3CB0-E9845DA47B38}"/>
              </a:ext>
            </a:extLst>
          </p:cNvPr>
          <p:cNvSpPr txBox="1"/>
          <p:nvPr/>
        </p:nvSpPr>
        <p:spPr>
          <a:xfrm>
            <a:off x="7885137" y="3222748"/>
            <a:ext cx="518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a[2]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75ACA0-8F8F-5A66-9C11-6B08BF716742}"/>
              </a:ext>
            </a:extLst>
          </p:cNvPr>
          <p:cNvSpPr txBox="1"/>
          <p:nvPr/>
        </p:nvSpPr>
        <p:spPr>
          <a:xfrm>
            <a:off x="7880781" y="2948433"/>
            <a:ext cx="518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a[3]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F09A874-CF50-7929-AB4B-DE077E573464}"/>
              </a:ext>
            </a:extLst>
          </p:cNvPr>
          <p:cNvSpPr txBox="1"/>
          <p:nvPr/>
        </p:nvSpPr>
        <p:spPr>
          <a:xfrm>
            <a:off x="7885282" y="2660866"/>
            <a:ext cx="518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a[4]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5" name="Arrow: Bent-Up 44">
            <a:extLst>
              <a:ext uri="{FF2B5EF4-FFF2-40B4-BE49-F238E27FC236}">
                <a16:creationId xmlns:a16="http://schemas.microsoft.com/office/drawing/2014/main" id="{5EDBE3EB-6133-9956-13B4-67DE4F5C8AC5}"/>
              </a:ext>
            </a:extLst>
          </p:cNvPr>
          <p:cNvSpPr/>
          <p:nvPr/>
        </p:nvSpPr>
        <p:spPr>
          <a:xfrm rot="16200000" flipH="1">
            <a:off x="9952035" y="2203604"/>
            <a:ext cx="836546" cy="417494"/>
          </a:xfrm>
          <a:prstGeom prst="bentUpArrow">
            <a:avLst>
              <a:gd name="adj1" fmla="val 6333"/>
              <a:gd name="adj2" fmla="val 10808"/>
              <a:gd name="adj3" fmla="val 16594"/>
            </a:avLst>
          </a:prstGeom>
          <a:solidFill>
            <a:srgbClr val="FF0000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1D2675-76FD-3C4A-54ED-F6CEBE776A0B}"/>
              </a:ext>
            </a:extLst>
          </p:cNvPr>
          <p:cNvSpPr txBox="1"/>
          <p:nvPr/>
        </p:nvSpPr>
        <p:spPr>
          <a:xfrm>
            <a:off x="10588908" y="2128964"/>
            <a:ext cx="8968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a[4]</a:t>
            </a:r>
          </a:p>
          <a:p>
            <a:r>
              <a:rPr lang="en-CA" b="1" dirty="0">
                <a:solidFill>
                  <a:srgbClr val="FF0000"/>
                </a:solidFill>
              </a:rPr>
              <a:t>p[4]</a:t>
            </a:r>
          </a:p>
          <a:p>
            <a:r>
              <a:rPr lang="en-CA" b="1" dirty="0">
                <a:solidFill>
                  <a:srgbClr val="FF0000"/>
                </a:solidFill>
              </a:rPr>
              <a:t>*(p+4)</a:t>
            </a:r>
          </a:p>
          <a:p>
            <a:r>
              <a:rPr lang="en-CA" b="1" dirty="0">
                <a:solidFill>
                  <a:srgbClr val="FF0000"/>
                </a:solidFill>
              </a:rPr>
              <a:t>*(a+4)</a:t>
            </a:r>
            <a:endParaRPr lang="en-US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1105BB1-43F6-B2BC-8518-56CFD6E5631B}"/>
              </a:ext>
            </a:extLst>
          </p:cNvPr>
          <p:cNvSpPr/>
          <p:nvPr/>
        </p:nvSpPr>
        <p:spPr>
          <a:xfrm>
            <a:off x="9290076" y="2247627"/>
            <a:ext cx="870853" cy="289124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rgbClr val="FF0000"/>
                </a:solidFill>
              </a:rPr>
              <a:t>??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E282877-0438-A6B3-4D34-44B62FA33BA6}"/>
              </a:ext>
            </a:extLst>
          </p:cNvPr>
          <p:cNvSpPr txBox="1"/>
          <p:nvPr/>
        </p:nvSpPr>
        <p:spPr>
          <a:xfrm>
            <a:off x="8214867" y="2244682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567490-CD38-92E8-0CFC-41C02390A906}"/>
              </a:ext>
            </a:extLst>
          </p:cNvPr>
          <p:cNvSpPr txBox="1"/>
          <p:nvPr/>
        </p:nvSpPr>
        <p:spPr>
          <a:xfrm>
            <a:off x="7882027" y="2229299"/>
            <a:ext cx="518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>
                    <a:lumMod val="65000"/>
                  </a:schemeClr>
                </a:solidFill>
              </a:rPr>
              <a:t>a[5]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74748FD-F364-701A-E12D-6492A7C45987}"/>
              </a:ext>
            </a:extLst>
          </p:cNvPr>
          <p:cNvSpPr/>
          <p:nvPr/>
        </p:nvSpPr>
        <p:spPr>
          <a:xfrm>
            <a:off x="10071246" y="246308"/>
            <a:ext cx="186148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L8Ex3-PtrArray.c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476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" dur="25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22" grpId="0"/>
      <p:bldP spid="28" grpId="0"/>
      <p:bldP spid="30" grpId="0"/>
      <p:bldP spid="32" grpId="0" animBg="1"/>
      <p:bldP spid="33" grpId="0" animBg="1"/>
      <p:bldP spid="34" grpId="0"/>
      <p:bldP spid="34" grpId="1"/>
      <p:bldP spid="35" grpId="0"/>
      <p:bldP spid="36" grpId="0"/>
      <p:bldP spid="37" grpId="0" animBg="1"/>
      <p:bldP spid="38" grpId="0"/>
      <p:bldP spid="39" grpId="0"/>
      <p:bldP spid="16" grpId="0" animBg="1"/>
      <p:bldP spid="23" grpId="0"/>
      <p:bldP spid="26" grpId="0"/>
      <p:bldP spid="31" grpId="0" animBg="1"/>
      <p:bldP spid="52" grpId="0"/>
      <p:bldP spid="27" grpId="0"/>
      <p:bldP spid="27" grpId="1"/>
      <p:bldP spid="41" grpId="0"/>
      <p:bldP spid="42" grpId="0"/>
      <p:bldP spid="43" grpId="0"/>
      <p:bldP spid="44" grpId="0"/>
      <p:bldP spid="45" grpId="0" animBg="1"/>
      <p:bldP spid="47" grpId="0" animBg="1"/>
      <p:bldP spid="47" grpId="1" animBg="1"/>
      <p:bldP spid="48" grpId="0"/>
      <p:bldP spid="48" grpId="1"/>
      <p:bldP spid="49" grpId="0"/>
      <p:bldP spid="4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83845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and Arrays – Example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6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Looping through Array with Pointer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>
              <a:latin typeface="Couri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>
              <a:latin typeface="Couri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First Loop – Iterating using Index Variable </a:t>
            </a:r>
            <a:r>
              <a:rPr lang="en-CA" dirty="0" err="1">
                <a:latin typeface="Courier"/>
              </a:rPr>
              <a:t>i</a:t>
            </a:r>
            <a:endParaRPr lang="en-CA" dirty="0">
              <a:latin typeface="Couri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Second Loop – Iterating using Pointer </a:t>
            </a:r>
            <a:r>
              <a:rPr lang="en-CA" dirty="0">
                <a:latin typeface="Courier"/>
              </a:rPr>
              <a:t>p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Initialize </a:t>
            </a:r>
            <a:r>
              <a:rPr lang="en-CA" dirty="0">
                <a:latin typeface="Courier"/>
              </a:rPr>
              <a:t>p</a:t>
            </a:r>
            <a:r>
              <a:rPr lang="en-CA" dirty="0"/>
              <a:t> to the first element of the array.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p</a:t>
            </a:r>
            <a:r>
              <a:rPr lang="en-CA" dirty="0"/>
              <a:t> incremented at the end of each iteration, thus pointing to the next element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11</a:t>
            </a:fld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C398E6-5095-EF86-3BEB-880081C06462}"/>
              </a:ext>
            </a:extLst>
          </p:cNvPr>
          <p:cNvSpPr txBox="1"/>
          <p:nvPr/>
        </p:nvSpPr>
        <p:spPr>
          <a:xfrm>
            <a:off x="1720639" y="2022737"/>
            <a:ext cx="7002737" cy="2308324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a[20];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p;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Collecting Inputs into Array – Loop through Array using Index Variable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(“%d”, &amp;a[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(“\n”);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 Array Elements – Loop through Array using Pointer Variable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(p = a;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 &lt; a + 20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p++)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(“%d\t”, *p);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E9DAA62-466D-2473-7B08-E72D9131FA63}"/>
              </a:ext>
            </a:extLst>
          </p:cNvPr>
          <p:cNvSpPr/>
          <p:nvPr/>
        </p:nvSpPr>
        <p:spPr>
          <a:xfrm>
            <a:off x="9905020" y="246308"/>
            <a:ext cx="2047630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L8Ex4-LoopArray.c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16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83845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Passing Array as Input Parameter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6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Passing an array into a function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>
              <a:latin typeface="Couri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>
              <a:latin typeface="Couri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What is actually passed into the function with array name?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The value of the constant pointer – the address of the first element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What is the input parameter receiving this address?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It must match the incoming data type – a pointer variable (can be constant too)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Such pointer type can be declared in the parameter list as: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Array (Implicit Pointer) – </a:t>
            </a:r>
            <a:r>
              <a:rPr lang="en-CA" dirty="0">
                <a:latin typeface="Courier"/>
              </a:rPr>
              <a:t>int array[]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Explicit Pointer – </a:t>
            </a:r>
            <a:r>
              <a:rPr lang="en-CA" dirty="0">
                <a:latin typeface="Courier"/>
              </a:rPr>
              <a:t>int* array</a:t>
            </a: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12</a:t>
            </a:fld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C398E6-5095-EF86-3BEB-880081C06462}"/>
              </a:ext>
            </a:extLst>
          </p:cNvPr>
          <p:cNvSpPr txBox="1"/>
          <p:nvPr/>
        </p:nvSpPr>
        <p:spPr>
          <a:xfrm>
            <a:off x="1793791" y="2112064"/>
            <a:ext cx="7002737" cy="156966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a[20];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foo(a, 20);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passing array name and size into the function foo().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foo() then should have the following function signature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array[],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size);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Array Name (Implicit Pointer)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OR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array,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size);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Explicit Pointer</a:t>
            </a:r>
          </a:p>
        </p:txBody>
      </p:sp>
    </p:spTree>
    <p:extLst>
      <p:ext uri="{BB962C8B-B14F-4D97-AF65-F5344CB8AC3E}">
        <p14:creationId xmlns:p14="http://schemas.microsoft.com/office/powerpoint/2010/main" val="301108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83845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and Arrays – Example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6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Passing Parameters of Array Type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>
              <a:latin typeface="Couri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>
              <a:latin typeface="Couri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13</a:t>
            </a:fld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C398E6-5095-EF86-3BEB-880081C06462}"/>
              </a:ext>
            </a:extLst>
          </p:cNvPr>
          <p:cNvSpPr txBox="1"/>
          <p:nvPr/>
        </p:nvSpPr>
        <p:spPr>
          <a:xfrm>
            <a:off x="832657" y="2254564"/>
            <a:ext cx="4286969" cy="341632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#define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 3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Two IDENTICAL Array-Processing Functions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f1(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pa[],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n);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f2(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pa,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a[N] = {0, 1, 2};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Both will multiply elements by 2</a:t>
            </a:r>
            <a:b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  and print them out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f1(a, N);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f2(a, N);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E9DAA62-466D-2473-7B08-E72D9131FA63}"/>
              </a:ext>
            </a:extLst>
          </p:cNvPr>
          <p:cNvSpPr/>
          <p:nvPr/>
        </p:nvSpPr>
        <p:spPr>
          <a:xfrm>
            <a:off x="9905020" y="246308"/>
            <a:ext cx="2047630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L8Ex5-ArrayPass.c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3D0F12-92EF-3AC2-A045-150C03B33391}"/>
              </a:ext>
            </a:extLst>
          </p:cNvPr>
          <p:cNvSpPr txBox="1"/>
          <p:nvPr/>
        </p:nvSpPr>
        <p:spPr>
          <a:xfrm>
            <a:off x="5554438" y="1537323"/>
            <a:ext cx="5804905" cy="1938992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f1() uses Array Name format for input (Implicit Pointer)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f1(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pa[],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pa[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*= 2;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//array-index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(“a[%d]=%d\n”,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*(pa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//pointer-offset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B3C807-E088-8945-BD2A-A2EFEB9E4D6E}"/>
              </a:ext>
            </a:extLst>
          </p:cNvPr>
          <p:cNvSpPr txBox="1"/>
          <p:nvPr/>
        </p:nvSpPr>
        <p:spPr>
          <a:xfrm>
            <a:off x="5554437" y="3952084"/>
            <a:ext cx="5804905" cy="1938992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f2() uses Explicit Pointer format for input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f2(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pa,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*(pa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*= 2;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//pointer-offset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(“a[%d]=%d\n”,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pa[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]);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//array-index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0288D0-F500-0D0F-FB6A-334710AD1D40}"/>
              </a:ext>
            </a:extLst>
          </p:cNvPr>
          <p:cNvSpPr/>
          <p:nvPr/>
        </p:nvSpPr>
        <p:spPr>
          <a:xfrm>
            <a:off x="7872984" y="3346704"/>
            <a:ext cx="3602736" cy="671330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tx1"/>
                </a:solidFill>
              </a:rPr>
              <a:t>All four array element access formats can be interchangeably used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4392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Pointer Declaration and Array Declaration are </a:t>
            </a:r>
            <a:r>
              <a:rPr lang="en-CA" sz="2400" b="1" dirty="0">
                <a:solidFill>
                  <a:schemeClr val="accent6"/>
                </a:solidFill>
              </a:rPr>
              <a:t>Equivalent</a:t>
            </a:r>
            <a:r>
              <a:rPr lang="en-CA" sz="2400" dirty="0"/>
              <a:t> only when…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They are </a:t>
            </a:r>
            <a:r>
              <a:rPr lang="en-CA" b="1" dirty="0">
                <a:solidFill>
                  <a:schemeClr val="accent6"/>
                </a:solidFill>
              </a:rPr>
              <a:t>declared in the input parameter list of a function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Because the actual data array would have already been defined in memory in the caller</a:t>
            </a:r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b="1" dirty="0">
                <a:solidFill>
                  <a:srgbClr val="FF0000"/>
                </a:solidFill>
              </a:rPr>
              <a:t>They are NOT EQUIVALENT otherwise!!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1053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Watchout!  </a:t>
            </a:r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 and Array Declarations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14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5B197A-1446-E9D2-358C-D49ADCF73D13}"/>
              </a:ext>
            </a:extLst>
          </p:cNvPr>
          <p:cNvSpPr txBox="1"/>
          <p:nvPr/>
        </p:nvSpPr>
        <p:spPr>
          <a:xfrm>
            <a:off x="1957462" y="2707406"/>
            <a:ext cx="2537560" cy="156966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a[N] = {0, 1, 2};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f1(a, N);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f2(a, N);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1E5CD-63A7-797B-7BED-2E544CEE296D}"/>
              </a:ext>
            </a:extLst>
          </p:cNvPr>
          <p:cNvSpPr txBox="1"/>
          <p:nvPr/>
        </p:nvSpPr>
        <p:spPr>
          <a:xfrm>
            <a:off x="4735834" y="2808772"/>
            <a:ext cx="2448739" cy="46166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f1(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pa[],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{…}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050A58-9DF6-BDBF-2464-7BDECC6EE14D}"/>
              </a:ext>
            </a:extLst>
          </p:cNvPr>
          <p:cNvSpPr txBox="1"/>
          <p:nvPr/>
        </p:nvSpPr>
        <p:spPr>
          <a:xfrm>
            <a:off x="4735834" y="3479345"/>
            <a:ext cx="2448739" cy="461665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f2(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pa,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{…}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B815DE4-FF61-6313-BD36-C7D39ABD31C5}"/>
              </a:ext>
            </a:extLst>
          </p:cNvPr>
          <p:cNvSpPr/>
          <p:nvPr/>
        </p:nvSpPr>
        <p:spPr>
          <a:xfrm>
            <a:off x="9268052" y="3677463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FD7C11E-A513-0D60-D8E9-89DB11FBCDA5}"/>
              </a:ext>
            </a:extLst>
          </p:cNvPr>
          <p:cNvSpPr/>
          <p:nvPr/>
        </p:nvSpPr>
        <p:spPr>
          <a:xfrm>
            <a:off x="9268052" y="3395985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1DA06CA-4B31-9E65-A66B-EFB8B07D1D7E}"/>
              </a:ext>
            </a:extLst>
          </p:cNvPr>
          <p:cNvSpPr/>
          <p:nvPr/>
        </p:nvSpPr>
        <p:spPr>
          <a:xfrm>
            <a:off x="9268052" y="3968468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70BF0C-CE53-51F4-A641-D0BD3AE7B628}"/>
              </a:ext>
            </a:extLst>
          </p:cNvPr>
          <p:cNvSpPr txBox="1"/>
          <p:nvPr/>
        </p:nvSpPr>
        <p:spPr>
          <a:xfrm>
            <a:off x="8196168" y="3975452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B40625-7187-A27C-8C68-DBF4FC4B82AC}"/>
              </a:ext>
            </a:extLst>
          </p:cNvPr>
          <p:cNvSpPr txBox="1"/>
          <p:nvPr/>
        </p:nvSpPr>
        <p:spPr>
          <a:xfrm>
            <a:off x="8192843" y="3692667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6094CF-65F0-1B76-4497-E44FC89A62E2}"/>
              </a:ext>
            </a:extLst>
          </p:cNvPr>
          <p:cNvSpPr txBox="1"/>
          <p:nvPr/>
        </p:nvSpPr>
        <p:spPr>
          <a:xfrm>
            <a:off x="8192843" y="3393040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A83663-5797-7E7F-FE0E-F05C49BA98C2}"/>
              </a:ext>
            </a:extLst>
          </p:cNvPr>
          <p:cNvSpPr txBox="1"/>
          <p:nvPr/>
        </p:nvSpPr>
        <p:spPr>
          <a:xfrm>
            <a:off x="9266497" y="4230552"/>
            <a:ext cx="1368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 a[3]</a:t>
            </a:r>
            <a:endParaRPr lang="en-CA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C15A60A-3124-82CC-D9CC-9A103BC72A82}"/>
              </a:ext>
            </a:extLst>
          </p:cNvPr>
          <p:cNvSpPr/>
          <p:nvPr/>
        </p:nvSpPr>
        <p:spPr>
          <a:xfrm>
            <a:off x="9567260" y="2939008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47E610-306A-9521-4271-587D25C20EAB}"/>
              </a:ext>
            </a:extLst>
          </p:cNvPr>
          <p:cNvSpPr txBox="1"/>
          <p:nvPr/>
        </p:nvSpPr>
        <p:spPr>
          <a:xfrm>
            <a:off x="8479664" y="2937079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00732011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A43781-5436-DB53-A418-495261445249}"/>
              </a:ext>
            </a:extLst>
          </p:cNvPr>
          <p:cNvSpPr txBox="1"/>
          <p:nvPr/>
        </p:nvSpPr>
        <p:spPr>
          <a:xfrm>
            <a:off x="9744916" y="2567747"/>
            <a:ext cx="1605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int* pa;</a:t>
            </a:r>
            <a:endParaRPr lang="en-CA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F63F97-5C6D-6AEA-FDF8-12D1BD15983B}"/>
              </a:ext>
            </a:extLst>
          </p:cNvPr>
          <p:cNvSpPr txBox="1"/>
          <p:nvPr/>
        </p:nvSpPr>
        <p:spPr>
          <a:xfrm>
            <a:off x="9449459" y="3923476"/>
            <a:ext cx="509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/>
              <a:t>0</a:t>
            </a:r>
            <a:endParaRPr lang="en-US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231E7D-DA61-1418-C670-FC15478B3DC0}"/>
              </a:ext>
            </a:extLst>
          </p:cNvPr>
          <p:cNvSpPr txBox="1"/>
          <p:nvPr/>
        </p:nvSpPr>
        <p:spPr>
          <a:xfrm>
            <a:off x="9614885" y="2905957"/>
            <a:ext cx="1459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0061FF1C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9" name="Arrow: Bent-Up 38">
            <a:extLst>
              <a:ext uri="{FF2B5EF4-FFF2-40B4-BE49-F238E27FC236}">
                <a16:creationId xmlns:a16="http://schemas.microsoft.com/office/drawing/2014/main" id="{BD47D47F-6545-4840-0821-A5268ABF5549}"/>
              </a:ext>
            </a:extLst>
          </p:cNvPr>
          <p:cNvSpPr/>
          <p:nvPr/>
        </p:nvSpPr>
        <p:spPr>
          <a:xfrm rot="16200000" flipH="1">
            <a:off x="9844362" y="3539242"/>
            <a:ext cx="892395" cy="286180"/>
          </a:xfrm>
          <a:prstGeom prst="bentUpArrow">
            <a:avLst>
              <a:gd name="adj1" fmla="val 15014"/>
              <a:gd name="adj2" fmla="val 28125"/>
              <a:gd name="adj3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E6727D-84E7-DB1F-7C1D-2D98C48761C7}"/>
              </a:ext>
            </a:extLst>
          </p:cNvPr>
          <p:cNvSpPr txBox="1"/>
          <p:nvPr/>
        </p:nvSpPr>
        <p:spPr>
          <a:xfrm>
            <a:off x="7859858" y="3978451"/>
            <a:ext cx="518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a[0]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99FA3B-5F6A-E8DC-23C7-72ECFFC04F41}"/>
              </a:ext>
            </a:extLst>
          </p:cNvPr>
          <p:cNvSpPr txBox="1"/>
          <p:nvPr/>
        </p:nvSpPr>
        <p:spPr>
          <a:xfrm>
            <a:off x="7855502" y="3704136"/>
            <a:ext cx="518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a[1]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EF0DBC-932D-6BF0-DCC4-72545189627C}"/>
              </a:ext>
            </a:extLst>
          </p:cNvPr>
          <p:cNvSpPr txBox="1"/>
          <p:nvPr/>
        </p:nvSpPr>
        <p:spPr>
          <a:xfrm>
            <a:off x="7860003" y="3416569"/>
            <a:ext cx="518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a[2]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09ACB59-F5ED-EF11-02B7-DB8C32DCF4EC}"/>
              </a:ext>
            </a:extLst>
          </p:cNvPr>
          <p:cNvSpPr/>
          <p:nvPr/>
        </p:nvSpPr>
        <p:spPr>
          <a:xfrm>
            <a:off x="9531098" y="4701890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2F1A13E-F4F5-C162-1C4D-9342531171DC}"/>
              </a:ext>
            </a:extLst>
          </p:cNvPr>
          <p:cNvSpPr txBox="1"/>
          <p:nvPr/>
        </p:nvSpPr>
        <p:spPr>
          <a:xfrm>
            <a:off x="8443502" y="4699961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00233EE1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3D1C7C-F09B-3301-5B48-8DE87A5ED9F6}"/>
              </a:ext>
            </a:extLst>
          </p:cNvPr>
          <p:cNvSpPr txBox="1"/>
          <p:nvPr/>
        </p:nvSpPr>
        <p:spPr>
          <a:xfrm>
            <a:off x="9708670" y="4983201"/>
            <a:ext cx="1605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 pa[];</a:t>
            </a:r>
            <a:endParaRPr lang="en-CA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DE49F68-CA0F-4759-5190-5993F55ABDF9}"/>
              </a:ext>
            </a:extLst>
          </p:cNvPr>
          <p:cNvSpPr txBox="1"/>
          <p:nvPr/>
        </p:nvSpPr>
        <p:spPr>
          <a:xfrm>
            <a:off x="9578723" y="4668839"/>
            <a:ext cx="1459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0061FF1C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5" name="Arrow: Bent-Up 54">
            <a:extLst>
              <a:ext uri="{FF2B5EF4-FFF2-40B4-BE49-F238E27FC236}">
                <a16:creationId xmlns:a16="http://schemas.microsoft.com/office/drawing/2014/main" id="{504BE25C-A189-34AC-C84F-8CCEF1598939}"/>
              </a:ext>
            </a:extLst>
          </p:cNvPr>
          <p:cNvSpPr/>
          <p:nvPr/>
        </p:nvSpPr>
        <p:spPr>
          <a:xfrm rot="16200000">
            <a:off x="10007018" y="4268977"/>
            <a:ext cx="575786" cy="286180"/>
          </a:xfrm>
          <a:prstGeom prst="bentUpArrow">
            <a:avLst>
              <a:gd name="adj1" fmla="val 15014"/>
              <a:gd name="adj2" fmla="val 28125"/>
              <a:gd name="adj3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F0E2CC-9F40-AD70-A543-160F3D28CC0E}"/>
              </a:ext>
            </a:extLst>
          </p:cNvPr>
          <p:cNvSpPr txBox="1"/>
          <p:nvPr/>
        </p:nvSpPr>
        <p:spPr>
          <a:xfrm>
            <a:off x="1653202" y="5043593"/>
            <a:ext cx="7194705" cy="830997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a[3] = {0, 1, 2};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Valid, memory allocated and value stored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 = {0, 1, 2};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INVALID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declaring pointing does not allocate memory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// i.e. Values in the 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init.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list have nowhere to go</a:t>
            </a:r>
          </a:p>
        </p:txBody>
      </p:sp>
      <p:sp>
        <p:nvSpPr>
          <p:cNvPr id="58" name="Speech Bubble: Rectangle 57">
            <a:extLst>
              <a:ext uri="{FF2B5EF4-FFF2-40B4-BE49-F238E27FC236}">
                <a16:creationId xmlns:a16="http://schemas.microsoft.com/office/drawing/2014/main" id="{2A4104DF-B4D1-E174-2EE1-0DF6EDE5B72C}"/>
              </a:ext>
            </a:extLst>
          </p:cNvPr>
          <p:cNvSpPr/>
          <p:nvPr/>
        </p:nvSpPr>
        <p:spPr>
          <a:xfrm>
            <a:off x="6106434" y="4246665"/>
            <a:ext cx="1681191" cy="446752"/>
          </a:xfrm>
          <a:prstGeom prst="wedgeRectCallout">
            <a:avLst>
              <a:gd name="adj1" fmla="val -54926"/>
              <a:gd name="adj2" fmla="val 9533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Except…Strings!</a:t>
            </a:r>
          </a:p>
        </p:txBody>
      </p:sp>
    </p:spTree>
    <p:extLst>
      <p:ext uri="{BB962C8B-B14F-4D97-AF65-F5344CB8AC3E}">
        <p14:creationId xmlns:p14="http://schemas.microsoft.com/office/powerpoint/2010/main" val="66864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20" grpId="0" animBg="1"/>
      <p:bldP spid="21" grpId="0" animBg="1"/>
      <p:bldP spid="23" grpId="0" animBg="1"/>
      <p:bldP spid="25" grpId="0" animBg="1"/>
      <p:bldP spid="26" grpId="0"/>
      <p:bldP spid="27" grpId="0"/>
      <p:bldP spid="28" grpId="0"/>
      <p:bldP spid="33" grpId="0"/>
      <p:bldP spid="34" grpId="0" animBg="1"/>
      <p:bldP spid="35" grpId="0"/>
      <p:bldP spid="36" grpId="0"/>
      <p:bldP spid="37" grpId="0"/>
      <p:bldP spid="38" grpId="0"/>
      <p:bldP spid="39" grpId="0" animBg="1"/>
      <p:bldP spid="43" grpId="0"/>
      <p:bldP spid="44" grpId="0"/>
      <p:bldP spid="45" grpId="0"/>
      <p:bldP spid="51" grpId="0" animBg="1"/>
      <p:bldP spid="52" grpId="0"/>
      <p:bldP spid="53" grpId="0"/>
      <p:bldP spid="54" grpId="0"/>
      <p:bldP spid="55" grpId="0" animBg="1"/>
      <p:bldP spid="57" grpId="0" animBg="1"/>
      <p:bldP spid="5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83508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Strings declared + defined through Character Array – </a:t>
            </a:r>
            <a:r>
              <a:rPr lang="en-CA" sz="2400" b="1" dirty="0">
                <a:solidFill>
                  <a:srgbClr val="0000FF"/>
                </a:solidFill>
              </a:rPr>
              <a:t>Variable Character Arrays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6"/>
                </a:solidFill>
              </a:rPr>
              <a:t>Can be modified</a:t>
            </a:r>
            <a:r>
              <a:rPr lang="en-CA" dirty="0"/>
              <a:t> after being initialized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Array name is the constant pointer to the first char of the string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lvl="1"/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Strings defined through Character Pointer + Init. String – </a:t>
            </a:r>
            <a:r>
              <a:rPr lang="en-CA" sz="2400" b="1" dirty="0">
                <a:solidFill>
                  <a:srgbClr val="0000FF"/>
                </a:solidFill>
              </a:rPr>
              <a:t>Constant Strings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CANNOT BE MODIFIED </a:t>
            </a:r>
            <a:r>
              <a:rPr lang="en-CA" dirty="0"/>
              <a:t>after being initialized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character array is created in </a:t>
            </a:r>
            <a:r>
              <a:rPr lang="en-CA" dirty="0">
                <a:solidFill>
                  <a:srgbClr val="FF0000"/>
                </a:solidFill>
              </a:rPr>
              <a:t>read-only memory </a:t>
            </a:r>
            <a:r>
              <a:rPr lang="en-CA" dirty="0"/>
              <a:t>to store the string.  Pointer is assigned the address of the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968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and Strings – Valid Declarations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15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D110CB-0E88-6D9A-F698-38F62E9E20C4}"/>
              </a:ext>
            </a:extLst>
          </p:cNvPr>
          <p:cNvSpPr txBox="1"/>
          <p:nvPr/>
        </p:nvSpPr>
        <p:spPr>
          <a:xfrm>
            <a:off x="1822913" y="2644647"/>
            <a:ext cx="2767375" cy="830997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str[20];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(“%s”, str);   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After user input, 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contents can be modified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0CBD12-27DD-B761-00BD-F9D071C763CD}"/>
              </a:ext>
            </a:extLst>
          </p:cNvPr>
          <p:cNvSpPr txBox="1"/>
          <p:nvPr/>
        </p:nvSpPr>
        <p:spPr>
          <a:xfrm>
            <a:off x="5065985" y="2644646"/>
            <a:ext cx="4416343" cy="646331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str[20] = “Hello World!”;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After user input, contents can be modified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str[3] = ‘L’;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this is OK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4ACE7A-44BE-9113-5146-2E159310A610}"/>
              </a:ext>
            </a:extLst>
          </p:cNvPr>
          <p:cNvSpPr txBox="1"/>
          <p:nvPr/>
        </p:nvSpPr>
        <p:spPr>
          <a:xfrm>
            <a:off x="1822913" y="4865699"/>
            <a:ext cx="7577119" cy="1015663"/>
          </a:xfrm>
          <a:prstGeom prst="rect">
            <a:avLst/>
          </a:prstGeom>
          <a:ln w="28575"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str = “Hello World!”;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“Hello World!” is placed as a character array in read-only memory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str then points to the start of this array.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str[3] = ‘L’; 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This modification is NOT ALLOWED, because of read-only memory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3B5DF1D-E2D0-E7FD-1FF9-37E0B645287E}"/>
              </a:ext>
            </a:extLst>
          </p:cNvPr>
          <p:cNvSpPr/>
          <p:nvPr/>
        </p:nvSpPr>
        <p:spPr>
          <a:xfrm>
            <a:off x="9164867" y="2058948"/>
            <a:ext cx="2047630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L8Ex6-PtrString.c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40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83508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>
                <a:solidFill>
                  <a:schemeClr val="accent6"/>
                </a:solidFill>
              </a:rPr>
              <a:t>Valid: </a:t>
            </a:r>
            <a:r>
              <a:rPr lang="en-CA" sz="2400" dirty="0"/>
              <a:t>Strings defined through Character Pointer + Init. String – Constant Strings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/>
              <a:t>CANNOT BE MODIFIED </a:t>
            </a:r>
            <a:r>
              <a:rPr lang="en-CA" dirty="0"/>
              <a:t>after being initialized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An array is created in read-only memory to store the string.  Pointer is assigned the address of the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>
                <a:solidFill>
                  <a:srgbClr val="FF0000"/>
                </a:solidFill>
              </a:rPr>
              <a:t>Invalid:</a:t>
            </a:r>
            <a:r>
              <a:rPr lang="en-CA" sz="2400" b="1" dirty="0">
                <a:solidFill>
                  <a:schemeClr val="accent6"/>
                </a:solidFill>
              </a:rPr>
              <a:t> </a:t>
            </a:r>
            <a:r>
              <a:rPr lang="en-CA" sz="2400" dirty="0"/>
              <a:t>Strings declared through Character Pointer + Other Init. Methods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/>
              <a:t>Problem: </a:t>
            </a:r>
            <a:r>
              <a:rPr lang="en-CA" dirty="0"/>
              <a:t>Declaring a pointer will not automatically result in allocated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968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and Strings – Invalid Declaration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16</a:t>
            </a:fld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4ACE7A-44BE-9113-5146-2E159310A610}"/>
              </a:ext>
            </a:extLst>
          </p:cNvPr>
          <p:cNvSpPr txBox="1"/>
          <p:nvPr/>
        </p:nvSpPr>
        <p:spPr>
          <a:xfrm>
            <a:off x="1512017" y="2604722"/>
            <a:ext cx="7577119" cy="1015663"/>
          </a:xfrm>
          <a:prstGeom prst="rect">
            <a:avLst/>
          </a:prstGeom>
          <a:ln w="28575"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str;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str = “Hello World!”;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“Hello World!” is placed as a character array in read-only memory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str then points to the start of this array.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str[3] = ‘L’; 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This modification is NOT ALLOWED, because of read-only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B90977-51C8-A814-4F09-682F98342C5D}"/>
              </a:ext>
            </a:extLst>
          </p:cNvPr>
          <p:cNvSpPr txBox="1"/>
          <p:nvPr/>
        </p:nvSpPr>
        <p:spPr>
          <a:xfrm>
            <a:off x="1512016" y="4656791"/>
            <a:ext cx="7577119" cy="830997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str;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(“%s”, str);</a:t>
            </a:r>
          </a:p>
          <a:p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This is </a:t>
            </a:r>
            <a:r>
              <a:rPr lang="en-US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compilable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but will potentially lead to seg fault or data destruction, because </a:t>
            </a:r>
            <a:r>
              <a:rPr lang="en-US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will scan into an unallocated memory section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42B25A9-F2CC-4C58-7501-1E86A120C889}"/>
              </a:ext>
            </a:extLst>
          </p:cNvPr>
          <p:cNvSpPr/>
          <p:nvPr/>
        </p:nvSpPr>
        <p:spPr>
          <a:xfrm>
            <a:off x="9448331" y="5486838"/>
            <a:ext cx="2047630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L8Ex6-PtrString.c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587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83845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and Strings – Example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6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Let’s build our own string length calculation function (Excluding NULL)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chemeClr val="accent1"/>
              </a:solidFill>
              <a:latin typeface="Courier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chemeClr val="accent1"/>
              </a:solidFill>
              <a:latin typeface="Courier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chemeClr val="accent1"/>
              </a:solidFill>
              <a:latin typeface="Courier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chemeClr val="accent1"/>
              </a:solidFill>
              <a:latin typeface="Courier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chemeClr val="accent1"/>
              </a:solidFill>
              <a:latin typeface="Courier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17</a:t>
            </a:fld>
            <a:endParaRPr lang="en-C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4AAE53-992B-FDF2-422A-41A7521236BF}"/>
              </a:ext>
            </a:extLst>
          </p:cNvPr>
          <p:cNvSpPr txBox="1"/>
          <p:nvPr/>
        </p:nvSpPr>
        <p:spPr>
          <a:xfrm>
            <a:off x="1740539" y="1982866"/>
            <a:ext cx="4209132" cy="2308324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char*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str = “John”;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b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my_strlen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(str);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(“Total String Length: %d\n”,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165990-6A1F-051A-2C6D-B31AE026A452}"/>
              </a:ext>
            </a:extLst>
          </p:cNvPr>
          <p:cNvSpPr txBox="1"/>
          <p:nvPr/>
        </p:nvSpPr>
        <p:spPr>
          <a:xfrm>
            <a:off x="1740539" y="4351481"/>
            <a:ext cx="4209132" cy="156966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Return the string length, EXLUCDING Null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my_strlen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k;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k = 0; *s != ‘\0’; s++)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k++;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k;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3DBDF6B5-797A-D9B7-6C0D-0EF640FC2F41}"/>
              </a:ext>
            </a:extLst>
          </p:cNvPr>
          <p:cNvSpPr/>
          <p:nvPr/>
        </p:nvSpPr>
        <p:spPr>
          <a:xfrm>
            <a:off x="5109075" y="4764513"/>
            <a:ext cx="2002646" cy="446752"/>
          </a:xfrm>
          <a:prstGeom prst="wedgeRectCallout">
            <a:avLst>
              <a:gd name="adj1" fmla="val -62954"/>
              <a:gd name="adj2" fmla="val 3910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Pointer as index var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57F255-90E7-D46B-B5B8-0FCDD297D081}"/>
              </a:ext>
            </a:extLst>
          </p:cNvPr>
          <p:cNvSpPr/>
          <p:nvPr/>
        </p:nvSpPr>
        <p:spPr>
          <a:xfrm>
            <a:off x="8195740" y="3965630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‘o’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F7D7D0-42B4-3AC6-7B8E-FF8EB4FD7F65}"/>
              </a:ext>
            </a:extLst>
          </p:cNvPr>
          <p:cNvSpPr/>
          <p:nvPr/>
        </p:nvSpPr>
        <p:spPr>
          <a:xfrm>
            <a:off x="8195740" y="3684152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‘h’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F30EC1-D7C3-6160-27FC-F503FF25181A}"/>
              </a:ext>
            </a:extLst>
          </p:cNvPr>
          <p:cNvSpPr/>
          <p:nvPr/>
        </p:nvSpPr>
        <p:spPr>
          <a:xfrm>
            <a:off x="8195740" y="4256635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8E3012-ECA2-8261-29FC-F4FCB42D225A}"/>
              </a:ext>
            </a:extLst>
          </p:cNvPr>
          <p:cNvSpPr txBox="1"/>
          <p:nvPr/>
        </p:nvSpPr>
        <p:spPr>
          <a:xfrm>
            <a:off x="7123856" y="4263619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9E22C-4354-B89F-4463-EAAF0B9D24FA}"/>
              </a:ext>
            </a:extLst>
          </p:cNvPr>
          <p:cNvSpPr txBox="1"/>
          <p:nvPr/>
        </p:nvSpPr>
        <p:spPr>
          <a:xfrm>
            <a:off x="7120531" y="3980834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0061FF1D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F1E541-C170-E5D5-8033-FB471882F2DF}"/>
              </a:ext>
            </a:extLst>
          </p:cNvPr>
          <p:cNvSpPr txBox="1"/>
          <p:nvPr/>
        </p:nvSpPr>
        <p:spPr>
          <a:xfrm>
            <a:off x="7120531" y="3681207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0061FF1E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269E56-DD5C-9DF9-31D6-690869F4EFE0}"/>
              </a:ext>
            </a:extLst>
          </p:cNvPr>
          <p:cNvSpPr txBox="1"/>
          <p:nvPr/>
        </p:nvSpPr>
        <p:spPr>
          <a:xfrm>
            <a:off x="8037133" y="4580645"/>
            <a:ext cx="1270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Read-Only</a:t>
            </a:r>
            <a:endParaRPr lang="en-CA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C0D5BBA-D049-8EDA-1441-FA3812B1CADF}"/>
              </a:ext>
            </a:extLst>
          </p:cNvPr>
          <p:cNvSpPr/>
          <p:nvPr/>
        </p:nvSpPr>
        <p:spPr>
          <a:xfrm>
            <a:off x="8494948" y="2568485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dirty="0">
                <a:solidFill>
                  <a:schemeClr val="accent2">
                    <a:lumMod val="75000"/>
                  </a:schemeClr>
                </a:solidFill>
              </a:rPr>
              <a:t>0x 0061FF1C</a:t>
            </a:r>
            <a:endParaRPr lang="en-CA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89F317-8786-8209-35A6-7F0660DDF61B}"/>
              </a:ext>
            </a:extLst>
          </p:cNvPr>
          <p:cNvSpPr txBox="1"/>
          <p:nvPr/>
        </p:nvSpPr>
        <p:spPr>
          <a:xfrm>
            <a:off x="7407352" y="2566556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00732011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A82B2B-823C-4821-F593-574C6B00FDB9}"/>
              </a:ext>
            </a:extLst>
          </p:cNvPr>
          <p:cNvSpPr txBox="1"/>
          <p:nvPr/>
        </p:nvSpPr>
        <p:spPr>
          <a:xfrm>
            <a:off x="8672604" y="2197224"/>
            <a:ext cx="1605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char* str;</a:t>
            </a:r>
            <a:endParaRPr lang="en-CA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6901FB-3B3E-F83D-CED3-AEF0C068015D}"/>
              </a:ext>
            </a:extLst>
          </p:cNvPr>
          <p:cNvSpPr txBox="1"/>
          <p:nvPr/>
        </p:nvSpPr>
        <p:spPr>
          <a:xfrm>
            <a:off x="8377147" y="4211643"/>
            <a:ext cx="509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/>
              <a:t>‘J’</a:t>
            </a:r>
            <a:endParaRPr 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DA1AB8-BCE8-5129-7F9B-C25D3FCEED76}"/>
              </a:ext>
            </a:extLst>
          </p:cNvPr>
          <p:cNvSpPr txBox="1"/>
          <p:nvPr/>
        </p:nvSpPr>
        <p:spPr>
          <a:xfrm>
            <a:off x="8544373" y="2518130"/>
            <a:ext cx="1459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0061FF1C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2" name="Arrow: Bent-Up 21">
            <a:extLst>
              <a:ext uri="{FF2B5EF4-FFF2-40B4-BE49-F238E27FC236}">
                <a16:creationId xmlns:a16="http://schemas.microsoft.com/office/drawing/2014/main" id="{E274C59F-5E72-8DFD-E2F2-F453C8526229}"/>
              </a:ext>
            </a:extLst>
          </p:cNvPr>
          <p:cNvSpPr/>
          <p:nvPr/>
        </p:nvSpPr>
        <p:spPr>
          <a:xfrm rot="16200000" flipH="1">
            <a:off x="8438704" y="3494065"/>
            <a:ext cx="1559087" cy="286180"/>
          </a:xfrm>
          <a:prstGeom prst="bentUpArrow">
            <a:avLst>
              <a:gd name="adj1" fmla="val 15014"/>
              <a:gd name="adj2" fmla="val 28125"/>
              <a:gd name="adj3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68BFC44-329A-E27B-4572-1DEB78519E93}"/>
              </a:ext>
            </a:extLst>
          </p:cNvPr>
          <p:cNvSpPr/>
          <p:nvPr/>
        </p:nvSpPr>
        <p:spPr>
          <a:xfrm>
            <a:off x="8195740" y="3397429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‘n’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377BB-3066-B2FA-5C16-1859DBD294C0}"/>
              </a:ext>
            </a:extLst>
          </p:cNvPr>
          <p:cNvSpPr txBox="1"/>
          <p:nvPr/>
        </p:nvSpPr>
        <p:spPr>
          <a:xfrm>
            <a:off x="7120531" y="3394484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0061FF1F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FC41276-CFF1-0B3D-8657-40094473FFC9}"/>
              </a:ext>
            </a:extLst>
          </p:cNvPr>
          <p:cNvSpPr/>
          <p:nvPr/>
        </p:nvSpPr>
        <p:spPr>
          <a:xfrm>
            <a:off x="8494948" y="5043400"/>
            <a:ext cx="1542770" cy="289124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8E3933-528F-C35C-6E38-E61E2FC2E750}"/>
              </a:ext>
            </a:extLst>
          </p:cNvPr>
          <p:cNvSpPr txBox="1"/>
          <p:nvPr/>
        </p:nvSpPr>
        <p:spPr>
          <a:xfrm>
            <a:off x="7378777" y="5041471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0025DEAE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C4755C-0160-8BCB-F82B-429858DCD1D9}"/>
              </a:ext>
            </a:extLst>
          </p:cNvPr>
          <p:cNvSpPr txBox="1"/>
          <p:nvPr/>
        </p:nvSpPr>
        <p:spPr>
          <a:xfrm>
            <a:off x="8683929" y="5357647"/>
            <a:ext cx="1605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char* s;</a:t>
            </a:r>
            <a:endParaRPr lang="en-CA" dirty="0"/>
          </a:p>
        </p:txBody>
      </p:sp>
      <p:sp>
        <p:nvSpPr>
          <p:cNvPr id="30" name="Arrow: Bent-Up 29">
            <a:extLst>
              <a:ext uri="{FF2B5EF4-FFF2-40B4-BE49-F238E27FC236}">
                <a16:creationId xmlns:a16="http://schemas.microsoft.com/office/drawing/2014/main" id="{4EFC9D49-B5F6-9855-C30C-DAA7E5A24352}"/>
              </a:ext>
            </a:extLst>
          </p:cNvPr>
          <p:cNvSpPr/>
          <p:nvPr/>
        </p:nvSpPr>
        <p:spPr>
          <a:xfrm rot="16200000">
            <a:off x="8913389" y="4585996"/>
            <a:ext cx="624776" cy="286180"/>
          </a:xfrm>
          <a:prstGeom prst="bentUpArrow">
            <a:avLst>
              <a:gd name="adj1" fmla="val 15014"/>
              <a:gd name="adj2" fmla="val 28125"/>
              <a:gd name="adj3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BD430EF-9743-41AC-44CD-D2545EDC447D}"/>
              </a:ext>
            </a:extLst>
          </p:cNvPr>
          <p:cNvSpPr/>
          <p:nvPr/>
        </p:nvSpPr>
        <p:spPr>
          <a:xfrm>
            <a:off x="8187370" y="3107704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‘\0’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CAC207-F7F4-3545-3267-674AA3865DAF}"/>
              </a:ext>
            </a:extLst>
          </p:cNvPr>
          <p:cNvSpPr txBox="1"/>
          <p:nvPr/>
        </p:nvSpPr>
        <p:spPr>
          <a:xfrm>
            <a:off x="7112161" y="3104759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3" name="Arrow: Bent-Up 32">
            <a:extLst>
              <a:ext uri="{FF2B5EF4-FFF2-40B4-BE49-F238E27FC236}">
                <a16:creationId xmlns:a16="http://schemas.microsoft.com/office/drawing/2014/main" id="{05F88B44-51A4-11A6-7EA8-0E36F2C2B6F9}"/>
              </a:ext>
            </a:extLst>
          </p:cNvPr>
          <p:cNvSpPr/>
          <p:nvPr/>
        </p:nvSpPr>
        <p:spPr>
          <a:xfrm rot="16200000">
            <a:off x="8816571" y="4329420"/>
            <a:ext cx="961503" cy="429268"/>
          </a:xfrm>
          <a:prstGeom prst="bentUpArrow">
            <a:avLst>
              <a:gd name="adj1" fmla="val 8357"/>
              <a:gd name="adj2" fmla="val 15921"/>
              <a:gd name="adj3" fmla="val 32249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Bent-Up 33">
            <a:extLst>
              <a:ext uri="{FF2B5EF4-FFF2-40B4-BE49-F238E27FC236}">
                <a16:creationId xmlns:a16="http://schemas.microsoft.com/office/drawing/2014/main" id="{D20A0D52-A4AD-3E32-87E4-48DB5E80F291}"/>
              </a:ext>
            </a:extLst>
          </p:cNvPr>
          <p:cNvSpPr/>
          <p:nvPr/>
        </p:nvSpPr>
        <p:spPr>
          <a:xfrm rot="16200000">
            <a:off x="8743178" y="4109630"/>
            <a:ext cx="1262218" cy="568132"/>
          </a:xfrm>
          <a:prstGeom prst="bentUpArrow">
            <a:avLst>
              <a:gd name="adj1" fmla="val 5842"/>
              <a:gd name="adj2" fmla="val 12987"/>
              <a:gd name="adj3" fmla="val 2219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Bent-Up 34">
            <a:extLst>
              <a:ext uri="{FF2B5EF4-FFF2-40B4-BE49-F238E27FC236}">
                <a16:creationId xmlns:a16="http://schemas.microsoft.com/office/drawing/2014/main" id="{0131EE78-C483-CF2B-3FF2-005C1E38428C}"/>
              </a:ext>
            </a:extLst>
          </p:cNvPr>
          <p:cNvSpPr/>
          <p:nvPr/>
        </p:nvSpPr>
        <p:spPr>
          <a:xfrm rot="16200000">
            <a:off x="8686952" y="3886719"/>
            <a:ext cx="1545722" cy="730450"/>
          </a:xfrm>
          <a:prstGeom prst="bentUpArrow">
            <a:avLst>
              <a:gd name="adj1" fmla="val 4538"/>
              <a:gd name="adj2" fmla="val 11031"/>
              <a:gd name="adj3" fmla="val 1567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Bent-Up 35">
            <a:extLst>
              <a:ext uri="{FF2B5EF4-FFF2-40B4-BE49-F238E27FC236}">
                <a16:creationId xmlns:a16="http://schemas.microsoft.com/office/drawing/2014/main" id="{835542AF-015B-9D29-816D-B3B6076D0245}"/>
              </a:ext>
            </a:extLst>
          </p:cNvPr>
          <p:cNvSpPr/>
          <p:nvPr/>
        </p:nvSpPr>
        <p:spPr>
          <a:xfrm rot="16200000">
            <a:off x="8609653" y="3630749"/>
            <a:ext cx="1853839" cy="934271"/>
          </a:xfrm>
          <a:prstGeom prst="bentUpArrow">
            <a:avLst>
              <a:gd name="adj1" fmla="val 4538"/>
              <a:gd name="adj2" fmla="val 11031"/>
              <a:gd name="adj3" fmla="val 1567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7EA141B-3EB5-0CE6-599E-2A4BE790B050}"/>
              </a:ext>
            </a:extLst>
          </p:cNvPr>
          <p:cNvSpPr/>
          <p:nvPr/>
        </p:nvSpPr>
        <p:spPr>
          <a:xfrm>
            <a:off x="9052762" y="766068"/>
            <a:ext cx="2047630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L8Ex7-StrLen.c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639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 tmFilter="0, 0; .2, .5; .8, .5; 1, 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250" autoRev="1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1.48148E-6 L 2.91667E-6 0.3625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125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32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6" presetID="21" presetClass="emph" presetSubtype="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9" grpId="0" animBg="1"/>
      <p:bldP spid="10" grpId="0"/>
      <p:bldP spid="11" grpId="0"/>
      <p:bldP spid="12" grpId="0"/>
      <p:bldP spid="14" grpId="0"/>
      <p:bldP spid="15" grpId="0" animBg="1"/>
      <p:bldP spid="16" grpId="0"/>
      <p:bldP spid="19" grpId="0"/>
      <p:bldP spid="20" grpId="0"/>
      <p:bldP spid="21" grpId="0"/>
      <p:bldP spid="21" grpId="1"/>
      <p:bldP spid="22" grpId="0" animBg="1"/>
      <p:bldP spid="23" grpId="0" animBg="1"/>
      <p:bldP spid="24" grpId="0"/>
      <p:bldP spid="25" grpId="0" animBg="1"/>
      <p:bldP spid="26" grpId="0"/>
      <p:bldP spid="28" grpId="0"/>
      <p:bldP spid="30" grpId="0" animBg="1"/>
      <p:bldP spid="31" grpId="0" animBg="1"/>
      <p:bldP spid="31" grpId="1" animBg="1"/>
      <p:bldP spid="31" grpId="2" animBg="1"/>
      <p:bldP spid="32" grpId="0"/>
      <p:bldP spid="33" grpId="0" animBg="1"/>
      <p:bldP spid="34" grpId="0" animBg="1"/>
      <p:bldP spid="35" grpId="0" animBg="1"/>
      <p:bldP spid="36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83845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 and Strings – Example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526686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With the same </a:t>
            </a:r>
            <a:r>
              <a:rPr lang="en-CA" sz="2200" dirty="0" err="1"/>
              <a:t>my_strlen</a:t>
            </a:r>
            <a:r>
              <a:rPr lang="en-CA" sz="2200" dirty="0"/>
              <a:t>() function, what would be the </a:t>
            </a:r>
            <a:r>
              <a:rPr lang="en-CA" sz="2200" dirty="0" err="1"/>
              <a:t>printf</a:t>
            </a:r>
            <a:r>
              <a:rPr lang="en-CA" sz="2200" dirty="0"/>
              <a:t>() output?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chemeClr val="accent1"/>
              </a:solidFill>
              <a:latin typeface="Courier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chemeClr val="accent1"/>
              </a:solidFill>
              <a:latin typeface="Courier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chemeClr val="accent1"/>
              </a:solidFill>
              <a:latin typeface="Courier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chemeClr val="accent1"/>
              </a:solidFill>
              <a:latin typeface="Courier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chemeClr val="accent1"/>
              </a:solidFill>
              <a:latin typeface="Courier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18</a:t>
            </a:fld>
            <a:endParaRPr lang="en-C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4AAE53-992B-FDF2-422A-41A7521236BF}"/>
              </a:ext>
            </a:extLst>
          </p:cNvPr>
          <p:cNvSpPr txBox="1"/>
          <p:nvPr/>
        </p:nvSpPr>
        <p:spPr>
          <a:xfrm>
            <a:off x="1258218" y="2073301"/>
            <a:ext cx="5371182" cy="3046988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char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array[] = “Welcome!”;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char*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str = “COMPENG 2SH4”;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b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my_strlen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(“Hello World!”);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my_strlen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(array);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my_strlen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(str);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(“Total String Length: %d\n”,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165990-6A1F-051A-2C6D-B31AE026A452}"/>
              </a:ext>
            </a:extLst>
          </p:cNvPr>
          <p:cNvSpPr txBox="1"/>
          <p:nvPr/>
        </p:nvSpPr>
        <p:spPr>
          <a:xfrm>
            <a:off x="6889805" y="2350300"/>
            <a:ext cx="4209132" cy="156966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Return the string length, EXLUCDING Null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my_strlen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k;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k = 0; *s != ‘\0’; s++)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k++;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k;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7" name="Speech Bubble: Rectangle 26">
            <a:extLst>
              <a:ext uri="{FF2B5EF4-FFF2-40B4-BE49-F238E27FC236}">
                <a16:creationId xmlns:a16="http://schemas.microsoft.com/office/drawing/2014/main" id="{8AECEC91-6BE5-1291-A7C6-078F242B21E9}"/>
              </a:ext>
            </a:extLst>
          </p:cNvPr>
          <p:cNvSpPr/>
          <p:nvPr/>
        </p:nvSpPr>
        <p:spPr>
          <a:xfrm>
            <a:off x="7198414" y="4561952"/>
            <a:ext cx="3414100" cy="732411"/>
          </a:xfrm>
          <a:prstGeom prst="wedgeRectCallout">
            <a:avLst>
              <a:gd name="adj1" fmla="val -100158"/>
              <a:gd name="adj2" fmla="val -70183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b="1" dirty="0">
                <a:solidFill>
                  <a:schemeClr val="accent1"/>
                </a:solidFill>
              </a:rPr>
              <a:t>Total String Length: 32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668FF4F-8CE2-0D54-9B48-06E4531935B4}"/>
              </a:ext>
            </a:extLst>
          </p:cNvPr>
          <p:cNvSpPr/>
          <p:nvPr/>
        </p:nvSpPr>
        <p:spPr>
          <a:xfrm>
            <a:off x="9052762" y="766068"/>
            <a:ext cx="2047630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L8Ex7_2-StrLen2.c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61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Dynamic Memory Allocation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34D883-17FA-BD8C-E12C-20AA3AB256E9}"/>
              </a:ext>
            </a:extLst>
          </p:cNvPr>
          <p:cNvSpPr txBox="1"/>
          <p:nvPr/>
        </p:nvSpPr>
        <p:spPr>
          <a:xfrm>
            <a:off x="831850" y="551471"/>
            <a:ext cx="52641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8-3] Introduction to DMA</a:t>
            </a:r>
          </a:p>
        </p:txBody>
      </p:sp>
    </p:spTree>
    <p:extLst>
      <p:ext uri="{BB962C8B-B14F-4D97-AF65-F5344CB8AC3E}">
        <p14:creationId xmlns:p14="http://schemas.microsoft.com/office/powerpoint/2010/main" val="542850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Allow us to freely control when objects are created and destroyed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Memory management functions for DMA are available in the C standard utility library &lt;</a:t>
            </a:r>
            <a:r>
              <a:rPr lang="en-CA" dirty="0" err="1"/>
              <a:t>stdlib.h</a:t>
            </a:r>
            <a:r>
              <a:rPr lang="en-CA" dirty="0"/>
              <a:t>&gt;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968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Management Routines in C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20</a:t>
            </a:fld>
            <a:endParaRPr lang="en-CA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C03D452-6FFF-DF44-8357-092228BEB05C}"/>
              </a:ext>
            </a:extLst>
          </p:cNvPr>
          <p:cNvSpPr/>
          <p:nvPr/>
        </p:nvSpPr>
        <p:spPr>
          <a:xfrm>
            <a:off x="3407581" y="2489732"/>
            <a:ext cx="2616676" cy="1212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b="1" u="sng" dirty="0"/>
              <a:t>CREATE</a:t>
            </a:r>
            <a:endParaRPr lang="en-US" sz="2400" b="1" u="sng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371A41D-C4AB-0226-AE47-D2BE1F7B9081}"/>
              </a:ext>
            </a:extLst>
          </p:cNvPr>
          <p:cNvSpPr/>
          <p:nvPr/>
        </p:nvSpPr>
        <p:spPr>
          <a:xfrm>
            <a:off x="8496912" y="4644824"/>
            <a:ext cx="2539842" cy="113082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b="1" u="sng" dirty="0"/>
              <a:t>Destroy</a:t>
            </a:r>
            <a:endParaRPr lang="en-US" sz="2400" b="1" u="sng" dirty="0"/>
          </a:p>
        </p:txBody>
      </p:sp>
      <p:sp>
        <p:nvSpPr>
          <p:cNvPr id="10" name="Arrow: Curved Left 9">
            <a:extLst>
              <a:ext uri="{FF2B5EF4-FFF2-40B4-BE49-F238E27FC236}">
                <a16:creationId xmlns:a16="http://schemas.microsoft.com/office/drawing/2014/main" id="{A5B083BE-63BC-6838-24FC-DE16846FC3BC}"/>
              </a:ext>
            </a:extLst>
          </p:cNvPr>
          <p:cNvSpPr/>
          <p:nvPr/>
        </p:nvSpPr>
        <p:spPr>
          <a:xfrm rot="17960430">
            <a:off x="7442006" y="1573256"/>
            <a:ext cx="781050" cy="354509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BA1E35-9613-5347-EF1A-A2778578508F}"/>
              </a:ext>
            </a:extLst>
          </p:cNvPr>
          <p:cNvSpPr/>
          <p:nvPr/>
        </p:nvSpPr>
        <p:spPr>
          <a:xfrm>
            <a:off x="3825331" y="3131737"/>
            <a:ext cx="1781175" cy="32385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b="1" dirty="0">
                <a:latin typeface="Courier"/>
              </a:rPr>
              <a:t>malloc()</a:t>
            </a:r>
            <a:endParaRPr lang="en-US" b="1" dirty="0">
              <a:latin typeface="Courie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0ACF9C-7B0C-E40D-6EA8-3143B3F6287D}"/>
              </a:ext>
            </a:extLst>
          </p:cNvPr>
          <p:cNvSpPr/>
          <p:nvPr/>
        </p:nvSpPr>
        <p:spPr>
          <a:xfrm>
            <a:off x="8958874" y="5238809"/>
            <a:ext cx="1781175" cy="3238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b="1" dirty="0">
                <a:latin typeface="Courier"/>
              </a:rPr>
              <a:t>free()</a:t>
            </a:r>
            <a:endParaRPr lang="en-US" b="1" dirty="0">
              <a:latin typeface="Courier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4E6A96-2D0F-E487-2001-C16BCD51C243}"/>
              </a:ext>
            </a:extLst>
          </p:cNvPr>
          <p:cNvSpPr/>
          <p:nvPr/>
        </p:nvSpPr>
        <p:spPr>
          <a:xfrm>
            <a:off x="1133336" y="2923788"/>
            <a:ext cx="2616676" cy="121250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b="1" u="sng" dirty="0"/>
              <a:t>CREATE </a:t>
            </a:r>
            <a:r>
              <a:rPr lang="en-CA" sz="1400" b="1" u="sng" dirty="0"/>
              <a:t>(and 0-init)</a:t>
            </a:r>
            <a:endParaRPr lang="en-US" sz="2400" b="1" u="sng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871126-A9BF-8EC1-1289-763709A72368}"/>
              </a:ext>
            </a:extLst>
          </p:cNvPr>
          <p:cNvSpPr/>
          <p:nvPr/>
        </p:nvSpPr>
        <p:spPr>
          <a:xfrm>
            <a:off x="1551086" y="3603104"/>
            <a:ext cx="1781175" cy="3238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b="1" dirty="0" err="1">
                <a:latin typeface="Courier"/>
              </a:rPr>
              <a:t>calloc</a:t>
            </a:r>
            <a:r>
              <a:rPr lang="en-CA" b="1" dirty="0">
                <a:latin typeface="Courier"/>
              </a:rPr>
              <a:t>()</a:t>
            </a:r>
            <a:endParaRPr lang="en-US" b="1" dirty="0">
              <a:latin typeface="Courier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93A3302-FBF7-2954-872E-DBD96304D50E}"/>
              </a:ext>
            </a:extLst>
          </p:cNvPr>
          <p:cNvSpPr/>
          <p:nvPr/>
        </p:nvSpPr>
        <p:spPr>
          <a:xfrm>
            <a:off x="4190861" y="4603982"/>
            <a:ext cx="2616676" cy="121250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b="1" u="sng" dirty="0"/>
              <a:t>ADJUST SIZE</a:t>
            </a:r>
            <a:endParaRPr lang="en-US" sz="2400" b="1" u="sng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5A184F-8152-B0A9-CEF4-FF91A42B882F}"/>
              </a:ext>
            </a:extLst>
          </p:cNvPr>
          <p:cNvSpPr/>
          <p:nvPr/>
        </p:nvSpPr>
        <p:spPr>
          <a:xfrm>
            <a:off x="4608611" y="5318950"/>
            <a:ext cx="1781175" cy="3238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b="1" dirty="0" err="1">
                <a:latin typeface="Courier"/>
              </a:rPr>
              <a:t>realloc</a:t>
            </a:r>
            <a:r>
              <a:rPr lang="en-CA" b="1" dirty="0">
                <a:latin typeface="Courier"/>
              </a:rPr>
              <a:t>()</a:t>
            </a:r>
            <a:endParaRPr lang="en-US" b="1" dirty="0">
              <a:latin typeface="Courier"/>
            </a:endParaRPr>
          </a:p>
        </p:txBody>
      </p:sp>
      <p:sp>
        <p:nvSpPr>
          <p:cNvPr id="18" name="Arrow: Curved Left 17">
            <a:extLst>
              <a:ext uri="{FF2B5EF4-FFF2-40B4-BE49-F238E27FC236}">
                <a16:creationId xmlns:a16="http://schemas.microsoft.com/office/drawing/2014/main" id="{363C7865-1737-818C-41B2-93DEA8096C7C}"/>
              </a:ext>
            </a:extLst>
          </p:cNvPr>
          <p:cNvSpPr/>
          <p:nvPr/>
        </p:nvSpPr>
        <p:spPr>
          <a:xfrm rot="7383265" flipV="1">
            <a:off x="2777220" y="4125640"/>
            <a:ext cx="691449" cy="2002587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87D7FE-B1C8-678A-CDCE-E02BDEB01F49}"/>
              </a:ext>
            </a:extLst>
          </p:cNvPr>
          <p:cNvSpPr/>
          <p:nvPr/>
        </p:nvSpPr>
        <p:spPr>
          <a:xfrm>
            <a:off x="1038225" y="2367388"/>
            <a:ext cx="5057778" cy="1923635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Curved Left 19">
            <a:extLst>
              <a:ext uri="{FF2B5EF4-FFF2-40B4-BE49-F238E27FC236}">
                <a16:creationId xmlns:a16="http://schemas.microsoft.com/office/drawing/2014/main" id="{BDDFA94F-99E6-4523-331E-7DE2E83DD677}"/>
              </a:ext>
            </a:extLst>
          </p:cNvPr>
          <p:cNvSpPr/>
          <p:nvPr/>
        </p:nvSpPr>
        <p:spPr>
          <a:xfrm rot="18409189" flipV="1">
            <a:off x="6682747" y="4002726"/>
            <a:ext cx="515883" cy="843081"/>
          </a:xfrm>
          <a:prstGeom prst="curved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3A1B0918-B281-4972-9C00-9BCDC34064B3}"/>
              </a:ext>
            </a:extLst>
          </p:cNvPr>
          <p:cNvSpPr/>
          <p:nvPr/>
        </p:nvSpPr>
        <p:spPr>
          <a:xfrm>
            <a:off x="6947000" y="5210234"/>
            <a:ext cx="1463575" cy="20715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73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Allow us to freely control when objects are created and destroyed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Memory management functions for DMA are available in the C standard utility library &lt;</a:t>
            </a:r>
            <a:r>
              <a:rPr lang="en-CA" dirty="0" err="1"/>
              <a:t>stdlib.h</a:t>
            </a:r>
            <a:r>
              <a:rPr lang="en-CA" dirty="0"/>
              <a:t>&gt;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malloc()</a:t>
            </a:r>
            <a:r>
              <a:rPr lang="en-CA" dirty="0"/>
              <a:t>, </a:t>
            </a:r>
            <a:r>
              <a:rPr lang="en-CA" dirty="0" err="1">
                <a:latin typeface="Courier"/>
              </a:rPr>
              <a:t>calloc</a:t>
            </a:r>
            <a:r>
              <a:rPr lang="en-CA" dirty="0">
                <a:latin typeface="Courier"/>
              </a:rPr>
              <a:t>()</a:t>
            </a:r>
            <a:r>
              <a:rPr lang="en-CA" dirty="0"/>
              <a:t>, and </a:t>
            </a:r>
            <a:r>
              <a:rPr lang="en-CA" dirty="0" err="1">
                <a:latin typeface="Courier"/>
              </a:rPr>
              <a:t>realloc</a:t>
            </a:r>
            <a:r>
              <a:rPr lang="en-CA" dirty="0">
                <a:latin typeface="Courier"/>
              </a:rPr>
              <a:t>()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Allocate </a:t>
            </a:r>
            <a:r>
              <a:rPr lang="en-CA" b="1" u="sng" dirty="0"/>
              <a:t>a contiguous portion of memory</a:t>
            </a:r>
            <a:r>
              <a:rPr lang="en-CA" dirty="0"/>
              <a:t> (consecutive bytes)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Return </a:t>
            </a:r>
            <a:r>
              <a:rPr lang="en-CA" b="1" u="sng" dirty="0"/>
              <a:t>a generic pointer</a:t>
            </a:r>
            <a:r>
              <a:rPr lang="en-CA" dirty="0"/>
              <a:t> to the first byte of the memory sector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free()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The allocated memory remains allocated</a:t>
            </a:r>
            <a:br>
              <a:rPr lang="en-CA" dirty="0"/>
            </a:br>
            <a:r>
              <a:rPr lang="en-CA" dirty="0"/>
              <a:t>until the deallocation call is made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Otherwise?</a:t>
            </a:r>
            <a:br>
              <a:rPr lang="en-CA" dirty="0"/>
            </a:b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968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Management Routines in C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21</a:t>
            </a:fld>
            <a:endParaRPr lang="en-CA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C03D452-6FFF-DF44-8357-092228BEB05C}"/>
              </a:ext>
            </a:extLst>
          </p:cNvPr>
          <p:cNvSpPr/>
          <p:nvPr/>
        </p:nvSpPr>
        <p:spPr>
          <a:xfrm>
            <a:off x="8820149" y="2396880"/>
            <a:ext cx="2181837" cy="9940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b="1" u="sng" dirty="0"/>
              <a:t>CREATE</a:t>
            </a:r>
            <a:endParaRPr lang="en-US" sz="2400" b="1" u="sn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BA1E35-9613-5347-EF1A-A2778578508F}"/>
              </a:ext>
            </a:extLst>
          </p:cNvPr>
          <p:cNvSpPr/>
          <p:nvPr/>
        </p:nvSpPr>
        <p:spPr>
          <a:xfrm>
            <a:off x="9187527" y="2971413"/>
            <a:ext cx="1485179" cy="26549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b="1" dirty="0">
                <a:latin typeface="Courier"/>
              </a:rPr>
              <a:t>malloc()</a:t>
            </a:r>
            <a:endParaRPr lang="en-US" b="1" dirty="0">
              <a:latin typeface="Courier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4E6A96-2D0F-E487-2001-C16BCD51C243}"/>
              </a:ext>
            </a:extLst>
          </p:cNvPr>
          <p:cNvSpPr/>
          <p:nvPr/>
        </p:nvSpPr>
        <p:spPr>
          <a:xfrm>
            <a:off x="8820149" y="3527761"/>
            <a:ext cx="2181837" cy="101101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b="1" u="sng" dirty="0"/>
              <a:t>CREATE </a:t>
            </a:r>
            <a:r>
              <a:rPr lang="en-CA" sz="1400" b="1" u="sng" dirty="0"/>
              <a:t>(and 0-init)</a:t>
            </a:r>
            <a:endParaRPr lang="en-US" sz="2400" b="1" u="sng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871126-A9BF-8EC1-1289-763709A72368}"/>
              </a:ext>
            </a:extLst>
          </p:cNvPr>
          <p:cNvSpPr/>
          <p:nvPr/>
        </p:nvSpPr>
        <p:spPr>
          <a:xfrm>
            <a:off x="9187527" y="4133656"/>
            <a:ext cx="1485179" cy="2700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b="1" dirty="0" err="1">
                <a:latin typeface="Courier"/>
              </a:rPr>
              <a:t>calloc</a:t>
            </a:r>
            <a:r>
              <a:rPr lang="en-CA" b="1" dirty="0">
                <a:latin typeface="Courier"/>
              </a:rPr>
              <a:t>()</a:t>
            </a:r>
            <a:endParaRPr lang="en-US" b="1" dirty="0">
              <a:latin typeface="Courier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93A3302-FBF7-2954-872E-DBD96304D50E}"/>
              </a:ext>
            </a:extLst>
          </p:cNvPr>
          <p:cNvSpPr/>
          <p:nvPr/>
        </p:nvSpPr>
        <p:spPr>
          <a:xfrm>
            <a:off x="8820149" y="4688111"/>
            <a:ext cx="2181837" cy="101101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b="1" u="sng" dirty="0"/>
              <a:t>ADJUST SIZE</a:t>
            </a:r>
            <a:endParaRPr lang="en-US" sz="2400" b="1" u="sng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5A184F-8152-B0A9-CEF4-FF91A42B882F}"/>
              </a:ext>
            </a:extLst>
          </p:cNvPr>
          <p:cNvSpPr/>
          <p:nvPr/>
        </p:nvSpPr>
        <p:spPr>
          <a:xfrm>
            <a:off x="9187527" y="5276076"/>
            <a:ext cx="1485179" cy="27003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b="1" dirty="0" err="1">
                <a:latin typeface="Courier"/>
              </a:rPr>
              <a:t>realloc</a:t>
            </a:r>
            <a:r>
              <a:rPr lang="en-CA" b="1" dirty="0">
                <a:latin typeface="Courier"/>
              </a:rPr>
              <a:t>()</a:t>
            </a:r>
            <a:endParaRPr lang="en-US" b="1" dirty="0">
              <a:latin typeface="Courier"/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61B04144-E5A9-502A-836F-FD71517CE0D1}"/>
              </a:ext>
            </a:extLst>
          </p:cNvPr>
          <p:cNvSpPr/>
          <p:nvPr/>
        </p:nvSpPr>
        <p:spPr>
          <a:xfrm>
            <a:off x="6250696" y="3527761"/>
            <a:ext cx="1740779" cy="354104"/>
          </a:xfrm>
          <a:prstGeom prst="wedgeRectCallout">
            <a:avLst>
              <a:gd name="adj1" fmla="val -35809"/>
              <a:gd name="adj2" fmla="val -8087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Like Arrays!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D5BD6F-FBF8-1D76-9B7F-DB46E8444A6E}"/>
              </a:ext>
            </a:extLst>
          </p:cNvPr>
          <p:cNvSpPr/>
          <p:nvPr/>
        </p:nvSpPr>
        <p:spPr>
          <a:xfrm>
            <a:off x="6326537" y="4742953"/>
            <a:ext cx="2099043" cy="93456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b="1" u="sng" dirty="0"/>
              <a:t>Destroy</a:t>
            </a:r>
            <a:endParaRPr lang="en-US" sz="2400" b="1" u="sng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B95C57-8B27-36C1-5FF4-8235D429F65F}"/>
              </a:ext>
            </a:extLst>
          </p:cNvPr>
          <p:cNvSpPr/>
          <p:nvPr/>
        </p:nvSpPr>
        <p:spPr>
          <a:xfrm>
            <a:off x="6722664" y="5266912"/>
            <a:ext cx="1472045" cy="2676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b="1" dirty="0">
                <a:latin typeface="Courier"/>
              </a:rPr>
              <a:t>free()</a:t>
            </a:r>
            <a:endParaRPr lang="en-US" b="1" dirty="0">
              <a:latin typeface="Courier"/>
            </a:endParaRPr>
          </a:p>
        </p:txBody>
      </p:sp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EAA44042-7FD7-E4C3-EC80-0D4368306210}"/>
              </a:ext>
            </a:extLst>
          </p:cNvPr>
          <p:cNvSpPr/>
          <p:nvPr/>
        </p:nvSpPr>
        <p:spPr>
          <a:xfrm>
            <a:off x="3168496" y="5411092"/>
            <a:ext cx="1740779" cy="354104"/>
          </a:xfrm>
          <a:prstGeom prst="wedgeRectCallout">
            <a:avLst>
              <a:gd name="adj1" fmla="val -35809"/>
              <a:gd name="adj2" fmla="val -8087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Memory Leak!</a:t>
            </a:r>
          </a:p>
        </p:txBody>
      </p:sp>
    </p:spTree>
    <p:extLst>
      <p:ext uri="{BB962C8B-B14F-4D97-AF65-F5344CB8AC3E}">
        <p14:creationId xmlns:p14="http://schemas.microsoft.com/office/powerpoint/2010/main" val="1708235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597344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>
                <a:latin typeface="Courier"/>
              </a:rPr>
              <a:t>malloc()</a:t>
            </a:r>
            <a:r>
              <a:rPr lang="en-CA" sz="2400" dirty="0"/>
              <a:t>, </a:t>
            </a:r>
            <a:r>
              <a:rPr lang="en-CA" sz="2400" dirty="0" err="1">
                <a:latin typeface="Courier"/>
              </a:rPr>
              <a:t>calloc</a:t>
            </a:r>
            <a:r>
              <a:rPr lang="en-CA" sz="2400" dirty="0">
                <a:latin typeface="Courier"/>
              </a:rPr>
              <a:t>()</a:t>
            </a:r>
            <a:r>
              <a:rPr lang="en-CA" sz="2400" dirty="0"/>
              <a:t> and 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free()</a:t>
            </a:r>
            <a:r>
              <a:rPr lang="en-CA" sz="2400" dirty="0"/>
              <a:t> are discussed in [PLV 8-3]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Can also adjust the variables size dynamically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Available in the C standard utility library &lt;</a:t>
            </a:r>
            <a:r>
              <a:rPr lang="en-CA" dirty="0" err="1"/>
              <a:t>stdlib.h</a:t>
            </a:r>
            <a:r>
              <a:rPr lang="en-CA" dirty="0"/>
              <a:t>&gt;</a:t>
            </a:r>
            <a:br>
              <a:rPr lang="en-CA" dirty="0"/>
            </a:b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void* </a:t>
            </a:r>
            <a:r>
              <a:rPr lang="en-CA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realloc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void* 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p, </a:t>
            </a:r>
            <a:r>
              <a:rPr lang="en-CA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new_size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cs typeface="Courier New" panose="02070309020205020404" pitchFamily="49" charset="0"/>
              </a:rPr>
              <a:t>Change the size of the memory sector pointed by </a:t>
            </a:r>
            <a:r>
              <a:rPr lang="en-CA" b="1" dirty="0">
                <a:latin typeface="Courier"/>
                <a:cs typeface="Courier New" panose="02070309020205020404" pitchFamily="49" charset="0"/>
              </a:rPr>
              <a:t>p</a:t>
            </a:r>
            <a:r>
              <a:rPr lang="en-CA" dirty="0">
                <a:cs typeface="Courier New" panose="02070309020205020404" pitchFamily="49" charset="0"/>
              </a:rPr>
              <a:t> to </a:t>
            </a:r>
            <a:r>
              <a:rPr lang="en-CA" b="1" dirty="0" err="1">
                <a:latin typeface="Courier"/>
                <a:cs typeface="Courier New" panose="02070309020205020404" pitchFamily="49" charset="0"/>
              </a:rPr>
              <a:t>new_size</a:t>
            </a:r>
            <a:endParaRPr lang="en-CA" b="1" dirty="0">
              <a:latin typeface="Courier"/>
              <a:cs typeface="Courier New" panose="02070309020205020404" pitchFamily="49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cs typeface="Courier New" panose="02070309020205020404" pitchFamily="49" charset="0"/>
              </a:rPr>
              <a:t>Returns a pointer to the new block, or </a:t>
            </a:r>
            <a:r>
              <a:rPr lang="en-CA" b="1" dirty="0">
                <a:latin typeface="Courier"/>
                <a:cs typeface="Courier New" panose="02070309020205020404" pitchFamily="49" charset="0"/>
              </a:rPr>
              <a:t>NULL</a:t>
            </a:r>
            <a:r>
              <a:rPr lang="en-CA" dirty="0">
                <a:cs typeface="Courier New" panose="02070309020205020404" pitchFamily="49" charset="0"/>
              </a:rPr>
              <a:t> if request is unfulfilled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cs typeface="Courier New" panose="02070309020205020404" pitchFamily="49" charset="0"/>
              </a:rPr>
              <a:t>Existing contents in the old block will remain unchanged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>
                <a:cs typeface="Courier New" panose="02070309020205020404" pitchFamily="49" charset="0"/>
              </a:rPr>
              <a:t>When downsizing, </a:t>
            </a:r>
            <a:r>
              <a:rPr lang="en-CA" b="1" dirty="0">
                <a:latin typeface="Courier"/>
                <a:cs typeface="Courier New" panose="02070309020205020404" pitchFamily="49" charset="0"/>
              </a:rPr>
              <a:t>p</a:t>
            </a:r>
            <a:r>
              <a:rPr lang="en-CA" dirty="0">
                <a:cs typeface="Courier New" panose="02070309020205020404" pitchFamily="49" charset="0"/>
              </a:rPr>
              <a:t> most likely will remain the same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>
                <a:cs typeface="Courier New" panose="02070309020205020404" pitchFamily="49" charset="0"/>
              </a:rPr>
              <a:t>When upsizing, </a:t>
            </a:r>
            <a:r>
              <a:rPr lang="en-CA" b="1" dirty="0">
                <a:latin typeface="Courier"/>
                <a:cs typeface="Courier New" panose="02070309020205020404" pitchFamily="49" charset="0"/>
              </a:rPr>
              <a:t>p</a:t>
            </a:r>
            <a:r>
              <a:rPr lang="en-CA" dirty="0">
                <a:cs typeface="Courier New" panose="02070309020205020404" pitchFamily="49" charset="0"/>
              </a:rPr>
              <a:t> may change for a larger sector on the heap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CA" dirty="0">
                <a:cs typeface="Courier New" panose="02070309020205020404" pitchFamily="49" charset="0"/>
              </a:rPr>
              <a:t>Additional spaces will be uninitialized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endParaRPr lang="en-CA" dirty="0">
              <a:cs typeface="Courier New" panose="02070309020205020404" pitchFamily="49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cs typeface="Courier New" panose="02070309020205020404" pitchFamily="49" charset="0"/>
              </a:rPr>
              <a:t>What happens to the old block?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>
                <a:cs typeface="Courier New" panose="02070309020205020404" pitchFamily="49" charset="0"/>
              </a:rPr>
              <a:t>Typically, </a:t>
            </a:r>
            <a:r>
              <a:rPr lang="en-CA" b="1" dirty="0" err="1">
                <a:latin typeface="Courier"/>
                <a:cs typeface="Courier New" panose="02070309020205020404" pitchFamily="49" charset="0"/>
              </a:rPr>
              <a:t>realloc</a:t>
            </a:r>
            <a:r>
              <a:rPr lang="en-CA" b="1" dirty="0">
                <a:latin typeface="Courier"/>
                <a:cs typeface="Courier New" panose="02070309020205020404" pitchFamily="49" charset="0"/>
              </a:rPr>
              <a:t>()</a:t>
            </a:r>
            <a:r>
              <a:rPr lang="en-CA" dirty="0">
                <a:cs typeface="Courier New" panose="02070309020205020404" pitchFamily="49" charset="0"/>
              </a:rPr>
              <a:t> frees the old block automatically </a:t>
            </a:r>
            <a:r>
              <a:rPr lang="en-CA" b="1" u="sng" dirty="0">
                <a:cs typeface="Courier New" panose="02070309020205020404" pitchFamily="49" charset="0"/>
              </a:rPr>
              <a:t>if moved to a new memory sector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CA" dirty="0"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968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Management Routines in C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22</a:t>
            </a:fld>
            <a:endParaRPr lang="en-CA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FF0C0F-43EE-088E-FBB0-58315D8CE731}"/>
              </a:ext>
            </a:extLst>
          </p:cNvPr>
          <p:cNvSpPr/>
          <p:nvPr/>
        </p:nvSpPr>
        <p:spPr>
          <a:xfrm>
            <a:off x="9030660" y="3001039"/>
            <a:ext cx="2181837" cy="101101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b="1" u="sng" dirty="0"/>
              <a:t>ADJUST SIZE</a:t>
            </a:r>
            <a:endParaRPr lang="en-US" sz="2400" b="1" u="sn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F78E73-7238-377F-6810-C6A2BD1BFE00}"/>
              </a:ext>
            </a:extLst>
          </p:cNvPr>
          <p:cNvSpPr/>
          <p:nvPr/>
        </p:nvSpPr>
        <p:spPr>
          <a:xfrm>
            <a:off x="9398038" y="3589004"/>
            <a:ext cx="1485179" cy="27003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b="1" dirty="0" err="1">
                <a:latin typeface="Courier"/>
              </a:rPr>
              <a:t>realloc</a:t>
            </a:r>
            <a:r>
              <a:rPr lang="en-CA" b="1" dirty="0">
                <a:latin typeface="Courier"/>
              </a:rPr>
              <a:t>()</a:t>
            </a:r>
            <a:endParaRPr lang="en-US" b="1" dirty="0"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93141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59734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Can also adjust the variables size dynamically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Available in the C standard utility library &lt;</a:t>
            </a:r>
            <a:r>
              <a:rPr lang="en-CA" dirty="0" err="1"/>
              <a:t>stdlib.h</a:t>
            </a:r>
            <a:r>
              <a:rPr lang="en-CA" dirty="0"/>
              <a:t>&gt;</a:t>
            </a:r>
            <a:br>
              <a:rPr lang="en-CA" dirty="0"/>
            </a:b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void* </a:t>
            </a:r>
            <a:r>
              <a:rPr lang="en-CA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realloc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void* 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p, </a:t>
            </a:r>
            <a:r>
              <a:rPr lang="en-CA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new_size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cs typeface="Courier New" panose="02070309020205020404" pitchFamily="49" charset="0"/>
              </a:rPr>
              <a:t>Example of </a:t>
            </a:r>
            <a:r>
              <a:rPr lang="en-CA" b="1" dirty="0">
                <a:solidFill>
                  <a:srgbClr val="0000FF"/>
                </a:solidFill>
                <a:cs typeface="Courier New" panose="02070309020205020404" pitchFamily="49" charset="0"/>
              </a:rPr>
              <a:t>Upsizing</a:t>
            </a:r>
            <a:r>
              <a:rPr lang="en-CA" dirty="0">
                <a:cs typeface="Courier New" panose="02070309020205020404" pitchFamily="49" charset="0"/>
              </a:rPr>
              <a:t>…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0000FF"/>
                </a:solidFill>
                <a:cs typeface="Courier New" panose="02070309020205020404" pitchFamily="49" charset="0"/>
              </a:rPr>
              <a:t>Case 1 – When memory sector can be expanded as 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968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Management Routines in C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23</a:t>
            </a:fld>
            <a:endParaRPr lang="en-CA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FF0C0F-43EE-088E-FBB0-58315D8CE731}"/>
              </a:ext>
            </a:extLst>
          </p:cNvPr>
          <p:cNvSpPr/>
          <p:nvPr/>
        </p:nvSpPr>
        <p:spPr>
          <a:xfrm>
            <a:off x="8815557" y="1125487"/>
            <a:ext cx="2181837" cy="101101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b="1" u="sng" dirty="0"/>
              <a:t>ADJUST SIZE</a:t>
            </a:r>
            <a:endParaRPr lang="en-US" sz="2400" b="1" u="sn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F78E73-7238-377F-6810-C6A2BD1BFE00}"/>
              </a:ext>
            </a:extLst>
          </p:cNvPr>
          <p:cNvSpPr/>
          <p:nvPr/>
        </p:nvSpPr>
        <p:spPr>
          <a:xfrm>
            <a:off x="9182935" y="1713452"/>
            <a:ext cx="1485179" cy="27003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b="1" dirty="0" err="1">
                <a:latin typeface="Courier"/>
              </a:rPr>
              <a:t>realloc</a:t>
            </a:r>
            <a:r>
              <a:rPr lang="en-CA" b="1" dirty="0">
                <a:latin typeface="Courier"/>
              </a:rPr>
              <a:t>()</a:t>
            </a:r>
            <a:endParaRPr lang="en-US" b="1" dirty="0">
              <a:latin typeface="Courie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10B078-2351-53C5-D826-F35B684B2F44}"/>
              </a:ext>
            </a:extLst>
          </p:cNvPr>
          <p:cNvSpPr txBox="1"/>
          <p:nvPr/>
        </p:nvSpPr>
        <p:spPr>
          <a:xfrm>
            <a:off x="1886772" y="3559365"/>
            <a:ext cx="5914038" cy="1938992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q;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 = 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( 3,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);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p == NULL )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-1;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 error check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after some work…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q = 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realloc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p, 4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should error check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free(q);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DMA Memory Deallocation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free(p);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Not Necessary – freeing q is enough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63E273B-92ED-489B-FDE2-A4C8982B035F}"/>
              </a:ext>
            </a:extLst>
          </p:cNvPr>
          <p:cNvSpPr/>
          <p:nvPr/>
        </p:nvSpPr>
        <p:spPr>
          <a:xfrm>
            <a:off x="9311535" y="3861599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-3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744634-25F1-A47E-8C09-1D3EC31F2E82}"/>
              </a:ext>
            </a:extLst>
          </p:cNvPr>
          <p:cNvSpPr/>
          <p:nvPr/>
        </p:nvSpPr>
        <p:spPr>
          <a:xfrm>
            <a:off x="9311535" y="3580121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882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8C29B1-F0F3-B9D8-5AAB-3BF8179D2CC9}"/>
              </a:ext>
            </a:extLst>
          </p:cNvPr>
          <p:cNvSpPr/>
          <p:nvPr/>
        </p:nvSpPr>
        <p:spPr>
          <a:xfrm>
            <a:off x="9311535" y="4152604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23A045-E6D0-BC66-C238-168122A38425}"/>
              </a:ext>
            </a:extLst>
          </p:cNvPr>
          <p:cNvSpPr txBox="1"/>
          <p:nvPr/>
        </p:nvSpPr>
        <p:spPr>
          <a:xfrm>
            <a:off x="8239651" y="4159588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189F9C-2F6C-7479-7546-A4AD0B730C03}"/>
              </a:ext>
            </a:extLst>
          </p:cNvPr>
          <p:cNvSpPr txBox="1"/>
          <p:nvPr/>
        </p:nvSpPr>
        <p:spPr>
          <a:xfrm>
            <a:off x="8236326" y="3876803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B12957-9891-EF99-4358-9381B5D361DD}"/>
              </a:ext>
            </a:extLst>
          </p:cNvPr>
          <p:cNvSpPr txBox="1"/>
          <p:nvPr/>
        </p:nvSpPr>
        <p:spPr>
          <a:xfrm>
            <a:off x="8236326" y="3577176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47B6D2-0C36-B321-556D-AAD5A7117B4F}"/>
              </a:ext>
            </a:extLst>
          </p:cNvPr>
          <p:cNvSpPr txBox="1"/>
          <p:nvPr/>
        </p:nvSpPr>
        <p:spPr>
          <a:xfrm>
            <a:off x="9222192" y="4406259"/>
            <a:ext cx="1049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on Heap</a:t>
            </a:r>
            <a:endParaRPr lang="en-CA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DEC3186-8628-B6B7-EBE1-50F89A0A74AC}"/>
              </a:ext>
            </a:extLst>
          </p:cNvPr>
          <p:cNvSpPr/>
          <p:nvPr/>
        </p:nvSpPr>
        <p:spPr>
          <a:xfrm>
            <a:off x="9610743" y="2675469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dirty="0">
                <a:solidFill>
                  <a:schemeClr val="accent2">
                    <a:lumMod val="75000"/>
                  </a:schemeClr>
                </a:solidFill>
              </a:rPr>
              <a:t>0x 0061FF1C</a:t>
            </a:r>
            <a:endParaRPr lang="en-CA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0ABB94-0ED9-BF64-1F4A-BC9BF9AE235C}"/>
              </a:ext>
            </a:extLst>
          </p:cNvPr>
          <p:cNvSpPr txBox="1"/>
          <p:nvPr/>
        </p:nvSpPr>
        <p:spPr>
          <a:xfrm>
            <a:off x="8523147" y="2673540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00732011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2F3087-4222-2C54-3187-40E5F3BC85AB}"/>
              </a:ext>
            </a:extLst>
          </p:cNvPr>
          <p:cNvSpPr txBox="1"/>
          <p:nvPr/>
        </p:nvSpPr>
        <p:spPr>
          <a:xfrm>
            <a:off x="9788399" y="2304208"/>
            <a:ext cx="1605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int* p;</a:t>
            </a:r>
            <a:endParaRPr lang="en-CA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207111-5108-D580-A20F-C5E5EBEA3697}"/>
              </a:ext>
            </a:extLst>
          </p:cNvPr>
          <p:cNvSpPr txBox="1"/>
          <p:nvPr/>
        </p:nvSpPr>
        <p:spPr>
          <a:xfrm>
            <a:off x="9492942" y="4107612"/>
            <a:ext cx="509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/>
              <a:t>78</a:t>
            </a:r>
            <a:endParaRPr 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0B2A86-C08F-31B1-46DA-329C98F09FAA}"/>
              </a:ext>
            </a:extLst>
          </p:cNvPr>
          <p:cNvSpPr txBox="1"/>
          <p:nvPr/>
        </p:nvSpPr>
        <p:spPr>
          <a:xfrm>
            <a:off x="9669693" y="2628422"/>
            <a:ext cx="1459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0061FF1C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2" name="Arrow: Bent-Up 21">
            <a:extLst>
              <a:ext uri="{FF2B5EF4-FFF2-40B4-BE49-F238E27FC236}">
                <a16:creationId xmlns:a16="http://schemas.microsoft.com/office/drawing/2014/main" id="{823B7893-E9D8-CB1E-8B5C-B5D48FED7C0C}"/>
              </a:ext>
            </a:extLst>
          </p:cNvPr>
          <p:cNvSpPr/>
          <p:nvPr/>
        </p:nvSpPr>
        <p:spPr>
          <a:xfrm rot="16200000" flipH="1">
            <a:off x="9660007" y="3495541"/>
            <a:ext cx="1348071" cy="286180"/>
          </a:xfrm>
          <a:prstGeom prst="bentUpArrow">
            <a:avLst>
              <a:gd name="adj1" fmla="val 15014"/>
              <a:gd name="adj2" fmla="val 28125"/>
              <a:gd name="adj3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E68B2D9-A711-3AD2-BF81-1989049FB610}"/>
              </a:ext>
            </a:extLst>
          </p:cNvPr>
          <p:cNvSpPr/>
          <p:nvPr/>
        </p:nvSpPr>
        <p:spPr>
          <a:xfrm>
            <a:off x="9311535" y="3293398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7EBC37-7A89-10D6-4056-B0F0BD583855}"/>
              </a:ext>
            </a:extLst>
          </p:cNvPr>
          <p:cNvSpPr txBox="1"/>
          <p:nvPr/>
        </p:nvSpPr>
        <p:spPr>
          <a:xfrm>
            <a:off x="8236326" y="3290453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2021E30-3620-D95B-912E-166F6845EB8A}"/>
              </a:ext>
            </a:extLst>
          </p:cNvPr>
          <p:cNvSpPr/>
          <p:nvPr/>
        </p:nvSpPr>
        <p:spPr>
          <a:xfrm>
            <a:off x="9610743" y="4939369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2BAD37-3A8B-349C-F950-D59C00B7AC61}"/>
              </a:ext>
            </a:extLst>
          </p:cNvPr>
          <p:cNvSpPr txBox="1"/>
          <p:nvPr/>
        </p:nvSpPr>
        <p:spPr>
          <a:xfrm>
            <a:off x="8494572" y="4937440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0025DEAE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29BFBE-A6C7-2632-CED7-2BDC05DD71F5}"/>
              </a:ext>
            </a:extLst>
          </p:cNvPr>
          <p:cNvSpPr txBox="1"/>
          <p:nvPr/>
        </p:nvSpPr>
        <p:spPr>
          <a:xfrm>
            <a:off x="9799724" y="5253616"/>
            <a:ext cx="1605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int* q;</a:t>
            </a:r>
            <a:endParaRPr lang="en-CA" dirty="0"/>
          </a:p>
        </p:txBody>
      </p:sp>
      <p:sp>
        <p:nvSpPr>
          <p:cNvPr id="29" name="Arrow: Bent-Up 28">
            <a:extLst>
              <a:ext uri="{FF2B5EF4-FFF2-40B4-BE49-F238E27FC236}">
                <a16:creationId xmlns:a16="http://schemas.microsoft.com/office/drawing/2014/main" id="{02EDD7B6-7FE8-AEF7-8281-6549480884D3}"/>
              </a:ext>
            </a:extLst>
          </p:cNvPr>
          <p:cNvSpPr/>
          <p:nvPr/>
        </p:nvSpPr>
        <p:spPr>
          <a:xfrm rot="16200000">
            <a:off x="10029184" y="4481965"/>
            <a:ext cx="624776" cy="286180"/>
          </a:xfrm>
          <a:prstGeom prst="bentUpArrow">
            <a:avLst>
              <a:gd name="adj1" fmla="val 15014"/>
              <a:gd name="adj2" fmla="val 28125"/>
              <a:gd name="adj3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4.81481E-6 L -0.05013 -0.10764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13" y="-5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013 -0.10764 L -0.00117 0.3287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48" y="21806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2" grpId="0"/>
      <p:bldP spid="14" grpId="0"/>
      <p:bldP spid="15" grpId="0"/>
      <p:bldP spid="16" grpId="0"/>
      <p:bldP spid="17" grpId="0" animBg="1"/>
      <p:bldP spid="18" grpId="0"/>
      <p:bldP spid="19" grpId="0"/>
      <p:bldP spid="20" grpId="0"/>
      <p:bldP spid="21" grpId="0"/>
      <p:bldP spid="21" grpId="1"/>
      <p:bldP spid="21" grpId="2"/>
      <p:bldP spid="22" grpId="0" animBg="1"/>
      <p:bldP spid="23" grpId="0" animBg="1"/>
      <p:bldP spid="24" grpId="0"/>
      <p:bldP spid="25" grpId="0" animBg="1"/>
      <p:bldP spid="26" grpId="0"/>
      <p:bldP spid="27" grpId="0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59734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Can also adjust the variables size dynamically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Available in the C standard utility library &lt;</a:t>
            </a:r>
            <a:r>
              <a:rPr lang="en-CA" dirty="0" err="1"/>
              <a:t>stdlib.h</a:t>
            </a:r>
            <a:r>
              <a:rPr lang="en-CA" dirty="0"/>
              <a:t>&gt;</a:t>
            </a:r>
            <a:br>
              <a:rPr lang="en-CA" dirty="0"/>
            </a:b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void* </a:t>
            </a:r>
            <a:r>
              <a:rPr lang="en-CA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realloc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void* 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p, </a:t>
            </a:r>
            <a:r>
              <a:rPr lang="en-CA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new_size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cs typeface="Courier New" panose="02070309020205020404" pitchFamily="49" charset="0"/>
              </a:rPr>
              <a:t>Example of </a:t>
            </a:r>
            <a:r>
              <a:rPr lang="en-CA" b="1" dirty="0">
                <a:solidFill>
                  <a:srgbClr val="0000FF"/>
                </a:solidFill>
                <a:cs typeface="Courier New" panose="02070309020205020404" pitchFamily="49" charset="0"/>
              </a:rPr>
              <a:t>Upsizing</a:t>
            </a:r>
            <a:r>
              <a:rPr lang="en-CA" dirty="0">
                <a:cs typeface="Courier New" panose="02070309020205020404" pitchFamily="49" charset="0"/>
              </a:rPr>
              <a:t>…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0000FF"/>
                </a:solidFill>
                <a:cs typeface="Courier New" panose="02070309020205020404" pitchFamily="49" charset="0"/>
              </a:rPr>
              <a:t>Case 2 – When new memory sector is assigned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968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Management Routines in C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24</a:t>
            </a:fld>
            <a:endParaRPr lang="en-CA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FF0C0F-43EE-088E-FBB0-58315D8CE731}"/>
              </a:ext>
            </a:extLst>
          </p:cNvPr>
          <p:cNvSpPr/>
          <p:nvPr/>
        </p:nvSpPr>
        <p:spPr>
          <a:xfrm>
            <a:off x="9118458" y="310653"/>
            <a:ext cx="2181837" cy="101101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b="1" u="sng" dirty="0"/>
              <a:t>ADJUST SIZE</a:t>
            </a:r>
            <a:endParaRPr lang="en-US" sz="2400" b="1" u="sn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F78E73-7238-377F-6810-C6A2BD1BFE00}"/>
              </a:ext>
            </a:extLst>
          </p:cNvPr>
          <p:cNvSpPr/>
          <p:nvPr/>
        </p:nvSpPr>
        <p:spPr>
          <a:xfrm>
            <a:off x="9485836" y="898618"/>
            <a:ext cx="1485179" cy="27003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b="1" dirty="0" err="1">
                <a:latin typeface="Courier"/>
              </a:rPr>
              <a:t>realloc</a:t>
            </a:r>
            <a:r>
              <a:rPr lang="en-CA" b="1" dirty="0">
                <a:latin typeface="Courier"/>
              </a:rPr>
              <a:t>()</a:t>
            </a:r>
            <a:endParaRPr lang="en-US" b="1" dirty="0">
              <a:latin typeface="Courie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10B078-2351-53C5-D826-F35B684B2F44}"/>
              </a:ext>
            </a:extLst>
          </p:cNvPr>
          <p:cNvSpPr txBox="1"/>
          <p:nvPr/>
        </p:nvSpPr>
        <p:spPr>
          <a:xfrm>
            <a:off x="1886772" y="3559365"/>
            <a:ext cx="5914038" cy="1938992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q;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 = 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( 3,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);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p == NULL )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-1;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 error check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after some work…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q = 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realloc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p, 4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should error check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free(q);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DMA Memory Deallocation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free(p);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Not Necessary – Already freed by 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realloc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63E273B-92ED-489B-FDE2-A4C8982B035F}"/>
              </a:ext>
            </a:extLst>
          </p:cNvPr>
          <p:cNvSpPr/>
          <p:nvPr/>
        </p:nvSpPr>
        <p:spPr>
          <a:xfrm>
            <a:off x="9426707" y="2579826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-3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744634-25F1-A47E-8C09-1D3EC31F2E82}"/>
              </a:ext>
            </a:extLst>
          </p:cNvPr>
          <p:cNvSpPr/>
          <p:nvPr/>
        </p:nvSpPr>
        <p:spPr>
          <a:xfrm>
            <a:off x="9426707" y="2298348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882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8C29B1-F0F3-B9D8-5AAB-3BF8179D2CC9}"/>
              </a:ext>
            </a:extLst>
          </p:cNvPr>
          <p:cNvSpPr/>
          <p:nvPr/>
        </p:nvSpPr>
        <p:spPr>
          <a:xfrm>
            <a:off x="9426707" y="2870831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23A045-E6D0-BC66-C238-168122A38425}"/>
              </a:ext>
            </a:extLst>
          </p:cNvPr>
          <p:cNvSpPr txBox="1"/>
          <p:nvPr/>
        </p:nvSpPr>
        <p:spPr>
          <a:xfrm>
            <a:off x="8354823" y="2877815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189F9C-2F6C-7479-7546-A4AD0B730C03}"/>
              </a:ext>
            </a:extLst>
          </p:cNvPr>
          <p:cNvSpPr txBox="1"/>
          <p:nvPr/>
        </p:nvSpPr>
        <p:spPr>
          <a:xfrm>
            <a:off x="8351498" y="2595030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B12957-9891-EF99-4358-9381B5D361DD}"/>
              </a:ext>
            </a:extLst>
          </p:cNvPr>
          <p:cNvSpPr txBox="1"/>
          <p:nvPr/>
        </p:nvSpPr>
        <p:spPr>
          <a:xfrm>
            <a:off x="8351498" y="2295403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47B6D2-0C36-B321-556D-AAD5A7117B4F}"/>
              </a:ext>
            </a:extLst>
          </p:cNvPr>
          <p:cNvSpPr txBox="1"/>
          <p:nvPr/>
        </p:nvSpPr>
        <p:spPr>
          <a:xfrm>
            <a:off x="9337364" y="3124486"/>
            <a:ext cx="1049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on Heap</a:t>
            </a:r>
            <a:endParaRPr lang="en-CA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DEC3186-8628-B6B7-EBE1-50F89A0A74AC}"/>
              </a:ext>
            </a:extLst>
          </p:cNvPr>
          <p:cNvSpPr/>
          <p:nvPr/>
        </p:nvSpPr>
        <p:spPr>
          <a:xfrm>
            <a:off x="9887230" y="1856182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dirty="0">
                <a:solidFill>
                  <a:schemeClr val="accent2">
                    <a:lumMod val="75000"/>
                  </a:schemeClr>
                </a:solidFill>
              </a:rPr>
              <a:t>0x 0061FF1C</a:t>
            </a:r>
            <a:endParaRPr lang="en-CA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0ABB94-0ED9-BF64-1F4A-BC9BF9AE235C}"/>
              </a:ext>
            </a:extLst>
          </p:cNvPr>
          <p:cNvSpPr txBox="1"/>
          <p:nvPr/>
        </p:nvSpPr>
        <p:spPr>
          <a:xfrm>
            <a:off x="8799634" y="1854253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00732011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2F3087-4222-2C54-3187-40E5F3BC85AB}"/>
              </a:ext>
            </a:extLst>
          </p:cNvPr>
          <p:cNvSpPr txBox="1"/>
          <p:nvPr/>
        </p:nvSpPr>
        <p:spPr>
          <a:xfrm>
            <a:off x="10064886" y="1484921"/>
            <a:ext cx="1605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int* p;</a:t>
            </a:r>
            <a:endParaRPr lang="en-CA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207111-5108-D580-A20F-C5E5EBEA3697}"/>
              </a:ext>
            </a:extLst>
          </p:cNvPr>
          <p:cNvSpPr txBox="1"/>
          <p:nvPr/>
        </p:nvSpPr>
        <p:spPr>
          <a:xfrm>
            <a:off x="9608114" y="2825839"/>
            <a:ext cx="509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/>
              <a:t>78</a:t>
            </a:r>
            <a:endParaRPr 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0B2A86-C08F-31B1-46DA-329C98F09FAA}"/>
              </a:ext>
            </a:extLst>
          </p:cNvPr>
          <p:cNvSpPr txBox="1"/>
          <p:nvPr/>
        </p:nvSpPr>
        <p:spPr>
          <a:xfrm>
            <a:off x="9946180" y="1809135"/>
            <a:ext cx="1459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0061FF1C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2" name="Arrow: Bent-Up 21">
            <a:extLst>
              <a:ext uri="{FF2B5EF4-FFF2-40B4-BE49-F238E27FC236}">
                <a16:creationId xmlns:a16="http://schemas.microsoft.com/office/drawing/2014/main" id="{823B7893-E9D8-CB1E-8B5C-B5D48FED7C0C}"/>
              </a:ext>
            </a:extLst>
          </p:cNvPr>
          <p:cNvSpPr/>
          <p:nvPr/>
        </p:nvSpPr>
        <p:spPr>
          <a:xfrm rot="16200000" flipH="1">
            <a:off x="9950517" y="2499872"/>
            <a:ext cx="963054" cy="286180"/>
          </a:xfrm>
          <a:prstGeom prst="bentUpArrow">
            <a:avLst>
              <a:gd name="adj1" fmla="val 15014"/>
              <a:gd name="adj2" fmla="val 28125"/>
              <a:gd name="adj3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2021E30-3620-D95B-912E-166F6845EB8A}"/>
              </a:ext>
            </a:extLst>
          </p:cNvPr>
          <p:cNvSpPr/>
          <p:nvPr/>
        </p:nvSpPr>
        <p:spPr>
          <a:xfrm>
            <a:off x="9610743" y="5378281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2BAD37-3A8B-349C-F950-D59C00B7AC61}"/>
              </a:ext>
            </a:extLst>
          </p:cNvPr>
          <p:cNvSpPr txBox="1"/>
          <p:nvPr/>
        </p:nvSpPr>
        <p:spPr>
          <a:xfrm>
            <a:off x="8494572" y="5376352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0025DEAE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29BFBE-A6C7-2632-CED7-2BDC05DD71F5}"/>
              </a:ext>
            </a:extLst>
          </p:cNvPr>
          <p:cNvSpPr txBox="1"/>
          <p:nvPr/>
        </p:nvSpPr>
        <p:spPr>
          <a:xfrm>
            <a:off x="9799724" y="5692528"/>
            <a:ext cx="1605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int* q;</a:t>
            </a:r>
            <a:endParaRPr lang="en-CA" dirty="0"/>
          </a:p>
        </p:txBody>
      </p:sp>
      <p:sp>
        <p:nvSpPr>
          <p:cNvPr id="29" name="Arrow: Bent-Up 28">
            <a:extLst>
              <a:ext uri="{FF2B5EF4-FFF2-40B4-BE49-F238E27FC236}">
                <a16:creationId xmlns:a16="http://schemas.microsoft.com/office/drawing/2014/main" id="{02EDD7B6-7FE8-AEF7-8281-6549480884D3}"/>
              </a:ext>
            </a:extLst>
          </p:cNvPr>
          <p:cNvSpPr/>
          <p:nvPr/>
        </p:nvSpPr>
        <p:spPr>
          <a:xfrm rot="16200000">
            <a:off x="10029184" y="4920877"/>
            <a:ext cx="624776" cy="286180"/>
          </a:xfrm>
          <a:prstGeom prst="bentUpArrow">
            <a:avLst>
              <a:gd name="adj1" fmla="val 15014"/>
              <a:gd name="adj2" fmla="val 28125"/>
              <a:gd name="adj3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4A86C38-8778-B4C7-B6F2-894155861F09}"/>
              </a:ext>
            </a:extLst>
          </p:cNvPr>
          <p:cNvSpPr/>
          <p:nvPr/>
        </p:nvSpPr>
        <p:spPr>
          <a:xfrm>
            <a:off x="9318991" y="4403359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0A69942-65C5-EE4F-7AA6-8B25599E96D9}"/>
              </a:ext>
            </a:extLst>
          </p:cNvPr>
          <p:cNvSpPr/>
          <p:nvPr/>
        </p:nvSpPr>
        <p:spPr>
          <a:xfrm>
            <a:off x="9318991" y="4121881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D69A705-4E40-6C00-9FCF-88FE64842770}"/>
              </a:ext>
            </a:extLst>
          </p:cNvPr>
          <p:cNvSpPr/>
          <p:nvPr/>
        </p:nvSpPr>
        <p:spPr>
          <a:xfrm>
            <a:off x="9318991" y="4694364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7D4C90-6B5C-618E-C005-B13C6FBEE1AE}"/>
              </a:ext>
            </a:extLst>
          </p:cNvPr>
          <p:cNvSpPr txBox="1"/>
          <p:nvPr/>
        </p:nvSpPr>
        <p:spPr>
          <a:xfrm>
            <a:off x="8247107" y="4701348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0082130C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5CDD3A-D021-7862-7864-A6C5009C2896}"/>
              </a:ext>
            </a:extLst>
          </p:cNvPr>
          <p:cNvSpPr txBox="1"/>
          <p:nvPr/>
        </p:nvSpPr>
        <p:spPr>
          <a:xfrm>
            <a:off x="8243782" y="4416258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00821310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E18079-3308-6420-D90A-C4D25AF50B3C}"/>
              </a:ext>
            </a:extLst>
          </p:cNvPr>
          <p:cNvSpPr txBox="1"/>
          <p:nvPr/>
        </p:nvSpPr>
        <p:spPr>
          <a:xfrm>
            <a:off x="8243782" y="4118936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00821314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0E8F015-BB58-2155-BA56-DF6620FFDCE3}"/>
              </a:ext>
            </a:extLst>
          </p:cNvPr>
          <p:cNvSpPr/>
          <p:nvPr/>
        </p:nvSpPr>
        <p:spPr>
          <a:xfrm>
            <a:off x="9306531" y="3836308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DAC8254-2388-7DD7-B4CC-A6AC464B2697}"/>
              </a:ext>
            </a:extLst>
          </p:cNvPr>
          <p:cNvSpPr txBox="1"/>
          <p:nvPr/>
        </p:nvSpPr>
        <p:spPr>
          <a:xfrm>
            <a:off x="8231322" y="3833363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00821318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41A970-76BD-BA31-B2C6-2EC1324FAE5C}"/>
              </a:ext>
            </a:extLst>
          </p:cNvPr>
          <p:cNvSpPr txBox="1"/>
          <p:nvPr/>
        </p:nvSpPr>
        <p:spPr>
          <a:xfrm>
            <a:off x="9135399" y="4968172"/>
            <a:ext cx="1049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on Heap</a:t>
            </a:r>
            <a:endParaRPr lang="en-CA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6C9EB9-1D26-D6AE-E83E-D9E06EB56B33}"/>
              </a:ext>
            </a:extLst>
          </p:cNvPr>
          <p:cNvSpPr txBox="1"/>
          <p:nvPr/>
        </p:nvSpPr>
        <p:spPr>
          <a:xfrm>
            <a:off x="10288954" y="1132597"/>
            <a:ext cx="1459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0082130C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FC1A34-F709-2DDF-4776-285FEFD0225F}"/>
              </a:ext>
            </a:extLst>
          </p:cNvPr>
          <p:cNvSpPr txBox="1"/>
          <p:nvPr/>
        </p:nvSpPr>
        <p:spPr>
          <a:xfrm>
            <a:off x="9612742" y="2831971"/>
            <a:ext cx="509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/>
              <a:t>78</a:t>
            </a:r>
            <a:endParaRPr lang="en-US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B23C01-A528-DCA6-72CB-F1B23AAB8C88}"/>
              </a:ext>
            </a:extLst>
          </p:cNvPr>
          <p:cNvSpPr txBox="1"/>
          <p:nvPr/>
        </p:nvSpPr>
        <p:spPr>
          <a:xfrm>
            <a:off x="9610743" y="2538150"/>
            <a:ext cx="509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/>
              <a:t>-3</a:t>
            </a:r>
            <a:endParaRPr lang="en-US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A2F9F1-145D-AC1A-8D10-160591650082}"/>
              </a:ext>
            </a:extLst>
          </p:cNvPr>
          <p:cNvSpPr txBox="1"/>
          <p:nvPr/>
        </p:nvSpPr>
        <p:spPr>
          <a:xfrm>
            <a:off x="9539956" y="2260845"/>
            <a:ext cx="640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/>
              <a:t>882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2342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7.40741E-7 L -0.07956 -0.09792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84" y="-4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4.81481E-6 L -0.01093 0.26575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7" y="13287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7.40741E-7 L -0.01093 0.26574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7" y="13287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1.48148E-6 L -0.01093 0.26574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7" y="13287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85185E-6 L -0.05183 0.61296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91" y="30648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2" presetClass="exit" presetSubtype="4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animBg="1"/>
      <p:bldP spid="8" grpId="1" animBg="1"/>
      <p:bldP spid="11" grpId="1" animBg="1"/>
      <p:bldP spid="12" grpId="1"/>
      <p:bldP spid="14" grpId="1"/>
      <p:bldP spid="15" grpId="1"/>
      <p:bldP spid="16" grpId="1"/>
      <p:bldP spid="20" grpId="1"/>
      <p:bldP spid="21" grpId="0"/>
      <p:bldP spid="21" grpId="1"/>
      <p:bldP spid="21" grpId="2"/>
      <p:bldP spid="22" grpId="1" animBg="1"/>
      <p:bldP spid="29" grpId="0" animBg="1"/>
      <p:bldP spid="28" grpId="0" animBg="1"/>
      <p:bldP spid="30" grpId="0" animBg="1"/>
      <p:bldP spid="31" grpId="0" animBg="1"/>
      <p:bldP spid="32" grpId="0"/>
      <p:bldP spid="33" grpId="0"/>
      <p:bldP spid="34" grpId="0"/>
      <p:bldP spid="37" grpId="0" animBg="1"/>
      <p:bldP spid="38" grpId="0"/>
      <p:bldP spid="39" grpId="0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59734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Can also adjust the variables size dynamically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Available in the C standard utility library &lt;</a:t>
            </a:r>
            <a:r>
              <a:rPr lang="en-CA" dirty="0" err="1"/>
              <a:t>stdlib.h</a:t>
            </a:r>
            <a:r>
              <a:rPr lang="en-CA" dirty="0"/>
              <a:t>&gt;</a:t>
            </a:r>
            <a:br>
              <a:rPr lang="en-CA" dirty="0"/>
            </a:b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void* </a:t>
            </a:r>
            <a:r>
              <a:rPr lang="en-CA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realloc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void* 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p, </a:t>
            </a:r>
            <a:r>
              <a:rPr lang="en-CA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new_size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cs typeface="Courier New" panose="02070309020205020404" pitchFamily="49" charset="0"/>
              </a:rPr>
              <a:t>Example of </a:t>
            </a:r>
            <a:r>
              <a:rPr lang="en-CA" b="1" dirty="0">
                <a:solidFill>
                  <a:srgbClr val="0000FF"/>
                </a:solidFill>
                <a:cs typeface="Courier New" panose="02070309020205020404" pitchFamily="49" charset="0"/>
              </a:rPr>
              <a:t>Downsizing</a:t>
            </a:r>
            <a:r>
              <a:rPr lang="en-CA" dirty="0">
                <a:cs typeface="Courier New" panose="02070309020205020404" pitchFamily="49" charset="0"/>
              </a:rPr>
              <a:t>…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>
                <a:cs typeface="Courier New" panose="02070309020205020404" pitchFamily="49" charset="0"/>
              </a:rPr>
              <a:t>Most likely staying in the same memory sector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968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Management Routines in C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25</a:t>
            </a:fld>
            <a:endParaRPr lang="en-CA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FF0C0F-43EE-088E-FBB0-58315D8CE731}"/>
              </a:ext>
            </a:extLst>
          </p:cNvPr>
          <p:cNvSpPr/>
          <p:nvPr/>
        </p:nvSpPr>
        <p:spPr>
          <a:xfrm>
            <a:off x="8815557" y="1125487"/>
            <a:ext cx="2181837" cy="101101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b="1" u="sng" dirty="0"/>
              <a:t>ADJUST SIZE</a:t>
            </a:r>
            <a:endParaRPr lang="en-US" sz="2400" b="1" u="sn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F78E73-7238-377F-6810-C6A2BD1BFE00}"/>
              </a:ext>
            </a:extLst>
          </p:cNvPr>
          <p:cNvSpPr/>
          <p:nvPr/>
        </p:nvSpPr>
        <p:spPr>
          <a:xfrm>
            <a:off x="9182935" y="1713452"/>
            <a:ext cx="1485179" cy="27003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b="1" dirty="0" err="1">
                <a:latin typeface="Courier"/>
              </a:rPr>
              <a:t>realloc</a:t>
            </a:r>
            <a:r>
              <a:rPr lang="en-CA" b="1" dirty="0">
                <a:latin typeface="Courier"/>
              </a:rPr>
              <a:t>()</a:t>
            </a:r>
            <a:endParaRPr lang="en-US" b="1" dirty="0">
              <a:latin typeface="Courie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10B078-2351-53C5-D826-F35B684B2F44}"/>
              </a:ext>
            </a:extLst>
          </p:cNvPr>
          <p:cNvSpPr txBox="1"/>
          <p:nvPr/>
        </p:nvSpPr>
        <p:spPr>
          <a:xfrm>
            <a:off x="1886771" y="3559365"/>
            <a:ext cx="5955905" cy="2000548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q;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 = 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( 3,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);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p == NULL )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-1;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 error check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after some work…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q = 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realloc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p,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should error check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free(q);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DMA Memory Deallocation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free(p);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Not Necessary – freeing q is enough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63E273B-92ED-489B-FDE2-A4C8982B035F}"/>
              </a:ext>
            </a:extLst>
          </p:cNvPr>
          <p:cNvSpPr/>
          <p:nvPr/>
        </p:nvSpPr>
        <p:spPr>
          <a:xfrm>
            <a:off x="9311535" y="3861599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-3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744634-25F1-A47E-8C09-1D3EC31F2E82}"/>
              </a:ext>
            </a:extLst>
          </p:cNvPr>
          <p:cNvSpPr/>
          <p:nvPr/>
        </p:nvSpPr>
        <p:spPr>
          <a:xfrm>
            <a:off x="9311535" y="3580121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882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8C29B1-F0F3-B9D8-5AAB-3BF8179D2CC9}"/>
              </a:ext>
            </a:extLst>
          </p:cNvPr>
          <p:cNvSpPr/>
          <p:nvPr/>
        </p:nvSpPr>
        <p:spPr>
          <a:xfrm>
            <a:off x="9311535" y="4152604"/>
            <a:ext cx="870853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23A045-E6D0-BC66-C238-168122A38425}"/>
              </a:ext>
            </a:extLst>
          </p:cNvPr>
          <p:cNvSpPr txBox="1"/>
          <p:nvPr/>
        </p:nvSpPr>
        <p:spPr>
          <a:xfrm>
            <a:off x="8239651" y="4159588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0061FF1C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189F9C-2F6C-7479-7546-A4AD0B730C03}"/>
              </a:ext>
            </a:extLst>
          </p:cNvPr>
          <p:cNvSpPr txBox="1"/>
          <p:nvPr/>
        </p:nvSpPr>
        <p:spPr>
          <a:xfrm>
            <a:off x="8236326" y="3876803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0061FF20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B12957-9891-EF99-4358-9381B5D361DD}"/>
              </a:ext>
            </a:extLst>
          </p:cNvPr>
          <p:cNvSpPr txBox="1"/>
          <p:nvPr/>
        </p:nvSpPr>
        <p:spPr>
          <a:xfrm>
            <a:off x="8236326" y="3577176"/>
            <a:ext cx="116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0061FF24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47B6D2-0C36-B321-556D-AAD5A7117B4F}"/>
              </a:ext>
            </a:extLst>
          </p:cNvPr>
          <p:cNvSpPr txBox="1"/>
          <p:nvPr/>
        </p:nvSpPr>
        <p:spPr>
          <a:xfrm>
            <a:off x="9222192" y="4406259"/>
            <a:ext cx="1049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on Heap</a:t>
            </a:r>
            <a:endParaRPr lang="en-CA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DEC3186-8628-B6B7-EBE1-50F89A0A74AC}"/>
              </a:ext>
            </a:extLst>
          </p:cNvPr>
          <p:cNvSpPr/>
          <p:nvPr/>
        </p:nvSpPr>
        <p:spPr>
          <a:xfrm>
            <a:off x="9610743" y="2675469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dirty="0">
                <a:solidFill>
                  <a:schemeClr val="accent2">
                    <a:lumMod val="75000"/>
                  </a:schemeClr>
                </a:solidFill>
              </a:rPr>
              <a:t>0x 0061FF1C</a:t>
            </a:r>
            <a:endParaRPr lang="en-CA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0ABB94-0ED9-BF64-1F4A-BC9BF9AE235C}"/>
              </a:ext>
            </a:extLst>
          </p:cNvPr>
          <p:cNvSpPr txBox="1"/>
          <p:nvPr/>
        </p:nvSpPr>
        <p:spPr>
          <a:xfrm>
            <a:off x="8523147" y="2673540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00732011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2F3087-4222-2C54-3187-40E5F3BC85AB}"/>
              </a:ext>
            </a:extLst>
          </p:cNvPr>
          <p:cNvSpPr txBox="1"/>
          <p:nvPr/>
        </p:nvSpPr>
        <p:spPr>
          <a:xfrm>
            <a:off x="9788399" y="2304208"/>
            <a:ext cx="1605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int* p;</a:t>
            </a:r>
            <a:endParaRPr lang="en-CA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207111-5108-D580-A20F-C5E5EBEA3697}"/>
              </a:ext>
            </a:extLst>
          </p:cNvPr>
          <p:cNvSpPr txBox="1"/>
          <p:nvPr/>
        </p:nvSpPr>
        <p:spPr>
          <a:xfrm>
            <a:off x="9492942" y="4107612"/>
            <a:ext cx="509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/>
              <a:t>78</a:t>
            </a:r>
            <a:endParaRPr 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0B2A86-C08F-31B1-46DA-329C98F09FAA}"/>
              </a:ext>
            </a:extLst>
          </p:cNvPr>
          <p:cNvSpPr txBox="1"/>
          <p:nvPr/>
        </p:nvSpPr>
        <p:spPr>
          <a:xfrm>
            <a:off x="9669693" y="2628422"/>
            <a:ext cx="1459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0x 0061FF1C</a:t>
            </a:r>
            <a:endParaRPr lang="en-CA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2" name="Arrow: Bent-Up 21">
            <a:extLst>
              <a:ext uri="{FF2B5EF4-FFF2-40B4-BE49-F238E27FC236}">
                <a16:creationId xmlns:a16="http://schemas.microsoft.com/office/drawing/2014/main" id="{823B7893-E9D8-CB1E-8B5C-B5D48FED7C0C}"/>
              </a:ext>
            </a:extLst>
          </p:cNvPr>
          <p:cNvSpPr/>
          <p:nvPr/>
        </p:nvSpPr>
        <p:spPr>
          <a:xfrm rot="16200000" flipH="1">
            <a:off x="9660007" y="3495541"/>
            <a:ext cx="1348071" cy="286180"/>
          </a:xfrm>
          <a:prstGeom prst="bentUpArrow">
            <a:avLst>
              <a:gd name="adj1" fmla="val 15014"/>
              <a:gd name="adj2" fmla="val 28125"/>
              <a:gd name="adj3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2021E30-3620-D95B-912E-166F6845EB8A}"/>
              </a:ext>
            </a:extLst>
          </p:cNvPr>
          <p:cNvSpPr/>
          <p:nvPr/>
        </p:nvSpPr>
        <p:spPr>
          <a:xfrm>
            <a:off x="9610743" y="4939369"/>
            <a:ext cx="1542770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2BAD37-3A8B-349C-F950-D59C00B7AC61}"/>
              </a:ext>
            </a:extLst>
          </p:cNvPr>
          <p:cNvSpPr txBox="1"/>
          <p:nvPr/>
        </p:nvSpPr>
        <p:spPr>
          <a:xfrm>
            <a:off x="8494572" y="4937440"/>
            <a:ext cx="1165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0025DEAE</a:t>
            </a:r>
            <a:endParaRPr lang="en-CA" sz="1600" b="1" dirty="0">
              <a:solidFill>
                <a:srgbClr val="7030A0"/>
              </a:solidFill>
            </a:endParaRPr>
          </a:p>
          <a:p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29BFBE-A6C7-2632-CED7-2BDC05DD71F5}"/>
              </a:ext>
            </a:extLst>
          </p:cNvPr>
          <p:cNvSpPr txBox="1"/>
          <p:nvPr/>
        </p:nvSpPr>
        <p:spPr>
          <a:xfrm>
            <a:off x="9799724" y="5253616"/>
            <a:ext cx="1605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int* q;</a:t>
            </a:r>
            <a:endParaRPr lang="en-CA" dirty="0"/>
          </a:p>
        </p:txBody>
      </p:sp>
      <p:sp>
        <p:nvSpPr>
          <p:cNvPr id="29" name="Arrow: Bent-Up 28">
            <a:extLst>
              <a:ext uri="{FF2B5EF4-FFF2-40B4-BE49-F238E27FC236}">
                <a16:creationId xmlns:a16="http://schemas.microsoft.com/office/drawing/2014/main" id="{02EDD7B6-7FE8-AEF7-8281-6549480884D3}"/>
              </a:ext>
            </a:extLst>
          </p:cNvPr>
          <p:cNvSpPr/>
          <p:nvPr/>
        </p:nvSpPr>
        <p:spPr>
          <a:xfrm rot="16200000">
            <a:off x="10029184" y="4481965"/>
            <a:ext cx="624776" cy="286180"/>
          </a:xfrm>
          <a:prstGeom prst="bentUpArrow">
            <a:avLst>
              <a:gd name="adj1" fmla="val 15014"/>
              <a:gd name="adj2" fmla="val 28125"/>
              <a:gd name="adj3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03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4.81481E-6 L -0.05013 -0.10764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13" y="-5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013 -0.10764 L -0.00117 0.3287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48" y="21806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  <p:bldP spid="21" grpId="0"/>
      <p:bldP spid="21" grpId="1"/>
      <p:bldP spid="21" grpId="2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Creating an array of size specified at runtime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968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Example 1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26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6AFBC2-66C0-6F44-56F3-73647686B43E}"/>
              </a:ext>
            </a:extLst>
          </p:cNvPr>
          <p:cNvSpPr txBox="1"/>
          <p:nvPr/>
        </p:nvSpPr>
        <p:spPr>
          <a:xfrm>
            <a:off x="1046044" y="2202740"/>
            <a:ext cx="4941615" cy="341632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 memory management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float*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 = NULL;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 DMA array on heap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(“Input the size of the array: n = 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(“%d”, &amp;n);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(n &lt;= 0)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Standard C-style Error Handling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(“\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nInvalid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Entry!\n”);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-1;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indicating execution error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(“\n”);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formatting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D43A7-BAB7-C5AA-5E31-85F50B4ABF34}"/>
              </a:ext>
            </a:extLst>
          </p:cNvPr>
          <p:cNvSpPr txBox="1"/>
          <p:nvPr/>
        </p:nvSpPr>
        <p:spPr>
          <a:xfrm>
            <a:off x="6162041" y="1981679"/>
            <a:ext cx="5013140" cy="3970318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 = 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)malloc(n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(p == NULL)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Standard C-style Error Handling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(“\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nOut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of Memory!\n”);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-2;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acquire values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(“Input Array Element %d: ”,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(“%f”, p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  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 values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(“p[%d] = %6.2f\n”,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*(p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free(p);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Defeat the Memory Leak!!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36B8F3-9B70-CACD-97C6-0E341103C4F1}"/>
              </a:ext>
            </a:extLst>
          </p:cNvPr>
          <p:cNvSpPr/>
          <p:nvPr/>
        </p:nvSpPr>
        <p:spPr>
          <a:xfrm>
            <a:off x="9127551" y="1224657"/>
            <a:ext cx="2047630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L8Ex8-VarArray.c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6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9" dur="2000" fill="hold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Design a function to </a:t>
            </a:r>
            <a:r>
              <a:rPr lang="en-CA" sz="2400" b="1" dirty="0"/>
              <a:t>add</a:t>
            </a:r>
            <a:r>
              <a:rPr lang="en-CA" sz="2400" dirty="0"/>
              <a:t> two </a:t>
            </a:r>
            <a:r>
              <a:rPr lang="en-CA" sz="2400" b="1" dirty="0"/>
              <a:t>n</a:t>
            </a:r>
            <a:r>
              <a:rPr lang="en-CA" sz="2400" dirty="0"/>
              <a:t>-dimensional vectors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Each vector is stored in an </a:t>
            </a:r>
            <a:r>
              <a:rPr lang="en-CA" b="1" dirty="0"/>
              <a:t>n</a:t>
            </a:r>
            <a:r>
              <a:rPr lang="en-CA" dirty="0"/>
              <a:t>-size </a:t>
            </a:r>
            <a:r>
              <a:rPr lang="en-CA" b="1" dirty="0"/>
              <a:t>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array names corresponding to the vector operands are </a:t>
            </a:r>
            <a:r>
              <a:rPr lang="en-CA" b="1" dirty="0"/>
              <a:t>passed</a:t>
            </a:r>
            <a:r>
              <a:rPr lang="en-CA" dirty="0"/>
              <a:t> into the function as arguments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Where to store the sum vector?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b="1" dirty="0"/>
              <a:t>Option 1</a:t>
            </a:r>
            <a:r>
              <a:rPr lang="en-CA" dirty="0"/>
              <a:t>	Create a sum array in the caller, and pass its name into the function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b="1" dirty="0"/>
              <a:t>Option 2</a:t>
            </a:r>
            <a:r>
              <a:rPr lang="en-CA" dirty="0"/>
              <a:t>	Create a sum array in the function, and return a pointer to it back to the caller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968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Example 2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27</a:t>
            </a:fld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99DA87-5442-F9D9-62F9-E50DA201EF67}"/>
              </a:ext>
            </a:extLst>
          </p:cNvPr>
          <p:cNvSpPr/>
          <p:nvPr/>
        </p:nvSpPr>
        <p:spPr>
          <a:xfrm>
            <a:off x="2018681" y="3836012"/>
            <a:ext cx="3798323" cy="1872843"/>
          </a:xfrm>
          <a:prstGeom prst="rect">
            <a:avLst/>
          </a:prstGeom>
          <a:solidFill>
            <a:srgbClr val="FFDDDD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b="1" u="sng" dirty="0">
                <a:solidFill>
                  <a:schemeClr val="tx1"/>
                </a:solidFill>
              </a:rPr>
              <a:t>Option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Sum vector array has a storage duration of the caller block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will be allocated well before add() is called, but only used in add() and afterwards.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Inefficient Memory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C97847-4657-9623-7B5A-C08418FD46CA}"/>
              </a:ext>
            </a:extLst>
          </p:cNvPr>
          <p:cNvSpPr/>
          <p:nvPr/>
        </p:nvSpPr>
        <p:spPr>
          <a:xfrm>
            <a:off x="6374998" y="3836011"/>
            <a:ext cx="3798323" cy="18728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b="1" u="sng" dirty="0">
                <a:solidFill>
                  <a:schemeClr val="tx1"/>
                </a:solidFill>
              </a:rPr>
              <a:t>Option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Sum vector array has a storage duration completely under our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will be allocated </a:t>
            </a:r>
            <a:r>
              <a:rPr lang="en-US" sz="1400" b="1" dirty="0">
                <a:solidFill>
                  <a:schemeClr val="tx1"/>
                </a:solidFill>
              </a:rPr>
              <a:t>RIGHT BEFORE</a:t>
            </a:r>
            <a:r>
              <a:rPr lang="en-US" sz="1400" dirty="0">
                <a:solidFill>
                  <a:schemeClr val="tx1"/>
                </a:solidFill>
              </a:rPr>
              <a:t> being used in add(), and sustain until free() is called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Efficient Memory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12" name="Graphic 11" descr="Checkbox Checked with solid fill">
            <a:extLst>
              <a:ext uri="{FF2B5EF4-FFF2-40B4-BE49-F238E27FC236}">
                <a16:creationId xmlns:a16="http://schemas.microsoft.com/office/drawing/2014/main" id="{B5413F8E-49ED-9084-927B-6190550BC0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02839" y="3696952"/>
            <a:ext cx="914400" cy="914400"/>
          </a:xfrm>
          <a:prstGeom prst="rect">
            <a:avLst/>
          </a:prstGeom>
        </p:spPr>
      </p:pic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E87A28D6-CED3-4982-DA97-6C8026DA63DE}"/>
              </a:ext>
            </a:extLst>
          </p:cNvPr>
          <p:cNvSpPr/>
          <p:nvPr/>
        </p:nvSpPr>
        <p:spPr>
          <a:xfrm>
            <a:off x="10384971" y="4794454"/>
            <a:ext cx="1599143" cy="914400"/>
          </a:xfrm>
          <a:prstGeom prst="wedgeRectCallout">
            <a:avLst>
              <a:gd name="adj1" fmla="val -62372"/>
              <a:gd name="adj2" fmla="val -7482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However, you are responsible for deallocation!</a:t>
            </a:r>
          </a:p>
        </p:txBody>
      </p:sp>
    </p:spTree>
    <p:extLst>
      <p:ext uri="{BB962C8B-B14F-4D97-AF65-F5344CB8AC3E}">
        <p14:creationId xmlns:p14="http://schemas.microsoft.com/office/powerpoint/2010/main" val="27567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Vector Add Function with DMA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968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Example 2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28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6AFBC2-66C0-6F44-56F3-73647686B43E}"/>
              </a:ext>
            </a:extLst>
          </p:cNvPr>
          <p:cNvSpPr txBox="1"/>
          <p:nvPr/>
        </p:nvSpPr>
        <p:spPr>
          <a:xfrm>
            <a:off x="1046044" y="2202740"/>
            <a:ext cx="5269031" cy="341632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 memory management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add(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v1[],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v2[],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 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vec1[] = {1, 2, 3, 4};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vec2[] = {4, 3, 2, 1};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int*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 = NULL;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 storing sum result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 = add( vec1, vec2, 4 );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(“%d, %d, %d, %d\n”, p[0], p[1], p[2], p[3]);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free(p);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Beat the Memory Leak!!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  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36B8F3-9B70-CACD-97C6-0E341103C4F1}"/>
              </a:ext>
            </a:extLst>
          </p:cNvPr>
          <p:cNvSpPr/>
          <p:nvPr/>
        </p:nvSpPr>
        <p:spPr>
          <a:xfrm>
            <a:off x="8123080" y="2041374"/>
            <a:ext cx="2878906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L8Ex9-Add2VecV3-Works.c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C32E32-C97C-3E4C-1DC4-6213AE76D85A}"/>
              </a:ext>
            </a:extLst>
          </p:cNvPr>
          <p:cNvSpPr txBox="1"/>
          <p:nvPr/>
        </p:nvSpPr>
        <p:spPr>
          <a:xfrm>
            <a:off x="6592217" y="2788208"/>
            <a:ext cx="4409769" cy="24929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Vector Add Function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add(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v1[],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v2[],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*sum = 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)malloc( n*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sum[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 v1[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+ v2[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sum;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3930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8" dur="2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Vector Add Function – Bad workaround to avoid DMA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968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Example 2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29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6AFBC2-66C0-6F44-56F3-73647686B43E}"/>
              </a:ext>
            </a:extLst>
          </p:cNvPr>
          <p:cNvSpPr txBox="1"/>
          <p:nvPr/>
        </p:nvSpPr>
        <p:spPr>
          <a:xfrm>
            <a:off x="1046044" y="2202740"/>
            <a:ext cx="5269031" cy="3046988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add(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v1[],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v2[],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 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vec1[] = {1, 2, 3, 4};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vec2[] = {4, 3, 2, 1};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int*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 = NULL;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 storing sum result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 = add( vec1, vec2, 4 );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(“%d, %d, %d, %d\n”, p[0], p[1], p[2], p[3]);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  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36B8F3-9B70-CACD-97C6-0E341103C4F1}"/>
              </a:ext>
            </a:extLst>
          </p:cNvPr>
          <p:cNvSpPr/>
          <p:nvPr/>
        </p:nvSpPr>
        <p:spPr>
          <a:xfrm>
            <a:off x="8123080" y="2041374"/>
            <a:ext cx="2878906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L8Ex9-Add2VecV2-Fail.c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C32E32-C97C-3E4C-1DC4-6213AE76D85A}"/>
              </a:ext>
            </a:extLst>
          </p:cNvPr>
          <p:cNvSpPr txBox="1"/>
          <p:nvPr/>
        </p:nvSpPr>
        <p:spPr>
          <a:xfrm>
            <a:off x="6592217" y="2731058"/>
            <a:ext cx="4409769" cy="24929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Vector Add Function – without DMA V1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add(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v1[],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v2[],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sum[n];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sum[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 v1[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+ v2[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&amp;sum[0];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OR return sum;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71632B-760D-7F15-7E5C-05CCC73BC3B5}"/>
              </a:ext>
            </a:extLst>
          </p:cNvPr>
          <p:cNvSpPr/>
          <p:nvPr/>
        </p:nvSpPr>
        <p:spPr>
          <a:xfrm>
            <a:off x="8123080" y="1630347"/>
            <a:ext cx="2878906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L8Ex9-Add2VecV1-Fail.c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7DC81ADE-8E88-606C-F018-C0ADEFA41DE3}"/>
              </a:ext>
            </a:extLst>
          </p:cNvPr>
          <p:cNvSpPr/>
          <p:nvPr/>
        </p:nvSpPr>
        <p:spPr>
          <a:xfrm>
            <a:off x="3566073" y="5382598"/>
            <a:ext cx="6444702" cy="591083"/>
          </a:xfrm>
          <a:prstGeom prst="wedgeRectCallout">
            <a:avLst>
              <a:gd name="adj1" fmla="val -76173"/>
              <a:gd name="adj2" fmla="val -23730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rgbClr val="FF0000"/>
                </a:solidFill>
              </a:rPr>
              <a:t>This will fail because sum[] is destroyed at the end of add(), thus cannot be accessed even with a pointer passed back to caller.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7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6846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Takeaways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60D206-E3DF-4911-BD95-937910224DC7}"/>
                  </a:ext>
                </a:extLst>
              </p:cNvPr>
              <p:cNvSpPr txBox="1"/>
              <p:nvPr/>
            </p:nvSpPr>
            <p:spPr>
              <a:xfrm>
                <a:off x="832658" y="1468387"/>
                <a:ext cx="6901642" cy="4407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sz="2400" b="1" dirty="0"/>
                  <a:t>Pointer Arithmetic and Arrays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Pointer-Offset Notation vs. Array-Index Notation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CA" b="0" i="1" dirty="0">
                  <a:latin typeface="Cambria Math" panose="020405030504060302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𝑎𝑃𝑡𝑟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𝑏𝑃𝑡𝑟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𝑣𝑎𝑙𝑢𝑒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𝑎𝑃𝑡𝑟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𝑣𝑎𝑙𝑢𝑒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𝑏𝑃𝑡𝑟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𝑠𝑖𝑧𝑒𝑜𝑓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CA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CA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Pointer and array declaration are equivalent ONLY WHEN</a:t>
                </a:r>
                <a:br>
                  <a:rPr lang="en-CA" dirty="0"/>
                </a:br>
                <a:r>
                  <a:rPr lang="en-CA" dirty="0"/>
                  <a:t>inside function input parameter list</a:t>
                </a:r>
              </a:p>
              <a:p>
                <a:pPr lvl="1"/>
                <a:endParaRPr lang="en-CA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sz="2400" b="1" dirty="0"/>
                  <a:t>Pointer and String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Heed the Constant vs. Variable Strings</a:t>
                </a:r>
                <a:endParaRPr lang="en-CA" i="1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CA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sz="2400" b="1" dirty="0"/>
                  <a:t>Dynamic Memory Allocation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Full control of the storage duration of a variable</a:t>
                </a:r>
                <a:endParaRPr lang="en-CA" i="1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Efficient use of Heap memory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60D206-E3DF-4911-BD95-937910224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658" y="1468387"/>
                <a:ext cx="6901642" cy="4407681"/>
              </a:xfrm>
              <a:prstGeom prst="rect">
                <a:avLst/>
              </a:prstGeom>
              <a:blipFill>
                <a:blip r:embed="rId3"/>
                <a:stretch>
                  <a:fillRect l="-1237" t="-1107" b="-124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30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44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761268" y="2763657"/>
            <a:ext cx="25591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Upcoming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3569718"/>
            <a:ext cx="69005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Arrays of Pointers (Multi-Indirection Pointers)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Motivation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Applications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31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C167B0-AFAA-F0FA-23BE-36A394AD601B}"/>
              </a:ext>
            </a:extLst>
          </p:cNvPr>
          <p:cNvSpPr txBox="1"/>
          <p:nvPr/>
        </p:nvSpPr>
        <p:spPr>
          <a:xfrm>
            <a:off x="761268" y="622913"/>
            <a:ext cx="277249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Homework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3728D6-C1CF-7922-CF30-0F7506F2E094}"/>
              </a:ext>
            </a:extLst>
          </p:cNvPr>
          <p:cNvSpPr txBox="1"/>
          <p:nvPr/>
        </p:nvSpPr>
        <p:spPr>
          <a:xfrm>
            <a:off x="761269" y="1347309"/>
            <a:ext cx="6525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Watch [PLV 8-2] </a:t>
            </a:r>
            <a:r>
              <a:rPr lang="en-CA" sz="2400" b="1" dirty="0">
                <a:latin typeface="Courier"/>
              </a:rPr>
              <a:t>const</a:t>
            </a:r>
            <a:r>
              <a:rPr lang="en-CA" sz="2400" b="1" dirty="0"/>
              <a:t> Qualifier on Pointers</a:t>
            </a:r>
            <a:br>
              <a:rPr lang="en-CA" sz="2400" b="1" dirty="0"/>
            </a:br>
            <a:r>
              <a:rPr lang="en-CA" sz="2400" b="1" dirty="0"/>
              <a:t>(If you have not done so already) </a:t>
            </a:r>
          </a:p>
        </p:txBody>
      </p:sp>
    </p:spTree>
    <p:extLst>
      <p:ext uri="{BB962C8B-B14F-4D97-AF65-F5344CB8AC3E}">
        <p14:creationId xmlns:p14="http://schemas.microsoft.com/office/powerpoint/2010/main" val="375605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2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33008</TotalTime>
  <Words>4466</Words>
  <Application>Microsoft Office PowerPoint</Application>
  <PresentationFormat>Widescreen</PresentationFormat>
  <Paragraphs>838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Courier</vt:lpstr>
      <vt:lpstr>Courier New</vt:lpstr>
      <vt:lpstr>Office Theme</vt:lpstr>
      <vt:lpstr>PowerPoint Presentation</vt:lpstr>
      <vt:lpstr>PowerPoint Presentation</vt:lpstr>
      <vt:lpstr>Pointer Arithmetic Review</vt:lpstr>
      <vt:lpstr>PowerPoint Presentation</vt:lpstr>
      <vt:lpstr>PowerPoint Presentation</vt:lpstr>
      <vt:lpstr>PowerPoint Presentation</vt:lpstr>
      <vt:lpstr>Pointers and 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Dynamic Memory Allocation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8 - More on Pointers, DMA</dc:title>
  <dc:creator>Shahrukh Athar</dc:creator>
  <cp:lastModifiedBy>Shahrukh Athar</cp:lastModifiedBy>
  <cp:revision>654</cp:revision>
  <dcterms:created xsi:type="dcterms:W3CDTF">2018-10-02T00:35:18Z</dcterms:created>
  <dcterms:modified xsi:type="dcterms:W3CDTF">2024-10-20T19:13:47Z</dcterms:modified>
</cp:coreProperties>
</file>