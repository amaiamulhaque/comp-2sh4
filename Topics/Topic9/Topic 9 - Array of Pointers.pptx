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64" r:id="rId3"/>
    <p:sldId id="539" r:id="rId4"/>
    <p:sldId id="546" r:id="rId5"/>
    <p:sldId id="547" r:id="rId6"/>
    <p:sldId id="529" r:id="rId7"/>
    <p:sldId id="548" r:id="rId8"/>
    <p:sldId id="270" r:id="rId9"/>
    <p:sldId id="297" r:id="rId10"/>
    <p:sldId id="524" r:id="rId11"/>
    <p:sldId id="530" r:id="rId12"/>
    <p:sldId id="490" r:id="rId13"/>
    <p:sldId id="525" r:id="rId14"/>
    <p:sldId id="526" r:id="rId15"/>
    <p:sldId id="527" r:id="rId16"/>
    <p:sldId id="528" r:id="rId17"/>
    <p:sldId id="531" r:id="rId18"/>
    <p:sldId id="491" r:id="rId19"/>
    <p:sldId id="532" r:id="rId20"/>
    <p:sldId id="533" r:id="rId21"/>
    <p:sldId id="534" r:id="rId22"/>
    <p:sldId id="535" r:id="rId23"/>
    <p:sldId id="536" r:id="rId24"/>
    <p:sldId id="537" r:id="rId25"/>
    <p:sldId id="377" r:id="rId26"/>
    <p:sldId id="313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FF9933"/>
    <a:srgbClr val="FF00FF"/>
    <a:srgbClr val="0000FF"/>
    <a:srgbClr val="7F1F1F"/>
    <a:srgbClr val="FFDDDD"/>
    <a:srgbClr val="FF7D7D"/>
    <a:srgbClr val="E8D9F3"/>
    <a:srgbClr val="AF7CD6"/>
    <a:srgbClr val="E9EB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2" d="100"/>
          <a:sy n="82" d="100"/>
        </p:scale>
        <p:origin x="6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A49FD1-C801-49A5-8B3B-7E4466140B0B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5F8C59-6400-4A47-9B68-202DC97D1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741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F0B6A-6EA8-48B1-890E-DBE9F55C93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041BC4-FC72-4C99-A6E3-D36F48E005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EB7F54-454F-4230-BCD0-7E298954C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2024-10-27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C61BE9-5CD9-4798-8B28-41A7B3B21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723F6D-6949-4755-9EB3-0B4CF3682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86534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C3B6A-6FB6-43A1-923B-948DA708E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2D120-9635-40F5-BD6A-8B18A091E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A2D18D-D540-45BC-92C8-5C043E6BE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2024-10-27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09A943-3396-4512-9E17-E9C48D404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73FB98-9712-4920-84AA-67299297C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87841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FC0B3-F2E8-4150-9C9F-249EA1EEB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B89AC4-4CCA-41C9-8CD3-FDA4F8BFD3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B67CB5-DCF0-4F91-A3A4-AC18FA8DC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2024-10-27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AD0D37-7F5D-4DA2-928A-A46FC161A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835497-1021-4F40-B052-5FDB6EA00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81710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8113F-9A27-4454-9066-1D4816CBA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7B618-A31F-4B60-9C62-B8612EFF3C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596AB5-6DB6-442F-A300-81550E203D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BFC75A-6003-426C-9DB2-9B39A4B0D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2024-10-27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DB4B50-F363-4912-A26C-0359D566C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216A83-7103-44F3-87B3-CEE5D964D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24262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81195-ACB2-4934-8F4E-F2958669E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758A89-F5A9-4F9B-A223-97C13BC231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16795C-363C-48DB-AD3D-2F9C61E1EB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E36750-9C96-4B01-9805-33AC964663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1DC454-D419-49C4-8D63-67A4795D95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43FABF-0142-467C-AE89-DE5CD45B0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2024-10-27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DB3F96-5224-4C13-AD6F-1105B1ADA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A5A20E-F42A-4D9D-B91C-6088C1DCA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70123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B7978-81C5-4AE1-8616-9BD6D82E9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3CD8A4-8B49-41C6-B266-DDCE9828A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2024-10-27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0EAF09-62CD-4D41-A12D-7A187B158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916380-B9B6-4A57-92A4-92928B666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68800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B50F4B-56DD-47FF-8723-5B8E812DB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2024-10-27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0A2383-5FD6-4CA9-B869-66F36C29F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D04989-A74B-47B9-BBF3-7E03ED0AF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94822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FE9DE-5FE6-448D-8017-76CEB79B7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F5170-09A8-4802-948A-2FC1342490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03ADFF-B73A-409D-B75B-F2CD7B6DDE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410021-EAD0-4B81-B79C-468DFF640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2024-10-27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B38279-373B-4DD6-9B4D-8391BC7BD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87FDA3-5AFE-4A11-A0BE-334D33D89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06948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59788-A568-4DD7-ADA9-9ABF1663C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FC9A0F-20B9-4F4D-8494-51CC0F0F15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3D0EFE-BCFC-4795-81FA-C1868FB99C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A51377-1691-4253-8517-5C1042A92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2024-10-27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94FC9-DA1F-4922-BE56-216E722BA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32F70E-C891-4B2C-90E2-48DF1E698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83696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A1662-B2C5-4D3D-A91F-576556E37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D83262-9C38-48C2-92DD-DFF488E745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6F95AE-11FE-461F-86AA-DD7226E11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2024-10-27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E4B16A-019A-4707-B5FE-6A7A4FAA5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C9DE2A-7C3E-4387-BD36-F66C7D0C2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69342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34312D-85D8-4F4E-9225-EE35F67774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6A2784-F633-44EE-8524-4C659B6A1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8F275D-A9E9-4573-A113-62A0D463E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2024-10-27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45AB9-9C02-4C46-A2F5-EA99128AA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9DAC47-ACD1-475E-929F-BEA3913CD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40229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561F7F-5C44-431A-8DF8-3CE3DE3D3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51CD12-5D97-4A00-9D87-C774CAFD4A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F3DE7A-C95D-4242-B510-AF0B312622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7BFC9D-8A37-4207-9EED-DA2ABD1734E0}" type="datetimeFigureOut">
              <a:rPr lang="en-CA" smtClean="0"/>
              <a:t>2024-10-27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080F37-BB84-4C94-94FA-DF32380325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4C9D4C-3C3D-49C6-9E5A-9FEE72A286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67099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B39D983-FBB4-420A-9D1B-9D486DEE0A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374" y="0"/>
            <a:ext cx="3158763" cy="187072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12BEA56-DD51-434A-8A58-1499DABCDB67}"/>
              </a:ext>
            </a:extLst>
          </p:cNvPr>
          <p:cNvSpPr txBox="1"/>
          <p:nvPr/>
        </p:nvSpPr>
        <p:spPr>
          <a:xfrm>
            <a:off x="3325961" y="2611819"/>
            <a:ext cx="554017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60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Array of Pointers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32D380-33B6-48EC-8744-F89F20911832}"/>
              </a:ext>
            </a:extLst>
          </p:cNvPr>
          <p:cNvSpPr txBox="1"/>
          <p:nvPr/>
        </p:nvSpPr>
        <p:spPr>
          <a:xfrm>
            <a:off x="3975701" y="1867574"/>
            <a:ext cx="42258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32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COMPENG 2SH4 Topic 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D174-07AB-78BB-E15C-AB4D0BBE4299}"/>
              </a:ext>
            </a:extLst>
          </p:cNvPr>
          <p:cNvSpPr txBox="1"/>
          <p:nvPr/>
        </p:nvSpPr>
        <p:spPr>
          <a:xfrm>
            <a:off x="4185188" y="5068547"/>
            <a:ext cx="38216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 b="1" dirty="0"/>
              <a:t>Dr. Shahrukh Athar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69154E-FCDD-8025-DB77-CBE20B54E571}"/>
              </a:ext>
            </a:extLst>
          </p:cNvPr>
          <p:cNvSpPr txBox="1"/>
          <p:nvPr/>
        </p:nvSpPr>
        <p:spPr>
          <a:xfrm>
            <a:off x="1388853" y="6596390"/>
            <a:ext cx="108031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Credit: The current version of these slides has been developed by Dr. Scott Chen (2SH4 F23 C02). I am using these slides with his permission and have made only slight modifications.</a:t>
            </a:r>
          </a:p>
        </p:txBody>
      </p:sp>
    </p:spTree>
    <p:extLst>
      <p:ext uri="{BB962C8B-B14F-4D97-AF65-F5344CB8AC3E}">
        <p14:creationId xmlns:p14="http://schemas.microsoft.com/office/powerpoint/2010/main" val="1957787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195630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Agenda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8" y="1563637"/>
            <a:ext cx="6787342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/>
              <a:t>2D Arrays on Heap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How to create multidimensional arrays on the Heap?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Need for multi-level pointers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Three DMA methods – pros and cons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sz="22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/>
              <a:t>Array of Pointers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Odd-shaped multidimensional arrays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Array of strings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Double Pointers (Multi-Level Pointers)</a:t>
            </a:r>
            <a:endParaRPr lang="en-CA" b="1" dirty="0">
              <a:latin typeface="Courier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sz="2200" b="1" dirty="0"/>
          </a:p>
          <a:p>
            <a:pPr lvl="1"/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pic>
        <p:nvPicPr>
          <p:cNvPr id="12" name="Graphic 11" descr="Three circles each containing concentric circles.">
            <a:extLst>
              <a:ext uri="{FF2B5EF4-FFF2-40B4-BE49-F238E27FC236}">
                <a16:creationId xmlns:a16="http://schemas.microsoft.com/office/drawing/2014/main" id="{A4D28325-1E70-41A7-BF16-E0919AFAD5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88020" y="776106"/>
            <a:ext cx="5305788" cy="5305788"/>
          </a:xfrm>
          <a:prstGeom prst="rect">
            <a:avLst/>
          </a:prstGeom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2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058952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 descr="One solid circle, one ring, and one circle filled with diagonal lines">
            <a:extLst>
              <a:ext uri="{FF2B5EF4-FFF2-40B4-BE49-F238E27FC236}">
                <a16:creationId xmlns:a16="http://schemas.microsoft.com/office/drawing/2014/main" id="{117B1E9F-05A5-4510-8587-80B34F83DB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68254" y="747419"/>
            <a:ext cx="5363162" cy="536316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14B5F53-76BB-4185-819B-0CE94A358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2D Array on Heap</a:t>
            </a:r>
            <a:endParaRPr lang="en-US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699E1B-6ADB-4F72-95A0-4AA7EB020B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1EE999-66AE-40DE-9FC3-57D08FF72800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1EEE44-5A53-4177-97CB-790B8F12F8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7F0101C-21B9-D82E-6551-CA6134F1A5C3}"/>
              </a:ext>
            </a:extLst>
          </p:cNvPr>
          <p:cNvSpPr txBox="1"/>
          <p:nvPr/>
        </p:nvSpPr>
        <p:spPr>
          <a:xfrm>
            <a:off x="831850" y="551471"/>
            <a:ext cx="1023425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Watch Before Lecture:</a:t>
            </a:r>
          </a:p>
          <a:p>
            <a:r>
              <a:rPr lang="en-CA" sz="2000" b="1" dirty="0">
                <a:solidFill>
                  <a:srgbClr val="7F1F1F"/>
                </a:solidFill>
              </a:rPr>
              <a:t>[PLV 9-1 Part I] DMA for Multidimensional Array (</a:t>
            </a:r>
            <a:r>
              <a:rPr lang="en-US" sz="2000" b="1" dirty="0">
                <a:solidFill>
                  <a:srgbClr val="7F1F1F"/>
                </a:solidFill>
              </a:rPr>
              <a:t>What is Double Pointer</a:t>
            </a:r>
            <a:r>
              <a:rPr lang="en-CA" sz="2000" b="1" dirty="0">
                <a:solidFill>
                  <a:srgbClr val="7F1F1F"/>
                </a:solidFill>
              </a:rPr>
              <a:t>)</a:t>
            </a:r>
            <a:endParaRPr lang="en-US" sz="2000" b="1" dirty="0">
              <a:solidFill>
                <a:srgbClr val="7F1F1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61525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622292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What’s a Double Pointer?</a:t>
            </a:r>
            <a:endParaRPr lang="en-CA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366546"/>
            <a:ext cx="6343206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malloc() always gets you 1D array</a:t>
            </a:r>
            <a:endParaRPr lang="en-CA" b="1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/>
              <a:t>Manual Method 3 – Save Row Pointers into Array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What is </a:t>
            </a:r>
            <a:r>
              <a:rPr lang="en-CA" dirty="0" err="1"/>
              <a:t>RowPtrs</a:t>
            </a:r>
            <a:r>
              <a:rPr lang="en-CA" dirty="0"/>
              <a:t> then?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Name of the Char Pointer Array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Starting Address of the Character Pointer Array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b="1" dirty="0"/>
              <a:t>Constant Pointer </a:t>
            </a:r>
            <a:r>
              <a:rPr lang="en-CA" dirty="0"/>
              <a:t>to the </a:t>
            </a:r>
            <a:r>
              <a:rPr lang="en-CA" b="1" dirty="0"/>
              <a:t>Character Pointer Array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 err="1"/>
              <a:t>RowPtrs</a:t>
            </a:r>
            <a:r>
              <a:rPr lang="en-CA" dirty="0"/>
              <a:t> is a “Constant Pointer to Pointers”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In short, </a:t>
            </a:r>
            <a:r>
              <a:rPr lang="en-CA" b="1" dirty="0">
                <a:solidFill>
                  <a:srgbClr val="FF0000"/>
                </a:solidFill>
              </a:rPr>
              <a:t>Constant Double Pointer</a:t>
            </a:r>
          </a:p>
          <a:p>
            <a:endParaRPr lang="en-CA" sz="1600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4</a:t>
            </a:fld>
            <a:endParaRPr lang="en-CA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39F6E5-7C89-CD88-7A34-767A6175ED68}"/>
              </a:ext>
            </a:extLst>
          </p:cNvPr>
          <p:cNvSpPr txBox="1"/>
          <p:nvPr/>
        </p:nvSpPr>
        <p:spPr>
          <a:xfrm>
            <a:off x="1253457" y="1774938"/>
            <a:ext cx="5066642" cy="646331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Historical Way of Creating 2D array on Heap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m = 3, n = 3;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 *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 *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)malloc( m * n * </a:t>
            </a:r>
            <a:r>
              <a:rPr lang="en-US" sz="12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 );</a:t>
            </a:r>
          </a:p>
        </p:txBody>
      </p:sp>
      <p:sp>
        <p:nvSpPr>
          <p:cNvPr id="138" name="Rectangle: Rounded Corners 137">
            <a:extLst>
              <a:ext uri="{FF2B5EF4-FFF2-40B4-BE49-F238E27FC236}">
                <a16:creationId xmlns:a16="http://schemas.microsoft.com/office/drawing/2014/main" id="{6FA21240-74B3-7A64-33AA-2F661B8006C0}"/>
              </a:ext>
            </a:extLst>
          </p:cNvPr>
          <p:cNvSpPr/>
          <p:nvPr/>
        </p:nvSpPr>
        <p:spPr>
          <a:xfrm>
            <a:off x="8480312" y="962082"/>
            <a:ext cx="1425535" cy="325693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??</a:t>
            </a:r>
          </a:p>
        </p:txBody>
      </p:sp>
      <p:sp>
        <p:nvSpPr>
          <p:cNvPr id="139" name="Rectangle: Rounded Corners 138">
            <a:extLst>
              <a:ext uri="{FF2B5EF4-FFF2-40B4-BE49-F238E27FC236}">
                <a16:creationId xmlns:a16="http://schemas.microsoft.com/office/drawing/2014/main" id="{6523D75D-E8A2-E2E0-DD9D-E5BF4C0E8DC7}"/>
              </a:ext>
            </a:extLst>
          </p:cNvPr>
          <p:cNvSpPr/>
          <p:nvPr/>
        </p:nvSpPr>
        <p:spPr>
          <a:xfrm>
            <a:off x="8480311" y="1289761"/>
            <a:ext cx="1425535" cy="325693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??</a:t>
            </a:r>
          </a:p>
        </p:txBody>
      </p:sp>
      <p:sp>
        <p:nvSpPr>
          <p:cNvPr id="140" name="Rectangle: Rounded Corners 139">
            <a:extLst>
              <a:ext uri="{FF2B5EF4-FFF2-40B4-BE49-F238E27FC236}">
                <a16:creationId xmlns:a16="http://schemas.microsoft.com/office/drawing/2014/main" id="{F3B0773B-F51F-2AA7-3195-93A15087EB8C}"/>
              </a:ext>
            </a:extLst>
          </p:cNvPr>
          <p:cNvSpPr/>
          <p:nvPr/>
        </p:nvSpPr>
        <p:spPr>
          <a:xfrm>
            <a:off x="8480310" y="1616599"/>
            <a:ext cx="1425535" cy="325693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??</a:t>
            </a:r>
          </a:p>
        </p:txBody>
      </p:sp>
      <p:sp>
        <p:nvSpPr>
          <p:cNvPr id="141" name="Rectangle: Rounded Corners 140">
            <a:extLst>
              <a:ext uri="{FF2B5EF4-FFF2-40B4-BE49-F238E27FC236}">
                <a16:creationId xmlns:a16="http://schemas.microsoft.com/office/drawing/2014/main" id="{936DFB14-0F80-69BE-9F53-19CB88EC00A8}"/>
              </a:ext>
            </a:extLst>
          </p:cNvPr>
          <p:cNvSpPr/>
          <p:nvPr/>
        </p:nvSpPr>
        <p:spPr>
          <a:xfrm>
            <a:off x="8480310" y="1946603"/>
            <a:ext cx="1425535" cy="325693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??</a:t>
            </a:r>
          </a:p>
        </p:txBody>
      </p:sp>
      <p:sp>
        <p:nvSpPr>
          <p:cNvPr id="142" name="Rectangle: Rounded Corners 141">
            <a:extLst>
              <a:ext uri="{FF2B5EF4-FFF2-40B4-BE49-F238E27FC236}">
                <a16:creationId xmlns:a16="http://schemas.microsoft.com/office/drawing/2014/main" id="{D008FA50-718C-13B6-493C-BA67B95489B2}"/>
              </a:ext>
            </a:extLst>
          </p:cNvPr>
          <p:cNvSpPr/>
          <p:nvPr/>
        </p:nvSpPr>
        <p:spPr>
          <a:xfrm>
            <a:off x="8480309" y="2275478"/>
            <a:ext cx="1425535" cy="325693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??</a:t>
            </a:r>
          </a:p>
        </p:txBody>
      </p:sp>
      <p:sp>
        <p:nvSpPr>
          <p:cNvPr id="143" name="Rectangle: Rounded Corners 142">
            <a:extLst>
              <a:ext uri="{FF2B5EF4-FFF2-40B4-BE49-F238E27FC236}">
                <a16:creationId xmlns:a16="http://schemas.microsoft.com/office/drawing/2014/main" id="{537B51CD-1E3E-6CB5-BF63-E8814884DD10}"/>
              </a:ext>
            </a:extLst>
          </p:cNvPr>
          <p:cNvSpPr/>
          <p:nvPr/>
        </p:nvSpPr>
        <p:spPr>
          <a:xfrm>
            <a:off x="8480309" y="2595067"/>
            <a:ext cx="1425535" cy="325693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??</a:t>
            </a:r>
          </a:p>
        </p:txBody>
      </p:sp>
      <p:sp>
        <p:nvSpPr>
          <p:cNvPr id="144" name="Rectangle: Rounded Corners 143">
            <a:extLst>
              <a:ext uri="{FF2B5EF4-FFF2-40B4-BE49-F238E27FC236}">
                <a16:creationId xmlns:a16="http://schemas.microsoft.com/office/drawing/2014/main" id="{12FB1147-9B87-E448-B7E3-D81A7785E8CA}"/>
              </a:ext>
            </a:extLst>
          </p:cNvPr>
          <p:cNvSpPr/>
          <p:nvPr/>
        </p:nvSpPr>
        <p:spPr>
          <a:xfrm>
            <a:off x="8475748" y="2919769"/>
            <a:ext cx="1425535" cy="325693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??</a:t>
            </a:r>
          </a:p>
        </p:txBody>
      </p:sp>
      <p:sp>
        <p:nvSpPr>
          <p:cNvPr id="145" name="Rectangle: Rounded Corners 144">
            <a:extLst>
              <a:ext uri="{FF2B5EF4-FFF2-40B4-BE49-F238E27FC236}">
                <a16:creationId xmlns:a16="http://schemas.microsoft.com/office/drawing/2014/main" id="{35E4BE42-515D-39F8-3C3D-DE629FA4D703}"/>
              </a:ext>
            </a:extLst>
          </p:cNvPr>
          <p:cNvSpPr/>
          <p:nvPr/>
        </p:nvSpPr>
        <p:spPr>
          <a:xfrm>
            <a:off x="8475748" y="3239358"/>
            <a:ext cx="1425535" cy="325693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??</a:t>
            </a:r>
          </a:p>
        </p:txBody>
      </p:sp>
      <p:sp>
        <p:nvSpPr>
          <p:cNvPr id="146" name="Rectangle: Rounded Corners 145">
            <a:extLst>
              <a:ext uri="{FF2B5EF4-FFF2-40B4-BE49-F238E27FC236}">
                <a16:creationId xmlns:a16="http://schemas.microsoft.com/office/drawing/2014/main" id="{0A9D45F2-0482-F4DF-5F02-AA9BD01EAA76}"/>
              </a:ext>
            </a:extLst>
          </p:cNvPr>
          <p:cNvSpPr/>
          <p:nvPr/>
        </p:nvSpPr>
        <p:spPr>
          <a:xfrm>
            <a:off x="8468107" y="3564060"/>
            <a:ext cx="1425535" cy="325693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??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135C482A-9AF2-B7A2-1E5C-BB990CBDA223}"/>
              </a:ext>
            </a:extLst>
          </p:cNvPr>
          <p:cNvSpPr txBox="1"/>
          <p:nvPr/>
        </p:nvSpPr>
        <p:spPr>
          <a:xfrm>
            <a:off x="7794904" y="3615083"/>
            <a:ext cx="7010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  <a:latin typeface="Courier"/>
              </a:rPr>
              <a:t>0x125</a:t>
            </a:r>
            <a:endParaRPr lang="en-US" sz="1200" dirty="0">
              <a:latin typeface="Courier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1C5CB719-921E-4079-3312-0CCA97936310}"/>
              </a:ext>
            </a:extLst>
          </p:cNvPr>
          <p:cNvSpPr txBox="1"/>
          <p:nvPr/>
        </p:nvSpPr>
        <p:spPr>
          <a:xfrm>
            <a:off x="7799505" y="3311220"/>
            <a:ext cx="7010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  <a:latin typeface="Courier"/>
              </a:rPr>
              <a:t>0x126</a:t>
            </a:r>
            <a:endParaRPr lang="en-US" sz="1200" dirty="0">
              <a:latin typeface="Courier"/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5A861839-A3DC-0CC0-5903-22DB7971901E}"/>
              </a:ext>
            </a:extLst>
          </p:cNvPr>
          <p:cNvSpPr txBox="1"/>
          <p:nvPr/>
        </p:nvSpPr>
        <p:spPr>
          <a:xfrm>
            <a:off x="7802563" y="2990139"/>
            <a:ext cx="7010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  <a:latin typeface="Courier"/>
              </a:rPr>
              <a:t>0x127</a:t>
            </a:r>
            <a:endParaRPr lang="en-US" sz="1200" dirty="0">
              <a:latin typeface="Courier"/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153D5927-4C5D-C6EF-5970-B5745ABBB7B2}"/>
              </a:ext>
            </a:extLst>
          </p:cNvPr>
          <p:cNvSpPr txBox="1"/>
          <p:nvPr/>
        </p:nvSpPr>
        <p:spPr>
          <a:xfrm>
            <a:off x="7804452" y="2665254"/>
            <a:ext cx="7010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  <a:latin typeface="Courier"/>
              </a:rPr>
              <a:t>0x128</a:t>
            </a:r>
            <a:endParaRPr lang="en-US" sz="1200" dirty="0">
              <a:latin typeface="Courier"/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885D29B0-C2E8-F972-AA24-4D47A982490D}"/>
              </a:ext>
            </a:extLst>
          </p:cNvPr>
          <p:cNvSpPr txBox="1"/>
          <p:nvPr/>
        </p:nvSpPr>
        <p:spPr>
          <a:xfrm>
            <a:off x="7802563" y="2342481"/>
            <a:ext cx="7010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  <a:latin typeface="Courier"/>
              </a:rPr>
              <a:t>0x129</a:t>
            </a:r>
            <a:endParaRPr lang="en-US" sz="1200" dirty="0">
              <a:latin typeface="Courier"/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A42E8F4A-2490-CE07-0D79-16694CD320D7}"/>
              </a:ext>
            </a:extLst>
          </p:cNvPr>
          <p:cNvSpPr txBox="1"/>
          <p:nvPr/>
        </p:nvSpPr>
        <p:spPr>
          <a:xfrm>
            <a:off x="7802986" y="1979515"/>
            <a:ext cx="7010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  <a:latin typeface="Courier"/>
              </a:rPr>
              <a:t>0x12A</a:t>
            </a:r>
            <a:endParaRPr lang="en-US" sz="1200" dirty="0">
              <a:latin typeface="Courier"/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87D7A82A-155E-F5E6-F7C8-C5CF044674E7}"/>
              </a:ext>
            </a:extLst>
          </p:cNvPr>
          <p:cNvSpPr txBox="1"/>
          <p:nvPr/>
        </p:nvSpPr>
        <p:spPr>
          <a:xfrm>
            <a:off x="7806044" y="1658434"/>
            <a:ext cx="7010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  <a:latin typeface="Courier"/>
              </a:rPr>
              <a:t>0x12B</a:t>
            </a:r>
            <a:endParaRPr lang="en-US" sz="1200" dirty="0">
              <a:latin typeface="Courier"/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573F95D2-8749-E09E-AF14-062659227D26}"/>
              </a:ext>
            </a:extLst>
          </p:cNvPr>
          <p:cNvSpPr txBox="1"/>
          <p:nvPr/>
        </p:nvSpPr>
        <p:spPr>
          <a:xfrm>
            <a:off x="7807933" y="1333549"/>
            <a:ext cx="7010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  <a:latin typeface="Courier"/>
              </a:rPr>
              <a:t>0x12C</a:t>
            </a:r>
            <a:endParaRPr lang="en-US" sz="1200" dirty="0">
              <a:latin typeface="Courier"/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55256C64-F42B-0FBC-232E-A1D53A50EACF}"/>
              </a:ext>
            </a:extLst>
          </p:cNvPr>
          <p:cNvSpPr txBox="1"/>
          <p:nvPr/>
        </p:nvSpPr>
        <p:spPr>
          <a:xfrm>
            <a:off x="7806044" y="1010776"/>
            <a:ext cx="7010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  <a:latin typeface="Courier"/>
              </a:rPr>
              <a:t>0x12D</a:t>
            </a:r>
            <a:endParaRPr lang="en-US" sz="1200" dirty="0">
              <a:latin typeface="Courier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C9F916D-5B78-8922-5105-62CB5964DE3B}"/>
              </a:ext>
            </a:extLst>
          </p:cNvPr>
          <p:cNvSpPr/>
          <p:nvPr/>
        </p:nvSpPr>
        <p:spPr>
          <a:xfrm>
            <a:off x="9459684" y="4323320"/>
            <a:ext cx="1279378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D03091-6269-291A-7340-A2A263CD9644}"/>
              </a:ext>
            </a:extLst>
          </p:cNvPr>
          <p:cNvSpPr txBox="1"/>
          <p:nvPr/>
        </p:nvSpPr>
        <p:spPr>
          <a:xfrm>
            <a:off x="8851257" y="4313993"/>
            <a:ext cx="7010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0x0CB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F4F541-FCF4-7F66-A98C-73A540EF62BF}"/>
              </a:ext>
            </a:extLst>
          </p:cNvPr>
          <p:cNvSpPr txBox="1"/>
          <p:nvPr/>
        </p:nvSpPr>
        <p:spPr>
          <a:xfrm>
            <a:off x="9371001" y="4621770"/>
            <a:ext cx="13680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char* </a:t>
            </a:r>
            <a:r>
              <a:rPr lang="en-US" b="1" dirty="0" err="1">
                <a:solidFill>
                  <a:schemeClr val="tx1"/>
                </a:solidFill>
              </a:rPr>
              <a:t>ptr</a:t>
            </a:r>
            <a:r>
              <a:rPr lang="en-US" b="1" dirty="0">
                <a:solidFill>
                  <a:schemeClr val="tx1"/>
                </a:solidFill>
              </a:rPr>
              <a:t>;</a:t>
            </a:r>
            <a:endParaRPr lang="en-CA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AF8BE09-58EE-884E-CE89-03CEE91E08D8}"/>
              </a:ext>
            </a:extLst>
          </p:cNvPr>
          <p:cNvSpPr txBox="1"/>
          <p:nvPr/>
        </p:nvSpPr>
        <p:spPr>
          <a:xfrm>
            <a:off x="9503882" y="4276316"/>
            <a:ext cx="8556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b="1" dirty="0">
                <a:solidFill>
                  <a:schemeClr val="accent2">
                    <a:lumMod val="75000"/>
                  </a:schemeClr>
                </a:solidFill>
              </a:rPr>
              <a:t>0x 125</a:t>
            </a:r>
            <a:endParaRPr lang="en-CA" sz="2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5" name="Arrow: Bent-Up 14">
            <a:extLst>
              <a:ext uri="{FF2B5EF4-FFF2-40B4-BE49-F238E27FC236}">
                <a16:creationId xmlns:a16="http://schemas.microsoft.com/office/drawing/2014/main" id="{3671B03C-7BF3-5C3E-A30D-1237983C9EA7}"/>
              </a:ext>
            </a:extLst>
          </p:cNvPr>
          <p:cNvSpPr/>
          <p:nvPr/>
        </p:nvSpPr>
        <p:spPr>
          <a:xfrm rot="16200000">
            <a:off x="9756115" y="3879454"/>
            <a:ext cx="597836" cy="286037"/>
          </a:xfrm>
          <a:prstGeom prst="bentUpArrow">
            <a:avLst>
              <a:gd name="adj1" fmla="val 22879"/>
              <a:gd name="adj2" fmla="val 29032"/>
              <a:gd name="adj3" fmla="val 31705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FDA63F7-87C4-3974-6205-1DDFA166A12F}"/>
              </a:ext>
            </a:extLst>
          </p:cNvPr>
          <p:cNvSpPr txBox="1"/>
          <p:nvPr/>
        </p:nvSpPr>
        <p:spPr>
          <a:xfrm>
            <a:off x="6990829" y="3621553"/>
            <a:ext cx="93309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050" b="1" dirty="0" err="1">
                <a:solidFill>
                  <a:schemeClr val="accent2"/>
                </a:solidFill>
                <a:latin typeface="Courier"/>
              </a:rPr>
              <a:t>ptr</a:t>
            </a:r>
            <a:r>
              <a:rPr lang="en-CA" sz="1050" b="1" dirty="0">
                <a:solidFill>
                  <a:schemeClr val="accent2"/>
                </a:solidFill>
                <a:latin typeface="Courier"/>
              </a:rPr>
              <a:t>[0][0]</a:t>
            </a:r>
            <a:endParaRPr lang="en-US" sz="1050" dirty="0">
              <a:solidFill>
                <a:schemeClr val="accent2"/>
              </a:solidFill>
              <a:latin typeface="Courier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204E41B-92D1-DF5E-AD26-9B9854D5343F}"/>
              </a:ext>
            </a:extLst>
          </p:cNvPr>
          <p:cNvSpPr txBox="1"/>
          <p:nvPr/>
        </p:nvSpPr>
        <p:spPr>
          <a:xfrm>
            <a:off x="6995430" y="3317690"/>
            <a:ext cx="93309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050" b="1" dirty="0" err="1">
                <a:solidFill>
                  <a:schemeClr val="accent2"/>
                </a:solidFill>
                <a:latin typeface="Courier"/>
              </a:rPr>
              <a:t>ptr</a:t>
            </a:r>
            <a:r>
              <a:rPr lang="en-CA" sz="1050" b="1" dirty="0">
                <a:solidFill>
                  <a:schemeClr val="accent2"/>
                </a:solidFill>
                <a:latin typeface="Courier"/>
              </a:rPr>
              <a:t>[0][1]</a:t>
            </a:r>
            <a:endParaRPr lang="en-US" sz="1050" dirty="0">
              <a:solidFill>
                <a:schemeClr val="accent2"/>
              </a:solidFill>
              <a:latin typeface="Courier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DB7A4F4-9335-4464-9053-E29DE094319B}"/>
              </a:ext>
            </a:extLst>
          </p:cNvPr>
          <p:cNvSpPr txBox="1"/>
          <p:nvPr/>
        </p:nvSpPr>
        <p:spPr>
          <a:xfrm>
            <a:off x="6998488" y="2996609"/>
            <a:ext cx="93309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050" b="1" dirty="0" err="1">
                <a:solidFill>
                  <a:schemeClr val="accent2"/>
                </a:solidFill>
                <a:latin typeface="Courier"/>
              </a:rPr>
              <a:t>ptr</a:t>
            </a:r>
            <a:r>
              <a:rPr lang="en-CA" sz="1050" b="1" dirty="0">
                <a:solidFill>
                  <a:schemeClr val="accent2"/>
                </a:solidFill>
                <a:latin typeface="Courier"/>
              </a:rPr>
              <a:t>[0][2]</a:t>
            </a:r>
            <a:endParaRPr lang="en-US" sz="1050" dirty="0">
              <a:solidFill>
                <a:schemeClr val="accent2"/>
              </a:solidFill>
              <a:latin typeface="Courier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E4E55F7-DD6A-896B-6809-2B7836F6724C}"/>
              </a:ext>
            </a:extLst>
          </p:cNvPr>
          <p:cNvSpPr txBox="1"/>
          <p:nvPr/>
        </p:nvSpPr>
        <p:spPr>
          <a:xfrm>
            <a:off x="7000377" y="2671724"/>
            <a:ext cx="93309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050" b="1" dirty="0" err="1">
                <a:solidFill>
                  <a:schemeClr val="accent2"/>
                </a:solidFill>
                <a:latin typeface="Courier"/>
              </a:rPr>
              <a:t>ptr</a:t>
            </a:r>
            <a:r>
              <a:rPr lang="en-CA" sz="1050" b="1" dirty="0">
                <a:solidFill>
                  <a:schemeClr val="accent2"/>
                </a:solidFill>
                <a:latin typeface="Courier"/>
              </a:rPr>
              <a:t>[1][0]</a:t>
            </a:r>
            <a:endParaRPr lang="en-US" sz="1050" dirty="0">
              <a:solidFill>
                <a:schemeClr val="accent2"/>
              </a:solidFill>
              <a:latin typeface="Courier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B4D3793-FE8C-1E8D-4DE1-8F31714BA48D}"/>
              </a:ext>
            </a:extLst>
          </p:cNvPr>
          <p:cNvSpPr txBox="1"/>
          <p:nvPr/>
        </p:nvSpPr>
        <p:spPr>
          <a:xfrm>
            <a:off x="6998488" y="2348951"/>
            <a:ext cx="93309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050" b="1" dirty="0" err="1">
                <a:solidFill>
                  <a:schemeClr val="accent2"/>
                </a:solidFill>
                <a:latin typeface="Courier"/>
              </a:rPr>
              <a:t>ptr</a:t>
            </a:r>
            <a:r>
              <a:rPr lang="en-CA" sz="1050" b="1" dirty="0">
                <a:solidFill>
                  <a:schemeClr val="accent2"/>
                </a:solidFill>
                <a:latin typeface="Courier"/>
              </a:rPr>
              <a:t>[1][1]</a:t>
            </a:r>
            <a:endParaRPr lang="en-US" sz="1050" dirty="0">
              <a:solidFill>
                <a:schemeClr val="accent2"/>
              </a:solidFill>
              <a:latin typeface="Courier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88EA236-B286-E65A-20E6-C2E3FBDDE76B}"/>
              </a:ext>
            </a:extLst>
          </p:cNvPr>
          <p:cNvSpPr txBox="1"/>
          <p:nvPr/>
        </p:nvSpPr>
        <p:spPr>
          <a:xfrm>
            <a:off x="6998911" y="1985985"/>
            <a:ext cx="93309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050" b="1" dirty="0" err="1">
                <a:solidFill>
                  <a:schemeClr val="accent2"/>
                </a:solidFill>
                <a:latin typeface="Courier"/>
              </a:rPr>
              <a:t>ptr</a:t>
            </a:r>
            <a:r>
              <a:rPr lang="en-CA" sz="1050" b="1" dirty="0">
                <a:solidFill>
                  <a:schemeClr val="accent2"/>
                </a:solidFill>
                <a:latin typeface="Courier"/>
              </a:rPr>
              <a:t>[1][2]</a:t>
            </a:r>
            <a:endParaRPr lang="en-US" sz="1050" dirty="0">
              <a:solidFill>
                <a:schemeClr val="accent2"/>
              </a:solidFill>
              <a:latin typeface="Courier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86E122-665A-CD07-3C5A-A524100EAF4D}"/>
              </a:ext>
            </a:extLst>
          </p:cNvPr>
          <p:cNvSpPr txBox="1"/>
          <p:nvPr/>
        </p:nvSpPr>
        <p:spPr>
          <a:xfrm>
            <a:off x="7001969" y="1664904"/>
            <a:ext cx="93309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050" b="1" dirty="0" err="1">
                <a:solidFill>
                  <a:schemeClr val="accent2"/>
                </a:solidFill>
                <a:latin typeface="Courier"/>
              </a:rPr>
              <a:t>ptr</a:t>
            </a:r>
            <a:r>
              <a:rPr lang="en-CA" sz="1050" b="1" dirty="0">
                <a:solidFill>
                  <a:schemeClr val="accent2"/>
                </a:solidFill>
                <a:latin typeface="Courier"/>
              </a:rPr>
              <a:t>[2][0]</a:t>
            </a:r>
            <a:endParaRPr lang="en-US" sz="1050" dirty="0">
              <a:solidFill>
                <a:schemeClr val="accent2"/>
              </a:solidFill>
              <a:latin typeface="Courier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873F4C4-DADC-1B35-4341-6E2ECFA9CB81}"/>
              </a:ext>
            </a:extLst>
          </p:cNvPr>
          <p:cNvSpPr txBox="1"/>
          <p:nvPr/>
        </p:nvSpPr>
        <p:spPr>
          <a:xfrm>
            <a:off x="7003858" y="1340019"/>
            <a:ext cx="93309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050" b="1" dirty="0" err="1">
                <a:solidFill>
                  <a:schemeClr val="accent2"/>
                </a:solidFill>
                <a:latin typeface="Courier"/>
              </a:rPr>
              <a:t>ptr</a:t>
            </a:r>
            <a:r>
              <a:rPr lang="en-CA" sz="1050" b="1" dirty="0">
                <a:solidFill>
                  <a:schemeClr val="accent2"/>
                </a:solidFill>
                <a:latin typeface="Courier"/>
              </a:rPr>
              <a:t>[2][1]</a:t>
            </a:r>
            <a:endParaRPr lang="en-US" sz="1050" dirty="0">
              <a:solidFill>
                <a:schemeClr val="accent2"/>
              </a:solidFill>
              <a:latin typeface="Courier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F5C8FC4-571F-B7FF-A6BA-99505C3D8706}"/>
              </a:ext>
            </a:extLst>
          </p:cNvPr>
          <p:cNvSpPr txBox="1"/>
          <p:nvPr/>
        </p:nvSpPr>
        <p:spPr>
          <a:xfrm>
            <a:off x="7001969" y="1017246"/>
            <a:ext cx="93309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050" b="1" dirty="0" err="1">
                <a:solidFill>
                  <a:schemeClr val="accent2"/>
                </a:solidFill>
                <a:latin typeface="Courier"/>
              </a:rPr>
              <a:t>ptr</a:t>
            </a:r>
            <a:r>
              <a:rPr lang="en-CA" sz="1050" b="1" dirty="0">
                <a:solidFill>
                  <a:schemeClr val="accent2"/>
                </a:solidFill>
                <a:latin typeface="Courier"/>
              </a:rPr>
              <a:t>[2][2]</a:t>
            </a:r>
            <a:endParaRPr lang="en-US" sz="1050" dirty="0">
              <a:solidFill>
                <a:schemeClr val="accent2"/>
              </a:solidFill>
              <a:latin typeface="Courier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C9768AA-000B-F1EB-AC76-847F7EC8DB37}"/>
              </a:ext>
            </a:extLst>
          </p:cNvPr>
          <p:cNvSpPr txBox="1"/>
          <p:nvPr/>
        </p:nvSpPr>
        <p:spPr>
          <a:xfrm>
            <a:off x="7081556" y="619562"/>
            <a:ext cx="7586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200" b="1">
                <a:solidFill>
                  <a:schemeClr val="accent2"/>
                </a:solidFill>
              </a:rPr>
              <a:t>Mock </a:t>
            </a:r>
            <a:br>
              <a:rPr lang="en-CA" sz="1200" b="1">
                <a:solidFill>
                  <a:schemeClr val="accent2"/>
                </a:solidFill>
              </a:rPr>
            </a:br>
            <a:r>
              <a:rPr lang="en-CA" sz="1200" b="1">
                <a:solidFill>
                  <a:schemeClr val="accent2"/>
                </a:solidFill>
              </a:rPr>
              <a:t>2D </a:t>
            </a:r>
            <a:r>
              <a:rPr lang="en-CA" sz="1200" b="1" dirty="0">
                <a:solidFill>
                  <a:schemeClr val="accent2"/>
                </a:solidFill>
              </a:rPr>
              <a:t>Index</a:t>
            </a:r>
            <a:endParaRPr lang="en-US" sz="1200" b="1" dirty="0">
              <a:solidFill>
                <a:schemeClr val="accent2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E9DA9E5-D977-4D86-B9E7-44949ECA9ED9}"/>
              </a:ext>
            </a:extLst>
          </p:cNvPr>
          <p:cNvSpPr/>
          <p:nvPr/>
        </p:nvSpPr>
        <p:spPr>
          <a:xfrm>
            <a:off x="7596791" y="4761359"/>
            <a:ext cx="973659" cy="325693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2"/>
                </a:solidFill>
              </a:rPr>
              <a:t>0x12B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4F72CE85-533D-46C2-749A-BE08F2495028}"/>
              </a:ext>
            </a:extLst>
          </p:cNvPr>
          <p:cNvSpPr/>
          <p:nvPr/>
        </p:nvSpPr>
        <p:spPr>
          <a:xfrm>
            <a:off x="7596790" y="5089038"/>
            <a:ext cx="973659" cy="325693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2"/>
                </a:solidFill>
              </a:rPr>
              <a:t>0x128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0ED45207-D91A-02A4-F23D-F3E1ABF9E694}"/>
              </a:ext>
            </a:extLst>
          </p:cNvPr>
          <p:cNvSpPr/>
          <p:nvPr/>
        </p:nvSpPr>
        <p:spPr>
          <a:xfrm>
            <a:off x="7596789" y="5415876"/>
            <a:ext cx="973659" cy="325693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2"/>
                </a:solidFill>
              </a:rPr>
              <a:t>0x125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0AF3F67-0872-AFBE-5830-2686A50FBC53}"/>
              </a:ext>
            </a:extLst>
          </p:cNvPr>
          <p:cNvSpPr txBox="1"/>
          <p:nvPr/>
        </p:nvSpPr>
        <p:spPr>
          <a:xfrm>
            <a:off x="6897753" y="5457711"/>
            <a:ext cx="7010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  <a:latin typeface="Courier"/>
              </a:rPr>
              <a:t>0x3A0</a:t>
            </a:r>
            <a:endParaRPr lang="en-US" sz="1200" dirty="0">
              <a:latin typeface="Courier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8287651-3DE6-EF4D-F14F-D32439DFBF9F}"/>
              </a:ext>
            </a:extLst>
          </p:cNvPr>
          <p:cNvSpPr txBox="1"/>
          <p:nvPr/>
        </p:nvSpPr>
        <p:spPr>
          <a:xfrm>
            <a:off x="6899642" y="5132826"/>
            <a:ext cx="7010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  <a:latin typeface="Courier"/>
              </a:rPr>
              <a:t>0x3A4</a:t>
            </a:r>
            <a:endParaRPr lang="en-US" sz="1200" dirty="0">
              <a:latin typeface="Courier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A999507-A7A9-D3FE-4ECC-E3EDFEBF89C4}"/>
              </a:ext>
            </a:extLst>
          </p:cNvPr>
          <p:cNvSpPr txBox="1"/>
          <p:nvPr/>
        </p:nvSpPr>
        <p:spPr>
          <a:xfrm>
            <a:off x="6897753" y="4810053"/>
            <a:ext cx="7010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  <a:latin typeface="Courier"/>
              </a:rPr>
              <a:t>0x3A8</a:t>
            </a:r>
            <a:endParaRPr lang="en-US" sz="1200" dirty="0">
              <a:latin typeface="Courier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6CEE6D5-6814-337F-82F3-43F8F90579C6}"/>
              </a:ext>
            </a:extLst>
          </p:cNvPr>
          <p:cNvSpPr txBox="1"/>
          <p:nvPr/>
        </p:nvSpPr>
        <p:spPr>
          <a:xfrm>
            <a:off x="6950875" y="4367649"/>
            <a:ext cx="19460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char* </a:t>
            </a:r>
            <a:r>
              <a:rPr lang="en-US" b="1" dirty="0" err="1">
                <a:solidFill>
                  <a:schemeClr val="tx1"/>
                </a:solidFill>
              </a:rPr>
              <a:t>RowPtrs</a:t>
            </a:r>
            <a:r>
              <a:rPr lang="en-US" b="1" dirty="0"/>
              <a:t>[3]</a:t>
            </a:r>
            <a:endParaRPr lang="en-CA" dirty="0"/>
          </a:p>
        </p:txBody>
      </p:sp>
      <p:sp>
        <p:nvSpPr>
          <p:cNvPr id="53" name="Speech Bubble: Rectangle 52">
            <a:extLst>
              <a:ext uri="{FF2B5EF4-FFF2-40B4-BE49-F238E27FC236}">
                <a16:creationId xmlns:a16="http://schemas.microsoft.com/office/drawing/2014/main" id="{99692C1C-4B70-FB9D-BFC7-84AD5FBD9AD3}"/>
              </a:ext>
            </a:extLst>
          </p:cNvPr>
          <p:cNvSpPr/>
          <p:nvPr/>
        </p:nvSpPr>
        <p:spPr>
          <a:xfrm>
            <a:off x="9979671" y="2990738"/>
            <a:ext cx="1930175" cy="525733"/>
          </a:xfrm>
          <a:prstGeom prst="wedgeRectCallout">
            <a:avLst>
              <a:gd name="adj1" fmla="val -52683"/>
              <a:gd name="adj2" fmla="val 73402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Row Name:  </a:t>
            </a:r>
          </a:p>
          <a:p>
            <a:pPr algn="ctr"/>
            <a:r>
              <a:rPr lang="en-US" sz="2000" b="1" dirty="0" err="1">
                <a:solidFill>
                  <a:schemeClr val="tx1"/>
                </a:solidFill>
                <a:latin typeface="Courier"/>
              </a:rPr>
              <a:t>RowPtrs</a:t>
            </a:r>
            <a:r>
              <a:rPr lang="en-US" sz="2000" b="1" dirty="0">
                <a:solidFill>
                  <a:schemeClr val="tx1"/>
                </a:solidFill>
                <a:latin typeface="Courier"/>
              </a:rPr>
              <a:t>[0]</a:t>
            </a:r>
            <a:endParaRPr lang="en-US" sz="1600" b="1" dirty="0">
              <a:solidFill>
                <a:srgbClr val="FF0000"/>
              </a:solidFill>
              <a:latin typeface="Courier"/>
            </a:endParaRPr>
          </a:p>
        </p:txBody>
      </p:sp>
      <p:sp>
        <p:nvSpPr>
          <p:cNvPr id="54" name="Speech Bubble: Rectangle 53">
            <a:extLst>
              <a:ext uri="{FF2B5EF4-FFF2-40B4-BE49-F238E27FC236}">
                <a16:creationId xmlns:a16="http://schemas.microsoft.com/office/drawing/2014/main" id="{86E96A63-F59D-1332-BFD3-EB460029439A}"/>
              </a:ext>
            </a:extLst>
          </p:cNvPr>
          <p:cNvSpPr/>
          <p:nvPr/>
        </p:nvSpPr>
        <p:spPr>
          <a:xfrm>
            <a:off x="9968038" y="2013839"/>
            <a:ext cx="1930175" cy="589158"/>
          </a:xfrm>
          <a:prstGeom prst="wedgeRectCallout">
            <a:avLst>
              <a:gd name="adj1" fmla="val -52287"/>
              <a:gd name="adj2" fmla="val 79024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Row Name:  </a:t>
            </a:r>
          </a:p>
          <a:p>
            <a:pPr algn="ctr"/>
            <a:r>
              <a:rPr lang="en-US" sz="2000" b="1" dirty="0" err="1">
                <a:solidFill>
                  <a:schemeClr val="tx1"/>
                </a:solidFill>
                <a:latin typeface="Courier"/>
              </a:rPr>
              <a:t>RowPtrs</a:t>
            </a:r>
            <a:r>
              <a:rPr lang="en-US" sz="2000" b="1" dirty="0">
                <a:solidFill>
                  <a:schemeClr val="tx1"/>
                </a:solidFill>
                <a:latin typeface="Courier"/>
              </a:rPr>
              <a:t>[1]</a:t>
            </a:r>
            <a:endParaRPr lang="en-US" sz="1600" b="1" dirty="0">
              <a:solidFill>
                <a:srgbClr val="FF0000"/>
              </a:solidFill>
              <a:latin typeface="Courier"/>
            </a:endParaRPr>
          </a:p>
        </p:txBody>
      </p:sp>
      <p:sp>
        <p:nvSpPr>
          <p:cNvPr id="55" name="Speech Bubble: Rectangle 54">
            <a:extLst>
              <a:ext uri="{FF2B5EF4-FFF2-40B4-BE49-F238E27FC236}">
                <a16:creationId xmlns:a16="http://schemas.microsoft.com/office/drawing/2014/main" id="{795B9669-52C7-F61B-7611-C6525388F00C}"/>
              </a:ext>
            </a:extLst>
          </p:cNvPr>
          <p:cNvSpPr/>
          <p:nvPr/>
        </p:nvSpPr>
        <p:spPr>
          <a:xfrm>
            <a:off x="9979672" y="834505"/>
            <a:ext cx="1930175" cy="617636"/>
          </a:xfrm>
          <a:prstGeom prst="wedgeRectCallout">
            <a:avLst>
              <a:gd name="adj1" fmla="val -49918"/>
              <a:gd name="adj2" fmla="val 90184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Row Name:  </a:t>
            </a:r>
          </a:p>
          <a:p>
            <a:pPr algn="ctr"/>
            <a:r>
              <a:rPr lang="en-US" sz="2000" b="1" dirty="0" err="1">
                <a:solidFill>
                  <a:schemeClr val="tx1"/>
                </a:solidFill>
                <a:latin typeface="Courier"/>
              </a:rPr>
              <a:t>RowPtrs</a:t>
            </a:r>
            <a:r>
              <a:rPr lang="en-US" sz="2000" b="1" dirty="0">
                <a:solidFill>
                  <a:schemeClr val="tx1"/>
                </a:solidFill>
                <a:latin typeface="Courier"/>
              </a:rPr>
              <a:t>[2]</a:t>
            </a:r>
            <a:endParaRPr lang="en-US" sz="1600" b="1" dirty="0">
              <a:solidFill>
                <a:srgbClr val="FF0000"/>
              </a:solidFill>
              <a:latin typeface="Courier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F14FD1-AE9A-026A-EF54-D54A50ED1250}"/>
              </a:ext>
            </a:extLst>
          </p:cNvPr>
          <p:cNvSpPr txBox="1"/>
          <p:nvPr/>
        </p:nvSpPr>
        <p:spPr>
          <a:xfrm>
            <a:off x="1253457" y="2974983"/>
            <a:ext cx="5097459" cy="830997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char*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RowPtrs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[3] = {NULL, NULL, NULL};</a:t>
            </a:r>
            <a:endParaRPr lang="en-US" sz="12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RowPtrs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[0] =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+ 0*n;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US" sz="1200" b="1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RowPtrs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[0] is Row 0 </a:t>
            </a: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RowPtrs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[1] =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+ 1*n;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US" sz="1200" b="1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RowPtrs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[1] is Row 1 </a:t>
            </a: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RowPtrs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[2] =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+ 2*n;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US" sz="1200" b="1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RowPtrs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[2] is Row 2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1D5EFC8-05FD-F01A-BEFC-96688BD68A74}"/>
              </a:ext>
            </a:extLst>
          </p:cNvPr>
          <p:cNvSpPr/>
          <p:nvPr/>
        </p:nvSpPr>
        <p:spPr>
          <a:xfrm>
            <a:off x="6775704" y="4294718"/>
            <a:ext cx="2075553" cy="1596358"/>
          </a:xfrm>
          <a:prstGeom prst="rect">
            <a:avLst/>
          </a:prstGeom>
          <a:noFill/>
          <a:ln w="28575">
            <a:solidFill>
              <a:srgbClr val="7F1F1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Speech Bubble: Rectangle 27">
            <a:extLst>
              <a:ext uri="{FF2B5EF4-FFF2-40B4-BE49-F238E27FC236}">
                <a16:creationId xmlns:a16="http://schemas.microsoft.com/office/drawing/2014/main" id="{43FB5CFB-420F-59AF-8F1A-86300FB363F3}"/>
              </a:ext>
            </a:extLst>
          </p:cNvPr>
          <p:cNvSpPr/>
          <p:nvPr/>
        </p:nvSpPr>
        <p:spPr>
          <a:xfrm>
            <a:off x="9104717" y="5452496"/>
            <a:ext cx="1484035" cy="438579"/>
          </a:xfrm>
          <a:prstGeom prst="wedgeRectCallout">
            <a:avLst>
              <a:gd name="adj1" fmla="val -63414"/>
              <a:gd name="adj2" fmla="val -54654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Still on Stack</a:t>
            </a:r>
            <a:endParaRPr 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765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370127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Double Pointer</a:t>
            </a:r>
            <a:endParaRPr lang="en-CA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366546"/>
            <a:ext cx="6343206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/>
              <a:t>Manual Method 3+ (Completed Ver)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Create the Lookup Table on the Heap too!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endParaRPr lang="en-CA" sz="1600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5</a:t>
            </a:fld>
            <a:endParaRPr lang="en-CA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39F6E5-7C89-CD88-7A34-767A6175ED68}"/>
              </a:ext>
            </a:extLst>
          </p:cNvPr>
          <p:cNvSpPr txBox="1"/>
          <p:nvPr/>
        </p:nvSpPr>
        <p:spPr>
          <a:xfrm>
            <a:off x="6563060" y="329371"/>
            <a:ext cx="5066642" cy="646331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Historical Way of Creating 2D array on Heap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m = 3, n = 3;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 *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 *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)malloc( m * n * </a:t>
            </a:r>
            <a:r>
              <a:rPr lang="en-US" sz="12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 );</a:t>
            </a:r>
          </a:p>
        </p:txBody>
      </p:sp>
      <p:sp>
        <p:nvSpPr>
          <p:cNvPr id="138" name="Rectangle: Rounded Corners 137">
            <a:extLst>
              <a:ext uri="{FF2B5EF4-FFF2-40B4-BE49-F238E27FC236}">
                <a16:creationId xmlns:a16="http://schemas.microsoft.com/office/drawing/2014/main" id="{6FA21240-74B3-7A64-33AA-2F661B8006C0}"/>
              </a:ext>
            </a:extLst>
          </p:cNvPr>
          <p:cNvSpPr/>
          <p:nvPr/>
        </p:nvSpPr>
        <p:spPr>
          <a:xfrm>
            <a:off x="8200167" y="1366546"/>
            <a:ext cx="1425535" cy="325693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??</a:t>
            </a:r>
          </a:p>
        </p:txBody>
      </p:sp>
      <p:sp>
        <p:nvSpPr>
          <p:cNvPr id="139" name="Rectangle: Rounded Corners 138">
            <a:extLst>
              <a:ext uri="{FF2B5EF4-FFF2-40B4-BE49-F238E27FC236}">
                <a16:creationId xmlns:a16="http://schemas.microsoft.com/office/drawing/2014/main" id="{6523D75D-E8A2-E2E0-DD9D-E5BF4C0E8DC7}"/>
              </a:ext>
            </a:extLst>
          </p:cNvPr>
          <p:cNvSpPr/>
          <p:nvPr/>
        </p:nvSpPr>
        <p:spPr>
          <a:xfrm>
            <a:off x="8200166" y="1694225"/>
            <a:ext cx="1425535" cy="325693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??</a:t>
            </a:r>
          </a:p>
        </p:txBody>
      </p:sp>
      <p:sp>
        <p:nvSpPr>
          <p:cNvPr id="140" name="Rectangle: Rounded Corners 139">
            <a:extLst>
              <a:ext uri="{FF2B5EF4-FFF2-40B4-BE49-F238E27FC236}">
                <a16:creationId xmlns:a16="http://schemas.microsoft.com/office/drawing/2014/main" id="{F3B0773B-F51F-2AA7-3195-93A15087EB8C}"/>
              </a:ext>
            </a:extLst>
          </p:cNvPr>
          <p:cNvSpPr/>
          <p:nvPr/>
        </p:nvSpPr>
        <p:spPr>
          <a:xfrm>
            <a:off x="8200165" y="2021063"/>
            <a:ext cx="1425535" cy="325693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??</a:t>
            </a:r>
          </a:p>
        </p:txBody>
      </p:sp>
      <p:sp>
        <p:nvSpPr>
          <p:cNvPr id="141" name="Rectangle: Rounded Corners 140">
            <a:extLst>
              <a:ext uri="{FF2B5EF4-FFF2-40B4-BE49-F238E27FC236}">
                <a16:creationId xmlns:a16="http://schemas.microsoft.com/office/drawing/2014/main" id="{936DFB14-0F80-69BE-9F53-19CB88EC00A8}"/>
              </a:ext>
            </a:extLst>
          </p:cNvPr>
          <p:cNvSpPr/>
          <p:nvPr/>
        </p:nvSpPr>
        <p:spPr>
          <a:xfrm>
            <a:off x="8200165" y="2351067"/>
            <a:ext cx="1425535" cy="325693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??</a:t>
            </a:r>
          </a:p>
        </p:txBody>
      </p:sp>
      <p:sp>
        <p:nvSpPr>
          <p:cNvPr id="142" name="Rectangle: Rounded Corners 141">
            <a:extLst>
              <a:ext uri="{FF2B5EF4-FFF2-40B4-BE49-F238E27FC236}">
                <a16:creationId xmlns:a16="http://schemas.microsoft.com/office/drawing/2014/main" id="{D008FA50-718C-13B6-493C-BA67B95489B2}"/>
              </a:ext>
            </a:extLst>
          </p:cNvPr>
          <p:cNvSpPr/>
          <p:nvPr/>
        </p:nvSpPr>
        <p:spPr>
          <a:xfrm>
            <a:off x="8200164" y="2679942"/>
            <a:ext cx="1425535" cy="325693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??</a:t>
            </a:r>
          </a:p>
        </p:txBody>
      </p:sp>
      <p:sp>
        <p:nvSpPr>
          <p:cNvPr id="143" name="Rectangle: Rounded Corners 142">
            <a:extLst>
              <a:ext uri="{FF2B5EF4-FFF2-40B4-BE49-F238E27FC236}">
                <a16:creationId xmlns:a16="http://schemas.microsoft.com/office/drawing/2014/main" id="{537B51CD-1E3E-6CB5-BF63-E8814884DD10}"/>
              </a:ext>
            </a:extLst>
          </p:cNvPr>
          <p:cNvSpPr/>
          <p:nvPr/>
        </p:nvSpPr>
        <p:spPr>
          <a:xfrm>
            <a:off x="8200164" y="2999531"/>
            <a:ext cx="1425535" cy="325693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??</a:t>
            </a:r>
          </a:p>
        </p:txBody>
      </p:sp>
      <p:sp>
        <p:nvSpPr>
          <p:cNvPr id="144" name="Rectangle: Rounded Corners 143">
            <a:extLst>
              <a:ext uri="{FF2B5EF4-FFF2-40B4-BE49-F238E27FC236}">
                <a16:creationId xmlns:a16="http://schemas.microsoft.com/office/drawing/2014/main" id="{12FB1147-9B87-E448-B7E3-D81A7785E8CA}"/>
              </a:ext>
            </a:extLst>
          </p:cNvPr>
          <p:cNvSpPr/>
          <p:nvPr/>
        </p:nvSpPr>
        <p:spPr>
          <a:xfrm>
            <a:off x="8195603" y="3324233"/>
            <a:ext cx="1425535" cy="325693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??</a:t>
            </a:r>
          </a:p>
        </p:txBody>
      </p:sp>
      <p:sp>
        <p:nvSpPr>
          <p:cNvPr id="145" name="Rectangle: Rounded Corners 144">
            <a:extLst>
              <a:ext uri="{FF2B5EF4-FFF2-40B4-BE49-F238E27FC236}">
                <a16:creationId xmlns:a16="http://schemas.microsoft.com/office/drawing/2014/main" id="{35E4BE42-515D-39F8-3C3D-DE629FA4D703}"/>
              </a:ext>
            </a:extLst>
          </p:cNvPr>
          <p:cNvSpPr/>
          <p:nvPr/>
        </p:nvSpPr>
        <p:spPr>
          <a:xfrm>
            <a:off x="8195603" y="3643822"/>
            <a:ext cx="1425535" cy="325693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??</a:t>
            </a:r>
          </a:p>
        </p:txBody>
      </p:sp>
      <p:sp>
        <p:nvSpPr>
          <p:cNvPr id="146" name="Rectangle: Rounded Corners 145">
            <a:extLst>
              <a:ext uri="{FF2B5EF4-FFF2-40B4-BE49-F238E27FC236}">
                <a16:creationId xmlns:a16="http://schemas.microsoft.com/office/drawing/2014/main" id="{0A9D45F2-0482-F4DF-5F02-AA9BD01EAA76}"/>
              </a:ext>
            </a:extLst>
          </p:cNvPr>
          <p:cNvSpPr/>
          <p:nvPr/>
        </p:nvSpPr>
        <p:spPr>
          <a:xfrm>
            <a:off x="8187962" y="3968524"/>
            <a:ext cx="1425535" cy="325693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??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135C482A-9AF2-B7A2-1E5C-BB990CBDA223}"/>
              </a:ext>
            </a:extLst>
          </p:cNvPr>
          <p:cNvSpPr txBox="1"/>
          <p:nvPr/>
        </p:nvSpPr>
        <p:spPr>
          <a:xfrm>
            <a:off x="7514759" y="4019547"/>
            <a:ext cx="7010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  <a:latin typeface="Courier"/>
              </a:rPr>
              <a:t>0x125</a:t>
            </a:r>
            <a:endParaRPr lang="en-US" sz="1200" dirty="0">
              <a:latin typeface="Courier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1C5CB719-921E-4079-3312-0CCA97936310}"/>
              </a:ext>
            </a:extLst>
          </p:cNvPr>
          <p:cNvSpPr txBox="1"/>
          <p:nvPr/>
        </p:nvSpPr>
        <p:spPr>
          <a:xfrm>
            <a:off x="7519360" y="3715684"/>
            <a:ext cx="7010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  <a:latin typeface="Courier"/>
              </a:rPr>
              <a:t>0x126</a:t>
            </a:r>
            <a:endParaRPr lang="en-US" sz="1200" dirty="0">
              <a:latin typeface="Courier"/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5A861839-A3DC-0CC0-5903-22DB7971901E}"/>
              </a:ext>
            </a:extLst>
          </p:cNvPr>
          <p:cNvSpPr txBox="1"/>
          <p:nvPr/>
        </p:nvSpPr>
        <p:spPr>
          <a:xfrm>
            <a:off x="7522418" y="3394603"/>
            <a:ext cx="7010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  <a:latin typeface="Courier"/>
              </a:rPr>
              <a:t>0x127</a:t>
            </a:r>
            <a:endParaRPr lang="en-US" sz="1200" dirty="0">
              <a:latin typeface="Courier"/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153D5927-4C5D-C6EF-5970-B5745ABBB7B2}"/>
              </a:ext>
            </a:extLst>
          </p:cNvPr>
          <p:cNvSpPr txBox="1"/>
          <p:nvPr/>
        </p:nvSpPr>
        <p:spPr>
          <a:xfrm>
            <a:off x="7524307" y="3069718"/>
            <a:ext cx="7010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  <a:latin typeface="Courier"/>
              </a:rPr>
              <a:t>0x128</a:t>
            </a:r>
            <a:endParaRPr lang="en-US" sz="1200" dirty="0">
              <a:latin typeface="Courier"/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885D29B0-C2E8-F972-AA24-4D47A982490D}"/>
              </a:ext>
            </a:extLst>
          </p:cNvPr>
          <p:cNvSpPr txBox="1"/>
          <p:nvPr/>
        </p:nvSpPr>
        <p:spPr>
          <a:xfrm>
            <a:off x="7522418" y="2746945"/>
            <a:ext cx="7010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  <a:latin typeface="Courier"/>
              </a:rPr>
              <a:t>0x129</a:t>
            </a:r>
            <a:endParaRPr lang="en-US" sz="1200" dirty="0">
              <a:latin typeface="Courier"/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A42E8F4A-2490-CE07-0D79-16694CD320D7}"/>
              </a:ext>
            </a:extLst>
          </p:cNvPr>
          <p:cNvSpPr txBox="1"/>
          <p:nvPr/>
        </p:nvSpPr>
        <p:spPr>
          <a:xfrm>
            <a:off x="7522841" y="2383979"/>
            <a:ext cx="7010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  <a:latin typeface="Courier"/>
              </a:rPr>
              <a:t>0x12A</a:t>
            </a:r>
            <a:endParaRPr lang="en-US" sz="1200" dirty="0">
              <a:latin typeface="Courier"/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87D7A82A-155E-F5E6-F7C8-C5CF044674E7}"/>
              </a:ext>
            </a:extLst>
          </p:cNvPr>
          <p:cNvSpPr txBox="1"/>
          <p:nvPr/>
        </p:nvSpPr>
        <p:spPr>
          <a:xfrm>
            <a:off x="7525899" y="2062898"/>
            <a:ext cx="7010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  <a:latin typeface="Courier"/>
              </a:rPr>
              <a:t>0x12B</a:t>
            </a:r>
            <a:endParaRPr lang="en-US" sz="1200" dirty="0">
              <a:latin typeface="Courier"/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573F95D2-8749-E09E-AF14-062659227D26}"/>
              </a:ext>
            </a:extLst>
          </p:cNvPr>
          <p:cNvSpPr txBox="1"/>
          <p:nvPr/>
        </p:nvSpPr>
        <p:spPr>
          <a:xfrm>
            <a:off x="7527788" y="1738013"/>
            <a:ext cx="7010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  <a:latin typeface="Courier"/>
              </a:rPr>
              <a:t>0x12C</a:t>
            </a:r>
            <a:endParaRPr lang="en-US" sz="1200" dirty="0">
              <a:latin typeface="Courier"/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55256C64-F42B-0FBC-232E-A1D53A50EACF}"/>
              </a:ext>
            </a:extLst>
          </p:cNvPr>
          <p:cNvSpPr txBox="1"/>
          <p:nvPr/>
        </p:nvSpPr>
        <p:spPr>
          <a:xfrm>
            <a:off x="7525899" y="1415240"/>
            <a:ext cx="7010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  <a:latin typeface="Courier"/>
              </a:rPr>
              <a:t>0x12D</a:t>
            </a:r>
            <a:endParaRPr lang="en-US" sz="1200" dirty="0">
              <a:latin typeface="Courier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C9F916D-5B78-8922-5105-62CB5964DE3B}"/>
              </a:ext>
            </a:extLst>
          </p:cNvPr>
          <p:cNvSpPr/>
          <p:nvPr/>
        </p:nvSpPr>
        <p:spPr>
          <a:xfrm>
            <a:off x="9764755" y="4542906"/>
            <a:ext cx="1279378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D03091-6269-291A-7340-A2A263CD9644}"/>
              </a:ext>
            </a:extLst>
          </p:cNvPr>
          <p:cNvSpPr txBox="1"/>
          <p:nvPr/>
        </p:nvSpPr>
        <p:spPr>
          <a:xfrm>
            <a:off x="9156328" y="4533579"/>
            <a:ext cx="7010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0x0CB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F4F541-FCF4-7F66-A98C-73A540EF62BF}"/>
              </a:ext>
            </a:extLst>
          </p:cNvPr>
          <p:cNvSpPr txBox="1"/>
          <p:nvPr/>
        </p:nvSpPr>
        <p:spPr>
          <a:xfrm>
            <a:off x="9676072" y="4841356"/>
            <a:ext cx="13680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char* </a:t>
            </a:r>
            <a:r>
              <a:rPr lang="en-US" b="1" dirty="0" err="1">
                <a:solidFill>
                  <a:schemeClr val="tx1"/>
                </a:solidFill>
              </a:rPr>
              <a:t>ptr</a:t>
            </a:r>
            <a:r>
              <a:rPr lang="en-US" b="1" dirty="0">
                <a:solidFill>
                  <a:schemeClr val="tx1"/>
                </a:solidFill>
              </a:rPr>
              <a:t>;</a:t>
            </a:r>
            <a:endParaRPr lang="en-CA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AF8BE09-58EE-884E-CE89-03CEE91E08D8}"/>
              </a:ext>
            </a:extLst>
          </p:cNvPr>
          <p:cNvSpPr txBox="1"/>
          <p:nvPr/>
        </p:nvSpPr>
        <p:spPr>
          <a:xfrm>
            <a:off x="9808953" y="4495902"/>
            <a:ext cx="8556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b="1" dirty="0">
                <a:solidFill>
                  <a:schemeClr val="accent2">
                    <a:lumMod val="75000"/>
                  </a:schemeClr>
                </a:solidFill>
              </a:rPr>
              <a:t>0x 125</a:t>
            </a:r>
            <a:endParaRPr lang="en-CA" sz="2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5" name="Arrow: Bent-Up 14">
            <a:extLst>
              <a:ext uri="{FF2B5EF4-FFF2-40B4-BE49-F238E27FC236}">
                <a16:creationId xmlns:a16="http://schemas.microsoft.com/office/drawing/2014/main" id="{3671B03C-7BF3-5C3E-A30D-1237983C9EA7}"/>
              </a:ext>
            </a:extLst>
          </p:cNvPr>
          <p:cNvSpPr/>
          <p:nvPr/>
        </p:nvSpPr>
        <p:spPr>
          <a:xfrm rot="16200000">
            <a:off x="9572109" y="4187780"/>
            <a:ext cx="405560" cy="286037"/>
          </a:xfrm>
          <a:prstGeom prst="bentUpArrow">
            <a:avLst>
              <a:gd name="adj1" fmla="val 22879"/>
              <a:gd name="adj2" fmla="val 29032"/>
              <a:gd name="adj3" fmla="val 31705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FDA63F7-87C4-3974-6205-1DDFA166A12F}"/>
              </a:ext>
            </a:extLst>
          </p:cNvPr>
          <p:cNvSpPr txBox="1"/>
          <p:nvPr/>
        </p:nvSpPr>
        <p:spPr>
          <a:xfrm>
            <a:off x="6710684" y="4026017"/>
            <a:ext cx="93309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050" b="1" dirty="0" err="1">
                <a:solidFill>
                  <a:schemeClr val="accent2"/>
                </a:solidFill>
                <a:latin typeface="Courier"/>
              </a:rPr>
              <a:t>ptr</a:t>
            </a:r>
            <a:r>
              <a:rPr lang="en-CA" sz="1050" b="1" dirty="0">
                <a:solidFill>
                  <a:schemeClr val="accent2"/>
                </a:solidFill>
                <a:latin typeface="Courier"/>
              </a:rPr>
              <a:t>[0][0]</a:t>
            </a:r>
            <a:endParaRPr lang="en-US" sz="1050" dirty="0">
              <a:solidFill>
                <a:schemeClr val="accent2"/>
              </a:solidFill>
              <a:latin typeface="Courier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204E41B-92D1-DF5E-AD26-9B9854D5343F}"/>
              </a:ext>
            </a:extLst>
          </p:cNvPr>
          <p:cNvSpPr txBox="1"/>
          <p:nvPr/>
        </p:nvSpPr>
        <p:spPr>
          <a:xfrm>
            <a:off x="6715285" y="3722154"/>
            <a:ext cx="93309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050" b="1" dirty="0" err="1">
                <a:solidFill>
                  <a:schemeClr val="accent2"/>
                </a:solidFill>
                <a:latin typeface="Courier"/>
              </a:rPr>
              <a:t>ptr</a:t>
            </a:r>
            <a:r>
              <a:rPr lang="en-CA" sz="1050" b="1" dirty="0">
                <a:solidFill>
                  <a:schemeClr val="accent2"/>
                </a:solidFill>
                <a:latin typeface="Courier"/>
              </a:rPr>
              <a:t>[0][1]</a:t>
            </a:r>
            <a:endParaRPr lang="en-US" sz="1050" dirty="0">
              <a:solidFill>
                <a:schemeClr val="accent2"/>
              </a:solidFill>
              <a:latin typeface="Courier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DB7A4F4-9335-4464-9053-E29DE094319B}"/>
              </a:ext>
            </a:extLst>
          </p:cNvPr>
          <p:cNvSpPr txBox="1"/>
          <p:nvPr/>
        </p:nvSpPr>
        <p:spPr>
          <a:xfrm>
            <a:off x="6718343" y="3401073"/>
            <a:ext cx="93309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050" b="1" dirty="0" err="1">
                <a:solidFill>
                  <a:schemeClr val="accent2"/>
                </a:solidFill>
                <a:latin typeface="Courier"/>
              </a:rPr>
              <a:t>ptr</a:t>
            </a:r>
            <a:r>
              <a:rPr lang="en-CA" sz="1050" b="1" dirty="0">
                <a:solidFill>
                  <a:schemeClr val="accent2"/>
                </a:solidFill>
                <a:latin typeface="Courier"/>
              </a:rPr>
              <a:t>[0][2]</a:t>
            </a:r>
            <a:endParaRPr lang="en-US" sz="1050" dirty="0">
              <a:solidFill>
                <a:schemeClr val="accent2"/>
              </a:solidFill>
              <a:latin typeface="Courier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E4E55F7-DD6A-896B-6809-2B7836F6724C}"/>
              </a:ext>
            </a:extLst>
          </p:cNvPr>
          <p:cNvSpPr txBox="1"/>
          <p:nvPr/>
        </p:nvSpPr>
        <p:spPr>
          <a:xfrm>
            <a:off x="6720232" y="3076188"/>
            <a:ext cx="93309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050" b="1" dirty="0" err="1">
                <a:solidFill>
                  <a:schemeClr val="accent2"/>
                </a:solidFill>
                <a:latin typeface="Courier"/>
              </a:rPr>
              <a:t>ptr</a:t>
            </a:r>
            <a:r>
              <a:rPr lang="en-CA" sz="1050" b="1" dirty="0">
                <a:solidFill>
                  <a:schemeClr val="accent2"/>
                </a:solidFill>
                <a:latin typeface="Courier"/>
              </a:rPr>
              <a:t>[1][0]</a:t>
            </a:r>
            <a:endParaRPr lang="en-US" sz="1050" dirty="0">
              <a:solidFill>
                <a:schemeClr val="accent2"/>
              </a:solidFill>
              <a:latin typeface="Courier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B4D3793-FE8C-1E8D-4DE1-8F31714BA48D}"/>
              </a:ext>
            </a:extLst>
          </p:cNvPr>
          <p:cNvSpPr txBox="1"/>
          <p:nvPr/>
        </p:nvSpPr>
        <p:spPr>
          <a:xfrm>
            <a:off x="6718343" y="2753415"/>
            <a:ext cx="93309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050" b="1" dirty="0" err="1">
                <a:solidFill>
                  <a:schemeClr val="accent2"/>
                </a:solidFill>
                <a:latin typeface="Courier"/>
              </a:rPr>
              <a:t>ptr</a:t>
            </a:r>
            <a:r>
              <a:rPr lang="en-CA" sz="1050" b="1" dirty="0">
                <a:solidFill>
                  <a:schemeClr val="accent2"/>
                </a:solidFill>
                <a:latin typeface="Courier"/>
              </a:rPr>
              <a:t>[1][1]</a:t>
            </a:r>
            <a:endParaRPr lang="en-US" sz="1050" dirty="0">
              <a:solidFill>
                <a:schemeClr val="accent2"/>
              </a:solidFill>
              <a:latin typeface="Courier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88EA236-B286-E65A-20E6-C2E3FBDDE76B}"/>
              </a:ext>
            </a:extLst>
          </p:cNvPr>
          <p:cNvSpPr txBox="1"/>
          <p:nvPr/>
        </p:nvSpPr>
        <p:spPr>
          <a:xfrm>
            <a:off x="6718766" y="2390449"/>
            <a:ext cx="93309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050" b="1" dirty="0" err="1">
                <a:solidFill>
                  <a:schemeClr val="accent2"/>
                </a:solidFill>
                <a:latin typeface="Courier"/>
              </a:rPr>
              <a:t>ptr</a:t>
            </a:r>
            <a:r>
              <a:rPr lang="en-CA" sz="1050" b="1" dirty="0">
                <a:solidFill>
                  <a:schemeClr val="accent2"/>
                </a:solidFill>
                <a:latin typeface="Courier"/>
              </a:rPr>
              <a:t>[1][2]</a:t>
            </a:r>
            <a:endParaRPr lang="en-US" sz="1050" dirty="0">
              <a:solidFill>
                <a:schemeClr val="accent2"/>
              </a:solidFill>
              <a:latin typeface="Courier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86E122-665A-CD07-3C5A-A524100EAF4D}"/>
              </a:ext>
            </a:extLst>
          </p:cNvPr>
          <p:cNvSpPr txBox="1"/>
          <p:nvPr/>
        </p:nvSpPr>
        <p:spPr>
          <a:xfrm>
            <a:off x="6721824" y="2069368"/>
            <a:ext cx="93309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050" b="1" dirty="0" err="1">
                <a:solidFill>
                  <a:schemeClr val="accent2"/>
                </a:solidFill>
                <a:latin typeface="Courier"/>
              </a:rPr>
              <a:t>ptr</a:t>
            </a:r>
            <a:r>
              <a:rPr lang="en-CA" sz="1050" b="1" dirty="0">
                <a:solidFill>
                  <a:schemeClr val="accent2"/>
                </a:solidFill>
                <a:latin typeface="Courier"/>
              </a:rPr>
              <a:t>[2][0]</a:t>
            </a:r>
            <a:endParaRPr lang="en-US" sz="1050" dirty="0">
              <a:solidFill>
                <a:schemeClr val="accent2"/>
              </a:solidFill>
              <a:latin typeface="Courier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873F4C4-DADC-1B35-4341-6E2ECFA9CB81}"/>
              </a:ext>
            </a:extLst>
          </p:cNvPr>
          <p:cNvSpPr txBox="1"/>
          <p:nvPr/>
        </p:nvSpPr>
        <p:spPr>
          <a:xfrm>
            <a:off x="6723713" y="1744483"/>
            <a:ext cx="93309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050" b="1" dirty="0" err="1">
                <a:solidFill>
                  <a:schemeClr val="accent2"/>
                </a:solidFill>
                <a:latin typeface="Courier"/>
              </a:rPr>
              <a:t>ptr</a:t>
            </a:r>
            <a:r>
              <a:rPr lang="en-CA" sz="1050" b="1" dirty="0">
                <a:solidFill>
                  <a:schemeClr val="accent2"/>
                </a:solidFill>
                <a:latin typeface="Courier"/>
              </a:rPr>
              <a:t>[2][1]</a:t>
            </a:r>
            <a:endParaRPr lang="en-US" sz="1050" dirty="0">
              <a:solidFill>
                <a:schemeClr val="accent2"/>
              </a:solidFill>
              <a:latin typeface="Courier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F5C8FC4-571F-B7FF-A6BA-99505C3D8706}"/>
              </a:ext>
            </a:extLst>
          </p:cNvPr>
          <p:cNvSpPr txBox="1"/>
          <p:nvPr/>
        </p:nvSpPr>
        <p:spPr>
          <a:xfrm>
            <a:off x="6721824" y="1421710"/>
            <a:ext cx="93309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050" b="1" dirty="0" err="1">
                <a:solidFill>
                  <a:schemeClr val="accent2"/>
                </a:solidFill>
                <a:latin typeface="Courier"/>
              </a:rPr>
              <a:t>ptr</a:t>
            </a:r>
            <a:r>
              <a:rPr lang="en-CA" sz="1050" b="1" dirty="0">
                <a:solidFill>
                  <a:schemeClr val="accent2"/>
                </a:solidFill>
                <a:latin typeface="Courier"/>
              </a:rPr>
              <a:t>[2][2]</a:t>
            </a:r>
            <a:endParaRPr lang="en-US" sz="1050" dirty="0">
              <a:solidFill>
                <a:schemeClr val="accent2"/>
              </a:solidFill>
              <a:latin typeface="Courier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C9768AA-000B-F1EB-AC76-847F7EC8DB37}"/>
              </a:ext>
            </a:extLst>
          </p:cNvPr>
          <p:cNvSpPr txBox="1"/>
          <p:nvPr/>
        </p:nvSpPr>
        <p:spPr>
          <a:xfrm>
            <a:off x="6801411" y="1024026"/>
            <a:ext cx="7586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200" b="1">
                <a:solidFill>
                  <a:schemeClr val="accent2"/>
                </a:solidFill>
              </a:rPr>
              <a:t>Mock </a:t>
            </a:r>
            <a:br>
              <a:rPr lang="en-CA" sz="1200" b="1">
                <a:solidFill>
                  <a:schemeClr val="accent2"/>
                </a:solidFill>
              </a:rPr>
            </a:br>
            <a:r>
              <a:rPr lang="en-CA" sz="1200" b="1">
                <a:solidFill>
                  <a:schemeClr val="accent2"/>
                </a:solidFill>
              </a:rPr>
              <a:t>2D </a:t>
            </a:r>
            <a:r>
              <a:rPr lang="en-CA" sz="1200" b="1" dirty="0">
                <a:solidFill>
                  <a:schemeClr val="accent2"/>
                </a:solidFill>
              </a:rPr>
              <a:t>Index</a:t>
            </a:r>
            <a:endParaRPr lang="en-US" sz="1200" b="1" dirty="0">
              <a:solidFill>
                <a:schemeClr val="accent2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E9DA9E5-D977-4D86-B9E7-44949ECA9ED9}"/>
              </a:ext>
            </a:extLst>
          </p:cNvPr>
          <p:cNvSpPr/>
          <p:nvPr/>
        </p:nvSpPr>
        <p:spPr>
          <a:xfrm>
            <a:off x="8069539" y="4902687"/>
            <a:ext cx="973659" cy="325693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2"/>
                </a:solidFill>
              </a:rPr>
              <a:t>0x12B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4F72CE85-533D-46C2-749A-BE08F2495028}"/>
              </a:ext>
            </a:extLst>
          </p:cNvPr>
          <p:cNvSpPr/>
          <p:nvPr/>
        </p:nvSpPr>
        <p:spPr>
          <a:xfrm>
            <a:off x="8069538" y="5230366"/>
            <a:ext cx="973659" cy="325693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2"/>
                </a:solidFill>
              </a:rPr>
              <a:t>0x128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0ED45207-D91A-02A4-F23D-F3E1ABF9E694}"/>
              </a:ext>
            </a:extLst>
          </p:cNvPr>
          <p:cNvSpPr/>
          <p:nvPr/>
        </p:nvSpPr>
        <p:spPr>
          <a:xfrm>
            <a:off x="8069537" y="5557204"/>
            <a:ext cx="973659" cy="325693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2"/>
                </a:solidFill>
              </a:rPr>
              <a:t>0x125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0AF3F67-0872-AFBE-5830-2686A50FBC53}"/>
              </a:ext>
            </a:extLst>
          </p:cNvPr>
          <p:cNvSpPr txBox="1"/>
          <p:nvPr/>
        </p:nvSpPr>
        <p:spPr>
          <a:xfrm>
            <a:off x="7370501" y="5599039"/>
            <a:ext cx="7010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  <a:latin typeface="Courier"/>
              </a:rPr>
              <a:t>0x3A0</a:t>
            </a:r>
            <a:endParaRPr lang="en-US" sz="1200" dirty="0">
              <a:latin typeface="Courier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8287651-3DE6-EF4D-F14F-D32439DFBF9F}"/>
              </a:ext>
            </a:extLst>
          </p:cNvPr>
          <p:cNvSpPr txBox="1"/>
          <p:nvPr/>
        </p:nvSpPr>
        <p:spPr>
          <a:xfrm>
            <a:off x="7372390" y="5274154"/>
            <a:ext cx="7010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  <a:latin typeface="Courier"/>
              </a:rPr>
              <a:t>0x3A4</a:t>
            </a:r>
            <a:endParaRPr lang="en-US" sz="1200" dirty="0">
              <a:latin typeface="Courier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A999507-A7A9-D3FE-4ECC-E3EDFEBF89C4}"/>
              </a:ext>
            </a:extLst>
          </p:cNvPr>
          <p:cNvSpPr txBox="1"/>
          <p:nvPr/>
        </p:nvSpPr>
        <p:spPr>
          <a:xfrm>
            <a:off x="7370501" y="4951381"/>
            <a:ext cx="7010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  <a:latin typeface="Courier"/>
              </a:rPr>
              <a:t>0x3A8</a:t>
            </a:r>
            <a:endParaRPr lang="en-US" sz="1200" dirty="0">
              <a:latin typeface="Courier"/>
            </a:endParaRPr>
          </a:p>
        </p:txBody>
      </p:sp>
      <p:sp>
        <p:nvSpPr>
          <p:cNvPr id="53" name="Speech Bubble: Rectangle 52">
            <a:extLst>
              <a:ext uri="{FF2B5EF4-FFF2-40B4-BE49-F238E27FC236}">
                <a16:creationId xmlns:a16="http://schemas.microsoft.com/office/drawing/2014/main" id="{99692C1C-4B70-FB9D-BFC7-84AD5FBD9AD3}"/>
              </a:ext>
            </a:extLst>
          </p:cNvPr>
          <p:cNvSpPr/>
          <p:nvPr/>
        </p:nvSpPr>
        <p:spPr>
          <a:xfrm>
            <a:off x="9699526" y="3395202"/>
            <a:ext cx="1930175" cy="525733"/>
          </a:xfrm>
          <a:prstGeom prst="wedgeRectCallout">
            <a:avLst>
              <a:gd name="adj1" fmla="val -52683"/>
              <a:gd name="adj2" fmla="val 73402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Row Name:  </a:t>
            </a:r>
          </a:p>
          <a:p>
            <a:pPr algn="ctr"/>
            <a:r>
              <a:rPr lang="en-US" sz="2000" b="1" dirty="0" err="1">
                <a:solidFill>
                  <a:schemeClr val="tx1"/>
                </a:solidFill>
                <a:latin typeface="Courier"/>
              </a:rPr>
              <a:t>RowPtrs</a:t>
            </a:r>
            <a:r>
              <a:rPr lang="en-US" sz="2000" b="1" dirty="0">
                <a:solidFill>
                  <a:schemeClr val="tx1"/>
                </a:solidFill>
                <a:latin typeface="Courier"/>
              </a:rPr>
              <a:t>[0]</a:t>
            </a:r>
            <a:endParaRPr lang="en-US" sz="1600" b="1" dirty="0">
              <a:solidFill>
                <a:srgbClr val="FF0000"/>
              </a:solidFill>
              <a:latin typeface="Courier"/>
            </a:endParaRPr>
          </a:p>
        </p:txBody>
      </p:sp>
      <p:sp>
        <p:nvSpPr>
          <p:cNvPr id="54" name="Speech Bubble: Rectangle 53">
            <a:extLst>
              <a:ext uri="{FF2B5EF4-FFF2-40B4-BE49-F238E27FC236}">
                <a16:creationId xmlns:a16="http://schemas.microsoft.com/office/drawing/2014/main" id="{86E96A63-F59D-1332-BFD3-EB460029439A}"/>
              </a:ext>
            </a:extLst>
          </p:cNvPr>
          <p:cNvSpPr/>
          <p:nvPr/>
        </p:nvSpPr>
        <p:spPr>
          <a:xfrm>
            <a:off x="9687893" y="2418303"/>
            <a:ext cx="1930175" cy="589158"/>
          </a:xfrm>
          <a:prstGeom prst="wedgeRectCallout">
            <a:avLst>
              <a:gd name="adj1" fmla="val -52287"/>
              <a:gd name="adj2" fmla="val 79024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Row Name:  </a:t>
            </a:r>
          </a:p>
          <a:p>
            <a:pPr algn="ctr"/>
            <a:r>
              <a:rPr lang="en-US" sz="2000" b="1" dirty="0" err="1">
                <a:solidFill>
                  <a:schemeClr val="tx1"/>
                </a:solidFill>
                <a:latin typeface="Courier"/>
              </a:rPr>
              <a:t>RowPtrs</a:t>
            </a:r>
            <a:r>
              <a:rPr lang="en-US" sz="2000" b="1" dirty="0">
                <a:solidFill>
                  <a:schemeClr val="tx1"/>
                </a:solidFill>
                <a:latin typeface="Courier"/>
              </a:rPr>
              <a:t>[1]</a:t>
            </a:r>
            <a:endParaRPr lang="en-US" sz="1600" b="1" dirty="0">
              <a:solidFill>
                <a:srgbClr val="FF0000"/>
              </a:solidFill>
              <a:latin typeface="Courier"/>
            </a:endParaRPr>
          </a:p>
        </p:txBody>
      </p:sp>
      <p:sp>
        <p:nvSpPr>
          <p:cNvPr id="55" name="Speech Bubble: Rectangle 54">
            <a:extLst>
              <a:ext uri="{FF2B5EF4-FFF2-40B4-BE49-F238E27FC236}">
                <a16:creationId xmlns:a16="http://schemas.microsoft.com/office/drawing/2014/main" id="{795B9669-52C7-F61B-7611-C6525388F00C}"/>
              </a:ext>
            </a:extLst>
          </p:cNvPr>
          <p:cNvSpPr/>
          <p:nvPr/>
        </p:nvSpPr>
        <p:spPr>
          <a:xfrm>
            <a:off x="9699527" y="1238969"/>
            <a:ext cx="1930175" cy="617636"/>
          </a:xfrm>
          <a:prstGeom prst="wedgeRectCallout">
            <a:avLst>
              <a:gd name="adj1" fmla="val -49918"/>
              <a:gd name="adj2" fmla="val 90184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Row Name:  </a:t>
            </a:r>
          </a:p>
          <a:p>
            <a:pPr algn="ctr"/>
            <a:r>
              <a:rPr lang="en-US" sz="2000" b="1" dirty="0" err="1">
                <a:solidFill>
                  <a:schemeClr val="tx1"/>
                </a:solidFill>
                <a:latin typeface="Courier"/>
              </a:rPr>
              <a:t>RowPtrs</a:t>
            </a:r>
            <a:r>
              <a:rPr lang="en-US" sz="2000" b="1" dirty="0">
                <a:solidFill>
                  <a:schemeClr val="tx1"/>
                </a:solidFill>
                <a:latin typeface="Courier"/>
              </a:rPr>
              <a:t>[2]</a:t>
            </a:r>
            <a:endParaRPr lang="en-US" sz="1600" b="1" dirty="0">
              <a:solidFill>
                <a:srgbClr val="FF0000"/>
              </a:solidFill>
              <a:latin typeface="Courier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F14FD1-AE9A-026A-EF54-D54A50ED1250}"/>
              </a:ext>
            </a:extLst>
          </p:cNvPr>
          <p:cNvSpPr txBox="1"/>
          <p:nvPr/>
        </p:nvSpPr>
        <p:spPr>
          <a:xfrm>
            <a:off x="1286190" y="3377167"/>
            <a:ext cx="5072569" cy="1015663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Double Pointer DMA Method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char**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RowPtrs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char**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)malloc(3 * </a:t>
            </a:r>
            <a:r>
              <a:rPr lang="en-US" sz="12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char*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));</a:t>
            </a:r>
            <a:endParaRPr lang="en-US" sz="12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RowPtrs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[0] =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+ 0*n;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US" sz="1200" b="1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RowPtrs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[0] is Row 0 </a:t>
            </a: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RowPtrs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[1] =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+ 1*n;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US" sz="1200" b="1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RowPtrs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[1] is Row 1 </a:t>
            </a: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RowPtrs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[2] =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+ 2*n;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US" sz="1200" b="1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RowPtrs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[2] is Row 2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F6AAC7-C5C6-6D45-35AF-BE233B13C850}"/>
              </a:ext>
            </a:extLst>
          </p:cNvPr>
          <p:cNvSpPr txBox="1"/>
          <p:nvPr/>
        </p:nvSpPr>
        <p:spPr>
          <a:xfrm>
            <a:off x="1286190" y="2171535"/>
            <a:ext cx="4650254" cy="1015663"/>
          </a:xfrm>
          <a:prstGeom prst="rect">
            <a:avLst/>
          </a:prstGeom>
          <a:ln w="28575">
            <a:solidFill>
              <a:schemeClr val="accent5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REVIEW! Single Pointer DMA (For Reference)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char*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sample = 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char*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)malloc(3 * </a:t>
            </a:r>
            <a:r>
              <a:rPr lang="en-US" sz="12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));</a:t>
            </a:r>
            <a:endParaRPr lang="en-US" sz="12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sample[0] = ‘a’;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sample[0] gets value ‘a’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sample[1] = ‘b’;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sample[1] gets value ‘b’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sample[2] = ‘c’;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sample[2] gets value ‘c’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EA3A8FE-4EF1-A560-8EB8-396EBF39D0FD}"/>
              </a:ext>
            </a:extLst>
          </p:cNvPr>
          <p:cNvSpPr/>
          <p:nvPr/>
        </p:nvSpPr>
        <p:spPr>
          <a:xfrm>
            <a:off x="6076230" y="5087184"/>
            <a:ext cx="973659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000" b="1" dirty="0">
                <a:solidFill>
                  <a:schemeClr val="accent2">
                    <a:lumMod val="75000"/>
                  </a:schemeClr>
                </a:solidFill>
              </a:rPr>
              <a:t>0x 3A0</a:t>
            </a:r>
            <a:endParaRPr lang="en-CA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EA67041-6D09-DBD8-B9DC-9642351CF0CC}"/>
              </a:ext>
            </a:extLst>
          </p:cNvPr>
          <p:cNvSpPr txBox="1"/>
          <p:nvPr/>
        </p:nvSpPr>
        <p:spPr>
          <a:xfrm>
            <a:off x="5467803" y="5077857"/>
            <a:ext cx="7010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0x4A2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28" name="Arrow: Bent-Up 27">
            <a:extLst>
              <a:ext uri="{FF2B5EF4-FFF2-40B4-BE49-F238E27FC236}">
                <a16:creationId xmlns:a16="http://schemas.microsoft.com/office/drawing/2014/main" id="{E24C758D-1EC1-0289-DA83-65A51709D942}"/>
              </a:ext>
            </a:extLst>
          </p:cNvPr>
          <p:cNvSpPr/>
          <p:nvPr/>
        </p:nvSpPr>
        <p:spPr>
          <a:xfrm rot="5400000">
            <a:off x="6835458" y="5340996"/>
            <a:ext cx="479778" cy="590306"/>
          </a:xfrm>
          <a:prstGeom prst="bentUpArrow">
            <a:avLst>
              <a:gd name="adj1" fmla="val 15255"/>
              <a:gd name="adj2" fmla="val 29032"/>
              <a:gd name="adj3" fmla="val 31705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B7A88EB-6637-2F73-A81B-F004CFBF0BD0}"/>
              </a:ext>
            </a:extLst>
          </p:cNvPr>
          <p:cNvSpPr txBox="1"/>
          <p:nvPr/>
        </p:nvSpPr>
        <p:spPr>
          <a:xfrm>
            <a:off x="5407271" y="4708525"/>
            <a:ext cx="17685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char** </a:t>
            </a:r>
            <a:r>
              <a:rPr lang="en-US" b="1" dirty="0" err="1">
                <a:solidFill>
                  <a:schemeClr val="tx1"/>
                </a:solidFill>
              </a:rPr>
              <a:t>RowPtrs</a:t>
            </a:r>
            <a:r>
              <a:rPr lang="en-US" b="1" dirty="0">
                <a:solidFill>
                  <a:schemeClr val="tx1"/>
                </a:solidFill>
              </a:rPr>
              <a:t>;</a:t>
            </a:r>
            <a:endParaRPr lang="en-CA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3EE5A0A-0F13-D949-CE43-364C4AD801B6}"/>
              </a:ext>
            </a:extLst>
          </p:cNvPr>
          <p:cNvSpPr txBox="1"/>
          <p:nvPr/>
        </p:nvSpPr>
        <p:spPr>
          <a:xfrm>
            <a:off x="1286190" y="4452973"/>
            <a:ext cx="3554056" cy="1169551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Now we can use </a:t>
            </a:r>
            <a:r>
              <a:rPr lang="en-US" sz="1400" b="1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RowPtrs</a:t>
            </a:r>
            <a:r>
              <a:rPr lang="en-US" sz="1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400" b="1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][j]</a:t>
            </a: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RowPtrs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[2][0] = ‘a’; </a:t>
            </a:r>
            <a:endParaRPr lang="en-US" sz="14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*(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RowPtrs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[1]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+ 1) = ‘c’;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*(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*(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RowPtrs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+ 1)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+ 2) = ‘e’;</a:t>
            </a:r>
          </a:p>
        </p:txBody>
      </p:sp>
      <p:sp>
        <p:nvSpPr>
          <p:cNvPr id="33" name="Speech Bubble: Rectangle 32">
            <a:extLst>
              <a:ext uri="{FF2B5EF4-FFF2-40B4-BE49-F238E27FC236}">
                <a16:creationId xmlns:a16="http://schemas.microsoft.com/office/drawing/2014/main" id="{AE681FA2-1702-ECE3-5EF2-5C51FFE4A34B}"/>
              </a:ext>
            </a:extLst>
          </p:cNvPr>
          <p:cNvSpPr/>
          <p:nvPr/>
        </p:nvSpPr>
        <p:spPr>
          <a:xfrm>
            <a:off x="3925210" y="5812920"/>
            <a:ext cx="2713001" cy="637184"/>
          </a:xfrm>
          <a:prstGeom prst="wedgeRectCallout">
            <a:avLst>
              <a:gd name="adj1" fmla="val -38995"/>
              <a:gd name="adj2" fmla="val -77832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u="sng" dirty="0">
                <a:solidFill>
                  <a:schemeClr val="tx1"/>
                </a:solidFill>
              </a:rPr>
              <a:t>Index-Pointer Equivalence</a:t>
            </a:r>
          </a:p>
          <a:p>
            <a:pPr algn="ctr"/>
            <a:r>
              <a:rPr lang="en-US" sz="1600" dirty="0" err="1">
                <a:solidFill>
                  <a:schemeClr val="tx1"/>
                </a:solidFill>
              </a:rPr>
              <a:t>ptrR</a:t>
            </a:r>
            <a:r>
              <a:rPr lang="en-US" sz="1600" dirty="0">
                <a:solidFill>
                  <a:schemeClr val="tx1"/>
                </a:solidFill>
              </a:rPr>
              <a:t>[</a:t>
            </a:r>
            <a:r>
              <a:rPr lang="en-US" sz="1600" dirty="0" err="1">
                <a:solidFill>
                  <a:schemeClr val="tx1"/>
                </a:solidFill>
              </a:rPr>
              <a:t>i</a:t>
            </a:r>
            <a:r>
              <a:rPr lang="en-US" sz="1600" dirty="0">
                <a:solidFill>
                  <a:schemeClr val="tx1"/>
                </a:solidFill>
              </a:rPr>
              <a:t>][j]  </a:t>
            </a:r>
            <a:r>
              <a:rPr lang="en-US" sz="1600">
                <a:solidFill>
                  <a:schemeClr val="tx1"/>
                </a:solidFill>
              </a:rPr>
              <a:t>≡ *(*(</a:t>
            </a:r>
            <a:r>
              <a:rPr lang="en-US" sz="1600" dirty="0" err="1">
                <a:solidFill>
                  <a:schemeClr val="tx1"/>
                </a:solidFill>
              </a:rPr>
              <a:t>ptrR</a:t>
            </a:r>
            <a:r>
              <a:rPr lang="en-US" sz="1600" dirty="0">
                <a:solidFill>
                  <a:schemeClr val="tx1"/>
                </a:solidFill>
              </a:rPr>
              <a:t> + </a:t>
            </a:r>
            <a:r>
              <a:rPr lang="en-US" sz="1600" dirty="0" err="1">
                <a:solidFill>
                  <a:schemeClr val="tx1"/>
                </a:solidFill>
              </a:rPr>
              <a:t>i</a:t>
            </a:r>
            <a:r>
              <a:rPr lang="en-US" sz="1600" dirty="0">
                <a:solidFill>
                  <a:schemeClr val="tx1"/>
                </a:solidFill>
              </a:rPr>
              <a:t>) + j)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5BBB671-CBA9-575D-C865-2F916672ED3A}"/>
              </a:ext>
            </a:extLst>
          </p:cNvPr>
          <p:cNvSpPr txBox="1"/>
          <p:nvPr/>
        </p:nvSpPr>
        <p:spPr>
          <a:xfrm>
            <a:off x="8609972" y="2065843"/>
            <a:ext cx="637794" cy="23123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‘a’</a:t>
            </a:r>
            <a:endParaRPr lang="en-US" sz="1400" b="1" dirty="0">
              <a:solidFill>
                <a:srgbClr val="FF0000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1777C2D-5884-9B40-79EB-F6D7E5A95ADB}"/>
              </a:ext>
            </a:extLst>
          </p:cNvPr>
          <p:cNvSpPr txBox="1"/>
          <p:nvPr/>
        </p:nvSpPr>
        <p:spPr>
          <a:xfrm>
            <a:off x="8609972" y="2732969"/>
            <a:ext cx="637794" cy="23123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‘c’</a:t>
            </a:r>
            <a:endParaRPr lang="en-US" sz="1400" b="1" dirty="0">
              <a:solidFill>
                <a:srgbClr val="FF0000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9819A53-A425-D3B9-DD0E-2C06C7162998}"/>
              </a:ext>
            </a:extLst>
          </p:cNvPr>
          <p:cNvSpPr txBox="1"/>
          <p:nvPr/>
        </p:nvSpPr>
        <p:spPr>
          <a:xfrm>
            <a:off x="8615338" y="2391921"/>
            <a:ext cx="637794" cy="23123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‘e’</a:t>
            </a:r>
            <a:endParaRPr lang="en-US" sz="1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9799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4" dur="500" tmFilter="0, 0; .2, .5; .8, .5; 1, 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5" dur="250" autoRev="1" fill="hold"/>
                                        <p:tgtEl>
                                          <p:spTgt spid="4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46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7" dur="500" tmFilter="0, 0; .2, .5; .8, .5; 1, 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8" dur="250" autoRev="1" fill="hold"/>
                                        <p:tgtEl>
                                          <p:spTgt spid="4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49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0" dur="500" tmFilter="0, 0; .2, .5; .8, .5; 1, 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1" dur="250" autoRev="1" fill="hold"/>
                                        <p:tgtEl>
                                          <p:spTgt spid="4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52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3" dur="500" tmFilter="0, 0; .2, .5; .8, .5; 1, 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4" dur="250" autoRev="1" fill="hold"/>
                                        <p:tgtEl>
                                          <p:spTgt spid="4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55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6" dur="500" tmFilter="0, 0; .2, .5; .8, .5; 1, 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7" dur="250" autoRev="1" fill="hold"/>
                                        <p:tgtEl>
                                          <p:spTgt spid="4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58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9" dur="500" tmFilter="0, 0; .2, .5; .8, .5; 1, 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0" dur="250" autoRev="1" fill="hold"/>
                                        <p:tgtEl>
                                          <p:spTgt spid="1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8" dur="500" tmFilter="0, 0; .2, .5; .8, .5; 1, 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9" dur="250" autoRev="1" fill="hold"/>
                                        <p:tgtEl>
                                          <p:spTgt spid="5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7" dur="500" tmFilter="0, 0; .2, .5; .8, .5; 1, 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8" dur="250" autoRev="1" fill="hold"/>
                                        <p:tgtEl>
                                          <p:spTgt spid="5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6" dur="500" tmFilter="0, 0; .2, .5; .8, .5; 1, 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7" dur="250" autoRev="1" fill="hold"/>
                                        <p:tgtEl>
                                          <p:spTgt spid="5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1" dur="500" tmFilter="0, 0; .2, .5; .8, .5; 1, 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2" dur="250" autoRev="1" fill="hold"/>
                                        <p:tgtEl>
                                          <p:spTgt spid="14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03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4" dur="500" tmFilter="0, 0; .2, .5; .8, .5; 1, 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5" dur="250" autoRev="1" fill="hold"/>
                                        <p:tgtEl>
                                          <p:spTgt spid="15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06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7" dur="500" tmFilter="0, 0; .2, .5; .8, .5; 1, 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8" dur="250" autoRev="1" fill="hold"/>
                                        <p:tgtEl>
                                          <p:spTgt spid="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4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5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3" dur="500" tmFilter="0, 0; .2, .5; .8, .5; 1, 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4" dur="250" autoRev="1" fill="hold"/>
                                        <p:tgtEl>
                                          <p:spTgt spid="14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25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6" dur="500" tmFilter="0, 0; .2, .5; .8, .5; 1, 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7" dur="250" autoRev="1" fill="hold"/>
                                        <p:tgtEl>
                                          <p:spTgt spid="15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28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9" dur="500" tmFilter="0, 0; .2, .5; .8, .5; 1, 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0" dur="250" autoRev="1" fill="hold"/>
                                        <p:tgtEl>
                                          <p:spTgt spid="2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5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6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7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>
                      <p:stCondLst>
                        <p:cond delay="indefinite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>
                      <p:stCondLst>
                        <p:cond delay="indefinite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" fill="hold">
                      <p:stCondLst>
                        <p:cond delay="indefinite"/>
                      </p:stCondLst>
                      <p:childTnLst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par>
                                <p:cTn id="248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9" dur="500" tmFilter="0, 0; .2, .5; .8, .5; 1, 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50" dur="250" autoRev="1" fill="hold"/>
                                        <p:tgtEl>
                                          <p:spTgt spid="14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51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2" dur="500" tmFilter="0, 0; .2, .5; .8, .5; 1, 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53" dur="250" autoRev="1" fill="hold"/>
                                        <p:tgtEl>
                                          <p:spTgt spid="15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54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5" dur="500" tmFilter="0, 0; .2, .5; .8, .5; 1, 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56" dur="250" autoRev="1" fill="hold"/>
                                        <p:tgtEl>
                                          <p:spTgt spid="2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7" fill="hold">
                      <p:stCondLst>
                        <p:cond delay="indefinite"/>
                      </p:stCondLst>
                      <p:childTnLst>
                        <p:par>
                          <p:cTn id="258" fill="hold">
                            <p:stCondLst>
                              <p:cond delay="0"/>
                            </p:stCondLst>
                            <p:childTnLst>
                              <p:par>
                                <p:cTn id="2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1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2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3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38" grpId="0" animBg="1"/>
      <p:bldP spid="139" grpId="0" animBg="1"/>
      <p:bldP spid="140" grpId="0" animBg="1"/>
      <p:bldP spid="140" grpId="1" animBg="1"/>
      <p:bldP spid="141" grpId="0" animBg="1"/>
      <p:bldP spid="141" grpId="1" animBg="1"/>
      <p:bldP spid="142" grpId="0" animBg="1"/>
      <p:bldP spid="142" grpId="1" animBg="1"/>
      <p:bldP spid="143" grpId="0" animBg="1"/>
      <p:bldP spid="144" grpId="0" animBg="1"/>
      <p:bldP spid="145" grpId="0" animBg="1"/>
      <p:bldP spid="146" grpId="0" animBg="1"/>
      <p:bldP spid="147" grpId="0"/>
      <p:bldP spid="148" grpId="0"/>
      <p:bldP spid="149" grpId="0"/>
      <p:bldP spid="150" grpId="0"/>
      <p:bldP spid="151" grpId="0"/>
      <p:bldP spid="151" grpId="1"/>
      <p:bldP spid="152" grpId="0"/>
      <p:bldP spid="152" grpId="1"/>
      <p:bldP spid="153" grpId="0"/>
      <p:bldP spid="153" grpId="1"/>
      <p:bldP spid="154" grpId="0"/>
      <p:bldP spid="155" grpId="0"/>
      <p:bldP spid="8" grpId="0" animBg="1"/>
      <p:bldP spid="9" grpId="0"/>
      <p:bldP spid="11" grpId="0"/>
      <p:bldP spid="14" grpId="0"/>
      <p:bldP spid="15" grpId="0" animBg="1"/>
      <p:bldP spid="18" grpId="0"/>
      <p:bldP spid="19" grpId="0"/>
      <p:bldP spid="20" grpId="0"/>
      <p:bldP spid="21" grpId="0"/>
      <p:bldP spid="22" grpId="0"/>
      <p:bldP spid="22" grpId="1"/>
      <p:bldP spid="23" grpId="0"/>
      <p:bldP spid="23" grpId="1"/>
      <p:bldP spid="24" grpId="0"/>
      <p:bldP spid="24" grpId="1"/>
      <p:bldP spid="25" grpId="0"/>
      <p:bldP spid="26" grpId="0"/>
      <p:bldP spid="27" grpId="0"/>
      <p:bldP spid="16" grpId="0" animBg="1"/>
      <p:bldP spid="16" grpId="1" animBg="1"/>
      <p:bldP spid="42" grpId="0" animBg="1"/>
      <p:bldP spid="42" grpId="1" animBg="1"/>
      <p:bldP spid="43" grpId="0" animBg="1"/>
      <p:bldP spid="43" grpId="1" animBg="1"/>
      <p:bldP spid="44" grpId="0"/>
      <p:bldP spid="44" grpId="1"/>
      <p:bldP spid="45" grpId="0"/>
      <p:bldP spid="45" grpId="1"/>
      <p:bldP spid="46" grpId="0"/>
      <p:bldP spid="46" grpId="1"/>
      <p:bldP spid="53" grpId="0" animBg="1"/>
      <p:bldP spid="53" grpId="1" animBg="1"/>
      <p:bldP spid="54" grpId="0" animBg="1"/>
      <p:bldP spid="54" grpId="1" animBg="1"/>
      <p:bldP spid="55" grpId="0" animBg="1"/>
      <p:bldP spid="55" grpId="1" animBg="1"/>
      <p:bldP spid="12" grpId="0" animBg="1"/>
      <p:bldP spid="17" grpId="0"/>
      <p:bldP spid="28" grpId="0" animBg="1"/>
      <p:bldP spid="31" grpId="0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68BBCBA1-6A5A-BE82-9584-653AB9A65F26}"/>
              </a:ext>
            </a:extLst>
          </p:cNvPr>
          <p:cNvSpPr txBox="1"/>
          <p:nvPr/>
        </p:nvSpPr>
        <p:spPr>
          <a:xfrm>
            <a:off x="832656" y="1563637"/>
            <a:ext cx="10379841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/>
              <a:t>“</a:t>
            </a:r>
            <a:r>
              <a:rPr lang="en-CA" sz="2000" b="1" dirty="0">
                <a:solidFill>
                  <a:srgbClr val="7030A0"/>
                </a:solidFill>
              </a:rPr>
              <a:t>An address-holding variable</a:t>
            </a:r>
            <a:r>
              <a:rPr lang="en-CA" sz="2000" dirty="0"/>
              <a:t> whose value is the address of </a:t>
            </a:r>
            <a:r>
              <a:rPr lang="en-CA" sz="2000" b="1" dirty="0">
                <a:solidFill>
                  <a:srgbClr val="7030A0"/>
                </a:solidFill>
              </a:rPr>
              <a:t>another address-holding variable</a:t>
            </a:r>
            <a:r>
              <a:rPr lang="en-CA" sz="2000" dirty="0"/>
              <a:t>”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“</a:t>
            </a:r>
            <a:r>
              <a:rPr lang="en-CA" b="1" dirty="0">
                <a:solidFill>
                  <a:srgbClr val="7030A0"/>
                </a:solidFill>
              </a:rPr>
              <a:t>A pointer</a:t>
            </a:r>
            <a:r>
              <a:rPr lang="en-CA" dirty="0"/>
              <a:t> whose value is the address of </a:t>
            </a:r>
            <a:r>
              <a:rPr lang="en-CA" b="1" dirty="0">
                <a:solidFill>
                  <a:srgbClr val="7030A0"/>
                </a:solidFill>
              </a:rPr>
              <a:t>another pointer</a:t>
            </a:r>
            <a:r>
              <a:rPr lang="en-CA" dirty="0"/>
              <a:t>”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“</a:t>
            </a:r>
            <a:r>
              <a:rPr lang="en-CA" b="1" dirty="0">
                <a:solidFill>
                  <a:srgbClr val="7030A0"/>
                </a:solidFill>
              </a:rPr>
              <a:t>A pointer to a pointer</a:t>
            </a:r>
            <a:r>
              <a:rPr lang="en-CA" dirty="0"/>
              <a:t>”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>
                <a:latin typeface="Courier"/>
              </a:rPr>
              <a:t>*p == a == 100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>
                <a:latin typeface="Courier"/>
              </a:rPr>
              <a:t>*pp == p == &amp;a == 0x00732011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>
                <a:latin typeface="Courier"/>
              </a:rPr>
              <a:t>**pp == *(*pp) == *(p) == a == 100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>
                <a:latin typeface="Courier"/>
              </a:rPr>
              <a:t>pp == &amp;p == 0x005A5A03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>
                <a:latin typeface="Courier"/>
              </a:rPr>
              <a:t>&amp;pp == 0x006255EA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7" y="585288"/>
            <a:ext cx="964752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Pointer to Pointer (aka. Double Pointer)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6</a:t>
            </a:fld>
            <a:endParaRPr lang="en-C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CB56D8-AF36-2BE9-106F-918D4BE689CB}"/>
              </a:ext>
            </a:extLst>
          </p:cNvPr>
          <p:cNvSpPr txBox="1"/>
          <p:nvPr/>
        </p:nvSpPr>
        <p:spPr>
          <a:xfrm>
            <a:off x="1505898" y="2800907"/>
            <a:ext cx="5745294" cy="738664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a = 100; 	</a:t>
            </a:r>
            <a:r>
              <a:rPr lang="en-US" sz="1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An integer, value 100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int*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 = &amp;a; 	</a:t>
            </a:r>
            <a:r>
              <a:rPr lang="en-US" sz="1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An integer pointer to a</a:t>
            </a:r>
          </a:p>
          <a:p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int**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pp = &amp;p; 	</a:t>
            </a:r>
            <a:r>
              <a:rPr lang="en-US" sz="1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An integer pointer to pointer p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E3F36AF-5CF2-3809-6311-8B02FC4F25CA}"/>
              </a:ext>
            </a:extLst>
          </p:cNvPr>
          <p:cNvSpPr/>
          <p:nvPr/>
        </p:nvSpPr>
        <p:spPr>
          <a:xfrm>
            <a:off x="9143332" y="2823062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accent2">
                    <a:lumMod val="75000"/>
                  </a:schemeClr>
                </a:solidFill>
              </a:rPr>
              <a:t>100</a:t>
            </a:r>
            <a:endParaRPr lang="en-CA" sz="2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D386F56-10B6-9501-7068-134BCC1B8CB6}"/>
              </a:ext>
            </a:extLst>
          </p:cNvPr>
          <p:cNvSpPr txBox="1"/>
          <p:nvPr/>
        </p:nvSpPr>
        <p:spPr>
          <a:xfrm>
            <a:off x="8055736" y="2821133"/>
            <a:ext cx="116559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00732011</a:t>
            </a:r>
            <a:endParaRPr lang="en-CA" sz="1600" b="1" dirty="0">
              <a:solidFill>
                <a:srgbClr val="7030A0"/>
              </a:solidFill>
            </a:endParaRPr>
          </a:p>
          <a:p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4B27EDD-B9EF-645A-FA51-C6C45F9651DA}"/>
              </a:ext>
            </a:extLst>
          </p:cNvPr>
          <p:cNvSpPr txBox="1"/>
          <p:nvPr/>
        </p:nvSpPr>
        <p:spPr>
          <a:xfrm>
            <a:off x="9187369" y="2460469"/>
            <a:ext cx="7048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int a</a:t>
            </a:r>
            <a:endParaRPr lang="en-CA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2AC0B1F-7711-C5AB-FF9D-C4EAF52EFECD}"/>
              </a:ext>
            </a:extLst>
          </p:cNvPr>
          <p:cNvSpPr/>
          <p:nvPr/>
        </p:nvSpPr>
        <p:spPr>
          <a:xfrm>
            <a:off x="9143332" y="3936364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b="1" dirty="0">
                <a:solidFill>
                  <a:schemeClr val="accent2">
                    <a:lumMod val="75000"/>
                  </a:schemeClr>
                </a:solidFill>
              </a:rPr>
              <a:t>0x 00732011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17B28C8-8619-E692-A8FD-C06C5283FB1D}"/>
              </a:ext>
            </a:extLst>
          </p:cNvPr>
          <p:cNvSpPr txBox="1"/>
          <p:nvPr/>
        </p:nvSpPr>
        <p:spPr>
          <a:xfrm>
            <a:off x="8019160" y="3934435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005A5A03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68B66B7-702A-76C4-9D60-0E8B381BA327}"/>
              </a:ext>
            </a:extLst>
          </p:cNvPr>
          <p:cNvSpPr txBox="1"/>
          <p:nvPr/>
        </p:nvSpPr>
        <p:spPr>
          <a:xfrm>
            <a:off x="9187368" y="3573771"/>
            <a:ext cx="9167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i</a:t>
            </a:r>
            <a:r>
              <a:rPr lang="en-US" b="1" dirty="0">
                <a:solidFill>
                  <a:schemeClr val="tx1"/>
                </a:solidFill>
              </a:rPr>
              <a:t>nt* p</a:t>
            </a:r>
            <a:endParaRPr lang="en-CA" dirty="0"/>
          </a:p>
        </p:txBody>
      </p:sp>
      <p:sp>
        <p:nvSpPr>
          <p:cNvPr id="24" name="Arrow: Down 23">
            <a:extLst>
              <a:ext uri="{FF2B5EF4-FFF2-40B4-BE49-F238E27FC236}">
                <a16:creationId xmlns:a16="http://schemas.microsoft.com/office/drawing/2014/main" id="{46A94721-5446-1BE7-F4EA-1613CB603146}"/>
              </a:ext>
            </a:extLst>
          </p:cNvPr>
          <p:cNvSpPr/>
          <p:nvPr/>
        </p:nvSpPr>
        <p:spPr>
          <a:xfrm rot="10800000">
            <a:off x="10110180" y="3114144"/>
            <a:ext cx="162171" cy="82895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B107A69-6035-28A2-17FD-17166233939D}"/>
              </a:ext>
            </a:extLst>
          </p:cNvPr>
          <p:cNvSpPr/>
          <p:nvPr/>
        </p:nvSpPr>
        <p:spPr>
          <a:xfrm>
            <a:off x="9143332" y="5069594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b="1" dirty="0">
                <a:solidFill>
                  <a:schemeClr val="accent2">
                    <a:lumMod val="75000"/>
                  </a:schemeClr>
                </a:solidFill>
              </a:rPr>
              <a:t>0x 005A5A03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6F679E8-9EDB-6438-8D1C-76AF5AA40907}"/>
              </a:ext>
            </a:extLst>
          </p:cNvPr>
          <p:cNvSpPr txBox="1"/>
          <p:nvPr/>
        </p:nvSpPr>
        <p:spPr>
          <a:xfrm>
            <a:off x="8019160" y="5067665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006255EA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5D6D087-7A6F-1CD9-43D5-A882C5275544}"/>
              </a:ext>
            </a:extLst>
          </p:cNvPr>
          <p:cNvSpPr txBox="1"/>
          <p:nvPr/>
        </p:nvSpPr>
        <p:spPr>
          <a:xfrm>
            <a:off x="9187368" y="4707001"/>
            <a:ext cx="10849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i</a:t>
            </a:r>
            <a:r>
              <a:rPr lang="en-US" b="1" dirty="0">
                <a:solidFill>
                  <a:schemeClr val="tx1"/>
                </a:solidFill>
              </a:rPr>
              <a:t>nt** pp</a:t>
            </a:r>
            <a:endParaRPr lang="en-CA" dirty="0"/>
          </a:p>
        </p:txBody>
      </p:sp>
      <p:sp>
        <p:nvSpPr>
          <p:cNvPr id="30" name="Arrow: Down 29">
            <a:extLst>
              <a:ext uri="{FF2B5EF4-FFF2-40B4-BE49-F238E27FC236}">
                <a16:creationId xmlns:a16="http://schemas.microsoft.com/office/drawing/2014/main" id="{0569FC1D-B562-BD15-3DEE-845C3E1EB898}"/>
              </a:ext>
            </a:extLst>
          </p:cNvPr>
          <p:cNvSpPr/>
          <p:nvPr/>
        </p:nvSpPr>
        <p:spPr>
          <a:xfrm rot="10800000">
            <a:off x="10110180" y="4247374"/>
            <a:ext cx="162171" cy="82895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804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/>
      <p:bldP spid="15" grpId="0"/>
      <p:bldP spid="21" grpId="0" animBg="1"/>
      <p:bldP spid="22" grpId="0"/>
      <p:bldP spid="23" grpId="0"/>
      <p:bldP spid="24" grpId="0" animBg="1"/>
      <p:bldP spid="25" grpId="0" animBg="1"/>
      <p:bldP spid="27" grpId="0"/>
      <p:bldP spid="29" grpId="0"/>
      <p:bldP spid="3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68BBCBA1-6A5A-BE82-9584-653AB9A65F26}"/>
              </a:ext>
            </a:extLst>
          </p:cNvPr>
          <p:cNvSpPr txBox="1"/>
          <p:nvPr/>
        </p:nvSpPr>
        <p:spPr>
          <a:xfrm>
            <a:off x="832656" y="1563637"/>
            <a:ext cx="10379841" cy="4924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/>
              <a:t>Odd-Shaped Arrays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Efficient Memory Usage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Supports “Arrays of Strings”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/>
              <a:t>Distributed Arrays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Each row can occupy a separated memory sector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No chunky memory requirements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Less likely to run out of heap memory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7" y="585288"/>
            <a:ext cx="964752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Advantages of Multi-D Heap Arrays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7</a:t>
            </a:fld>
            <a:endParaRPr lang="en-CA" dirty="0"/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E1017A95-6C0B-0D55-E151-2A3908D27A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8802" y="1633526"/>
            <a:ext cx="5743712" cy="1664844"/>
          </a:xfrm>
          <a:prstGeom prst="rect">
            <a:avLst/>
          </a:prstGeom>
        </p:spPr>
      </p:pic>
      <p:pic>
        <p:nvPicPr>
          <p:cNvPr id="3" name="Picture 2" descr="A diagram of numbers and symbols&#10;&#10;Description automatically generated with medium confidence">
            <a:extLst>
              <a:ext uri="{FF2B5EF4-FFF2-40B4-BE49-F238E27FC236}">
                <a16:creationId xmlns:a16="http://schemas.microsoft.com/office/drawing/2014/main" id="{A670722A-5F2F-7067-B746-191B9E7013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6968" y="3559631"/>
            <a:ext cx="3865546" cy="2370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557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 descr="One solid circle, one ring, and one circle filled with diagonal lines">
            <a:extLst>
              <a:ext uri="{FF2B5EF4-FFF2-40B4-BE49-F238E27FC236}">
                <a16:creationId xmlns:a16="http://schemas.microsoft.com/office/drawing/2014/main" id="{117B1E9F-05A5-4510-8587-80B34F83DB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68254" y="747419"/>
            <a:ext cx="5363162" cy="536316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14B5F53-76BB-4185-819B-0CE94A358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Odd-Shaped Arrays</a:t>
            </a:r>
            <a:endParaRPr lang="en-US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699E1B-6ADB-4F72-95A0-4AA7EB020B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 Memory-Efficient Multi-Dimensional</a:t>
            </a:r>
            <a:br>
              <a:rPr lang="en-US" dirty="0"/>
            </a:br>
            <a:r>
              <a:rPr lang="en-US" dirty="0"/>
              <a:t>Arrays on Heap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1EE999-66AE-40DE-9FC3-57D08FF72800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1EEE44-5A53-4177-97CB-790B8F12F8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3E28D5B-9FA6-381A-7CFE-510AA26705AE}"/>
              </a:ext>
            </a:extLst>
          </p:cNvPr>
          <p:cNvSpPr txBox="1"/>
          <p:nvPr/>
        </p:nvSpPr>
        <p:spPr>
          <a:xfrm>
            <a:off x="831850" y="551471"/>
            <a:ext cx="8797342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Watch Before Lecture:</a:t>
            </a:r>
          </a:p>
          <a:p>
            <a:r>
              <a:rPr lang="en-CA" sz="2000" b="1" dirty="0">
                <a:solidFill>
                  <a:srgbClr val="7F1F1F"/>
                </a:solidFill>
              </a:rPr>
              <a:t>[PLV 9-1 Part I] DMA for Multidimensional Array (</a:t>
            </a:r>
            <a:r>
              <a:rPr lang="en-US" sz="2000" b="1" dirty="0">
                <a:solidFill>
                  <a:srgbClr val="7F1F1F"/>
                </a:solidFill>
              </a:rPr>
              <a:t>What is Double Pointer</a:t>
            </a:r>
            <a:r>
              <a:rPr lang="en-CA" sz="2000" b="1" dirty="0">
                <a:solidFill>
                  <a:srgbClr val="7F1F1F"/>
                </a:solidFill>
              </a:rPr>
              <a:t>)</a:t>
            </a:r>
            <a:endParaRPr lang="en-US" sz="2000" b="1" dirty="0">
              <a:solidFill>
                <a:srgbClr val="7F1F1F"/>
              </a:solidFill>
            </a:endParaRPr>
          </a:p>
          <a:p>
            <a:r>
              <a:rPr lang="en-US" sz="2000" b="1" dirty="0">
                <a:solidFill>
                  <a:srgbClr val="7F1F1F"/>
                </a:solidFill>
              </a:rPr>
              <a:t>[PLV 9-1 Part II] 2D Array on Heap, Double Pointer Practice</a:t>
            </a:r>
          </a:p>
        </p:txBody>
      </p:sp>
    </p:spTree>
    <p:extLst>
      <p:ext uri="{BB962C8B-B14F-4D97-AF65-F5344CB8AC3E}">
        <p14:creationId xmlns:p14="http://schemas.microsoft.com/office/powerpoint/2010/main" val="7519272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662478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Odd-Shaped Arrays</a:t>
            </a:r>
            <a:endParaRPr lang="en-CA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563637"/>
            <a:ext cx="8408258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More than just 1-D array of data organization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Of course, N-dimensional array is available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Can do more than just square-dimension arrays!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Then…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>
                <a:latin typeface="Courier"/>
              </a:rPr>
              <a:t>a[j] == pp[0][j] == *(pp[0] + j)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>
                <a:latin typeface="Courier"/>
              </a:rPr>
              <a:t>b[j] == pp[1][j] == *(pp[1] + j)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>
                <a:latin typeface="Courier"/>
              </a:rPr>
              <a:t>c[j] == pp[2][j] == *(pp[2] + j)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9</a:t>
            </a:fld>
            <a:endParaRPr lang="en-CA" dirty="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272556E-43C3-2BA6-66E9-1D7B8BC6D1A8}"/>
              </a:ext>
            </a:extLst>
          </p:cNvPr>
          <p:cNvSpPr/>
          <p:nvPr/>
        </p:nvSpPr>
        <p:spPr>
          <a:xfrm>
            <a:off x="8641895" y="5325498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AB347FA-60A5-7814-FE38-92A208299CBE}"/>
              </a:ext>
            </a:extLst>
          </p:cNvPr>
          <p:cNvSpPr txBox="1"/>
          <p:nvPr/>
        </p:nvSpPr>
        <p:spPr>
          <a:xfrm>
            <a:off x="7528421" y="5323569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003AA0CB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FD034D5-8BFC-9627-89AD-0D88C88578CE}"/>
              </a:ext>
            </a:extLst>
          </p:cNvPr>
          <p:cNvSpPr txBox="1"/>
          <p:nvPr/>
        </p:nvSpPr>
        <p:spPr>
          <a:xfrm>
            <a:off x="8862973" y="5592591"/>
            <a:ext cx="13680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int* pp[3];</a:t>
            </a:r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AC8D32-1AD7-444F-F9FB-4B73B30AEFFD}"/>
              </a:ext>
            </a:extLst>
          </p:cNvPr>
          <p:cNvSpPr txBox="1"/>
          <p:nvPr/>
        </p:nvSpPr>
        <p:spPr>
          <a:xfrm>
            <a:off x="1716210" y="2576612"/>
            <a:ext cx="4924302" cy="1754326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int*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pp[3];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Allocates array of 3 pointers to int</a:t>
            </a:r>
          </a:p>
          <a:p>
            <a:endParaRPr lang="en-US" sz="12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a[ ] = {1, 2};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a 1-by-2 int array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b[ ] = {3, 4, 5, 6};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a 1-by-4 int array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c[ ] = {3, 4, 5};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a 1-by-3 int array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pp[0] = a; 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points to int array a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pp[1] = b; 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points to int array b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pp[2] = c; 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points to int array c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9DABD8D4-C991-CA6C-B17B-6015A803CCA9}"/>
              </a:ext>
            </a:extLst>
          </p:cNvPr>
          <p:cNvSpPr/>
          <p:nvPr/>
        </p:nvSpPr>
        <p:spPr>
          <a:xfrm>
            <a:off x="8641895" y="5034186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E83928A-EE44-7EDA-C5C0-37AD5214293B}"/>
              </a:ext>
            </a:extLst>
          </p:cNvPr>
          <p:cNvSpPr txBox="1"/>
          <p:nvPr/>
        </p:nvSpPr>
        <p:spPr>
          <a:xfrm>
            <a:off x="7528421" y="5032257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003AA0CF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3D14C3B1-8A29-DCC7-73CE-838CED65C990}"/>
              </a:ext>
            </a:extLst>
          </p:cNvPr>
          <p:cNvSpPr/>
          <p:nvPr/>
        </p:nvSpPr>
        <p:spPr>
          <a:xfrm>
            <a:off x="8647391" y="4746181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2454E31-2145-B9C0-31BE-89F01DF54546}"/>
              </a:ext>
            </a:extLst>
          </p:cNvPr>
          <p:cNvSpPr txBox="1"/>
          <p:nvPr/>
        </p:nvSpPr>
        <p:spPr>
          <a:xfrm>
            <a:off x="7510141" y="4744252"/>
            <a:ext cx="12821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003AA0D3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33016600-3F92-F15D-4EF2-7B1D0D740AA6}"/>
              </a:ext>
            </a:extLst>
          </p:cNvPr>
          <p:cNvSpPr/>
          <p:nvPr/>
        </p:nvSpPr>
        <p:spPr>
          <a:xfrm>
            <a:off x="9133676" y="3989156"/>
            <a:ext cx="870853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  <a:endParaRPr lang="en-CA" b="1" dirty="0">
              <a:solidFill>
                <a:schemeClr val="tx1"/>
              </a:solidFill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07A67DCD-270B-D1AE-FD14-A3A3AA3C416F}"/>
              </a:ext>
            </a:extLst>
          </p:cNvPr>
          <p:cNvSpPr/>
          <p:nvPr/>
        </p:nvSpPr>
        <p:spPr>
          <a:xfrm>
            <a:off x="9133676" y="3707678"/>
            <a:ext cx="870853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2</a:t>
            </a:r>
            <a:endParaRPr lang="en-CA" b="1" dirty="0">
              <a:solidFill>
                <a:schemeClr val="tx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4F596B4-B6AF-E957-9AE1-3A6554C8E19F}"/>
              </a:ext>
            </a:extLst>
          </p:cNvPr>
          <p:cNvSpPr txBox="1"/>
          <p:nvPr/>
        </p:nvSpPr>
        <p:spPr>
          <a:xfrm>
            <a:off x="8058467" y="3981165"/>
            <a:ext cx="1165596" cy="312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0061FF14</a:t>
            </a:r>
            <a:endParaRPr lang="en-CA" sz="1600" b="1" dirty="0">
              <a:solidFill>
                <a:srgbClr val="7030A0"/>
              </a:solidFill>
            </a:endParaRPr>
          </a:p>
          <a:p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66DB7B4-57A6-B0E6-2C7D-6843E5F7066E}"/>
              </a:ext>
            </a:extLst>
          </p:cNvPr>
          <p:cNvSpPr txBox="1"/>
          <p:nvPr/>
        </p:nvSpPr>
        <p:spPr>
          <a:xfrm>
            <a:off x="8058467" y="3704733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0061FF18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7F618C4-3D1C-BA61-3E7B-7CB860303C99}"/>
              </a:ext>
            </a:extLst>
          </p:cNvPr>
          <p:cNvSpPr txBox="1"/>
          <p:nvPr/>
        </p:nvSpPr>
        <p:spPr>
          <a:xfrm>
            <a:off x="9156424" y="3298352"/>
            <a:ext cx="8893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int a[ ]</a:t>
            </a:r>
            <a:endParaRPr lang="en-CA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6A5D4E2-8071-5C16-16BA-694D755B189F}"/>
              </a:ext>
            </a:extLst>
          </p:cNvPr>
          <p:cNvSpPr txBox="1"/>
          <p:nvPr/>
        </p:nvSpPr>
        <p:spPr>
          <a:xfrm>
            <a:off x="7532777" y="3974508"/>
            <a:ext cx="6270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accent1"/>
                </a:solidFill>
              </a:rPr>
              <a:t>a[0]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746D41E-5438-DF32-339E-6D7DFCB42063}"/>
              </a:ext>
            </a:extLst>
          </p:cNvPr>
          <p:cNvSpPr txBox="1"/>
          <p:nvPr/>
        </p:nvSpPr>
        <p:spPr>
          <a:xfrm>
            <a:off x="7528421" y="3700193"/>
            <a:ext cx="6270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accent1"/>
                </a:solidFill>
              </a:rPr>
              <a:t>a[1]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D18B8644-D599-F9CA-CB63-06BF4A13716D}"/>
              </a:ext>
            </a:extLst>
          </p:cNvPr>
          <p:cNvSpPr/>
          <p:nvPr/>
        </p:nvSpPr>
        <p:spPr>
          <a:xfrm>
            <a:off x="9133676" y="2795367"/>
            <a:ext cx="870853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3</a:t>
            </a:r>
            <a:endParaRPr lang="en-CA" b="1" dirty="0">
              <a:solidFill>
                <a:schemeClr val="tx1"/>
              </a:solidFill>
            </a:endParaRP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DF913B6B-494E-D396-0ABF-2F40789D15A0}"/>
              </a:ext>
            </a:extLst>
          </p:cNvPr>
          <p:cNvSpPr/>
          <p:nvPr/>
        </p:nvSpPr>
        <p:spPr>
          <a:xfrm>
            <a:off x="9133676" y="2513889"/>
            <a:ext cx="870853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4</a:t>
            </a:r>
            <a:endParaRPr lang="en-CA" b="1" dirty="0">
              <a:solidFill>
                <a:schemeClr val="tx1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F9069AC-D470-0295-535D-D13755377CB1}"/>
              </a:ext>
            </a:extLst>
          </p:cNvPr>
          <p:cNvSpPr txBox="1"/>
          <p:nvPr/>
        </p:nvSpPr>
        <p:spPr>
          <a:xfrm>
            <a:off x="8041215" y="2787376"/>
            <a:ext cx="116559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00631200</a:t>
            </a:r>
            <a:endParaRPr lang="en-CA" sz="1600" b="1" dirty="0">
              <a:solidFill>
                <a:srgbClr val="7030A0"/>
              </a:solidFill>
            </a:endParaRPr>
          </a:p>
          <a:p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5EEDD2D-0EE7-279B-12B0-15604E44ACEF}"/>
              </a:ext>
            </a:extLst>
          </p:cNvPr>
          <p:cNvSpPr txBox="1"/>
          <p:nvPr/>
        </p:nvSpPr>
        <p:spPr>
          <a:xfrm>
            <a:off x="8041215" y="2510944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00631204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46CFC5B-80A5-948A-3E86-C2DC651BE7BC}"/>
              </a:ext>
            </a:extLst>
          </p:cNvPr>
          <p:cNvSpPr txBox="1"/>
          <p:nvPr/>
        </p:nvSpPr>
        <p:spPr>
          <a:xfrm>
            <a:off x="9156424" y="1595610"/>
            <a:ext cx="8893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int </a:t>
            </a:r>
            <a:r>
              <a:rPr lang="en-US" b="1" dirty="0"/>
              <a:t>b</a:t>
            </a:r>
            <a:r>
              <a:rPr lang="en-US" b="1" dirty="0">
                <a:solidFill>
                  <a:schemeClr val="tx1"/>
                </a:solidFill>
              </a:rPr>
              <a:t>[ ]</a:t>
            </a:r>
            <a:endParaRPr lang="en-CA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E17EBD9-B571-9DBD-B0F8-4BDBF6DA7213}"/>
              </a:ext>
            </a:extLst>
          </p:cNvPr>
          <p:cNvSpPr txBox="1"/>
          <p:nvPr/>
        </p:nvSpPr>
        <p:spPr>
          <a:xfrm>
            <a:off x="7532777" y="2780719"/>
            <a:ext cx="6270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accent1"/>
                </a:solidFill>
              </a:rPr>
              <a:t>b[0]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53FA774-6874-8D8C-65AE-B93A63581585}"/>
              </a:ext>
            </a:extLst>
          </p:cNvPr>
          <p:cNvSpPr txBox="1"/>
          <p:nvPr/>
        </p:nvSpPr>
        <p:spPr>
          <a:xfrm>
            <a:off x="7528421" y="2506404"/>
            <a:ext cx="6270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accent1"/>
                </a:solidFill>
              </a:rPr>
              <a:t>b[1]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E2C767EB-3192-E527-B591-97806C13B61C}"/>
              </a:ext>
            </a:extLst>
          </p:cNvPr>
          <p:cNvSpPr/>
          <p:nvPr/>
        </p:nvSpPr>
        <p:spPr>
          <a:xfrm>
            <a:off x="9139172" y="2217655"/>
            <a:ext cx="870853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5</a:t>
            </a:r>
            <a:endParaRPr lang="en-CA" b="1" dirty="0">
              <a:solidFill>
                <a:schemeClr val="tx1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CA0FBB3-82C8-AF4B-4D7B-D3863815ABFA}"/>
              </a:ext>
            </a:extLst>
          </p:cNvPr>
          <p:cNvSpPr txBox="1"/>
          <p:nvPr/>
        </p:nvSpPr>
        <p:spPr>
          <a:xfrm>
            <a:off x="8046711" y="2214710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00631208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1D90E93-8A5F-9706-50BD-1F3FB3B515E3}"/>
              </a:ext>
            </a:extLst>
          </p:cNvPr>
          <p:cNvSpPr txBox="1"/>
          <p:nvPr/>
        </p:nvSpPr>
        <p:spPr>
          <a:xfrm>
            <a:off x="7533917" y="2210170"/>
            <a:ext cx="6270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accent1"/>
                </a:solidFill>
              </a:rPr>
              <a:t>b[2]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36A188FC-B151-B14D-17F9-8F9C717F3864}"/>
              </a:ext>
            </a:extLst>
          </p:cNvPr>
          <p:cNvSpPr/>
          <p:nvPr/>
        </p:nvSpPr>
        <p:spPr>
          <a:xfrm>
            <a:off x="9136302" y="1930108"/>
            <a:ext cx="870853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6</a:t>
            </a:r>
            <a:endParaRPr lang="en-CA" b="1" dirty="0">
              <a:solidFill>
                <a:schemeClr val="tx1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98AF92B-ACF2-211E-565A-9661B4FC8791}"/>
              </a:ext>
            </a:extLst>
          </p:cNvPr>
          <p:cNvSpPr txBox="1"/>
          <p:nvPr/>
        </p:nvSpPr>
        <p:spPr>
          <a:xfrm>
            <a:off x="8043841" y="1927163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0063120C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23A1713-B47C-15C8-C0A1-3EC5229EA559}"/>
              </a:ext>
            </a:extLst>
          </p:cNvPr>
          <p:cNvSpPr txBox="1"/>
          <p:nvPr/>
        </p:nvSpPr>
        <p:spPr>
          <a:xfrm>
            <a:off x="7531047" y="1922623"/>
            <a:ext cx="6270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accent1"/>
                </a:solidFill>
              </a:rPr>
              <a:t>b[3]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B4EBA4AA-14D5-B321-656A-FFDD78039ABD}"/>
              </a:ext>
            </a:extLst>
          </p:cNvPr>
          <p:cNvSpPr/>
          <p:nvPr/>
        </p:nvSpPr>
        <p:spPr>
          <a:xfrm>
            <a:off x="9140192" y="1109578"/>
            <a:ext cx="870853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3</a:t>
            </a:r>
            <a:endParaRPr lang="en-CA" b="1" dirty="0">
              <a:solidFill>
                <a:schemeClr val="tx1"/>
              </a:solidFill>
            </a:endParaRP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51489B24-B798-5795-E441-4054E182C689}"/>
              </a:ext>
            </a:extLst>
          </p:cNvPr>
          <p:cNvSpPr/>
          <p:nvPr/>
        </p:nvSpPr>
        <p:spPr>
          <a:xfrm>
            <a:off x="9140192" y="828100"/>
            <a:ext cx="870853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4</a:t>
            </a:r>
            <a:endParaRPr lang="en-CA" b="1" dirty="0">
              <a:solidFill>
                <a:schemeClr val="tx1"/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D771370-E080-DC82-3C02-C3C64472DA98}"/>
              </a:ext>
            </a:extLst>
          </p:cNvPr>
          <p:cNvSpPr txBox="1"/>
          <p:nvPr/>
        </p:nvSpPr>
        <p:spPr>
          <a:xfrm>
            <a:off x="8030479" y="1101587"/>
            <a:ext cx="116559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0063AA0C</a:t>
            </a:r>
            <a:endParaRPr lang="en-CA" sz="1600" b="1" dirty="0">
              <a:solidFill>
                <a:srgbClr val="7030A0"/>
              </a:solidFill>
            </a:endParaRPr>
          </a:p>
          <a:p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EBECA1F-DCD0-3D03-939F-7BA15CF7A83B}"/>
              </a:ext>
            </a:extLst>
          </p:cNvPr>
          <p:cNvSpPr txBox="1"/>
          <p:nvPr/>
        </p:nvSpPr>
        <p:spPr>
          <a:xfrm>
            <a:off x="8030479" y="825155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0063AA10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D3F75B1-CD1D-7072-BD0D-8E2B8A779007}"/>
              </a:ext>
            </a:extLst>
          </p:cNvPr>
          <p:cNvSpPr txBox="1"/>
          <p:nvPr/>
        </p:nvSpPr>
        <p:spPr>
          <a:xfrm>
            <a:off x="9162940" y="159977"/>
            <a:ext cx="8893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int </a:t>
            </a:r>
            <a:r>
              <a:rPr lang="en-US" b="1" dirty="0"/>
              <a:t>c</a:t>
            </a:r>
            <a:r>
              <a:rPr lang="en-US" b="1" dirty="0">
                <a:solidFill>
                  <a:schemeClr val="tx1"/>
                </a:solidFill>
              </a:rPr>
              <a:t>[ ]</a:t>
            </a:r>
            <a:endParaRPr lang="en-CA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D89FFF-83C9-C68B-FB0F-11352C6CBF36}"/>
              </a:ext>
            </a:extLst>
          </p:cNvPr>
          <p:cNvSpPr txBox="1"/>
          <p:nvPr/>
        </p:nvSpPr>
        <p:spPr>
          <a:xfrm>
            <a:off x="7539293" y="1094930"/>
            <a:ext cx="6270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accent1"/>
                </a:solidFill>
              </a:rPr>
              <a:t>c[0]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3996182-E47D-2A9A-FE41-D6B697365754}"/>
              </a:ext>
            </a:extLst>
          </p:cNvPr>
          <p:cNvSpPr txBox="1"/>
          <p:nvPr/>
        </p:nvSpPr>
        <p:spPr>
          <a:xfrm>
            <a:off x="7534937" y="820615"/>
            <a:ext cx="6270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accent1"/>
                </a:solidFill>
              </a:rPr>
              <a:t>c[1]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03F3FD3A-A944-EA3B-54DA-8B763252B269}"/>
              </a:ext>
            </a:extLst>
          </p:cNvPr>
          <p:cNvSpPr/>
          <p:nvPr/>
        </p:nvSpPr>
        <p:spPr>
          <a:xfrm>
            <a:off x="9145688" y="531866"/>
            <a:ext cx="870853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5</a:t>
            </a:r>
            <a:endParaRPr lang="en-CA" b="1" dirty="0">
              <a:solidFill>
                <a:schemeClr val="tx1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ACAD746-AF8A-3217-3F33-25903675C3B5}"/>
              </a:ext>
            </a:extLst>
          </p:cNvPr>
          <p:cNvSpPr txBox="1"/>
          <p:nvPr/>
        </p:nvSpPr>
        <p:spPr>
          <a:xfrm>
            <a:off x="8035975" y="528921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0063AA14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359F9AA-EBF7-BB14-1E0A-A74D6F7228EE}"/>
              </a:ext>
            </a:extLst>
          </p:cNvPr>
          <p:cNvSpPr txBox="1"/>
          <p:nvPr/>
        </p:nvSpPr>
        <p:spPr>
          <a:xfrm>
            <a:off x="7540433" y="524381"/>
            <a:ext cx="6270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accent1"/>
                </a:solidFill>
              </a:rPr>
              <a:t>c[2]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2FE0E0B-F9E1-848E-B715-DE04DB93F8B1}"/>
              </a:ext>
            </a:extLst>
          </p:cNvPr>
          <p:cNvSpPr txBox="1"/>
          <p:nvPr/>
        </p:nvSpPr>
        <p:spPr>
          <a:xfrm>
            <a:off x="7891930" y="2747080"/>
            <a:ext cx="14394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b="1" dirty="0">
                <a:solidFill>
                  <a:schemeClr val="accent2">
                    <a:lumMod val="75000"/>
                  </a:schemeClr>
                </a:solidFill>
              </a:rPr>
              <a:t>0x 00631200</a:t>
            </a:r>
            <a:endParaRPr lang="en-CA" sz="2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95E430C-BDB3-2684-C627-BAA2CC5CA505}"/>
              </a:ext>
            </a:extLst>
          </p:cNvPr>
          <p:cNvSpPr txBox="1"/>
          <p:nvPr/>
        </p:nvSpPr>
        <p:spPr>
          <a:xfrm>
            <a:off x="7045956" y="5294363"/>
            <a:ext cx="6270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accent1"/>
                </a:solidFill>
              </a:rPr>
              <a:t>pp[0]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8DB5B28-9602-718F-E3E7-7C6BD7EF6143}"/>
              </a:ext>
            </a:extLst>
          </p:cNvPr>
          <p:cNvSpPr txBox="1"/>
          <p:nvPr/>
        </p:nvSpPr>
        <p:spPr>
          <a:xfrm>
            <a:off x="7041600" y="5020048"/>
            <a:ext cx="6270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accent1"/>
                </a:solidFill>
              </a:rPr>
              <a:t>pp[1]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1B3EC55-6066-8E26-0DE7-FE7AEBAA0C78}"/>
              </a:ext>
            </a:extLst>
          </p:cNvPr>
          <p:cNvSpPr txBox="1"/>
          <p:nvPr/>
        </p:nvSpPr>
        <p:spPr>
          <a:xfrm>
            <a:off x="7047096" y="4723814"/>
            <a:ext cx="6270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accent1"/>
                </a:solidFill>
              </a:rPr>
              <a:t>pp[2]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F88FB4E-7883-FDBD-CDCE-FDEDD0690FA9}"/>
              </a:ext>
            </a:extLst>
          </p:cNvPr>
          <p:cNvSpPr txBox="1"/>
          <p:nvPr/>
        </p:nvSpPr>
        <p:spPr>
          <a:xfrm>
            <a:off x="7953344" y="3952641"/>
            <a:ext cx="1378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b="1" dirty="0">
                <a:solidFill>
                  <a:schemeClr val="accent2">
                    <a:lumMod val="75000"/>
                  </a:schemeClr>
                </a:solidFill>
              </a:rPr>
              <a:t>0x 0061FF14</a:t>
            </a:r>
            <a:endParaRPr lang="en-CA" sz="2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C113092-E57E-8905-43C9-0EA2CD055BF5}"/>
              </a:ext>
            </a:extLst>
          </p:cNvPr>
          <p:cNvSpPr txBox="1"/>
          <p:nvPr/>
        </p:nvSpPr>
        <p:spPr>
          <a:xfrm>
            <a:off x="7906897" y="1070758"/>
            <a:ext cx="14394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b="1" dirty="0">
                <a:solidFill>
                  <a:schemeClr val="accent2">
                    <a:lumMod val="75000"/>
                  </a:schemeClr>
                </a:solidFill>
              </a:rPr>
              <a:t>0x 0063AA0C</a:t>
            </a:r>
            <a:endParaRPr lang="en-CA" sz="2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82" name="Arrow: Bent-Up 81">
            <a:extLst>
              <a:ext uri="{FF2B5EF4-FFF2-40B4-BE49-F238E27FC236}">
                <a16:creationId xmlns:a16="http://schemas.microsoft.com/office/drawing/2014/main" id="{0A1C6644-44C8-52BB-B087-4905D08BD075}"/>
              </a:ext>
            </a:extLst>
          </p:cNvPr>
          <p:cNvSpPr/>
          <p:nvPr/>
        </p:nvSpPr>
        <p:spPr>
          <a:xfrm rot="16200000">
            <a:off x="9578725" y="4466231"/>
            <a:ext cx="1456916" cy="601350"/>
          </a:xfrm>
          <a:prstGeom prst="bentUpArrow">
            <a:avLst>
              <a:gd name="adj1" fmla="val 10092"/>
              <a:gd name="adj2" fmla="val 18292"/>
              <a:gd name="adj3" fmla="val 25000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34FA97C9-F46B-EB8B-E689-0E4F2C524B63}"/>
              </a:ext>
            </a:extLst>
          </p:cNvPr>
          <p:cNvSpPr/>
          <p:nvPr/>
        </p:nvSpPr>
        <p:spPr>
          <a:xfrm>
            <a:off x="10171939" y="5422174"/>
            <a:ext cx="435920" cy="7319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4" name="Arrow: Bent-Up 83">
            <a:extLst>
              <a:ext uri="{FF2B5EF4-FFF2-40B4-BE49-F238E27FC236}">
                <a16:creationId xmlns:a16="http://schemas.microsoft.com/office/drawing/2014/main" id="{5C3FB934-E721-8A4E-A6D5-7039FE386235}"/>
              </a:ext>
            </a:extLst>
          </p:cNvPr>
          <p:cNvSpPr/>
          <p:nvPr/>
        </p:nvSpPr>
        <p:spPr>
          <a:xfrm rot="16200000">
            <a:off x="9255980" y="3577870"/>
            <a:ext cx="2302660" cy="805562"/>
          </a:xfrm>
          <a:prstGeom prst="bentUpArrow">
            <a:avLst>
              <a:gd name="adj1" fmla="val 7866"/>
              <a:gd name="adj2" fmla="val 12728"/>
              <a:gd name="adj3" fmla="val 25000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B682C57D-4371-D116-C582-F9C9DEC8293F}"/>
              </a:ext>
            </a:extLst>
          </p:cNvPr>
          <p:cNvSpPr/>
          <p:nvPr/>
        </p:nvSpPr>
        <p:spPr>
          <a:xfrm>
            <a:off x="10199776" y="5131982"/>
            <a:ext cx="610315" cy="6601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6" name="Arrow: Bent-Up 85">
            <a:extLst>
              <a:ext uri="{FF2B5EF4-FFF2-40B4-BE49-F238E27FC236}">
                <a16:creationId xmlns:a16="http://schemas.microsoft.com/office/drawing/2014/main" id="{68F64FD6-B944-1B96-9916-A26F3E8437D3}"/>
              </a:ext>
            </a:extLst>
          </p:cNvPr>
          <p:cNvSpPr/>
          <p:nvPr/>
        </p:nvSpPr>
        <p:spPr>
          <a:xfrm rot="16200000">
            <a:off x="8649165" y="2504907"/>
            <a:ext cx="3696621" cy="972862"/>
          </a:xfrm>
          <a:prstGeom prst="bentUpArrow">
            <a:avLst>
              <a:gd name="adj1" fmla="val 6406"/>
              <a:gd name="adj2" fmla="val 11381"/>
              <a:gd name="adj3" fmla="val 21314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463D251D-466A-AE2A-0692-61F66F0B46C9}"/>
              </a:ext>
            </a:extLst>
          </p:cNvPr>
          <p:cNvSpPr/>
          <p:nvPr/>
        </p:nvSpPr>
        <p:spPr>
          <a:xfrm>
            <a:off x="10190161" y="4839649"/>
            <a:ext cx="793747" cy="7301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15227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7.40741E-7 L 0.06511 0.19468 " pathEditMode="relative" rAng="0" ptsTypes="AA">
                                      <p:cBhvr>
                                        <p:cTn id="124" dur="2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55" y="9722"/>
                                    </p:animMotion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4.81481E-6 L 0.06771 0.32894 " pathEditMode="relative" rAng="0" ptsTypes="AA">
                                      <p:cBhvr>
                                        <p:cTn id="138" dur="2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85" y="16435"/>
                                    </p:animMotion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-3.7037E-7 L 0.06641 0.5331 " pathEditMode="relative" rAng="0" ptsTypes="AA">
                                      <p:cBhvr>
                                        <p:cTn id="152" dur="2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20" y="26644"/>
                                    </p:animMotion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/>
      <p:bldP spid="26" grpId="0"/>
      <p:bldP spid="32" grpId="0" animBg="1"/>
      <p:bldP spid="33" grpId="0"/>
      <p:bldP spid="34" grpId="0" animBg="1"/>
      <p:bldP spid="35" grpId="0"/>
      <p:bldP spid="36" grpId="0" animBg="1"/>
      <p:bldP spid="37" grpId="0" animBg="1"/>
      <p:bldP spid="38" grpId="0"/>
      <p:bldP spid="39" grpId="0"/>
      <p:bldP spid="40" grpId="0"/>
      <p:bldP spid="41" grpId="0"/>
      <p:bldP spid="42" grpId="0"/>
      <p:bldP spid="43" grpId="0" animBg="1"/>
      <p:bldP spid="44" grpId="0" animBg="1"/>
      <p:bldP spid="45" grpId="0"/>
      <p:bldP spid="46" grpId="0"/>
      <p:bldP spid="47" grpId="0"/>
      <p:bldP spid="48" grpId="0"/>
      <p:bldP spid="49" grpId="0"/>
      <p:bldP spid="50" grpId="0" animBg="1"/>
      <p:bldP spid="51" grpId="0"/>
      <p:bldP spid="52" grpId="0"/>
      <p:bldP spid="53" grpId="0" animBg="1"/>
      <p:bldP spid="54" grpId="0"/>
      <p:bldP spid="55" grpId="0"/>
      <p:bldP spid="65" grpId="0" animBg="1"/>
      <p:bldP spid="66" grpId="0" animBg="1"/>
      <p:bldP spid="67" grpId="0"/>
      <p:bldP spid="68" grpId="0"/>
      <p:bldP spid="69" grpId="0"/>
      <p:bldP spid="70" grpId="0"/>
      <p:bldP spid="71" grpId="0"/>
      <p:bldP spid="72" grpId="0" animBg="1"/>
      <p:bldP spid="73" grpId="0"/>
      <p:bldP spid="74" grpId="0"/>
      <p:bldP spid="76" grpId="0"/>
      <p:bldP spid="76" grpId="1"/>
      <p:bldP spid="77" grpId="0"/>
      <p:bldP spid="78" grpId="0"/>
      <p:bldP spid="79" grpId="0"/>
      <p:bldP spid="80" grpId="0"/>
      <p:bldP spid="80" grpId="1"/>
      <p:bldP spid="81" grpId="0"/>
      <p:bldP spid="81" grpId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662478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Odd-Shaped Arrays</a:t>
            </a:r>
            <a:endParaRPr lang="en-CA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563637"/>
            <a:ext cx="8408258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More than just 1-D array of data organization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Of course, N-dimensional array is available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Can do more than just square-dimension arrays!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Limitations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Out-of-bound access still possible (and catastrophic)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Cannot use nested initialization list, </a:t>
            </a:r>
            <a:r>
              <a:rPr lang="en-CA" dirty="0" err="1"/>
              <a:t>i.e</a:t>
            </a:r>
            <a:r>
              <a:rPr lang="en-CA" dirty="0"/>
              <a:t>…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10</a:t>
            </a:fld>
            <a:endParaRPr lang="en-CA" dirty="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272556E-43C3-2BA6-66E9-1D7B8BC6D1A8}"/>
              </a:ext>
            </a:extLst>
          </p:cNvPr>
          <p:cNvSpPr/>
          <p:nvPr/>
        </p:nvSpPr>
        <p:spPr>
          <a:xfrm>
            <a:off x="8641895" y="5325498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AB347FA-60A5-7814-FE38-92A208299CBE}"/>
              </a:ext>
            </a:extLst>
          </p:cNvPr>
          <p:cNvSpPr txBox="1"/>
          <p:nvPr/>
        </p:nvSpPr>
        <p:spPr>
          <a:xfrm>
            <a:off x="7528421" y="5323569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003AA0CB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FD034D5-8BFC-9627-89AD-0D88C88578CE}"/>
              </a:ext>
            </a:extLst>
          </p:cNvPr>
          <p:cNvSpPr txBox="1"/>
          <p:nvPr/>
        </p:nvSpPr>
        <p:spPr>
          <a:xfrm>
            <a:off x="8862973" y="5592591"/>
            <a:ext cx="13680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int* pp[3];</a:t>
            </a:r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AC8D32-1AD7-444F-F9FB-4B73B30AEFFD}"/>
              </a:ext>
            </a:extLst>
          </p:cNvPr>
          <p:cNvSpPr txBox="1"/>
          <p:nvPr/>
        </p:nvSpPr>
        <p:spPr>
          <a:xfrm>
            <a:off x="1716210" y="2576612"/>
            <a:ext cx="4924302" cy="830997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a[ ] = {1, 2};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a 1-by-2 int array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b[ ] = {3, 4, 5, 6};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a 1-by-4 int array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c[ ] = {3, 4, 5};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a 1-by-3 int array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int*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pp[3] = {a, b, c};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Simpler Version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9DABD8D4-C991-CA6C-B17B-6015A803CCA9}"/>
              </a:ext>
            </a:extLst>
          </p:cNvPr>
          <p:cNvSpPr/>
          <p:nvPr/>
        </p:nvSpPr>
        <p:spPr>
          <a:xfrm>
            <a:off x="8641895" y="5034186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E83928A-EE44-7EDA-C5C0-37AD5214293B}"/>
              </a:ext>
            </a:extLst>
          </p:cNvPr>
          <p:cNvSpPr txBox="1"/>
          <p:nvPr/>
        </p:nvSpPr>
        <p:spPr>
          <a:xfrm>
            <a:off x="7528421" y="5032257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003AA0CF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3D14C3B1-8A29-DCC7-73CE-838CED65C990}"/>
              </a:ext>
            </a:extLst>
          </p:cNvPr>
          <p:cNvSpPr/>
          <p:nvPr/>
        </p:nvSpPr>
        <p:spPr>
          <a:xfrm>
            <a:off x="8647391" y="4746181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2454E31-2145-B9C0-31BE-89F01DF54546}"/>
              </a:ext>
            </a:extLst>
          </p:cNvPr>
          <p:cNvSpPr txBox="1"/>
          <p:nvPr/>
        </p:nvSpPr>
        <p:spPr>
          <a:xfrm>
            <a:off x="7510141" y="4744252"/>
            <a:ext cx="12821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003AA0D3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33016600-3F92-F15D-4EF2-7B1D0D740AA6}"/>
              </a:ext>
            </a:extLst>
          </p:cNvPr>
          <p:cNvSpPr/>
          <p:nvPr/>
        </p:nvSpPr>
        <p:spPr>
          <a:xfrm>
            <a:off x="9133676" y="3989156"/>
            <a:ext cx="870853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  <a:endParaRPr lang="en-CA" b="1" dirty="0">
              <a:solidFill>
                <a:schemeClr val="tx1"/>
              </a:solidFill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07A67DCD-270B-D1AE-FD14-A3A3AA3C416F}"/>
              </a:ext>
            </a:extLst>
          </p:cNvPr>
          <p:cNvSpPr/>
          <p:nvPr/>
        </p:nvSpPr>
        <p:spPr>
          <a:xfrm>
            <a:off x="9133676" y="3707678"/>
            <a:ext cx="870853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2</a:t>
            </a:r>
            <a:endParaRPr lang="en-CA" b="1" dirty="0">
              <a:solidFill>
                <a:schemeClr val="tx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4F596B4-B6AF-E957-9AE1-3A6554C8E19F}"/>
              </a:ext>
            </a:extLst>
          </p:cNvPr>
          <p:cNvSpPr txBox="1"/>
          <p:nvPr/>
        </p:nvSpPr>
        <p:spPr>
          <a:xfrm>
            <a:off x="8058467" y="3981165"/>
            <a:ext cx="1165596" cy="312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0061FF14</a:t>
            </a:r>
            <a:endParaRPr lang="en-CA" sz="1600" b="1" dirty="0">
              <a:solidFill>
                <a:srgbClr val="7030A0"/>
              </a:solidFill>
            </a:endParaRPr>
          </a:p>
          <a:p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66DB7B4-57A6-B0E6-2C7D-6843E5F7066E}"/>
              </a:ext>
            </a:extLst>
          </p:cNvPr>
          <p:cNvSpPr txBox="1"/>
          <p:nvPr/>
        </p:nvSpPr>
        <p:spPr>
          <a:xfrm>
            <a:off x="8058467" y="3704733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0061FF18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7F618C4-3D1C-BA61-3E7B-7CB860303C99}"/>
              </a:ext>
            </a:extLst>
          </p:cNvPr>
          <p:cNvSpPr txBox="1"/>
          <p:nvPr/>
        </p:nvSpPr>
        <p:spPr>
          <a:xfrm>
            <a:off x="9156424" y="3298352"/>
            <a:ext cx="8893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int a[ ]</a:t>
            </a:r>
            <a:endParaRPr lang="en-CA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6A5D4E2-8071-5C16-16BA-694D755B189F}"/>
              </a:ext>
            </a:extLst>
          </p:cNvPr>
          <p:cNvSpPr txBox="1"/>
          <p:nvPr/>
        </p:nvSpPr>
        <p:spPr>
          <a:xfrm>
            <a:off x="7532777" y="3974508"/>
            <a:ext cx="6270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accent1"/>
                </a:solidFill>
              </a:rPr>
              <a:t>a[0]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746D41E-5438-DF32-339E-6D7DFCB42063}"/>
              </a:ext>
            </a:extLst>
          </p:cNvPr>
          <p:cNvSpPr txBox="1"/>
          <p:nvPr/>
        </p:nvSpPr>
        <p:spPr>
          <a:xfrm>
            <a:off x="7528421" y="3700193"/>
            <a:ext cx="6270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accent1"/>
                </a:solidFill>
              </a:rPr>
              <a:t>a[1]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D18B8644-D599-F9CA-CB63-06BF4A13716D}"/>
              </a:ext>
            </a:extLst>
          </p:cNvPr>
          <p:cNvSpPr/>
          <p:nvPr/>
        </p:nvSpPr>
        <p:spPr>
          <a:xfrm>
            <a:off x="9133676" y="2795367"/>
            <a:ext cx="870853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3</a:t>
            </a:r>
            <a:endParaRPr lang="en-CA" b="1" dirty="0">
              <a:solidFill>
                <a:schemeClr val="tx1"/>
              </a:solidFill>
            </a:endParaRP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DF913B6B-494E-D396-0ABF-2F40789D15A0}"/>
              </a:ext>
            </a:extLst>
          </p:cNvPr>
          <p:cNvSpPr/>
          <p:nvPr/>
        </p:nvSpPr>
        <p:spPr>
          <a:xfrm>
            <a:off x="9133676" y="2513889"/>
            <a:ext cx="870853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4</a:t>
            </a:r>
            <a:endParaRPr lang="en-CA" b="1" dirty="0">
              <a:solidFill>
                <a:schemeClr val="tx1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F9069AC-D470-0295-535D-D13755377CB1}"/>
              </a:ext>
            </a:extLst>
          </p:cNvPr>
          <p:cNvSpPr txBox="1"/>
          <p:nvPr/>
        </p:nvSpPr>
        <p:spPr>
          <a:xfrm>
            <a:off x="8041215" y="2787376"/>
            <a:ext cx="116559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00631200</a:t>
            </a:r>
            <a:endParaRPr lang="en-CA" sz="1600" b="1" dirty="0">
              <a:solidFill>
                <a:srgbClr val="7030A0"/>
              </a:solidFill>
            </a:endParaRPr>
          </a:p>
          <a:p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5EEDD2D-0EE7-279B-12B0-15604E44ACEF}"/>
              </a:ext>
            </a:extLst>
          </p:cNvPr>
          <p:cNvSpPr txBox="1"/>
          <p:nvPr/>
        </p:nvSpPr>
        <p:spPr>
          <a:xfrm>
            <a:off x="8041215" y="2510944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00631204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46CFC5B-80A5-948A-3E86-C2DC651BE7BC}"/>
              </a:ext>
            </a:extLst>
          </p:cNvPr>
          <p:cNvSpPr txBox="1"/>
          <p:nvPr/>
        </p:nvSpPr>
        <p:spPr>
          <a:xfrm>
            <a:off x="9156424" y="1595610"/>
            <a:ext cx="8893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int </a:t>
            </a:r>
            <a:r>
              <a:rPr lang="en-US" b="1" dirty="0"/>
              <a:t>b</a:t>
            </a:r>
            <a:r>
              <a:rPr lang="en-US" b="1" dirty="0">
                <a:solidFill>
                  <a:schemeClr val="tx1"/>
                </a:solidFill>
              </a:rPr>
              <a:t>[ ]</a:t>
            </a:r>
            <a:endParaRPr lang="en-CA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E17EBD9-B571-9DBD-B0F8-4BDBF6DA7213}"/>
              </a:ext>
            </a:extLst>
          </p:cNvPr>
          <p:cNvSpPr txBox="1"/>
          <p:nvPr/>
        </p:nvSpPr>
        <p:spPr>
          <a:xfrm>
            <a:off x="7532777" y="2780719"/>
            <a:ext cx="6270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accent1"/>
                </a:solidFill>
              </a:rPr>
              <a:t>b[0]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53FA774-6874-8D8C-65AE-B93A63581585}"/>
              </a:ext>
            </a:extLst>
          </p:cNvPr>
          <p:cNvSpPr txBox="1"/>
          <p:nvPr/>
        </p:nvSpPr>
        <p:spPr>
          <a:xfrm>
            <a:off x="7528421" y="2506404"/>
            <a:ext cx="6270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accent1"/>
                </a:solidFill>
              </a:rPr>
              <a:t>b[1]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E2C767EB-3192-E527-B591-97806C13B61C}"/>
              </a:ext>
            </a:extLst>
          </p:cNvPr>
          <p:cNvSpPr/>
          <p:nvPr/>
        </p:nvSpPr>
        <p:spPr>
          <a:xfrm>
            <a:off x="9139172" y="2217655"/>
            <a:ext cx="870853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5</a:t>
            </a:r>
            <a:endParaRPr lang="en-CA" b="1" dirty="0">
              <a:solidFill>
                <a:schemeClr val="tx1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CA0FBB3-82C8-AF4B-4D7B-D3863815ABFA}"/>
              </a:ext>
            </a:extLst>
          </p:cNvPr>
          <p:cNvSpPr txBox="1"/>
          <p:nvPr/>
        </p:nvSpPr>
        <p:spPr>
          <a:xfrm>
            <a:off x="8046711" y="2214710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00631208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1D90E93-8A5F-9706-50BD-1F3FB3B515E3}"/>
              </a:ext>
            </a:extLst>
          </p:cNvPr>
          <p:cNvSpPr txBox="1"/>
          <p:nvPr/>
        </p:nvSpPr>
        <p:spPr>
          <a:xfrm>
            <a:off x="7533917" y="2210170"/>
            <a:ext cx="6270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accent1"/>
                </a:solidFill>
              </a:rPr>
              <a:t>b[2]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36A188FC-B151-B14D-17F9-8F9C717F3864}"/>
              </a:ext>
            </a:extLst>
          </p:cNvPr>
          <p:cNvSpPr/>
          <p:nvPr/>
        </p:nvSpPr>
        <p:spPr>
          <a:xfrm>
            <a:off x="9136302" y="1930108"/>
            <a:ext cx="870853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6</a:t>
            </a:r>
            <a:endParaRPr lang="en-CA" b="1" dirty="0">
              <a:solidFill>
                <a:schemeClr val="tx1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98AF92B-ACF2-211E-565A-9661B4FC8791}"/>
              </a:ext>
            </a:extLst>
          </p:cNvPr>
          <p:cNvSpPr txBox="1"/>
          <p:nvPr/>
        </p:nvSpPr>
        <p:spPr>
          <a:xfrm>
            <a:off x="8043841" y="1927163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0063120C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23A1713-B47C-15C8-C0A1-3EC5229EA559}"/>
              </a:ext>
            </a:extLst>
          </p:cNvPr>
          <p:cNvSpPr txBox="1"/>
          <p:nvPr/>
        </p:nvSpPr>
        <p:spPr>
          <a:xfrm>
            <a:off x="7531047" y="1922623"/>
            <a:ext cx="6270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accent1"/>
                </a:solidFill>
              </a:rPr>
              <a:t>b[3]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B4EBA4AA-14D5-B321-656A-FFDD78039ABD}"/>
              </a:ext>
            </a:extLst>
          </p:cNvPr>
          <p:cNvSpPr/>
          <p:nvPr/>
        </p:nvSpPr>
        <p:spPr>
          <a:xfrm>
            <a:off x="9140192" y="1109578"/>
            <a:ext cx="870853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3</a:t>
            </a:r>
            <a:endParaRPr lang="en-CA" b="1" dirty="0">
              <a:solidFill>
                <a:schemeClr val="tx1"/>
              </a:solidFill>
            </a:endParaRP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51489B24-B798-5795-E441-4054E182C689}"/>
              </a:ext>
            </a:extLst>
          </p:cNvPr>
          <p:cNvSpPr/>
          <p:nvPr/>
        </p:nvSpPr>
        <p:spPr>
          <a:xfrm>
            <a:off x="9140192" y="828100"/>
            <a:ext cx="870853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4</a:t>
            </a:r>
            <a:endParaRPr lang="en-CA" b="1" dirty="0">
              <a:solidFill>
                <a:schemeClr val="tx1"/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D771370-E080-DC82-3C02-C3C64472DA98}"/>
              </a:ext>
            </a:extLst>
          </p:cNvPr>
          <p:cNvSpPr txBox="1"/>
          <p:nvPr/>
        </p:nvSpPr>
        <p:spPr>
          <a:xfrm>
            <a:off x="8030479" y="1101587"/>
            <a:ext cx="116559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0063AA0C</a:t>
            </a:r>
            <a:endParaRPr lang="en-CA" sz="1600" b="1" dirty="0">
              <a:solidFill>
                <a:srgbClr val="7030A0"/>
              </a:solidFill>
            </a:endParaRPr>
          </a:p>
          <a:p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EBECA1F-DCD0-3D03-939F-7BA15CF7A83B}"/>
              </a:ext>
            </a:extLst>
          </p:cNvPr>
          <p:cNvSpPr txBox="1"/>
          <p:nvPr/>
        </p:nvSpPr>
        <p:spPr>
          <a:xfrm>
            <a:off x="8030479" y="825155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0063AA10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D3F75B1-CD1D-7072-BD0D-8E2B8A779007}"/>
              </a:ext>
            </a:extLst>
          </p:cNvPr>
          <p:cNvSpPr txBox="1"/>
          <p:nvPr/>
        </p:nvSpPr>
        <p:spPr>
          <a:xfrm>
            <a:off x="9162940" y="159977"/>
            <a:ext cx="8893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int </a:t>
            </a:r>
            <a:r>
              <a:rPr lang="en-US" b="1" dirty="0"/>
              <a:t>c</a:t>
            </a:r>
            <a:r>
              <a:rPr lang="en-US" b="1" dirty="0">
                <a:solidFill>
                  <a:schemeClr val="tx1"/>
                </a:solidFill>
              </a:rPr>
              <a:t>[ ]</a:t>
            </a:r>
            <a:endParaRPr lang="en-CA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D89FFF-83C9-C68B-FB0F-11352C6CBF36}"/>
              </a:ext>
            </a:extLst>
          </p:cNvPr>
          <p:cNvSpPr txBox="1"/>
          <p:nvPr/>
        </p:nvSpPr>
        <p:spPr>
          <a:xfrm>
            <a:off x="7539293" y="1094930"/>
            <a:ext cx="6270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accent1"/>
                </a:solidFill>
              </a:rPr>
              <a:t>c[0]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3996182-E47D-2A9A-FE41-D6B697365754}"/>
              </a:ext>
            </a:extLst>
          </p:cNvPr>
          <p:cNvSpPr txBox="1"/>
          <p:nvPr/>
        </p:nvSpPr>
        <p:spPr>
          <a:xfrm>
            <a:off x="7534937" y="820615"/>
            <a:ext cx="6270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accent1"/>
                </a:solidFill>
              </a:rPr>
              <a:t>c[1]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03F3FD3A-A944-EA3B-54DA-8B763252B269}"/>
              </a:ext>
            </a:extLst>
          </p:cNvPr>
          <p:cNvSpPr/>
          <p:nvPr/>
        </p:nvSpPr>
        <p:spPr>
          <a:xfrm>
            <a:off x="9145688" y="531866"/>
            <a:ext cx="870853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5</a:t>
            </a:r>
            <a:endParaRPr lang="en-CA" b="1" dirty="0">
              <a:solidFill>
                <a:schemeClr val="tx1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ACAD746-AF8A-3217-3F33-25903675C3B5}"/>
              </a:ext>
            </a:extLst>
          </p:cNvPr>
          <p:cNvSpPr txBox="1"/>
          <p:nvPr/>
        </p:nvSpPr>
        <p:spPr>
          <a:xfrm>
            <a:off x="8035975" y="528921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0063AA14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359F9AA-EBF7-BB14-1E0A-A74D6F7228EE}"/>
              </a:ext>
            </a:extLst>
          </p:cNvPr>
          <p:cNvSpPr txBox="1"/>
          <p:nvPr/>
        </p:nvSpPr>
        <p:spPr>
          <a:xfrm>
            <a:off x="7540433" y="524381"/>
            <a:ext cx="6270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accent1"/>
                </a:solidFill>
              </a:rPr>
              <a:t>c[2]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2FE0E0B-F9E1-848E-B715-DE04DB93F8B1}"/>
              </a:ext>
            </a:extLst>
          </p:cNvPr>
          <p:cNvSpPr txBox="1"/>
          <p:nvPr/>
        </p:nvSpPr>
        <p:spPr>
          <a:xfrm>
            <a:off x="8700531" y="4996601"/>
            <a:ext cx="14394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b="1" dirty="0">
                <a:solidFill>
                  <a:schemeClr val="accent2">
                    <a:lumMod val="75000"/>
                  </a:schemeClr>
                </a:solidFill>
              </a:rPr>
              <a:t>0x 00631200</a:t>
            </a:r>
            <a:endParaRPr lang="en-CA" sz="2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95E430C-BDB3-2684-C627-BAA2CC5CA505}"/>
              </a:ext>
            </a:extLst>
          </p:cNvPr>
          <p:cNvSpPr txBox="1"/>
          <p:nvPr/>
        </p:nvSpPr>
        <p:spPr>
          <a:xfrm>
            <a:off x="7045956" y="5294363"/>
            <a:ext cx="6270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accent1"/>
                </a:solidFill>
              </a:rPr>
              <a:t>pp[0]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8DB5B28-9602-718F-E3E7-7C6BD7EF6143}"/>
              </a:ext>
            </a:extLst>
          </p:cNvPr>
          <p:cNvSpPr txBox="1"/>
          <p:nvPr/>
        </p:nvSpPr>
        <p:spPr>
          <a:xfrm>
            <a:off x="7041600" y="5020048"/>
            <a:ext cx="6270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accent1"/>
                </a:solidFill>
              </a:rPr>
              <a:t>pp[1]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1B3EC55-6066-8E26-0DE7-FE7AEBAA0C78}"/>
              </a:ext>
            </a:extLst>
          </p:cNvPr>
          <p:cNvSpPr txBox="1"/>
          <p:nvPr/>
        </p:nvSpPr>
        <p:spPr>
          <a:xfrm>
            <a:off x="7047096" y="4723814"/>
            <a:ext cx="6270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accent1"/>
                </a:solidFill>
              </a:rPr>
              <a:t>pp[2]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F88FB4E-7883-FDBD-CDCE-FDEDD0690FA9}"/>
              </a:ext>
            </a:extLst>
          </p:cNvPr>
          <p:cNvSpPr txBox="1"/>
          <p:nvPr/>
        </p:nvSpPr>
        <p:spPr>
          <a:xfrm>
            <a:off x="8717311" y="5278494"/>
            <a:ext cx="1378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b="1" dirty="0">
                <a:solidFill>
                  <a:schemeClr val="accent2">
                    <a:lumMod val="75000"/>
                  </a:schemeClr>
                </a:solidFill>
              </a:rPr>
              <a:t>0x 0061FF14</a:t>
            </a:r>
            <a:endParaRPr lang="en-CA" sz="2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C113092-E57E-8905-43C9-0EA2CD055BF5}"/>
              </a:ext>
            </a:extLst>
          </p:cNvPr>
          <p:cNvSpPr txBox="1"/>
          <p:nvPr/>
        </p:nvSpPr>
        <p:spPr>
          <a:xfrm>
            <a:off x="8700532" y="4700559"/>
            <a:ext cx="14394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b="1" dirty="0">
                <a:solidFill>
                  <a:schemeClr val="accent2">
                    <a:lumMod val="75000"/>
                  </a:schemeClr>
                </a:solidFill>
              </a:rPr>
              <a:t>0x 0063AA0C</a:t>
            </a:r>
            <a:endParaRPr lang="en-CA" sz="2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82" name="Arrow: Bent-Up 81">
            <a:extLst>
              <a:ext uri="{FF2B5EF4-FFF2-40B4-BE49-F238E27FC236}">
                <a16:creationId xmlns:a16="http://schemas.microsoft.com/office/drawing/2014/main" id="{0A1C6644-44C8-52BB-B087-4905D08BD075}"/>
              </a:ext>
            </a:extLst>
          </p:cNvPr>
          <p:cNvSpPr/>
          <p:nvPr/>
        </p:nvSpPr>
        <p:spPr>
          <a:xfrm rot="16200000">
            <a:off x="9578725" y="4466231"/>
            <a:ext cx="1456916" cy="601350"/>
          </a:xfrm>
          <a:prstGeom prst="bentUpArrow">
            <a:avLst>
              <a:gd name="adj1" fmla="val 10092"/>
              <a:gd name="adj2" fmla="val 18292"/>
              <a:gd name="adj3" fmla="val 25000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34FA97C9-F46B-EB8B-E689-0E4F2C524B63}"/>
              </a:ext>
            </a:extLst>
          </p:cNvPr>
          <p:cNvSpPr/>
          <p:nvPr/>
        </p:nvSpPr>
        <p:spPr>
          <a:xfrm>
            <a:off x="10171939" y="5422174"/>
            <a:ext cx="435920" cy="7319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4" name="Arrow: Bent-Up 83">
            <a:extLst>
              <a:ext uri="{FF2B5EF4-FFF2-40B4-BE49-F238E27FC236}">
                <a16:creationId xmlns:a16="http://schemas.microsoft.com/office/drawing/2014/main" id="{5C3FB934-E721-8A4E-A6D5-7039FE386235}"/>
              </a:ext>
            </a:extLst>
          </p:cNvPr>
          <p:cNvSpPr/>
          <p:nvPr/>
        </p:nvSpPr>
        <p:spPr>
          <a:xfrm rot="16200000">
            <a:off x="9255980" y="3577870"/>
            <a:ext cx="2302660" cy="805562"/>
          </a:xfrm>
          <a:prstGeom prst="bentUpArrow">
            <a:avLst>
              <a:gd name="adj1" fmla="val 7866"/>
              <a:gd name="adj2" fmla="val 12728"/>
              <a:gd name="adj3" fmla="val 25000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B682C57D-4371-D116-C582-F9C9DEC8293F}"/>
              </a:ext>
            </a:extLst>
          </p:cNvPr>
          <p:cNvSpPr/>
          <p:nvPr/>
        </p:nvSpPr>
        <p:spPr>
          <a:xfrm>
            <a:off x="10199776" y="5131982"/>
            <a:ext cx="610315" cy="6601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6" name="Arrow: Bent-Up 85">
            <a:extLst>
              <a:ext uri="{FF2B5EF4-FFF2-40B4-BE49-F238E27FC236}">
                <a16:creationId xmlns:a16="http://schemas.microsoft.com/office/drawing/2014/main" id="{68F64FD6-B944-1B96-9916-A26F3E8437D3}"/>
              </a:ext>
            </a:extLst>
          </p:cNvPr>
          <p:cNvSpPr/>
          <p:nvPr/>
        </p:nvSpPr>
        <p:spPr>
          <a:xfrm rot="16200000">
            <a:off x="8649165" y="2504907"/>
            <a:ext cx="3696621" cy="972862"/>
          </a:xfrm>
          <a:prstGeom prst="bentUpArrow">
            <a:avLst>
              <a:gd name="adj1" fmla="val 6406"/>
              <a:gd name="adj2" fmla="val 11381"/>
              <a:gd name="adj3" fmla="val 21314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463D251D-466A-AE2A-0692-61F66F0B46C9}"/>
              </a:ext>
            </a:extLst>
          </p:cNvPr>
          <p:cNvSpPr/>
          <p:nvPr/>
        </p:nvSpPr>
        <p:spPr>
          <a:xfrm>
            <a:off x="10190161" y="4839649"/>
            <a:ext cx="793747" cy="7301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DC0F57-641D-F79E-0903-BDE8DF6A71B3}"/>
              </a:ext>
            </a:extLst>
          </p:cNvPr>
          <p:cNvSpPr txBox="1"/>
          <p:nvPr/>
        </p:nvSpPr>
        <p:spPr>
          <a:xfrm>
            <a:off x="2164181" y="4507636"/>
            <a:ext cx="4579720" cy="461665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THIS WILL NOT WORK – SYNTAX ERROR</a:t>
            </a:r>
            <a:endParaRPr lang="en-US" sz="12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int*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pp[3] = {{1, 2}, {3, 4, 5, 6}, {7, 8, 9}};</a:t>
            </a:r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4A9F086B-CCC6-B62B-78D3-B4A98F0CCA60}"/>
              </a:ext>
            </a:extLst>
          </p:cNvPr>
          <p:cNvSpPr/>
          <p:nvPr/>
        </p:nvSpPr>
        <p:spPr>
          <a:xfrm>
            <a:off x="2523307" y="5159639"/>
            <a:ext cx="3689234" cy="639603"/>
          </a:xfrm>
          <a:prstGeom prst="wedgeRectCallout">
            <a:avLst>
              <a:gd name="adj1" fmla="val -40419"/>
              <a:gd name="adj2" fmla="val -80839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Only allocates the 3-byte pointer array, but not the subsequent arrays</a:t>
            </a:r>
            <a:endParaRPr lang="en-US" sz="1600" b="1" dirty="0">
              <a:solidFill>
                <a:schemeClr val="tx1"/>
              </a:solidFill>
              <a:latin typeface="Courier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1ACE256-1951-D4A2-8BA6-C5158C04A549}"/>
              </a:ext>
            </a:extLst>
          </p:cNvPr>
          <p:cNvSpPr/>
          <p:nvPr/>
        </p:nvSpPr>
        <p:spPr>
          <a:xfrm>
            <a:off x="5160837" y="3383482"/>
            <a:ext cx="1861482" cy="404238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L9Ex1-Jagged.c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0495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68BBCBA1-6A5A-BE82-9584-653AB9A65F26}"/>
              </a:ext>
            </a:extLst>
          </p:cNvPr>
          <p:cNvSpPr txBox="1"/>
          <p:nvPr/>
        </p:nvSpPr>
        <p:spPr>
          <a:xfrm>
            <a:off x="832656" y="1563637"/>
            <a:ext cx="10453653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“</a:t>
            </a:r>
            <a:r>
              <a:rPr lang="en-CA" sz="2200" b="1" dirty="0">
                <a:solidFill>
                  <a:srgbClr val="7030A0"/>
                </a:solidFill>
              </a:rPr>
              <a:t>A pointer</a:t>
            </a:r>
            <a:r>
              <a:rPr lang="en-CA" sz="2200" dirty="0"/>
              <a:t> whose value is the address of </a:t>
            </a:r>
            <a:r>
              <a:rPr lang="en-CA" sz="2200" b="1" dirty="0">
                <a:solidFill>
                  <a:srgbClr val="7030A0"/>
                </a:solidFill>
              </a:rPr>
              <a:t>another pointer</a:t>
            </a:r>
            <a:r>
              <a:rPr lang="en-CA" sz="2200" dirty="0"/>
              <a:t>”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“</a:t>
            </a:r>
            <a:r>
              <a:rPr lang="en-CA" b="1" dirty="0">
                <a:solidFill>
                  <a:srgbClr val="7030A0"/>
                </a:solidFill>
              </a:rPr>
              <a:t>A pointer to a pointer</a:t>
            </a:r>
            <a:r>
              <a:rPr lang="en-CA" dirty="0"/>
              <a:t>”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>
                <a:latin typeface="Courier"/>
              </a:rPr>
              <a:t>pp == &amp;pp[0] == 0x003AA0CB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>
                <a:latin typeface="Courier"/>
              </a:rPr>
              <a:t>*pp == pp[0] == &amp;a[0] == 0x0061FF14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>
                <a:latin typeface="Courier"/>
              </a:rPr>
              <a:t>**pp == *(*pp) == *(pp[0]) == a[0] == 1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>
                <a:latin typeface="Courier"/>
              </a:rPr>
              <a:t>pp[</a:t>
            </a:r>
            <a:r>
              <a:rPr lang="en-CA" dirty="0" err="1">
                <a:latin typeface="Courier"/>
              </a:rPr>
              <a:t>i</a:t>
            </a:r>
            <a:r>
              <a:rPr lang="en-CA" dirty="0">
                <a:latin typeface="Courier"/>
              </a:rPr>
              <a:t>][j] == *(pp[</a:t>
            </a:r>
            <a:r>
              <a:rPr lang="en-CA" dirty="0" err="1">
                <a:latin typeface="Courier"/>
              </a:rPr>
              <a:t>i</a:t>
            </a:r>
            <a:r>
              <a:rPr lang="en-CA" dirty="0">
                <a:latin typeface="Courier"/>
              </a:rPr>
              <a:t>]+j) == *(*(</a:t>
            </a:r>
            <a:r>
              <a:rPr lang="en-CA" dirty="0" err="1">
                <a:latin typeface="Courier"/>
              </a:rPr>
              <a:t>pp+i</a:t>
            </a:r>
            <a:r>
              <a:rPr lang="en-CA" dirty="0">
                <a:latin typeface="Courier"/>
              </a:rPr>
              <a:t>)+j)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>
              <a:latin typeface="Courier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>
                <a:latin typeface="Courier"/>
              </a:rPr>
              <a:t>&amp;pp == ? (Check it yourself)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7" y="585288"/>
            <a:ext cx="964752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Pointer to Pointer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11</a:t>
            </a:fld>
            <a:endParaRPr lang="en-CA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F127243-0ABC-282A-3539-3D00917EE05C}"/>
              </a:ext>
            </a:extLst>
          </p:cNvPr>
          <p:cNvSpPr/>
          <p:nvPr/>
        </p:nvSpPr>
        <p:spPr>
          <a:xfrm>
            <a:off x="9199245" y="5338632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40C4DF-6A59-C5AC-B306-F3AF68AF1528}"/>
              </a:ext>
            </a:extLst>
          </p:cNvPr>
          <p:cNvSpPr txBox="1"/>
          <p:nvPr/>
        </p:nvSpPr>
        <p:spPr>
          <a:xfrm>
            <a:off x="8085771" y="5336703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003AA0CB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BE2BF74-0B74-6100-30E6-FF1D528F13C8}"/>
              </a:ext>
            </a:extLst>
          </p:cNvPr>
          <p:cNvSpPr txBox="1"/>
          <p:nvPr/>
        </p:nvSpPr>
        <p:spPr>
          <a:xfrm>
            <a:off x="9420323" y="5605725"/>
            <a:ext cx="13680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int* pp[3];</a:t>
            </a:r>
            <a:endParaRPr lang="en-CA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0D18BB8-5D29-B604-1F57-87EB143790B3}"/>
              </a:ext>
            </a:extLst>
          </p:cNvPr>
          <p:cNvSpPr txBox="1"/>
          <p:nvPr/>
        </p:nvSpPr>
        <p:spPr>
          <a:xfrm>
            <a:off x="1515914" y="2496713"/>
            <a:ext cx="4924302" cy="830997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a[ ] = {1, 2};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a 1-by-2 int array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b[ ] = {3, 4, 5, 6};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a 1-by-4 int array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c[ ] = {7, 8, 9};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a 1-by-3 int array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int*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pp[3] = {a, b, c};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Simpler Version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ACD9332-02FC-1E9C-4AFD-9D7E3C525704}"/>
              </a:ext>
            </a:extLst>
          </p:cNvPr>
          <p:cNvSpPr/>
          <p:nvPr/>
        </p:nvSpPr>
        <p:spPr>
          <a:xfrm>
            <a:off x="9199245" y="5047320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B8FD46-ACFA-8692-781D-1A12E70EE3AA}"/>
              </a:ext>
            </a:extLst>
          </p:cNvPr>
          <p:cNvSpPr txBox="1"/>
          <p:nvPr/>
        </p:nvSpPr>
        <p:spPr>
          <a:xfrm>
            <a:off x="8085771" y="5045391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003AA0CF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349C6C3-34E7-B57A-9446-BC5637F6667C}"/>
              </a:ext>
            </a:extLst>
          </p:cNvPr>
          <p:cNvSpPr/>
          <p:nvPr/>
        </p:nvSpPr>
        <p:spPr>
          <a:xfrm>
            <a:off x="9204741" y="4759315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9643368-B500-3C47-5512-03033AB8252C}"/>
              </a:ext>
            </a:extLst>
          </p:cNvPr>
          <p:cNvSpPr txBox="1"/>
          <p:nvPr/>
        </p:nvSpPr>
        <p:spPr>
          <a:xfrm>
            <a:off x="8067491" y="4757386"/>
            <a:ext cx="12821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003AA0D3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043BF30D-1753-4519-F45E-B05C3AAD291E}"/>
              </a:ext>
            </a:extLst>
          </p:cNvPr>
          <p:cNvSpPr/>
          <p:nvPr/>
        </p:nvSpPr>
        <p:spPr>
          <a:xfrm>
            <a:off x="9691026" y="4002290"/>
            <a:ext cx="870853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  <a:endParaRPr lang="en-CA" b="1" dirty="0">
              <a:solidFill>
                <a:schemeClr val="tx1"/>
              </a:solidFill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652EFB69-6FF9-25DE-9AA5-2C3D84DED88B}"/>
              </a:ext>
            </a:extLst>
          </p:cNvPr>
          <p:cNvSpPr/>
          <p:nvPr/>
        </p:nvSpPr>
        <p:spPr>
          <a:xfrm>
            <a:off x="9691026" y="3720812"/>
            <a:ext cx="870853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2</a:t>
            </a:r>
            <a:endParaRPr lang="en-CA" b="1" dirty="0">
              <a:solidFill>
                <a:schemeClr val="tx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21F820D-3268-FC56-E626-DE1131ECC437}"/>
              </a:ext>
            </a:extLst>
          </p:cNvPr>
          <p:cNvSpPr txBox="1"/>
          <p:nvPr/>
        </p:nvSpPr>
        <p:spPr>
          <a:xfrm>
            <a:off x="8615817" y="3994299"/>
            <a:ext cx="1165596" cy="312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0061FF14</a:t>
            </a:r>
            <a:endParaRPr lang="en-CA" sz="1600" b="1" dirty="0">
              <a:solidFill>
                <a:srgbClr val="7030A0"/>
              </a:solidFill>
            </a:endParaRPr>
          </a:p>
          <a:p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A02D7CB-1A0D-2083-6E95-CAD41BF5E40F}"/>
              </a:ext>
            </a:extLst>
          </p:cNvPr>
          <p:cNvSpPr txBox="1"/>
          <p:nvPr/>
        </p:nvSpPr>
        <p:spPr>
          <a:xfrm>
            <a:off x="8615817" y="3717867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0061FF18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08306F5-7793-F08E-25F8-EAA04D67C306}"/>
              </a:ext>
            </a:extLst>
          </p:cNvPr>
          <p:cNvSpPr txBox="1"/>
          <p:nvPr/>
        </p:nvSpPr>
        <p:spPr>
          <a:xfrm>
            <a:off x="9713774" y="3311486"/>
            <a:ext cx="8893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int a[ ]</a:t>
            </a:r>
            <a:endParaRPr lang="en-CA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AE62BA7-C522-8093-8891-06BF6DCE5EAD}"/>
              </a:ext>
            </a:extLst>
          </p:cNvPr>
          <p:cNvSpPr txBox="1"/>
          <p:nvPr/>
        </p:nvSpPr>
        <p:spPr>
          <a:xfrm>
            <a:off x="8090127" y="3987642"/>
            <a:ext cx="6270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accent1"/>
                </a:solidFill>
              </a:rPr>
              <a:t>a[0]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F0658F7-A067-63FC-C8D5-EFC56A3DD83A}"/>
              </a:ext>
            </a:extLst>
          </p:cNvPr>
          <p:cNvSpPr txBox="1"/>
          <p:nvPr/>
        </p:nvSpPr>
        <p:spPr>
          <a:xfrm>
            <a:off x="8085771" y="3713327"/>
            <a:ext cx="6270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accent1"/>
                </a:solidFill>
              </a:rPr>
              <a:t>a[1]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867EC8E1-F746-6C01-81D0-88B652EBE10B}"/>
              </a:ext>
            </a:extLst>
          </p:cNvPr>
          <p:cNvSpPr/>
          <p:nvPr/>
        </p:nvSpPr>
        <p:spPr>
          <a:xfrm>
            <a:off x="9691026" y="2808501"/>
            <a:ext cx="870853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3</a:t>
            </a:r>
            <a:endParaRPr lang="en-CA" b="1" dirty="0">
              <a:solidFill>
                <a:schemeClr val="tx1"/>
              </a:solidFill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4E456750-2500-F510-9B75-C78A852AA378}"/>
              </a:ext>
            </a:extLst>
          </p:cNvPr>
          <p:cNvSpPr/>
          <p:nvPr/>
        </p:nvSpPr>
        <p:spPr>
          <a:xfrm>
            <a:off x="9691026" y="2527023"/>
            <a:ext cx="870853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4</a:t>
            </a:r>
            <a:endParaRPr lang="en-CA" b="1" dirty="0">
              <a:solidFill>
                <a:schemeClr val="tx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E9A56DE-35B6-C50E-A7D6-CD2E02EC0007}"/>
              </a:ext>
            </a:extLst>
          </p:cNvPr>
          <p:cNvSpPr txBox="1"/>
          <p:nvPr/>
        </p:nvSpPr>
        <p:spPr>
          <a:xfrm>
            <a:off x="8598565" y="2800510"/>
            <a:ext cx="116559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00631200</a:t>
            </a:r>
            <a:endParaRPr lang="en-CA" sz="1600" b="1" dirty="0">
              <a:solidFill>
                <a:srgbClr val="7030A0"/>
              </a:solidFill>
            </a:endParaRPr>
          </a:p>
          <a:p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731F9AF-21F2-8407-EF88-10B1C4F5E3F0}"/>
              </a:ext>
            </a:extLst>
          </p:cNvPr>
          <p:cNvSpPr txBox="1"/>
          <p:nvPr/>
        </p:nvSpPr>
        <p:spPr>
          <a:xfrm>
            <a:off x="8598565" y="2524078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00631204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4D376DD-9477-43CA-8173-70BFE8BAB2DA}"/>
              </a:ext>
            </a:extLst>
          </p:cNvPr>
          <p:cNvSpPr txBox="1"/>
          <p:nvPr/>
        </p:nvSpPr>
        <p:spPr>
          <a:xfrm>
            <a:off x="9713774" y="1608744"/>
            <a:ext cx="8893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int </a:t>
            </a:r>
            <a:r>
              <a:rPr lang="en-US" b="1" dirty="0"/>
              <a:t>b</a:t>
            </a:r>
            <a:r>
              <a:rPr lang="en-US" b="1" dirty="0">
                <a:solidFill>
                  <a:schemeClr val="tx1"/>
                </a:solidFill>
              </a:rPr>
              <a:t>[ ]</a:t>
            </a:r>
            <a:endParaRPr lang="en-CA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E747B1B-BA67-AD8E-7627-F1261954BA5B}"/>
              </a:ext>
            </a:extLst>
          </p:cNvPr>
          <p:cNvSpPr txBox="1"/>
          <p:nvPr/>
        </p:nvSpPr>
        <p:spPr>
          <a:xfrm>
            <a:off x="8090127" y="2793853"/>
            <a:ext cx="6270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accent1"/>
                </a:solidFill>
              </a:rPr>
              <a:t>b[0]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68D6D6E-802C-BFA3-BE75-C367D672B5D5}"/>
              </a:ext>
            </a:extLst>
          </p:cNvPr>
          <p:cNvSpPr txBox="1"/>
          <p:nvPr/>
        </p:nvSpPr>
        <p:spPr>
          <a:xfrm>
            <a:off x="8085771" y="2519538"/>
            <a:ext cx="6270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accent1"/>
                </a:solidFill>
              </a:rPr>
              <a:t>b[1]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32333327-F571-70CD-0977-A6B10A34DAE8}"/>
              </a:ext>
            </a:extLst>
          </p:cNvPr>
          <p:cNvSpPr/>
          <p:nvPr/>
        </p:nvSpPr>
        <p:spPr>
          <a:xfrm>
            <a:off x="9696522" y="2230789"/>
            <a:ext cx="870853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5</a:t>
            </a:r>
            <a:endParaRPr lang="en-CA" b="1" dirty="0">
              <a:solidFill>
                <a:schemeClr val="tx1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6A214A5-7966-9C1A-9418-D87BDD4CFA84}"/>
              </a:ext>
            </a:extLst>
          </p:cNvPr>
          <p:cNvSpPr txBox="1"/>
          <p:nvPr/>
        </p:nvSpPr>
        <p:spPr>
          <a:xfrm>
            <a:off x="8604061" y="2227844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00631208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C8B813A-0E59-7FA7-AE9D-0C7EDA7A1F8C}"/>
              </a:ext>
            </a:extLst>
          </p:cNvPr>
          <p:cNvSpPr txBox="1"/>
          <p:nvPr/>
        </p:nvSpPr>
        <p:spPr>
          <a:xfrm>
            <a:off x="8091267" y="2223304"/>
            <a:ext cx="6270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accent1"/>
                </a:solidFill>
              </a:rPr>
              <a:t>b[2]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29D4E788-1CDC-730C-88B8-D8913EE229F1}"/>
              </a:ext>
            </a:extLst>
          </p:cNvPr>
          <p:cNvSpPr/>
          <p:nvPr/>
        </p:nvSpPr>
        <p:spPr>
          <a:xfrm>
            <a:off x="9693652" y="1943242"/>
            <a:ext cx="870853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6</a:t>
            </a:r>
            <a:endParaRPr lang="en-CA" b="1" dirty="0">
              <a:solidFill>
                <a:schemeClr val="tx1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F8C4674-6135-ECDE-C33C-E1A228E5A18F}"/>
              </a:ext>
            </a:extLst>
          </p:cNvPr>
          <p:cNvSpPr txBox="1"/>
          <p:nvPr/>
        </p:nvSpPr>
        <p:spPr>
          <a:xfrm>
            <a:off x="8601191" y="1940297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0063120C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7EA756E-3747-D5B1-343A-64BDE2506CAB}"/>
              </a:ext>
            </a:extLst>
          </p:cNvPr>
          <p:cNvSpPr txBox="1"/>
          <p:nvPr/>
        </p:nvSpPr>
        <p:spPr>
          <a:xfrm>
            <a:off x="8088397" y="1935757"/>
            <a:ext cx="6270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accent1"/>
                </a:solidFill>
              </a:rPr>
              <a:t>b[3]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8C24B89-DBAC-3D85-330D-6D99D651C616}"/>
              </a:ext>
            </a:extLst>
          </p:cNvPr>
          <p:cNvSpPr/>
          <p:nvPr/>
        </p:nvSpPr>
        <p:spPr>
          <a:xfrm>
            <a:off x="9697542" y="1122712"/>
            <a:ext cx="870853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3</a:t>
            </a:r>
            <a:endParaRPr lang="en-CA" b="1" dirty="0">
              <a:solidFill>
                <a:schemeClr val="tx1"/>
              </a:solidFill>
            </a:endParaRP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35B22921-51C8-5A5D-E135-91F545FFFBD5}"/>
              </a:ext>
            </a:extLst>
          </p:cNvPr>
          <p:cNvSpPr/>
          <p:nvPr/>
        </p:nvSpPr>
        <p:spPr>
          <a:xfrm>
            <a:off x="9697542" y="841234"/>
            <a:ext cx="870853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4</a:t>
            </a:r>
            <a:endParaRPr lang="en-CA" b="1" dirty="0">
              <a:solidFill>
                <a:schemeClr val="tx1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BE64E3A-129F-9447-2963-CA5E85CDD8B0}"/>
              </a:ext>
            </a:extLst>
          </p:cNvPr>
          <p:cNvSpPr txBox="1"/>
          <p:nvPr/>
        </p:nvSpPr>
        <p:spPr>
          <a:xfrm>
            <a:off x="8587829" y="1114721"/>
            <a:ext cx="116559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0063AA0C</a:t>
            </a:r>
            <a:endParaRPr lang="en-CA" sz="1600" b="1" dirty="0">
              <a:solidFill>
                <a:srgbClr val="7030A0"/>
              </a:solidFill>
            </a:endParaRPr>
          </a:p>
          <a:p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8A052C7-DFC8-F4A2-6E4B-ABB4E0BF63B8}"/>
              </a:ext>
            </a:extLst>
          </p:cNvPr>
          <p:cNvSpPr txBox="1"/>
          <p:nvPr/>
        </p:nvSpPr>
        <p:spPr>
          <a:xfrm>
            <a:off x="8587829" y="838289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0063AA10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3800A9C-212F-F216-7BF9-FAA2574C9B63}"/>
              </a:ext>
            </a:extLst>
          </p:cNvPr>
          <p:cNvSpPr txBox="1"/>
          <p:nvPr/>
        </p:nvSpPr>
        <p:spPr>
          <a:xfrm>
            <a:off x="9720290" y="173111"/>
            <a:ext cx="8893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int </a:t>
            </a:r>
            <a:r>
              <a:rPr lang="en-US" b="1" dirty="0"/>
              <a:t>c</a:t>
            </a:r>
            <a:r>
              <a:rPr lang="en-US" b="1" dirty="0">
                <a:solidFill>
                  <a:schemeClr val="tx1"/>
                </a:solidFill>
              </a:rPr>
              <a:t>[ ]</a:t>
            </a:r>
            <a:endParaRPr lang="en-CA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D7E2655-1564-C73B-9269-04AA3A7A9EF4}"/>
              </a:ext>
            </a:extLst>
          </p:cNvPr>
          <p:cNvSpPr txBox="1"/>
          <p:nvPr/>
        </p:nvSpPr>
        <p:spPr>
          <a:xfrm>
            <a:off x="8096643" y="1108064"/>
            <a:ext cx="6270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accent1"/>
                </a:solidFill>
              </a:rPr>
              <a:t>c[0]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7AC74DA-136C-1BB0-9B10-5F14E7EFE775}"/>
              </a:ext>
            </a:extLst>
          </p:cNvPr>
          <p:cNvSpPr txBox="1"/>
          <p:nvPr/>
        </p:nvSpPr>
        <p:spPr>
          <a:xfrm>
            <a:off x="8092287" y="833749"/>
            <a:ext cx="6270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accent1"/>
                </a:solidFill>
              </a:rPr>
              <a:t>c[1]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3124C88E-7481-9258-5383-0A433D9D53FF}"/>
              </a:ext>
            </a:extLst>
          </p:cNvPr>
          <p:cNvSpPr/>
          <p:nvPr/>
        </p:nvSpPr>
        <p:spPr>
          <a:xfrm>
            <a:off x="9703038" y="545000"/>
            <a:ext cx="870853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5</a:t>
            </a:r>
            <a:endParaRPr lang="en-CA" b="1" dirty="0">
              <a:solidFill>
                <a:schemeClr val="tx1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48BA9FF-6B63-49EC-6CC6-DF24A78AF732}"/>
              </a:ext>
            </a:extLst>
          </p:cNvPr>
          <p:cNvSpPr txBox="1"/>
          <p:nvPr/>
        </p:nvSpPr>
        <p:spPr>
          <a:xfrm>
            <a:off x="8593325" y="542055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0063AA14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8062B7C-190D-F1CC-5D4E-C7FEC228816A}"/>
              </a:ext>
            </a:extLst>
          </p:cNvPr>
          <p:cNvSpPr txBox="1"/>
          <p:nvPr/>
        </p:nvSpPr>
        <p:spPr>
          <a:xfrm>
            <a:off x="8097783" y="537515"/>
            <a:ext cx="6270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accent1"/>
                </a:solidFill>
              </a:rPr>
              <a:t>c[2]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161F482-3361-EFC8-D5C3-BDA229862C0A}"/>
              </a:ext>
            </a:extLst>
          </p:cNvPr>
          <p:cNvSpPr txBox="1"/>
          <p:nvPr/>
        </p:nvSpPr>
        <p:spPr>
          <a:xfrm>
            <a:off x="9257881" y="5009735"/>
            <a:ext cx="14394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b="1" dirty="0">
                <a:solidFill>
                  <a:schemeClr val="accent2">
                    <a:lumMod val="75000"/>
                  </a:schemeClr>
                </a:solidFill>
              </a:rPr>
              <a:t>0x 00631200</a:t>
            </a:r>
            <a:endParaRPr lang="en-CA" sz="2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6320886-C1A4-1340-7862-D3A279B5F442}"/>
              </a:ext>
            </a:extLst>
          </p:cNvPr>
          <p:cNvSpPr txBox="1"/>
          <p:nvPr/>
        </p:nvSpPr>
        <p:spPr>
          <a:xfrm>
            <a:off x="7603306" y="5307497"/>
            <a:ext cx="6270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accent1"/>
                </a:solidFill>
              </a:rPr>
              <a:t>pp[0]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B2E0965-334E-71FB-2B11-2CEE4FEC4399}"/>
              </a:ext>
            </a:extLst>
          </p:cNvPr>
          <p:cNvSpPr txBox="1"/>
          <p:nvPr/>
        </p:nvSpPr>
        <p:spPr>
          <a:xfrm>
            <a:off x="7598950" y="5033182"/>
            <a:ext cx="6270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accent1"/>
                </a:solidFill>
              </a:rPr>
              <a:t>pp[1]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8171E14-7943-0A60-8B08-9F4926E8474B}"/>
              </a:ext>
            </a:extLst>
          </p:cNvPr>
          <p:cNvSpPr txBox="1"/>
          <p:nvPr/>
        </p:nvSpPr>
        <p:spPr>
          <a:xfrm>
            <a:off x="7604446" y="4736948"/>
            <a:ext cx="6270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accent1"/>
                </a:solidFill>
              </a:rPr>
              <a:t>pp[2]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6021DF3-0D83-23A7-E0A3-989DD4F88DAB}"/>
              </a:ext>
            </a:extLst>
          </p:cNvPr>
          <p:cNvSpPr txBox="1"/>
          <p:nvPr/>
        </p:nvSpPr>
        <p:spPr>
          <a:xfrm>
            <a:off x="9274661" y="5291628"/>
            <a:ext cx="1378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b="1" dirty="0">
                <a:solidFill>
                  <a:schemeClr val="accent2">
                    <a:lumMod val="75000"/>
                  </a:schemeClr>
                </a:solidFill>
              </a:rPr>
              <a:t>0x 0061FF14</a:t>
            </a:r>
            <a:endParaRPr lang="en-CA" sz="2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C708D18-B176-37EB-445F-3FAB8E305BA3}"/>
              </a:ext>
            </a:extLst>
          </p:cNvPr>
          <p:cNvSpPr txBox="1"/>
          <p:nvPr/>
        </p:nvSpPr>
        <p:spPr>
          <a:xfrm>
            <a:off x="9257882" y="4713693"/>
            <a:ext cx="14394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b="1" dirty="0">
                <a:solidFill>
                  <a:schemeClr val="accent2">
                    <a:lumMod val="75000"/>
                  </a:schemeClr>
                </a:solidFill>
              </a:rPr>
              <a:t>0x 0063AA0C</a:t>
            </a:r>
            <a:endParaRPr lang="en-CA" sz="2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5" name="Arrow: Bent-Up 64">
            <a:extLst>
              <a:ext uri="{FF2B5EF4-FFF2-40B4-BE49-F238E27FC236}">
                <a16:creationId xmlns:a16="http://schemas.microsoft.com/office/drawing/2014/main" id="{267AAFAF-B955-AEB1-D9CE-6F338F2CF226}"/>
              </a:ext>
            </a:extLst>
          </p:cNvPr>
          <p:cNvSpPr/>
          <p:nvPr/>
        </p:nvSpPr>
        <p:spPr>
          <a:xfrm rot="16200000">
            <a:off x="10136075" y="4479365"/>
            <a:ext cx="1456916" cy="601350"/>
          </a:xfrm>
          <a:prstGeom prst="bentUpArrow">
            <a:avLst>
              <a:gd name="adj1" fmla="val 10092"/>
              <a:gd name="adj2" fmla="val 18292"/>
              <a:gd name="adj3" fmla="val 25000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625BB952-F26B-4790-36E0-54516FDF36BD}"/>
              </a:ext>
            </a:extLst>
          </p:cNvPr>
          <p:cNvSpPr/>
          <p:nvPr/>
        </p:nvSpPr>
        <p:spPr>
          <a:xfrm>
            <a:off x="10729289" y="5435308"/>
            <a:ext cx="435920" cy="7319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7" name="Arrow: Bent-Up 66">
            <a:extLst>
              <a:ext uri="{FF2B5EF4-FFF2-40B4-BE49-F238E27FC236}">
                <a16:creationId xmlns:a16="http://schemas.microsoft.com/office/drawing/2014/main" id="{9ADA7A85-4E3A-D9A9-66CD-35B6A0E6A822}"/>
              </a:ext>
            </a:extLst>
          </p:cNvPr>
          <p:cNvSpPr/>
          <p:nvPr/>
        </p:nvSpPr>
        <p:spPr>
          <a:xfrm rot="16200000">
            <a:off x="9813330" y="3591004"/>
            <a:ext cx="2302660" cy="805562"/>
          </a:xfrm>
          <a:prstGeom prst="bentUpArrow">
            <a:avLst>
              <a:gd name="adj1" fmla="val 7866"/>
              <a:gd name="adj2" fmla="val 12728"/>
              <a:gd name="adj3" fmla="val 25000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42DBAEEF-B685-BC80-0857-E78490B2CE91}"/>
              </a:ext>
            </a:extLst>
          </p:cNvPr>
          <p:cNvSpPr/>
          <p:nvPr/>
        </p:nvSpPr>
        <p:spPr>
          <a:xfrm>
            <a:off x="10757126" y="5145116"/>
            <a:ext cx="610315" cy="6601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9" name="Arrow: Bent-Up 68">
            <a:extLst>
              <a:ext uri="{FF2B5EF4-FFF2-40B4-BE49-F238E27FC236}">
                <a16:creationId xmlns:a16="http://schemas.microsoft.com/office/drawing/2014/main" id="{9B40686C-F4EF-39F2-D5DC-1BA4DBF9BED0}"/>
              </a:ext>
            </a:extLst>
          </p:cNvPr>
          <p:cNvSpPr/>
          <p:nvPr/>
        </p:nvSpPr>
        <p:spPr>
          <a:xfrm rot="16200000">
            <a:off x="9206515" y="2518041"/>
            <a:ext cx="3696621" cy="972862"/>
          </a:xfrm>
          <a:prstGeom prst="bentUpArrow">
            <a:avLst>
              <a:gd name="adj1" fmla="val 6406"/>
              <a:gd name="adj2" fmla="val 11381"/>
              <a:gd name="adj3" fmla="val 21314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A8F863CD-52BB-1979-8201-595B4E13EC60}"/>
              </a:ext>
            </a:extLst>
          </p:cNvPr>
          <p:cNvSpPr/>
          <p:nvPr/>
        </p:nvSpPr>
        <p:spPr>
          <a:xfrm>
            <a:off x="10747511" y="4852783"/>
            <a:ext cx="793747" cy="7301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D7A2E954-6B0C-8950-FD34-42D1379EA485}"/>
              </a:ext>
            </a:extLst>
          </p:cNvPr>
          <p:cNvSpPr/>
          <p:nvPr/>
        </p:nvSpPr>
        <p:spPr>
          <a:xfrm>
            <a:off x="5636949" y="3226679"/>
            <a:ext cx="1861482" cy="404238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L9Ex1-Jagged.c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6831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7" y="585288"/>
            <a:ext cx="903748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Array of Strings (String Array)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10317539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Following the same logic, we can build an array of strings (array of array of characters)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We will use the simplified memory notation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rgbClr val="FF0000"/>
                </a:solidFill>
              </a:rPr>
              <a:t>[Question] </a:t>
            </a:r>
            <a:r>
              <a:rPr lang="en-CA" dirty="0"/>
              <a:t>What if we want to exchange two strings in the array?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12</a:t>
            </a:fld>
            <a:endParaRPr lang="en-CA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9F091AB-C814-D9EF-5683-A38E8B92FDD3}"/>
              </a:ext>
            </a:extLst>
          </p:cNvPr>
          <p:cNvSpPr/>
          <p:nvPr/>
        </p:nvSpPr>
        <p:spPr>
          <a:xfrm flipH="1">
            <a:off x="1651968" y="3235249"/>
            <a:ext cx="1413286" cy="349840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tx1"/>
                </a:solidFill>
              </a:rPr>
              <a:t>strArray</a:t>
            </a:r>
            <a:r>
              <a:rPr lang="en-US" b="1" dirty="0">
                <a:solidFill>
                  <a:schemeClr val="tx1"/>
                </a:solidFill>
              </a:rPr>
              <a:t>[0]</a:t>
            </a:r>
            <a:endParaRPr lang="en-CA" b="1" dirty="0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BF7B920-AFC5-11A9-D948-79D9D5A6E8E8}"/>
              </a:ext>
            </a:extLst>
          </p:cNvPr>
          <p:cNvSpPr/>
          <p:nvPr/>
        </p:nvSpPr>
        <p:spPr>
          <a:xfrm flipH="1">
            <a:off x="1651968" y="3589009"/>
            <a:ext cx="1413286" cy="349840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tx1"/>
                </a:solidFill>
              </a:rPr>
              <a:t>strArray</a:t>
            </a:r>
            <a:r>
              <a:rPr lang="en-US" b="1" dirty="0">
                <a:solidFill>
                  <a:schemeClr val="tx1"/>
                </a:solidFill>
              </a:rPr>
              <a:t>[1]</a:t>
            </a:r>
            <a:endParaRPr lang="en-CA" b="1" dirty="0">
              <a:solidFill>
                <a:schemeClr val="tx1"/>
              </a:solidFill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0E30DD6F-6C72-F3B3-DBC7-96C4741F2910}"/>
              </a:ext>
            </a:extLst>
          </p:cNvPr>
          <p:cNvSpPr/>
          <p:nvPr/>
        </p:nvSpPr>
        <p:spPr>
          <a:xfrm flipH="1">
            <a:off x="1651567" y="4284829"/>
            <a:ext cx="1413286" cy="349840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tx1"/>
                </a:solidFill>
              </a:rPr>
              <a:t>strArray</a:t>
            </a:r>
            <a:r>
              <a:rPr lang="en-US" b="1" dirty="0">
                <a:solidFill>
                  <a:schemeClr val="tx1"/>
                </a:solidFill>
              </a:rPr>
              <a:t>[3]</a:t>
            </a:r>
            <a:endParaRPr lang="en-CA" b="1" dirty="0">
              <a:solidFill>
                <a:schemeClr val="tx1"/>
              </a:solidFill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10182419-8AB2-78EC-0B32-0A62A6F6D9BA}"/>
              </a:ext>
            </a:extLst>
          </p:cNvPr>
          <p:cNvSpPr/>
          <p:nvPr/>
        </p:nvSpPr>
        <p:spPr>
          <a:xfrm flipH="1">
            <a:off x="1651567" y="3931633"/>
            <a:ext cx="1413286" cy="349840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tx1"/>
                </a:solidFill>
              </a:rPr>
              <a:t>strArray</a:t>
            </a:r>
            <a:r>
              <a:rPr lang="en-US" b="1" dirty="0">
                <a:solidFill>
                  <a:schemeClr val="tx1"/>
                </a:solidFill>
              </a:rPr>
              <a:t>[2]</a:t>
            </a:r>
            <a:endParaRPr lang="en-CA" b="1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265826-D391-3E44-8409-8862A3C94A32}"/>
              </a:ext>
            </a:extLst>
          </p:cNvPr>
          <p:cNvSpPr txBox="1"/>
          <p:nvPr/>
        </p:nvSpPr>
        <p:spPr>
          <a:xfrm>
            <a:off x="1716209" y="2335653"/>
            <a:ext cx="7057297" cy="338554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char*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strArray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[] = {“McMaster”, “2SH4”, “2SI3”, “1DO4”};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7F7903A-DCED-FA70-D06B-2EE749601999}"/>
              </a:ext>
            </a:extLst>
          </p:cNvPr>
          <p:cNvSpPr/>
          <p:nvPr/>
        </p:nvSpPr>
        <p:spPr>
          <a:xfrm>
            <a:off x="3863786" y="3030025"/>
            <a:ext cx="564777" cy="4027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‘M’</a:t>
            </a:r>
            <a:endParaRPr lang="en-CA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5ADCE83-A3A3-52BE-EF61-3FE16E15393A}"/>
              </a:ext>
            </a:extLst>
          </p:cNvPr>
          <p:cNvSpPr/>
          <p:nvPr/>
        </p:nvSpPr>
        <p:spPr>
          <a:xfrm>
            <a:off x="4473388" y="3032300"/>
            <a:ext cx="564777" cy="4027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‘c’</a:t>
            </a:r>
            <a:endParaRPr lang="en-CA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7546907-E4E8-1B8E-4EB2-91660631CAA9}"/>
              </a:ext>
            </a:extLst>
          </p:cNvPr>
          <p:cNvSpPr/>
          <p:nvPr/>
        </p:nvSpPr>
        <p:spPr>
          <a:xfrm>
            <a:off x="5082991" y="3030926"/>
            <a:ext cx="564777" cy="4027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‘M’</a:t>
            </a:r>
            <a:endParaRPr lang="en-CA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C328685-5070-D555-783E-B95AA8421161}"/>
              </a:ext>
            </a:extLst>
          </p:cNvPr>
          <p:cNvSpPr/>
          <p:nvPr/>
        </p:nvSpPr>
        <p:spPr>
          <a:xfrm>
            <a:off x="5692593" y="3033201"/>
            <a:ext cx="564777" cy="4027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‘a’</a:t>
            </a:r>
            <a:endParaRPr lang="en-CA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5C3289A-D788-689B-6BA4-95416C3DDE81}"/>
              </a:ext>
            </a:extLst>
          </p:cNvPr>
          <p:cNvSpPr/>
          <p:nvPr/>
        </p:nvSpPr>
        <p:spPr>
          <a:xfrm>
            <a:off x="6302197" y="3032257"/>
            <a:ext cx="564777" cy="4027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‘s’</a:t>
            </a:r>
            <a:endParaRPr lang="en-CA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C4171D1-CDB3-58EA-8639-39DE0621B136}"/>
              </a:ext>
            </a:extLst>
          </p:cNvPr>
          <p:cNvSpPr/>
          <p:nvPr/>
        </p:nvSpPr>
        <p:spPr>
          <a:xfrm>
            <a:off x="6911799" y="3034532"/>
            <a:ext cx="564777" cy="4027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‘t’</a:t>
            </a:r>
            <a:endParaRPr lang="en-CA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0A8FB17-B412-CA6D-F710-3F05009C3A73}"/>
              </a:ext>
            </a:extLst>
          </p:cNvPr>
          <p:cNvSpPr/>
          <p:nvPr/>
        </p:nvSpPr>
        <p:spPr>
          <a:xfrm>
            <a:off x="7521402" y="3033158"/>
            <a:ext cx="564777" cy="4027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‘e’</a:t>
            </a:r>
            <a:endParaRPr lang="en-CA" dirty="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1729BB1-6D2D-ECBC-C5BA-DDB9B0077192}"/>
              </a:ext>
            </a:extLst>
          </p:cNvPr>
          <p:cNvSpPr/>
          <p:nvPr/>
        </p:nvSpPr>
        <p:spPr>
          <a:xfrm>
            <a:off x="8131004" y="3035433"/>
            <a:ext cx="564777" cy="4027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‘r’</a:t>
            </a:r>
            <a:endParaRPr lang="en-CA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3F115FB-BB03-8834-3E41-4C9D47FF3B4D}"/>
              </a:ext>
            </a:extLst>
          </p:cNvPr>
          <p:cNvSpPr/>
          <p:nvPr/>
        </p:nvSpPr>
        <p:spPr>
          <a:xfrm>
            <a:off x="8740606" y="3026274"/>
            <a:ext cx="564777" cy="402726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‘\0’</a:t>
            </a:r>
            <a:endParaRPr lang="en-CA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D0E88C3F-71FE-4C84-140B-A52EEC0EFCBE}"/>
              </a:ext>
            </a:extLst>
          </p:cNvPr>
          <p:cNvSpPr/>
          <p:nvPr/>
        </p:nvSpPr>
        <p:spPr>
          <a:xfrm>
            <a:off x="3863786" y="3574386"/>
            <a:ext cx="564777" cy="4027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‘2’</a:t>
            </a:r>
            <a:endParaRPr lang="en-CA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4D38FD54-5CB6-BBCB-E073-09F3CFCEB170}"/>
              </a:ext>
            </a:extLst>
          </p:cNvPr>
          <p:cNvSpPr/>
          <p:nvPr/>
        </p:nvSpPr>
        <p:spPr>
          <a:xfrm>
            <a:off x="4473388" y="3576661"/>
            <a:ext cx="564777" cy="4027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‘S’</a:t>
            </a:r>
            <a:endParaRPr lang="en-CA" dirty="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2900FEB0-8192-0283-15E3-62BB62C32E81}"/>
              </a:ext>
            </a:extLst>
          </p:cNvPr>
          <p:cNvSpPr/>
          <p:nvPr/>
        </p:nvSpPr>
        <p:spPr>
          <a:xfrm>
            <a:off x="5082991" y="3575287"/>
            <a:ext cx="564777" cy="4027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‘H’</a:t>
            </a:r>
            <a:endParaRPr lang="en-CA" dirty="0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2BA8AA5F-0859-C375-F809-65BBA216C4A6}"/>
              </a:ext>
            </a:extLst>
          </p:cNvPr>
          <p:cNvSpPr/>
          <p:nvPr/>
        </p:nvSpPr>
        <p:spPr>
          <a:xfrm>
            <a:off x="5692593" y="3577562"/>
            <a:ext cx="564777" cy="4027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‘4’</a:t>
            </a:r>
            <a:endParaRPr lang="en-CA" dirty="0"/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3DC118FC-35E7-C5F5-C3C1-C8AAFDA7538B}"/>
              </a:ext>
            </a:extLst>
          </p:cNvPr>
          <p:cNvSpPr/>
          <p:nvPr/>
        </p:nvSpPr>
        <p:spPr>
          <a:xfrm>
            <a:off x="6302195" y="3568403"/>
            <a:ext cx="564777" cy="402726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‘\0’</a:t>
            </a:r>
            <a:endParaRPr lang="en-CA" dirty="0"/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CCC245E-AF8E-46A3-C43F-9B2FAAEA3035}"/>
              </a:ext>
            </a:extLst>
          </p:cNvPr>
          <p:cNvSpPr/>
          <p:nvPr/>
        </p:nvSpPr>
        <p:spPr>
          <a:xfrm>
            <a:off x="3863786" y="4134002"/>
            <a:ext cx="564777" cy="4027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‘2’</a:t>
            </a:r>
            <a:endParaRPr lang="en-CA" dirty="0"/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90B63703-D835-203C-6BA3-671315DB2F41}"/>
              </a:ext>
            </a:extLst>
          </p:cNvPr>
          <p:cNvSpPr/>
          <p:nvPr/>
        </p:nvSpPr>
        <p:spPr>
          <a:xfrm>
            <a:off x="4473388" y="4136277"/>
            <a:ext cx="564777" cy="4027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‘S’</a:t>
            </a:r>
            <a:endParaRPr lang="en-CA" dirty="0"/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F7AAF71F-97B0-674F-928C-C6949C3DAC36}"/>
              </a:ext>
            </a:extLst>
          </p:cNvPr>
          <p:cNvSpPr/>
          <p:nvPr/>
        </p:nvSpPr>
        <p:spPr>
          <a:xfrm>
            <a:off x="5082991" y="4134903"/>
            <a:ext cx="564777" cy="4027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‘I’</a:t>
            </a:r>
            <a:endParaRPr lang="en-CA" dirty="0"/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91BBBCB0-418F-B7A9-4777-CAA943B1F51F}"/>
              </a:ext>
            </a:extLst>
          </p:cNvPr>
          <p:cNvSpPr/>
          <p:nvPr/>
        </p:nvSpPr>
        <p:spPr>
          <a:xfrm>
            <a:off x="5692593" y="4137178"/>
            <a:ext cx="564777" cy="4027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‘3’</a:t>
            </a:r>
            <a:endParaRPr lang="en-CA" dirty="0"/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D91B66B0-E2E7-4CBF-C1B8-0AFB0AA783DE}"/>
              </a:ext>
            </a:extLst>
          </p:cNvPr>
          <p:cNvSpPr/>
          <p:nvPr/>
        </p:nvSpPr>
        <p:spPr>
          <a:xfrm>
            <a:off x="6302195" y="4128019"/>
            <a:ext cx="564777" cy="402726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‘\0’</a:t>
            </a:r>
            <a:endParaRPr lang="en-CA" dirty="0"/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86D262F1-C1E1-41AC-A854-614A16883225}"/>
              </a:ext>
            </a:extLst>
          </p:cNvPr>
          <p:cNvSpPr/>
          <p:nvPr/>
        </p:nvSpPr>
        <p:spPr>
          <a:xfrm>
            <a:off x="3863786" y="4693618"/>
            <a:ext cx="564777" cy="4027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‘1’</a:t>
            </a:r>
            <a:endParaRPr lang="en-CA" dirty="0"/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882C2E92-7D0E-6018-B0BC-E47E621C96C5}"/>
              </a:ext>
            </a:extLst>
          </p:cNvPr>
          <p:cNvSpPr/>
          <p:nvPr/>
        </p:nvSpPr>
        <p:spPr>
          <a:xfrm>
            <a:off x="4473388" y="4695893"/>
            <a:ext cx="564777" cy="4027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‘D’</a:t>
            </a:r>
            <a:endParaRPr lang="en-CA" dirty="0"/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10179804-1147-CE62-679A-03A5DDDB0A7F}"/>
              </a:ext>
            </a:extLst>
          </p:cNvPr>
          <p:cNvSpPr/>
          <p:nvPr/>
        </p:nvSpPr>
        <p:spPr>
          <a:xfrm>
            <a:off x="5082991" y="4694519"/>
            <a:ext cx="564777" cy="4027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‘O’</a:t>
            </a:r>
            <a:endParaRPr lang="en-CA" dirty="0"/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983C6B9A-06C0-E1DA-97B6-F9B3B89FA45A}"/>
              </a:ext>
            </a:extLst>
          </p:cNvPr>
          <p:cNvSpPr/>
          <p:nvPr/>
        </p:nvSpPr>
        <p:spPr>
          <a:xfrm>
            <a:off x="5692593" y="4696794"/>
            <a:ext cx="564777" cy="4027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‘4’</a:t>
            </a:r>
            <a:endParaRPr lang="en-CA" dirty="0"/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19594E63-5C8C-A46E-D640-AB0989CCC738}"/>
              </a:ext>
            </a:extLst>
          </p:cNvPr>
          <p:cNvSpPr/>
          <p:nvPr/>
        </p:nvSpPr>
        <p:spPr>
          <a:xfrm>
            <a:off x="6302195" y="4687635"/>
            <a:ext cx="564777" cy="402726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‘\0’</a:t>
            </a:r>
            <a:endParaRPr lang="en-CA" dirty="0"/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8FCA9216-78D4-0EF7-86D6-EB1E3658891C}"/>
              </a:ext>
            </a:extLst>
          </p:cNvPr>
          <p:cNvCxnSpPr>
            <a:stCxn id="5" idx="1"/>
            <a:endCxn id="16" idx="1"/>
          </p:cNvCxnSpPr>
          <p:nvPr/>
        </p:nvCxnSpPr>
        <p:spPr>
          <a:xfrm flipV="1">
            <a:off x="3065254" y="3231388"/>
            <a:ext cx="798532" cy="17878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94941101-4A81-A18F-D20A-CC3B5107B2B2}"/>
              </a:ext>
            </a:extLst>
          </p:cNvPr>
          <p:cNvCxnSpPr>
            <a:cxnSpLocks/>
            <a:stCxn id="9" idx="1"/>
            <a:endCxn id="26" idx="1"/>
          </p:cNvCxnSpPr>
          <p:nvPr/>
        </p:nvCxnSpPr>
        <p:spPr>
          <a:xfrm>
            <a:off x="3065254" y="3763929"/>
            <a:ext cx="798532" cy="1182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C3D6C04C-353D-30E9-68E9-0BC824BCDB98}"/>
              </a:ext>
            </a:extLst>
          </p:cNvPr>
          <p:cNvCxnSpPr>
            <a:cxnSpLocks/>
            <a:stCxn id="33" idx="1"/>
            <a:endCxn id="52" idx="1"/>
          </p:cNvCxnSpPr>
          <p:nvPr/>
        </p:nvCxnSpPr>
        <p:spPr>
          <a:xfrm>
            <a:off x="3064853" y="4106553"/>
            <a:ext cx="798933" cy="22881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1D710ED7-6512-C0B3-48B9-C072CC79855A}"/>
              </a:ext>
            </a:extLst>
          </p:cNvPr>
          <p:cNvCxnSpPr>
            <a:cxnSpLocks/>
            <a:stCxn id="32" idx="1"/>
            <a:endCxn id="57" idx="1"/>
          </p:cNvCxnSpPr>
          <p:nvPr/>
        </p:nvCxnSpPr>
        <p:spPr>
          <a:xfrm>
            <a:off x="3064853" y="4459749"/>
            <a:ext cx="798933" cy="43523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Speech Bubble: Rectangle 72">
            <a:extLst>
              <a:ext uri="{FF2B5EF4-FFF2-40B4-BE49-F238E27FC236}">
                <a16:creationId xmlns:a16="http://schemas.microsoft.com/office/drawing/2014/main" id="{5637D8C5-EC0B-A97D-7CD8-FF193146E46E}"/>
              </a:ext>
            </a:extLst>
          </p:cNvPr>
          <p:cNvSpPr/>
          <p:nvPr/>
        </p:nvSpPr>
        <p:spPr>
          <a:xfrm>
            <a:off x="7500217" y="3989323"/>
            <a:ext cx="2854662" cy="639603"/>
          </a:xfrm>
          <a:prstGeom prst="wedgeRectCallout">
            <a:avLst>
              <a:gd name="adj1" fmla="val -40419"/>
              <a:gd name="adj2" fmla="val -80839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Are these constant strings or </a:t>
            </a:r>
            <a:br>
              <a:rPr lang="en-US" sz="1600" b="1" dirty="0">
                <a:solidFill>
                  <a:schemeClr val="tx1"/>
                </a:solidFill>
              </a:rPr>
            </a:br>
            <a:r>
              <a:rPr lang="en-US" sz="1600" b="1" dirty="0">
                <a:solidFill>
                  <a:schemeClr val="tx1"/>
                </a:solidFill>
              </a:rPr>
              <a:t>variable strings?</a:t>
            </a:r>
            <a:endParaRPr lang="en-US" sz="1600" b="1" dirty="0">
              <a:solidFill>
                <a:schemeClr val="tx1"/>
              </a:solidFill>
              <a:latin typeface="Courier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55FD40-3C12-B946-9EAB-0B09EF86703D}"/>
              </a:ext>
            </a:extLst>
          </p:cNvPr>
          <p:cNvSpPr txBox="1"/>
          <p:nvPr/>
        </p:nvSpPr>
        <p:spPr>
          <a:xfrm>
            <a:off x="1890886" y="2888873"/>
            <a:ext cx="9957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chemeClr val="tx1"/>
                </a:solidFill>
              </a:rPr>
              <a:t>strArray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0500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32" grpId="0" animBg="1"/>
      <p:bldP spid="33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9" grpId="0" animBg="1"/>
      <p:bldP spid="31" grpId="0" animBg="1"/>
      <p:bldP spid="50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73" grpId="0" animBg="1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7" y="585288"/>
            <a:ext cx="903748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Array of Strings (String Array)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10317539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Following the same logic, we can build an array of strings (array of array of characters)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Exchange two strings – “2SH4” with “1DO4”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13</a:t>
            </a:fld>
            <a:endParaRPr lang="en-CA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9F091AB-C814-D9EF-5683-A38E8B92FDD3}"/>
              </a:ext>
            </a:extLst>
          </p:cNvPr>
          <p:cNvSpPr/>
          <p:nvPr/>
        </p:nvSpPr>
        <p:spPr>
          <a:xfrm flipH="1">
            <a:off x="1053792" y="3003692"/>
            <a:ext cx="1413286" cy="349840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tx1"/>
                </a:solidFill>
              </a:rPr>
              <a:t>strArray</a:t>
            </a:r>
            <a:r>
              <a:rPr lang="en-US" b="1" dirty="0">
                <a:solidFill>
                  <a:schemeClr val="tx1"/>
                </a:solidFill>
              </a:rPr>
              <a:t>[0]</a:t>
            </a:r>
            <a:endParaRPr lang="en-CA" b="1" dirty="0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BF7B920-AFC5-11A9-D948-79D9D5A6E8E8}"/>
              </a:ext>
            </a:extLst>
          </p:cNvPr>
          <p:cNvSpPr/>
          <p:nvPr/>
        </p:nvSpPr>
        <p:spPr>
          <a:xfrm flipH="1">
            <a:off x="1053792" y="3357452"/>
            <a:ext cx="1413286" cy="349840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tx1"/>
                </a:solidFill>
              </a:rPr>
              <a:t>strArray</a:t>
            </a:r>
            <a:r>
              <a:rPr lang="en-US" b="1" dirty="0">
                <a:solidFill>
                  <a:schemeClr val="tx1"/>
                </a:solidFill>
              </a:rPr>
              <a:t>[1]</a:t>
            </a:r>
            <a:endParaRPr lang="en-CA" b="1" dirty="0">
              <a:solidFill>
                <a:schemeClr val="tx1"/>
              </a:solidFill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0E30DD6F-6C72-F3B3-DBC7-96C4741F2910}"/>
              </a:ext>
            </a:extLst>
          </p:cNvPr>
          <p:cNvSpPr/>
          <p:nvPr/>
        </p:nvSpPr>
        <p:spPr>
          <a:xfrm flipH="1">
            <a:off x="1053391" y="4053272"/>
            <a:ext cx="1413286" cy="349840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tx1"/>
                </a:solidFill>
              </a:rPr>
              <a:t>strArray</a:t>
            </a:r>
            <a:r>
              <a:rPr lang="en-US" b="1" dirty="0">
                <a:solidFill>
                  <a:schemeClr val="tx1"/>
                </a:solidFill>
              </a:rPr>
              <a:t>[3]</a:t>
            </a:r>
            <a:endParaRPr lang="en-CA" b="1" dirty="0">
              <a:solidFill>
                <a:schemeClr val="tx1"/>
              </a:solidFill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10182419-8AB2-78EC-0B32-0A62A6F6D9BA}"/>
              </a:ext>
            </a:extLst>
          </p:cNvPr>
          <p:cNvSpPr/>
          <p:nvPr/>
        </p:nvSpPr>
        <p:spPr>
          <a:xfrm flipH="1">
            <a:off x="1053391" y="3700076"/>
            <a:ext cx="1413286" cy="349840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tx1"/>
                </a:solidFill>
              </a:rPr>
              <a:t>strArray</a:t>
            </a:r>
            <a:r>
              <a:rPr lang="en-US" b="1" dirty="0">
                <a:solidFill>
                  <a:schemeClr val="tx1"/>
                </a:solidFill>
              </a:rPr>
              <a:t>[2]</a:t>
            </a:r>
            <a:endParaRPr lang="en-CA" b="1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265826-D391-3E44-8409-8862A3C94A32}"/>
              </a:ext>
            </a:extLst>
          </p:cNvPr>
          <p:cNvSpPr txBox="1"/>
          <p:nvPr/>
        </p:nvSpPr>
        <p:spPr>
          <a:xfrm>
            <a:off x="2553007" y="2309438"/>
            <a:ext cx="7057297" cy="338554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char*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strArray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[] = {“McMaster”, “2SH4”, “2SI3”, “1DO4”};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7F7903A-DCED-FA70-D06B-2EE749601999}"/>
              </a:ext>
            </a:extLst>
          </p:cNvPr>
          <p:cNvSpPr/>
          <p:nvPr/>
        </p:nvSpPr>
        <p:spPr>
          <a:xfrm>
            <a:off x="3265610" y="2798468"/>
            <a:ext cx="564777" cy="4027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‘M’</a:t>
            </a:r>
            <a:endParaRPr lang="en-CA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5ADCE83-A3A3-52BE-EF61-3FE16E15393A}"/>
              </a:ext>
            </a:extLst>
          </p:cNvPr>
          <p:cNvSpPr/>
          <p:nvPr/>
        </p:nvSpPr>
        <p:spPr>
          <a:xfrm>
            <a:off x="3875212" y="2800743"/>
            <a:ext cx="564777" cy="4027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‘c’</a:t>
            </a:r>
            <a:endParaRPr lang="en-CA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7546907-E4E8-1B8E-4EB2-91660631CAA9}"/>
              </a:ext>
            </a:extLst>
          </p:cNvPr>
          <p:cNvSpPr/>
          <p:nvPr/>
        </p:nvSpPr>
        <p:spPr>
          <a:xfrm>
            <a:off x="4484815" y="2799369"/>
            <a:ext cx="564777" cy="4027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‘M’</a:t>
            </a:r>
            <a:endParaRPr lang="en-CA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C328685-5070-D555-783E-B95AA8421161}"/>
              </a:ext>
            </a:extLst>
          </p:cNvPr>
          <p:cNvSpPr/>
          <p:nvPr/>
        </p:nvSpPr>
        <p:spPr>
          <a:xfrm>
            <a:off x="5094417" y="2801644"/>
            <a:ext cx="564777" cy="4027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‘a’</a:t>
            </a:r>
            <a:endParaRPr lang="en-CA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5C3289A-D788-689B-6BA4-95416C3DDE81}"/>
              </a:ext>
            </a:extLst>
          </p:cNvPr>
          <p:cNvSpPr/>
          <p:nvPr/>
        </p:nvSpPr>
        <p:spPr>
          <a:xfrm>
            <a:off x="5704021" y="2800700"/>
            <a:ext cx="564777" cy="4027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‘s’</a:t>
            </a:r>
            <a:endParaRPr lang="en-CA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C4171D1-CDB3-58EA-8639-39DE0621B136}"/>
              </a:ext>
            </a:extLst>
          </p:cNvPr>
          <p:cNvSpPr/>
          <p:nvPr/>
        </p:nvSpPr>
        <p:spPr>
          <a:xfrm>
            <a:off x="6313623" y="2802975"/>
            <a:ext cx="564777" cy="4027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‘t’</a:t>
            </a:r>
            <a:endParaRPr lang="en-CA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0A8FB17-B412-CA6D-F710-3F05009C3A73}"/>
              </a:ext>
            </a:extLst>
          </p:cNvPr>
          <p:cNvSpPr/>
          <p:nvPr/>
        </p:nvSpPr>
        <p:spPr>
          <a:xfrm>
            <a:off x="6923226" y="2801601"/>
            <a:ext cx="564777" cy="4027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‘e’</a:t>
            </a:r>
            <a:endParaRPr lang="en-CA" dirty="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1729BB1-6D2D-ECBC-C5BA-DDB9B0077192}"/>
              </a:ext>
            </a:extLst>
          </p:cNvPr>
          <p:cNvSpPr/>
          <p:nvPr/>
        </p:nvSpPr>
        <p:spPr>
          <a:xfrm>
            <a:off x="7532828" y="2803876"/>
            <a:ext cx="564777" cy="4027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‘r’</a:t>
            </a:r>
            <a:endParaRPr lang="en-CA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3F115FB-BB03-8834-3E41-4C9D47FF3B4D}"/>
              </a:ext>
            </a:extLst>
          </p:cNvPr>
          <p:cNvSpPr/>
          <p:nvPr/>
        </p:nvSpPr>
        <p:spPr>
          <a:xfrm>
            <a:off x="8142430" y="2794717"/>
            <a:ext cx="564777" cy="402726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‘\0’</a:t>
            </a:r>
            <a:endParaRPr lang="en-CA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D0E88C3F-71FE-4C84-140B-A52EEC0EFCBE}"/>
              </a:ext>
            </a:extLst>
          </p:cNvPr>
          <p:cNvSpPr/>
          <p:nvPr/>
        </p:nvSpPr>
        <p:spPr>
          <a:xfrm>
            <a:off x="3265610" y="3342829"/>
            <a:ext cx="564777" cy="4027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‘2’</a:t>
            </a:r>
            <a:endParaRPr lang="en-CA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4D38FD54-5CB6-BBCB-E073-09F3CFCEB170}"/>
              </a:ext>
            </a:extLst>
          </p:cNvPr>
          <p:cNvSpPr/>
          <p:nvPr/>
        </p:nvSpPr>
        <p:spPr>
          <a:xfrm>
            <a:off x="3875212" y="3345104"/>
            <a:ext cx="564777" cy="4027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‘S’</a:t>
            </a:r>
            <a:endParaRPr lang="en-CA" dirty="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2900FEB0-8192-0283-15E3-62BB62C32E81}"/>
              </a:ext>
            </a:extLst>
          </p:cNvPr>
          <p:cNvSpPr/>
          <p:nvPr/>
        </p:nvSpPr>
        <p:spPr>
          <a:xfrm>
            <a:off x="4484815" y="3343730"/>
            <a:ext cx="564777" cy="4027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‘H’</a:t>
            </a:r>
            <a:endParaRPr lang="en-CA" dirty="0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2BA8AA5F-0859-C375-F809-65BBA216C4A6}"/>
              </a:ext>
            </a:extLst>
          </p:cNvPr>
          <p:cNvSpPr/>
          <p:nvPr/>
        </p:nvSpPr>
        <p:spPr>
          <a:xfrm>
            <a:off x="5094417" y="3346005"/>
            <a:ext cx="564777" cy="4027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‘4’</a:t>
            </a:r>
            <a:endParaRPr lang="en-CA" dirty="0"/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3DC118FC-35E7-C5F5-C3C1-C8AAFDA7538B}"/>
              </a:ext>
            </a:extLst>
          </p:cNvPr>
          <p:cNvSpPr/>
          <p:nvPr/>
        </p:nvSpPr>
        <p:spPr>
          <a:xfrm>
            <a:off x="5704019" y="3336846"/>
            <a:ext cx="564777" cy="402726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‘\0’</a:t>
            </a:r>
            <a:endParaRPr lang="en-CA" dirty="0"/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CCC245E-AF8E-46A3-C43F-9B2FAAEA3035}"/>
              </a:ext>
            </a:extLst>
          </p:cNvPr>
          <p:cNvSpPr/>
          <p:nvPr/>
        </p:nvSpPr>
        <p:spPr>
          <a:xfrm>
            <a:off x="3265610" y="3902445"/>
            <a:ext cx="564777" cy="4027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‘2’</a:t>
            </a:r>
            <a:endParaRPr lang="en-CA" dirty="0"/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90B63703-D835-203C-6BA3-671315DB2F41}"/>
              </a:ext>
            </a:extLst>
          </p:cNvPr>
          <p:cNvSpPr/>
          <p:nvPr/>
        </p:nvSpPr>
        <p:spPr>
          <a:xfrm>
            <a:off x="3875212" y="3904720"/>
            <a:ext cx="564777" cy="4027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‘S’</a:t>
            </a:r>
            <a:endParaRPr lang="en-CA" dirty="0"/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F7AAF71F-97B0-674F-928C-C6949C3DAC36}"/>
              </a:ext>
            </a:extLst>
          </p:cNvPr>
          <p:cNvSpPr/>
          <p:nvPr/>
        </p:nvSpPr>
        <p:spPr>
          <a:xfrm>
            <a:off x="4484815" y="3903346"/>
            <a:ext cx="564777" cy="4027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‘I’</a:t>
            </a:r>
            <a:endParaRPr lang="en-CA" dirty="0"/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91BBBCB0-418F-B7A9-4777-CAA943B1F51F}"/>
              </a:ext>
            </a:extLst>
          </p:cNvPr>
          <p:cNvSpPr/>
          <p:nvPr/>
        </p:nvSpPr>
        <p:spPr>
          <a:xfrm>
            <a:off x="5094417" y="3905621"/>
            <a:ext cx="564777" cy="4027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‘3’</a:t>
            </a:r>
            <a:endParaRPr lang="en-CA" dirty="0"/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D91B66B0-E2E7-4CBF-C1B8-0AFB0AA783DE}"/>
              </a:ext>
            </a:extLst>
          </p:cNvPr>
          <p:cNvSpPr/>
          <p:nvPr/>
        </p:nvSpPr>
        <p:spPr>
          <a:xfrm>
            <a:off x="5704019" y="3896462"/>
            <a:ext cx="564777" cy="402726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‘\0’</a:t>
            </a:r>
            <a:endParaRPr lang="en-CA" dirty="0"/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86D262F1-C1E1-41AC-A854-614A16883225}"/>
              </a:ext>
            </a:extLst>
          </p:cNvPr>
          <p:cNvSpPr/>
          <p:nvPr/>
        </p:nvSpPr>
        <p:spPr>
          <a:xfrm>
            <a:off x="3265610" y="4462061"/>
            <a:ext cx="564777" cy="4027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‘1’</a:t>
            </a:r>
            <a:endParaRPr lang="en-CA" dirty="0"/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882C2E92-7D0E-6018-B0BC-E47E621C96C5}"/>
              </a:ext>
            </a:extLst>
          </p:cNvPr>
          <p:cNvSpPr/>
          <p:nvPr/>
        </p:nvSpPr>
        <p:spPr>
          <a:xfrm>
            <a:off x="3875212" y="4464336"/>
            <a:ext cx="564777" cy="4027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‘D’</a:t>
            </a:r>
            <a:endParaRPr lang="en-CA" dirty="0"/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10179804-1147-CE62-679A-03A5DDDB0A7F}"/>
              </a:ext>
            </a:extLst>
          </p:cNvPr>
          <p:cNvSpPr/>
          <p:nvPr/>
        </p:nvSpPr>
        <p:spPr>
          <a:xfrm>
            <a:off x="4484815" y="4462962"/>
            <a:ext cx="564777" cy="4027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‘O’</a:t>
            </a:r>
            <a:endParaRPr lang="en-CA" dirty="0"/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983C6B9A-06C0-E1DA-97B6-F9B3B89FA45A}"/>
              </a:ext>
            </a:extLst>
          </p:cNvPr>
          <p:cNvSpPr/>
          <p:nvPr/>
        </p:nvSpPr>
        <p:spPr>
          <a:xfrm>
            <a:off x="5094417" y="4465237"/>
            <a:ext cx="564777" cy="4027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‘4’</a:t>
            </a:r>
            <a:endParaRPr lang="en-CA" dirty="0"/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19594E63-5C8C-A46E-D640-AB0989CCC738}"/>
              </a:ext>
            </a:extLst>
          </p:cNvPr>
          <p:cNvSpPr/>
          <p:nvPr/>
        </p:nvSpPr>
        <p:spPr>
          <a:xfrm>
            <a:off x="5704019" y="4456078"/>
            <a:ext cx="564777" cy="402726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‘\0’</a:t>
            </a:r>
            <a:endParaRPr lang="en-CA" dirty="0"/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8FCA9216-78D4-0EF7-86D6-EB1E3658891C}"/>
              </a:ext>
            </a:extLst>
          </p:cNvPr>
          <p:cNvCxnSpPr>
            <a:stCxn id="5" idx="1"/>
            <a:endCxn id="16" idx="1"/>
          </p:cNvCxnSpPr>
          <p:nvPr/>
        </p:nvCxnSpPr>
        <p:spPr>
          <a:xfrm flipV="1">
            <a:off x="2467078" y="2999831"/>
            <a:ext cx="798532" cy="17878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94941101-4A81-A18F-D20A-CC3B5107B2B2}"/>
              </a:ext>
            </a:extLst>
          </p:cNvPr>
          <p:cNvCxnSpPr>
            <a:cxnSpLocks/>
            <a:stCxn id="9" idx="1"/>
            <a:endCxn id="26" idx="1"/>
          </p:cNvCxnSpPr>
          <p:nvPr/>
        </p:nvCxnSpPr>
        <p:spPr>
          <a:xfrm>
            <a:off x="2467078" y="3532372"/>
            <a:ext cx="798532" cy="1182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C3D6C04C-353D-30E9-68E9-0BC824BCDB98}"/>
              </a:ext>
            </a:extLst>
          </p:cNvPr>
          <p:cNvCxnSpPr>
            <a:cxnSpLocks/>
            <a:stCxn id="33" idx="1"/>
            <a:endCxn id="52" idx="1"/>
          </p:cNvCxnSpPr>
          <p:nvPr/>
        </p:nvCxnSpPr>
        <p:spPr>
          <a:xfrm>
            <a:off x="2466677" y="3874996"/>
            <a:ext cx="798933" cy="22881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1D710ED7-6512-C0B3-48B9-C072CC79855A}"/>
              </a:ext>
            </a:extLst>
          </p:cNvPr>
          <p:cNvCxnSpPr>
            <a:cxnSpLocks/>
            <a:stCxn id="32" idx="1"/>
            <a:endCxn id="57" idx="1"/>
          </p:cNvCxnSpPr>
          <p:nvPr/>
        </p:nvCxnSpPr>
        <p:spPr>
          <a:xfrm>
            <a:off x="2466677" y="4228192"/>
            <a:ext cx="798933" cy="43523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FBFA16A4-71F9-24C7-3565-598E7EF5E099}"/>
              </a:ext>
            </a:extLst>
          </p:cNvPr>
          <p:cNvSpPr txBox="1"/>
          <p:nvPr/>
        </p:nvSpPr>
        <p:spPr>
          <a:xfrm>
            <a:off x="1288976" y="2610051"/>
            <a:ext cx="9957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chemeClr val="tx1"/>
                </a:solidFill>
              </a:rPr>
              <a:t>strArray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999604-73F5-1C03-ABD5-743F2C0FC827}"/>
              </a:ext>
            </a:extLst>
          </p:cNvPr>
          <p:cNvSpPr txBox="1"/>
          <p:nvPr/>
        </p:nvSpPr>
        <p:spPr>
          <a:xfrm>
            <a:off x="6463437" y="3976498"/>
            <a:ext cx="4686758" cy="1384995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swap(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 </a:t>
            </a:r>
            <a:r>
              <a:rPr lang="en-US" sz="1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s1,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 </a:t>
            </a:r>
            <a:r>
              <a:rPr lang="en-US" sz="1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s2)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char*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tempStr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tempStr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*s1;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*s1 = *s2;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*s2 =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tempStr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99E741F-63A6-94DD-970F-BBBC34052176}"/>
              </a:ext>
            </a:extLst>
          </p:cNvPr>
          <p:cNvCxnSpPr>
            <a:cxnSpLocks/>
            <a:stCxn id="9" idx="1"/>
            <a:endCxn id="57" idx="1"/>
          </p:cNvCxnSpPr>
          <p:nvPr/>
        </p:nvCxnSpPr>
        <p:spPr>
          <a:xfrm>
            <a:off x="2467078" y="3532372"/>
            <a:ext cx="798532" cy="1131052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87D2E8E-6BDB-7818-44D4-60A386752CE2}"/>
              </a:ext>
            </a:extLst>
          </p:cNvPr>
          <p:cNvCxnSpPr>
            <a:cxnSpLocks/>
            <a:stCxn id="32" idx="1"/>
            <a:endCxn id="26" idx="1"/>
          </p:cNvCxnSpPr>
          <p:nvPr/>
        </p:nvCxnSpPr>
        <p:spPr>
          <a:xfrm flipV="1">
            <a:off x="2466677" y="3544192"/>
            <a:ext cx="798933" cy="684000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Speech Bubble: Rectangle 29">
            <a:extLst>
              <a:ext uri="{FF2B5EF4-FFF2-40B4-BE49-F238E27FC236}">
                <a16:creationId xmlns:a16="http://schemas.microsoft.com/office/drawing/2014/main" id="{1DC21925-BCD0-4644-0CE7-E4D0B99A29D0}"/>
              </a:ext>
            </a:extLst>
          </p:cNvPr>
          <p:cNvSpPr/>
          <p:nvPr/>
        </p:nvSpPr>
        <p:spPr>
          <a:xfrm>
            <a:off x="832656" y="5026158"/>
            <a:ext cx="2571110" cy="639603"/>
          </a:xfrm>
          <a:prstGeom prst="wedgeRectCallout">
            <a:avLst>
              <a:gd name="adj1" fmla="val -30461"/>
              <a:gd name="adj2" fmla="val -140884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Swap Strings = </a:t>
            </a:r>
            <a:br>
              <a:rPr lang="en-US" sz="1600" b="1" dirty="0">
                <a:solidFill>
                  <a:schemeClr val="tx1"/>
                </a:solidFill>
              </a:rPr>
            </a:br>
            <a:r>
              <a:rPr lang="en-US" sz="1600" b="1" dirty="0">
                <a:solidFill>
                  <a:schemeClr val="tx1"/>
                </a:solidFill>
              </a:rPr>
              <a:t>Swap the Pointers to Strings</a:t>
            </a:r>
            <a:endParaRPr lang="en-US" sz="1600" b="1" dirty="0">
              <a:solidFill>
                <a:schemeClr val="tx1"/>
              </a:solidFill>
              <a:latin typeface="Courier"/>
            </a:endParaRPr>
          </a:p>
        </p:txBody>
      </p:sp>
      <p:sp>
        <p:nvSpPr>
          <p:cNvPr id="34" name="Speech Bubble: Rectangle 33">
            <a:extLst>
              <a:ext uri="{FF2B5EF4-FFF2-40B4-BE49-F238E27FC236}">
                <a16:creationId xmlns:a16="http://schemas.microsoft.com/office/drawing/2014/main" id="{051E63BF-641E-25B7-7738-095B61D083BB}"/>
              </a:ext>
            </a:extLst>
          </p:cNvPr>
          <p:cNvSpPr/>
          <p:nvPr/>
        </p:nvSpPr>
        <p:spPr>
          <a:xfrm>
            <a:off x="3640429" y="5236179"/>
            <a:ext cx="2425042" cy="639603"/>
          </a:xfrm>
          <a:prstGeom prst="wedgeRectCallout">
            <a:avLst>
              <a:gd name="adj1" fmla="val -58364"/>
              <a:gd name="adj2" fmla="val -23654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Need Pass-by-Reference</a:t>
            </a:r>
            <a:br>
              <a:rPr lang="en-US" sz="1600" b="1" dirty="0">
                <a:solidFill>
                  <a:schemeClr val="tx1"/>
                </a:solidFill>
              </a:rPr>
            </a:br>
            <a:r>
              <a:rPr lang="en-US" sz="1600" b="1" dirty="0">
                <a:solidFill>
                  <a:schemeClr val="tx1"/>
                </a:solidFill>
              </a:rPr>
              <a:t>on </a:t>
            </a:r>
            <a:r>
              <a:rPr lang="en-US" sz="1600" b="1" dirty="0" err="1">
                <a:solidFill>
                  <a:schemeClr val="tx1"/>
                </a:solidFill>
              </a:rPr>
              <a:t>strArray</a:t>
            </a:r>
            <a:r>
              <a:rPr lang="en-US" sz="1600" b="1" dirty="0">
                <a:solidFill>
                  <a:schemeClr val="tx1"/>
                </a:solidFill>
              </a:rPr>
              <a:t>!</a:t>
            </a:r>
            <a:endParaRPr lang="en-US" sz="1600" b="1" dirty="0">
              <a:solidFill>
                <a:schemeClr val="tx1"/>
              </a:solidFill>
              <a:latin typeface="Courier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FFE2CB2-D8FF-EBB0-0BB5-59F20943467A}"/>
              </a:ext>
            </a:extLst>
          </p:cNvPr>
          <p:cNvSpPr txBox="1"/>
          <p:nvPr/>
        </p:nvSpPr>
        <p:spPr>
          <a:xfrm>
            <a:off x="6459449" y="5490843"/>
            <a:ext cx="4232463" cy="338554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swap(&amp;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strArray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[1], &amp;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strArray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[3]);</a:t>
            </a:r>
          </a:p>
        </p:txBody>
      </p:sp>
      <p:sp>
        <p:nvSpPr>
          <p:cNvPr id="37" name="Speech Bubble: Rectangle 36">
            <a:extLst>
              <a:ext uri="{FF2B5EF4-FFF2-40B4-BE49-F238E27FC236}">
                <a16:creationId xmlns:a16="http://schemas.microsoft.com/office/drawing/2014/main" id="{7DC9A2AC-2AAC-BE67-DF9C-311DC58354EA}"/>
              </a:ext>
            </a:extLst>
          </p:cNvPr>
          <p:cNvSpPr/>
          <p:nvPr/>
        </p:nvSpPr>
        <p:spPr>
          <a:xfrm>
            <a:off x="8512734" y="4509095"/>
            <a:ext cx="2846609" cy="338554"/>
          </a:xfrm>
          <a:prstGeom prst="wedgeRectCallout">
            <a:avLst>
              <a:gd name="adj1" fmla="val -66026"/>
              <a:gd name="adj2" fmla="val -140884"/>
            </a:avLst>
          </a:prstGeom>
          <a:solidFill>
            <a:srgbClr val="FFDDDD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First *: incoming a char pointer</a:t>
            </a:r>
            <a:endParaRPr lang="en-US" sz="1600" b="1" dirty="0">
              <a:solidFill>
                <a:schemeClr val="tx1"/>
              </a:solidFill>
              <a:latin typeface="Courier"/>
            </a:endParaRPr>
          </a:p>
        </p:txBody>
      </p:sp>
      <p:sp>
        <p:nvSpPr>
          <p:cNvPr id="38" name="Speech Bubble: Rectangle 37">
            <a:extLst>
              <a:ext uri="{FF2B5EF4-FFF2-40B4-BE49-F238E27FC236}">
                <a16:creationId xmlns:a16="http://schemas.microsoft.com/office/drawing/2014/main" id="{4A079B8A-3B0D-400A-0EAE-FB58FD59BC6C}"/>
              </a:ext>
            </a:extLst>
          </p:cNvPr>
          <p:cNvSpPr/>
          <p:nvPr/>
        </p:nvSpPr>
        <p:spPr>
          <a:xfrm>
            <a:off x="6479706" y="3452508"/>
            <a:ext cx="4658502" cy="338554"/>
          </a:xfrm>
          <a:prstGeom prst="wedgeRectCallout">
            <a:avLst>
              <a:gd name="adj1" fmla="val -17750"/>
              <a:gd name="adj2" fmla="val 118145"/>
            </a:avLst>
          </a:prstGeom>
          <a:solidFill>
            <a:srgbClr val="FFDDDD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Second *: We need the address of this char pointer</a:t>
            </a:r>
            <a:endParaRPr lang="en-US" sz="1600" b="1" dirty="0">
              <a:solidFill>
                <a:schemeClr val="tx1"/>
              </a:solidFill>
              <a:latin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1192202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4" grpId="0" animBg="1"/>
      <p:bldP spid="36" grpId="0" animBg="1"/>
      <p:bldP spid="37" grpId="0" animBg="1"/>
      <p:bldP spid="3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68BBCBA1-6A5A-BE82-9584-653AB9A65F26}"/>
              </a:ext>
            </a:extLst>
          </p:cNvPr>
          <p:cNvSpPr txBox="1"/>
          <p:nvPr/>
        </p:nvSpPr>
        <p:spPr>
          <a:xfrm>
            <a:off x="832656" y="1563637"/>
            <a:ext cx="10317539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Following the same logic, we can build an array of strings (array of array of characters)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Exchange two strings – “2SH4” with “1DO4” – A Closer Look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7" y="585288"/>
            <a:ext cx="903748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Array of Strings (String Array)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14</a:t>
            </a:fld>
            <a:endParaRPr lang="en-CA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9F091AB-C814-D9EF-5683-A38E8B92FDD3}"/>
              </a:ext>
            </a:extLst>
          </p:cNvPr>
          <p:cNvSpPr/>
          <p:nvPr/>
        </p:nvSpPr>
        <p:spPr>
          <a:xfrm flipH="1">
            <a:off x="2790302" y="3432861"/>
            <a:ext cx="1413286" cy="349840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b="1" dirty="0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BF7B920-AFC5-11A9-D948-79D9D5A6E8E8}"/>
              </a:ext>
            </a:extLst>
          </p:cNvPr>
          <p:cNvSpPr/>
          <p:nvPr/>
        </p:nvSpPr>
        <p:spPr>
          <a:xfrm flipH="1">
            <a:off x="2790302" y="3786621"/>
            <a:ext cx="1413286" cy="349840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b="1" dirty="0">
              <a:solidFill>
                <a:schemeClr val="tx1"/>
              </a:solidFill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0E30DD6F-6C72-F3B3-DBC7-96C4741F2910}"/>
              </a:ext>
            </a:extLst>
          </p:cNvPr>
          <p:cNvSpPr/>
          <p:nvPr/>
        </p:nvSpPr>
        <p:spPr>
          <a:xfrm flipH="1">
            <a:off x="2789901" y="4482441"/>
            <a:ext cx="1413286" cy="349840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b="1" dirty="0">
              <a:solidFill>
                <a:schemeClr val="tx1"/>
              </a:solidFill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10182419-8AB2-78EC-0B32-0A62A6F6D9BA}"/>
              </a:ext>
            </a:extLst>
          </p:cNvPr>
          <p:cNvSpPr/>
          <p:nvPr/>
        </p:nvSpPr>
        <p:spPr>
          <a:xfrm flipH="1">
            <a:off x="2789901" y="4129245"/>
            <a:ext cx="1413286" cy="349840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b="1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265826-D391-3E44-8409-8862A3C94A32}"/>
              </a:ext>
            </a:extLst>
          </p:cNvPr>
          <p:cNvSpPr txBox="1"/>
          <p:nvPr/>
        </p:nvSpPr>
        <p:spPr>
          <a:xfrm>
            <a:off x="2553007" y="2309438"/>
            <a:ext cx="7057297" cy="338554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char*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strArray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[] = {“McMaster”, “2SH4”, “2SI3”, “1DO4”};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7F7903A-DCED-FA70-D06B-2EE749601999}"/>
              </a:ext>
            </a:extLst>
          </p:cNvPr>
          <p:cNvSpPr/>
          <p:nvPr/>
        </p:nvSpPr>
        <p:spPr>
          <a:xfrm>
            <a:off x="5002120" y="3227637"/>
            <a:ext cx="564777" cy="4027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‘M’</a:t>
            </a:r>
            <a:endParaRPr lang="en-CA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D0E88C3F-71FE-4C84-140B-A52EEC0EFCBE}"/>
              </a:ext>
            </a:extLst>
          </p:cNvPr>
          <p:cNvSpPr/>
          <p:nvPr/>
        </p:nvSpPr>
        <p:spPr>
          <a:xfrm>
            <a:off x="5002120" y="3771998"/>
            <a:ext cx="564777" cy="4027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‘2’</a:t>
            </a:r>
            <a:endParaRPr lang="en-CA" dirty="0"/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CCC245E-AF8E-46A3-C43F-9B2FAAEA3035}"/>
              </a:ext>
            </a:extLst>
          </p:cNvPr>
          <p:cNvSpPr/>
          <p:nvPr/>
        </p:nvSpPr>
        <p:spPr>
          <a:xfrm>
            <a:off x="5002120" y="4331614"/>
            <a:ext cx="564777" cy="4027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‘2’</a:t>
            </a:r>
            <a:endParaRPr lang="en-CA" dirty="0"/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86D262F1-C1E1-41AC-A854-614A16883225}"/>
              </a:ext>
            </a:extLst>
          </p:cNvPr>
          <p:cNvSpPr/>
          <p:nvPr/>
        </p:nvSpPr>
        <p:spPr>
          <a:xfrm>
            <a:off x="5002120" y="4891230"/>
            <a:ext cx="564777" cy="4027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‘1’</a:t>
            </a:r>
            <a:endParaRPr lang="en-CA" dirty="0"/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8FCA9216-78D4-0EF7-86D6-EB1E3658891C}"/>
              </a:ext>
            </a:extLst>
          </p:cNvPr>
          <p:cNvCxnSpPr>
            <a:stCxn id="5" idx="1"/>
            <a:endCxn id="16" idx="1"/>
          </p:cNvCxnSpPr>
          <p:nvPr/>
        </p:nvCxnSpPr>
        <p:spPr>
          <a:xfrm flipV="1">
            <a:off x="4203588" y="3429000"/>
            <a:ext cx="798532" cy="17878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94941101-4A81-A18F-D20A-CC3B5107B2B2}"/>
              </a:ext>
            </a:extLst>
          </p:cNvPr>
          <p:cNvCxnSpPr>
            <a:cxnSpLocks/>
            <a:stCxn id="9" idx="1"/>
            <a:endCxn id="26" idx="1"/>
          </p:cNvCxnSpPr>
          <p:nvPr/>
        </p:nvCxnSpPr>
        <p:spPr>
          <a:xfrm>
            <a:off x="4203588" y="3961541"/>
            <a:ext cx="798532" cy="1182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C3D6C04C-353D-30E9-68E9-0BC824BCDB98}"/>
              </a:ext>
            </a:extLst>
          </p:cNvPr>
          <p:cNvCxnSpPr>
            <a:cxnSpLocks/>
            <a:stCxn id="33" idx="1"/>
            <a:endCxn id="52" idx="1"/>
          </p:cNvCxnSpPr>
          <p:nvPr/>
        </p:nvCxnSpPr>
        <p:spPr>
          <a:xfrm>
            <a:off x="4203187" y="4304165"/>
            <a:ext cx="798933" cy="22881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1D710ED7-6512-C0B3-48B9-C072CC79855A}"/>
              </a:ext>
            </a:extLst>
          </p:cNvPr>
          <p:cNvCxnSpPr>
            <a:cxnSpLocks/>
            <a:stCxn id="32" idx="1"/>
            <a:endCxn id="57" idx="1"/>
          </p:cNvCxnSpPr>
          <p:nvPr/>
        </p:nvCxnSpPr>
        <p:spPr>
          <a:xfrm>
            <a:off x="4203187" y="4657361"/>
            <a:ext cx="798933" cy="43523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FBFA16A4-71F9-24C7-3565-598E7EF5E099}"/>
              </a:ext>
            </a:extLst>
          </p:cNvPr>
          <p:cNvSpPr txBox="1"/>
          <p:nvPr/>
        </p:nvSpPr>
        <p:spPr>
          <a:xfrm>
            <a:off x="2670083" y="3016655"/>
            <a:ext cx="16894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char* </a:t>
            </a:r>
            <a:r>
              <a:rPr lang="en-US" b="1" dirty="0" err="1">
                <a:solidFill>
                  <a:schemeClr val="tx1"/>
                </a:solidFill>
              </a:rPr>
              <a:t>strArray</a:t>
            </a:r>
            <a:r>
              <a:rPr lang="en-US" b="1" dirty="0">
                <a:solidFill>
                  <a:schemeClr val="tx1"/>
                </a:solidFill>
              </a:rPr>
              <a:t>[]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999604-73F5-1C03-ABD5-743F2C0FC827}"/>
              </a:ext>
            </a:extLst>
          </p:cNvPr>
          <p:cNvSpPr txBox="1"/>
          <p:nvPr/>
        </p:nvSpPr>
        <p:spPr>
          <a:xfrm>
            <a:off x="7393600" y="3623550"/>
            <a:ext cx="3540099" cy="1384995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swap(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 </a:t>
            </a:r>
            <a:r>
              <a:rPr lang="en-US" sz="1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s1,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 </a:t>
            </a:r>
            <a:r>
              <a:rPr lang="en-US" sz="1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s2)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char*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tempStr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tempStr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*s1;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*s1 = *s2;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*s2 =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tempStr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FFE2CB2-D8FF-EBB0-0BB5-59F20943467A}"/>
              </a:ext>
            </a:extLst>
          </p:cNvPr>
          <p:cNvSpPr txBox="1"/>
          <p:nvPr/>
        </p:nvSpPr>
        <p:spPr>
          <a:xfrm>
            <a:off x="6861947" y="2898435"/>
            <a:ext cx="4232463" cy="338554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swap(&amp;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strArray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[1], &amp;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strArray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[3]);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B039918-5EB8-7E5E-3909-14D16353C8CA}"/>
              </a:ext>
            </a:extLst>
          </p:cNvPr>
          <p:cNvSpPr txBox="1"/>
          <p:nvPr/>
        </p:nvSpPr>
        <p:spPr>
          <a:xfrm>
            <a:off x="536915" y="3450403"/>
            <a:ext cx="14132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 err="1">
                <a:solidFill>
                  <a:schemeClr val="tx1"/>
                </a:solidFill>
              </a:rPr>
              <a:t>strArray</a:t>
            </a:r>
            <a:r>
              <a:rPr lang="en-US" sz="1400" b="1" dirty="0">
                <a:solidFill>
                  <a:schemeClr val="tx1"/>
                </a:solidFill>
              </a:rPr>
              <a:t>[0]</a:t>
            </a:r>
            <a:endParaRPr lang="en-CA" sz="1400" b="1" dirty="0">
              <a:solidFill>
                <a:schemeClr val="tx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B1EFECF-861F-0855-0D0F-7FF9FE1738A4}"/>
              </a:ext>
            </a:extLst>
          </p:cNvPr>
          <p:cNvSpPr txBox="1"/>
          <p:nvPr/>
        </p:nvSpPr>
        <p:spPr>
          <a:xfrm>
            <a:off x="1663144" y="4505333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0063120C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A32C973-93D8-3325-B54E-FC4C9B46F268}"/>
              </a:ext>
            </a:extLst>
          </p:cNvPr>
          <p:cNvSpPr txBox="1"/>
          <p:nvPr/>
        </p:nvSpPr>
        <p:spPr>
          <a:xfrm>
            <a:off x="1663144" y="4164893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00631208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1049FC9-9C86-6535-8404-E16ED732CADF}"/>
              </a:ext>
            </a:extLst>
          </p:cNvPr>
          <p:cNvSpPr txBox="1"/>
          <p:nvPr/>
        </p:nvSpPr>
        <p:spPr>
          <a:xfrm>
            <a:off x="1668640" y="3795507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00631204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59FA57E-F5A6-C2C9-E31D-3F0E605720A6}"/>
              </a:ext>
            </a:extLst>
          </p:cNvPr>
          <p:cNvSpPr txBox="1"/>
          <p:nvPr/>
        </p:nvSpPr>
        <p:spPr>
          <a:xfrm>
            <a:off x="1665770" y="3443952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00631200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97F95CF-EB28-ED42-638B-1C4D26BCF070}"/>
              </a:ext>
            </a:extLst>
          </p:cNvPr>
          <p:cNvSpPr txBox="1"/>
          <p:nvPr/>
        </p:nvSpPr>
        <p:spPr>
          <a:xfrm>
            <a:off x="540791" y="3795506"/>
            <a:ext cx="14132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 err="1">
                <a:solidFill>
                  <a:schemeClr val="tx1"/>
                </a:solidFill>
              </a:rPr>
              <a:t>strArray</a:t>
            </a:r>
            <a:r>
              <a:rPr lang="en-US" sz="1400" b="1" dirty="0">
                <a:solidFill>
                  <a:schemeClr val="tx1"/>
                </a:solidFill>
              </a:rPr>
              <a:t>[</a:t>
            </a:r>
            <a:r>
              <a:rPr lang="en-US" altLang="zh-CN" sz="1400" b="1" dirty="0">
                <a:solidFill>
                  <a:schemeClr val="tx1"/>
                </a:solidFill>
              </a:rPr>
              <a:t>1</a:t>
            </a:r>
            <a:r>
              <a:rPr lang="en-US" sz="1400" b="1" dirty="0">
                <a:solidFill>
                  <a:schemeClr val="tx1"/>
                </a:solidFill>
              </a:rPr>
              <a:t>]</a:t>
            </a:r>
            <a:endParaRPr lang="en-CA" sz="1400" b="1" dirty="0">
              <a:solidFill>
                <a:schemeClr val="tx1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1AC49D8-BF88-273F-A323-1C0867690F43}"/>
              </a:ext>
            </a:extLst>
          </p:cNvPr>
          <p:cNvSpPr txBox="1"/>
          <p:nvPr/>
        </p:nvSpPr>
        <p:spPr>
          <a:xfrm>
            <a:off x="545774" y="4162160"/>
            <a:ext cx="14132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 err="1">
                <a:solidFill>
                  <a:schemeClr val="tx1"/>
                </a:solidFill>
              </a:rPr>
              <a:t>strArray</a:t>
            </a:r>
            <a:r>
              <a:rPr lang="en-US" sz="1400" b="1" dirty="0">
                <a:solidFill>
                  <a:schemeClr val="tx1"/>
                </a:solidFill>
              </a:rPr>
              <a:t>[</a:t>
            </a:r>
            <a:r>
              <a:rPr lang="en-US" altLang="zh-CN" sz="1400" b="1" dirty="0">
                <a:solidFill>
                  <a:schemeClr val="tx1"/>
                </a:solidFill>
              </a:rPr>
              <a:t>2</a:t>
            </a:r>
            <a:r>
              <a:rPr lang="en-US" sz="1400" b="1" dirty="0">
                <a:solidFill>
                  <a:schemeClr val="tx1"/>
                </a:solidFill>
              </a:rPr>
              <a:t>]</a:t>
            </a:r>
            <a:endParaRPr lang="en-CA" sz="1400" b="1" dirty="0">
              <a:solidFill>
                <a:schemeClr val="tx1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52BCE5F-32C2-41AA-DA79-28F7E1FEF8AF}"/>
              </a:ext>
            </a:extLst>
          </p:cNvPr>
          <p:cNvSpPr txBox="1"/>
          <p:nvPr/>
        </p:nvSpPr>
        <p:spPr>
          <a:xfrm>
            <a:off x="540390" y="4509432"/>
            <a:ext cx="14132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 err="1">
                <a:solidFill>
                  <a:schemeClr val="tx1"/>
                </a:solidFill>
              </a:rPr>
              <a:t>strArray</a:t>
            </a:r>
            <a:r>
              <a:rPr lang="en-US" sz="1400" b="1" dirty="0">
                <a:solidFill>
                  <a:schemeClr val="tx1"/>
                </a:solidFill>
              </a:rPr>
              <a:t>[</a:t>
            </a:r>
            <a:r>
              <a:rPr lang="en-US" altLang="zh-CN" sz="1400" b="1" dirty="0">
                <a:solidFill>
                  <a:schemeClr val="tx1"/>
                </a:solidFill>
              </a:rPr>
              <a:t>3</a:t>
            </a:r>
            <a:r>
              <a:rPr lang="en-US" sz="1400" b="1" dirty="0">
                <a:solidFill>
                  <a:schemeClr val="tx1"/>
                </a:solidFill>
              </a:rPr>
              <a:t>]</a:t>
            </a:r>
            <a:endParaRPr lang="en-CA" sz="1400" b="1" dirty="0">
              <a:solidFill>
                <a:schemeClr val="tx1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A698D3A-E587-3D2C-C9CA-A3027083375B}"/>
              </a:ext>
            </a:extLst>
          </p:cNvPr>
          <p:cNvSpPr txBox="1"/>
          <p:nvPr/>
        </p:nvSpPr>
        <p:spPr>
          <a:xfrm>
            <a:off x="5534613" y="3095346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00521230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8781E56-6E63-1B84-BE35-3F80C2BB17CF}"/>
              </a:ext>
            </a:extLst>
          </p:cNvPr>
          <p:cNvSpPr txBox="1"/>
          <p:nvPr/>
        </p:nvSpPr>
        <p:spPr>
          <a:xfrm>
            <a:off x="5534613" y="3653215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007A1E22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566F61A-2C2C-0ADD-EC7C-3912F1D60180}"/>
              </a:ext>
            </a:extLst>
          </p:cNvPr>
          <p:cNvSpPr txBox="1"/>
          <p:nvPr/>
        </p:nvSpPr>
        <p:spPr>
          <a:xfrm>
            <a:off x="5528543" y="4169900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004FF3E0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0EEE89D-9A0A-6FD1-1DA4-CBE47F0E11EE}"/>
              </a:ext>
            </a:extLst>
          </p:cNvPr>
          <p:cNvSpPr txBox="1"/>
          <p:nvPr/>
        </p:nvSpPr>
        <p:spPr>
          <a:xfrm>
            <a:off x="5524208" y="4708065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0012E33E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3100816-68CD-A369-4B41-41E7C4ADC937}"/>
              </a:ext>
            </a:extLst>
          </p:cNvPr>
          <p:cNvSpPr txBox="1"/>
          <p:nvPr/>
        </p:nvSpPr>
        <p:spPr>
          <a:xfrm>
            <a:off x="5558066" y="3318516"/>
            <a:ext cx="347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CF27F41-7D78-DFA6-D3FD-DEFC4E0D4302}"/>
              </a:ext>
            </a:extLst>
          </p:cNvPr>
          <p:cNvSpPr txBox="1"/>
          <p:nvPr/>
        </p:nvSpPr>
        <p:spPr>
          <a:xfrm>
            <a:off x="5534212" y="3891520"/>
            <a:ext cx="347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F4BB01E-F3CD-9B4F-AED9-2FE59A3573EA}"/>
              </a:ext>
            </a:extLst>
          </p:cNvPr>
          <p:cNvSpPr txBox="1"/>
          <p:nvPr/>
        </p:nvSpPr>
        <p:spPr>
          <a:xfrm>
            <a:off x="5536304" y="4462949"/>
            <a:ext cx="347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16D0F27-5D15-7E63-197B-3D654DED2ADF}"/>
              </a:ext>
            </a:extLst>
          </p:cNvPr>
          <p:cNvSpPr txBox="1"/>
          <p:nvPr/>
        </p:nvSpPr>
        <p:spPr>
          <a:xfrm>
            <a:off x="5534212" y="5007719"/>
            <a:ext cx="347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8196C23-DA4E-4513-270C-1FA9BB690362}"/>
              </a:ext>
            </a:extLst>
          </p:cNvPr>
          <p:cNvSpPr txBox="1"/>
          <p:nvPr/>
        </p:nvSpPr>
        <p:spPr>
          <a:xfrm>
            <a:off x="2859130" y="3436681"/>
            <a:ext cx="12821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>
                <a:solidFill>
                  <a:schemeClr val="accent2"/>
                </a:solidFill>
              </a:rPr>
              <a:t>0x 00521230</a:t>
            </a:r>
            <a:endParaRPr lang="en-CA" b="1" dirty="0">
              <a:solidFill>
                <a:schemeClr val="accent2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4F26293-31EF-7290-8D8D-F0CE10071C87}"/>
              </a:ext>
            </a:extLst>
          </p:cNvPr>
          <p:cNvSpPr txBox="1"/>
          <p:nvPr/>
        </p:nvSpPr>
        <p:spPr>
          <a:xfrm>
            <a:off x="2856154" y="3781574"/>
            <a:ext cx="12821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>
                <a:solidFill>
                  <a:schemeClr val="accent2"/>
                </a:solidFill>
              </a:rPr>
              <a:t>0x 007A1E22</a:t>
            </a:r>
            <a:endParaRPr lang="en-CA" b="1" dirty="0">
              <a:solidFill>
                <a:schemeClr val="accent2"/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C25A0F9-9FB4-33F4-DA2D-0E954A2D6548}"/>
              </a:ext>
            </a:extLst>
          </p:cNvPr>
          <p:cNvSpPr txBox="1"/>
          <p:nvPr/>
        </p:nvSpPr>
        <p:spPr>
          <a:xfrm>
            <a:off x="2854684" y="4129352"/>
            <a:ext cx="12821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>
                <a:solidFill>
                  <a:schemeClr val="accent2"/>
                </a:solidFill>
              </a:rPr>
              <a:t>0x 00</a:t>
            </a:r>
            <a:r>
              <a:rPr lang="en-US" altLang="zh-CN" sz="1600" b="1" dirty="0">
                <a:solidFill>
                  <a:schemeClr val="accent2"/>
                </a:solidFill>
              </a:rPr>
              <a:t>4FF3E0</a:t>
            </a:r>
            <a:endParaRPr lang="en-CA" b="1" dirty="0">
              <a:solidFill>
                <a:schemeClr val="accent2"/>
              </a:solidFill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8E7A56D-62C0-540B-5B99-FF908BCA7006}"/>
              </a:ext>
            </a:extLst>
          </p:cNvPr>
          <p:cNvSpPr txBox="1"/>
          <p:nvPr/>
        </p:nvSpPr>
        <p:spPr>
          <a:xfrm>
            <a:off x="2857074" y="4474766"/>
            <a:ext cx="12821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>
                <a:solidFill>
                  <a:schemeClr val="accent2"/>
                </a:solidFill>
              </a:rPr>
              <a:t>0x 0012E33E</a:t>
            </a:r>
            <a:endParaRPr lang="en-CA" b="1" dirty="0">
              <a:solidFill>
                <a:schemeClr val="accent2"/>
              </a:solidFill>
            </a:endParaRPr>
          </a:p>
        </p:txBody>
      </p:sp>
      <p:sp>
        <p:nvSpPr>
          <p:cNvPr id="71" name="Speech Bubble: Rectangle 70">
            <a:extLst>
              <a:ext uri="{FF2B5EF4-FFF2-40B4-BE49-F238E27FC236}">
                <a16:creationId xmlns:a16="http://schemas.microsoft.com/office/drawing/2014/main" id="{1807C8E4-F62D-2AD5-26B2-A7D03E6272AE}"/>
              </a:ext>
            </a:extLst>
          </p:cNvPr>
          <p:cNvSpPr/>
          <p:nvPr/>
        </p:nvSpPr>
        <p:spPr>
          <a:xfrm>
            <a:off x="562409" y="2692700"/>
            <a:ext cx="1841428" cy="538097"/>
          </a:xfrm>
          <a:prstGeom prst="wedgeRectCallout">
            <a:avLst>
              <a:gd name="adj1" fmla="val 74456"/>
              <a:gd name="adj2" fmla="val 95828"/>
            </a:avLst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These are all values of char* type</a:t>
            </a:r>
            <a:endParaRPr lang="en-US" sz="1600" b="1" dirty="0">
              <a:solidFill>
                <a:schemeClr val="tx1"/>
              </a:solidFill>
              <a:latin typeface="Courier"/>
            </a:endParaRPr>
          </a:p>
        </p:txBody>
      </p:sp>
      <p:sp>
        <p:nvSpPr>
          <p:cNvPr id="73" name="Speech Bubble: Rectangle 72">
            <a:extLst>
              <a:ext uri="{FF2B5EF4-FFF2-40B4-BE49-F238E27FC236}">
                <a16:creationId xmlns:a16="http://schemas.microsoft.com/office/drawing/2014/main" id="{12F0F057-000C-2738-EDC0-F2E37868CCB5}"/>
              </a:ext>
            </a:extLst>
          </p:cNvPr>
          <p:cNvSpPr/>
          <p:nvPr/>
        </p:nvSpPr>
        <p:spPr>
          <a:xfrm>
            <a:off x="770354" y="5015842"/>
            <a:ext cx="2898649" cy="360634"/>
          </a:xfrm>
          <a:prstGeom prst="wedgeRectCallout">
            <a:avLst>
              <a:gd name="adj1" fmla="val -4928"/>
              <a:gd name="adj2" fmla="val -101831"/>
            </a:avLst>
          </a:prstGeom>
          <a:solidFill>
            <a:srgbClr val="FFDDDD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These are all addresses of char*</a:t>
            </a:r>
            <a:endParaRPr lang="en-US" sz="1600" b="1" dirty="0">
              <a:solidFill>
                <a:schemeClr val="tx1"/>
              </a:solidFill>
              <a:latin typeface="Courier"/>
            </a:endParaRP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C59319F8-5470-0351-8F44-9105F73DFD70}"/>
              </a:ext>
            </a:extLst>
          </p:cNvPr>
          <p:cNvCxnSpPr>
            <a:cxnSpLocks/>
          </p:cNvCxnSpPr>
          <p:nvPr/>
        </p:nvCxnSpPr>
        <p:spPr>
          <a:xfrm>
            <a:off x="4195654" y="3954210"/>
            <a:ext cx="798532" cy="1131052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83FBF199-52C6-E1DC-6866-A1A505DE0416}"/>
              </a:ext>
            </a:extLst>
          </p:cNvPr>
          <p:cNvCxnSpPr>
            <a:cxnSpLocks/>
          </p:cNvCxnSpPr>
          <p:nvPr/>
        </p:nvCxnSpPr>
        <p:spPr>
          <a:xfrm flipV="1">
            <a:off x="4195253" y="3966030"/>
            <a:ext cx="798933" cy="684000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942368A2-9559-A1C2-65E0-6CB7A41D9325}"/>
              </a:ext>
            </a:extLst>
          </p:cNvPr>
          <p:cNvSpPr txBox="1"/>
          <p:nvPr/>
        </p:nvSpPr>
        <p:spPr>
          <a:xfrm>
            <a:off x="1665370" y="3792997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00631204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9107AC8-2519-3030-A1BF-A6E54504FF8B}"/>
              </a:ext>
            </a:extLst>
          </p:cNvPr>
          <p:cNvSpPr txBox="1"/>
          <p:nvPr/>
        </p:nvSpPr>
        <p:spPr>
          <a:xfrm>
            <a:off x="1668912" y="4501420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0063120C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82" name="Speech Bubble: Rectangle 81">
            <a:extLst>
              <a:ext uri="{FF2B5EF4-FFF2-40B4-BE49-F238E27FC236}">
                <a16:creationId xmlns:a16="http://schemas.microsoft.com/office/drawing/2014/main" id="{99ACF6D4-4C16-1B91-D776-54AFEB4661A4}"/>
              </a:ext>
            </a:extLst>
          </p:cNvPr>
          <p:cNvSpPr/>
          <p:nvPr/>
        </p:nvSpPr>
        <p:spPr>
          <a:xfrm>
            <a:off x="7030254" y="5168373"/>
            <a:ext cx="3540098" cy="642159"/>
          </a:xfrm>
          <a:prstGeom prst="wedgeRectCallout">
            <a:avLst>
              <a:gd name="adj1" fmla="val 32088"/>
              <a:gd name="adj2" fmla="val -72216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s1 and s2 are therefore pointer to char*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i.e. </a:t>
            </a:r>
            <a:r>
              <a:rPr lang="en-US" sz="1600" b="1" dirty="0">
                <a:solidFill>
                  <a:schemeClr val="tx1"/>
                </a:solidFill>
              </a:rPr>
              <a:t>*(char*) =&gt; char**</a:t>
            </a:r>
          </a:p>
        </p:txBody>
      </p:sp>
    </p:spTree>
    <p:extLst>
      <p:ext uri="{BB962C8B-B14F-4D97-AF65-F5344CB8AC3E}">
        <p14:creationId xmlns:p14="http://schemas.microsoft.com/office/powerpoint/2010/main" val="1705021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9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2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9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2.96296E-6 L 0.52214 -0.07407 " pathEditMode="relative" rAng="0" ptsTypes="AA">
                                      <p:cBhvr>
                                        <p:cTn id="108" dur="2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107" y="-370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58333E-6 -3.7037E-6 L 0.63059 -0.17731 " pathEditMode="relative" rAng="0" ptsTypes="AA">
                                      <p:cBhvr>
                                        <p:cTn id="114" dur="2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523" y="-886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32" grpId="0" animBg="1"/>
      <p:bldP spid="33" grpId="0" animBg="1"/>
      <p:bldP spid="16" grpId="0" animBg="1"/>
      <p:bldP spid="26" grpId="0" animBg="1"/>
      <p:bldP spid="52" grpId="0" animBg="1"/>
      <p:bldP spid="57" grpId="0" animBg="1"/>
      <p:bldP spid="2" grpId="0"/>
      <p:bldP spid="22" grpId="0"/>
      <p:bldP spid="28" grpId="0"/>
      <p:bldP spid="35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1" grpId="0"/>
      <p:bldP spid="62" grpId="0"/>
      <p:bldP spid="65" grpId="0"/>
      <p:bldP spid="66" grpId="0"/>
      <p:bldP spid="68" grpId="0"/>
      <p:bldP spid="69" grpId="0"/>
      <p:bldP spid="71" grpId="0" animBg="1"/>
      <p:bldP spid="73" grpId="0" animBg="1"/>
      <p:bldP spid="80" grpId="0"/>
      <p:bldP spid="80" grpId="1"/>
      <p:bldP spid="81" grpId="0"/>
      <p:bldP spid="81" grpId="1"/>
      <p:bldP spid="8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68BBCBA1-6A5A-BE82-9584-653AB9A65F26}"/>
              </a:ext>
            </a:extLst>
          </p:cNvPr>
          <p:cNvSpPr txBox="1"/>
          <p:nvPr/>
        </p:nvSpPr>
        <p:spPr>
          <a:xfrm>
            <a:off x="832656" y="1563637"/>
            <a:ext cx="10317539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Following the same logic, we can build an array of strings (array of array of characters)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Exchange two strings – “2SH4” with “1DO4” – A Closer Look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7" y="585288"/>
            <a:ext cx="903748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Array of Strings (String Array)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15</a:t>
            </a:fld>
            <a:endParaRPr lang="en-CA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9F091AB-C814-D9EF-5683-A38E8B92FDD3}"/>
              </a:ext>
            </a:extLst>
          </p:cNvPr>
          <p:cNvSpPr/>
          <p:nvPr/>
        </p:nvSpPr>
        <p:spPr>
          <a:xfrm flipH="1">
            <a:off x="2790302" y="3432861"/>
            <a:ext cx="1413286" cy="349840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b="1" dirty="0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BF7B920-AFC5-11A9-D948-79D9D5A6E8E8}"/>
              </a:ext>
            </a:extLst>
          </p:cNvPr>
          <p:cNvSpPr/>
          <p:nvPr/>
        </p:nvSpPr>
        <p:spPr>
          <a:xfrm flipH="1">
            <a:off x="2790302" y="3786621"/>
            <a:ext cx="1413286" cy="349840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b="1" dirty="0">
              <a:solidFill>
                <a:schemeClr val="tx1"/>
              </a:solidFill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0E30DD6F-6C72-F3B3-DBC7-96C4741F2910}"/>
              </a:ext>
            </a:extLst>
          </p:cNvPr>
          <p:cNvSpPr/>
          <p:nvPr/>
        </p:nvSpPr>
        <p:spPr>
          <a:xfrm flipH="1">
            <a:off x="2789901" y="4482441"/>
            <a:ext cx="1413286" cy="349840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b="1" dirty="0">
              <a:solidFill>
                <a:schemeClr val="tx1"/>
              </a:solidFill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10182419-8AB2-78EC-0B32-0A62A6F6D9BA}"/>
              </a:ext>
            </a:extLst>
          </p:cNvPr>
          <p:cNvSpPr/>
          <p:nvPr/>
        </p:nvSpPr>
        <p:spPr>
          <a:xfrm flipH="1">
            <a:off x="2789901" y="4129245"/>
            <a:ext cx="1413286" cy="349840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b="1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265826-D391-3E44-8409-8862A3C94A32}"/>
              </a:ext>
            </a:extLst>
          </p:cNvPr>
          <p:cNvSpPr txBox="1"/>
          <p:nvPr/>
        </p:nvSpPr>
        <p:spPr>
          <a:xfrm>
            <a:off x="2553007" y="2309438"/>
            <a:ext cx="7057297" cy="338554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char*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strArray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[] = {“McMaster”, “2SH4”, “2SI3”, “1DO4”};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7F7903A-DCED-FA70-D06B-2EE749601999}"/>
              </a:ext>
            </a:extLst>
          </p:cNvPr>
          <p:cNvSpPr/>
          <p:nvPr/>
        </p:nvSpPr>
        <p:spPr>
          <a:xfrm>
            <a:off x="5002120" y="3227637"/>
            <a:ext cx="564777" cy="4027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‘M’</a:t>
            </a:r>
            <a:endParaRPr lang="en-CA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D0E88C3F-71FE-4C84-140B-A52EEC0EFCBE}"/>
              </a:ext>
            </a:extLst>
          </p:cNvPr>
          <p:cNvSpPr/>
          <p:nvPr/>
        </p:nvSpPr>
        <p:spPr>
          <a:xfrm>
            <a:off x="5002120" y="3771998"/>
            <a:ext cx="564777" cy="4027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‘2’</a:t>
            </a:r>
            <a:endParaRPr lang="en-CA" dirty="0"/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CCC245E-AF8E-46A3-C43F-9B2FAAEA3035}"/>
              </a:ext>
            </a:extLst>
          </p:cNvPr>
          <p:cNvSpPr/>
          <p:nvPr/>
        </p:nvSpPr>
        <p:spPr>
          <a:xfrm>
            <a:off x="5002120" y="4331614"/>
            <a:ext cx="564777" cy="4027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‘2’</a:t>
            </a:r>
            <a:endParaRPr lang="en-CA" dirty="0"/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86D262F1-C1E1-41AC-A854-614A16883225}"/>
              </a:ext>
            </a:extLst>
          </p:cNvPr>
          <p:cNvSpPr/>
          <p:nvPr/>
        </p:nvSpPr>
        <p:spPr>
          <a:xfrm>
            <a:off x="5002120" y="4891230"/>
            <a:ext cx="564777" cy="4027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‘1’</a:t>
            </a:r>
            <a:endParaRPr lang="en-CA" dirty="0"/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8FCA9216-78D4-0EF7-86D6-EB1E3658891C}"/>
              </a:ext>
            </a:extLst>
          </p:cNvPr>
          <p:cNvCxnSpPr>
            <a:stCxn id="5" idx="1"/>
            <a:endCxn id="16" idx="1"/>
          </p:cNvCxnSpPr>
          <p:nvPr/>
        </p:nvCxnSpPr>
        <p:spPr>
          <a:xfrm flipV="1">
            <a:off x="4203588" y="3429000"/>
            <a:ext cx="798532" cy="17878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C3D6C04C-353D-30E9-68E9-0BC824BCDB98}"/>
              </a:ext>
            </a:extLst>
          </p:cNvPr>
          <p:cNvCxnSpPr>
            <a:cxnSpLocks/>
            <a:stCxn id="33" idx="1"/>
            <a:endCxn id="52" idx="1"/>
          </p:cNvCxnSpPr>
          <p:nvPr/>
        </p:nvCxnSpPr>
        <p:spPr>
          <a:xfrm>
            <a:off x="4203187" y="4304165"/>
            <a:ext cx="798933" cy="22881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FBFA16A4-71F9-24C7-3565-598E7EF5E099}"/>
              </a:ext>
            </a:extLst>
          </p:cNvPr>
          <p:cNvSpPr txBox="1"/>
          <p:nvPr/>
        </p:nvSpPr>
        <p:spPr>
          <a:xfrm>
            <a:off x="2670083" y="3016655"/>
            <a:ext cx="16894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char* </a:t>
            </a:r>
            <a:r>
              <a:rPr lang="en-US" b="1" dirty="0" err="1">
                <a:solidFill>
                  <a:schemeClr val="tx1"/>
                </a:solidFill>
              </a:rPr>
              <a:t>strArray</a:t>
            </a:r>
            <a:r>
              <a:rPr lang="en-US" b="1" dirty="0">
                <a:solidFill>
                  <a:schemeClr val="tx1"/>
                </a:solidFill>
              </a:rPr>
              <a:t>[]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999604-73F5-1C03-ABD5-743F2C0FC827}"/>
              </a:ext>
            </a:extLst>
          </p:cNvPr>
          <p:cNvSpPr txBox="1"/>
          <p:nvPr/>
        </p:nvSpPr>
        <p:spPr>
          <a:xfrm>
            <a:off x="7393600" y="3623550"/>
            <a:ext cx="3540099" cy="1384995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swap(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 </a:t>
            </a:r>
            <a:r>
              <a:rPr lang="en-US" sz="1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s1,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 </a:t>
            </a:r>
            <a:r>
              <a:rPr lang="en-US" sz="1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s2)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char*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tempStr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tempStr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*s1;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*s1 = *s2;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*s2 =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tempStr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FFE2CB2-D8FF-EBB0-0BB5-59F20943467A}"/>
              </a:ext>
            </a:extLst>
          </p:cNvPr>
          <p:cNvSpPr txBox="1"/>
          <p:nvPr/>
        </p:nvSpPr>
        <p:spPr>
          <a:xfrm>
            <a:off x="6861947" y="2898435"/>
            <a:ext cx="4232463" cy="338554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swap(&amp;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strArray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[1], &amp;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strArray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[3]);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B039918-5EB8-7E5E-3909-14D16353C8CA}"/>
              </a:ext>
            </a:extLst>
          </p:cNvPr>
          <p:cNvSpPr txBox="1"/>
          <p:nvPr/>
        </p:nvSpPr>
        <p:spPr>
          <a:xfrm>
            <a:off x="536915" y="3450403"/>
            <a:ext cx="14132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 err="1">
                <a:solidFill>
                  <a:schemeClr val="tx1"/>
                </a:solidFill>
              </a:rPr>
              <a:t>strArray</a:t>
            </a:r>
            <a:r>
              <a:rPr lang="en-US" sz="1400" b="1" dirty="0">
                <a:solidFill>
                  <a:schemeClr val="tx1"/>
                </a:solidFill>
              </a:rPr>
              <a:t>[0]</a:t>
            </a:r>
            <a:endParaRPr lang="en-CA" sz="1400" b="1" dirty="0">
              <a:solidFill>
                <a:schemeClr val="tx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B1EFECF-861F-0855-0D0F-7FF9FE1738A4}"/>
              </a:ext>
            </a:extLst>
          </p:cNvPr>
          <p:cNvSpPr txBox="1"/>
          <p:nvPr/>
        </p:nvSpPr>
        <p:spPr>
          <a:xfrm>
            <a:off x="1663144" y="4505333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0063120C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A32C973-93D8-3325-B54E-FC4C9B46F268}"/>
              </a:ext>
            </a:extLst>
          </p:cNvPr>
          <p:cNvSpPr txBox="1"/>
          <p:nvPr/>
        </p:nvSpPr>
        <p:spPr>
          <a:xfrm>
            <a:off x="1663144" y="4164893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00631208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1049FC9-9C86-6535-8404-E16ED732CADF}"/>
              </a:ext>
            </a:extLst>
          </p:cNvPr>
          <p:cNvSpPr txBox="1"/>
          <p:nvPr/>
        </p:nvSpPr>
        <p:spPr>
          <a:xfrm>
            <a:off x="1668640" y="3795507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00631204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59FA57E-F5A6-C2C9-E31D-3F0E605720A6}"/>
              </a:ext>
            </a:extLst>
          </p:cNvPr>
          <p:cNvSpPr txBox="1"/>
          <p:nvPr/>
        </p:nvSpPr>
        <p:spPr>
          <a:xfrm>
            <a:off x="1665770" y="3443952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00631200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97F95CF-EB28-ED42-638B-1C4D26BCF070}"/>
              </a:ext>
            </a:extLst>
          </p:cNvPr>
          <p:cNvSpPr txBox="1"/>
          <p:nvPr/>
        </p:nvSpPr>
        <p:spPr>
          <a:xfrm>
            <a:off x="540791" y="3795506"/>
            <a:ext cx="14132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 err="1">
                <a:solidFill>
                  <a:schemeClr val="tx1"/>
                </a:solidFill>
              </a:rPr>
              <a:t>strArray</a:t>
            </a:r>
            <a:r>
              <a:rPr lang="en-US" sz="1400" b="1" dirty="0">
                <a:solidFill>
                  <a:schemeClr val="tx1"/>
                </a:solidFill>
              </a:rPr>
              <a:t>[</a:t>
            </a:r>
            <a:r>
              <a:rPr lang="en-US" altLang="zh-CN" sz="1400" b="1" dirty="0">
                <a:solidFill>
                  <a:schemeClr val="tx1"/>
                </a:solidFill>
              </a:rPr>
              <a:t>1</a:t>
            </a:r>
            <a:r>
              <a:rPr lang="en-US" sz="1400" b="1" dirty="0">
                <a:solidFill>
                  <a:schemeClr val="tx1"/>
                </a:solidFill>
              </a:rPr>
              <a:t>]</a:t>
            </a:r>
            <a:endParaRPr lang="en-CA" sz="1400" b="1" dirty="0">
              <a:solidFill>
                <a:schemeClr val="tx1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1AC49D8-BF88-273F-A323-1C0867690F43}"/>
              </a:ext>
            </a:extLst>
          </p:cNvPr>
          <p:cNvSpPr txBox="1"/>
          <p:nvPr/>
        </p:nvSpPr>
        <p:spPr>
          <a:xfrm>
            <a:off x="545774" y="4162160"/>
            <a:ext cx="14132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 err="1">
                <a:solidFill>
                  <a:schemeClr val="tx1"/>
                </a:solidFill>
              </a:rPr>
              <a:t>strArray</a:t>
            </a:r>
            <a:r>
              <a:rPr lang="en-US" sz="1400" b="1" dirty="0">
                <a:solidFill>
                  <a:schemeClr val="tx1"/>
                </a:solidFill>
              </a:rPr>
              <a:t>[</a:t>
            </a:r>
            <a:r>
              <a:rPr lang="en-US" altLang="zh-CN" sz="1400" b="1" dirty="0">
                <a:solidFill>
                  <a:schemeClr val="tx1"/>
                </a:solidFill>
              </a:rPr>
              <a:t>2</a:t>
            </a:r>
            <a:r>
              <a:rPr lang="en-US" sz="1400" b="1" dirty="0">
                <a:solidFill>
                  <a:schemeClr val="tx1"/>
                </a:solidFill>
              </a:rPr>
              <a:t>]</a:t>
            </a:r>
            <a:endParaRPr lang="en-CA" sz="1400" b="1" dirty="0">
              <a:solidFill>
                <a:schemeClr val="tx1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52BCE5F-32C2-41AA-DA79-28F7E1FEF8AF}"/>
              </a:ext>
            </a:extLst>
          </p:cNvPr>
          <p:cNvSpPr txBox="1"/>
          <p:nvPr/>
        </p:nvSpPr>
        <p:spPr>
          <a:xfrm>
            <a:off x="540390" y="4509432"/>
            <a:ext cx="14132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 err="1">
                <a:solidFill>
                  <a:schemeClr val="tx1"/>
                </a:solidFill>
              </a:rPr>
              <a:t>strArray</a:t>
            </a:r>
            <a:r>
              <a:rPr lang="en-US" sz="1400" b="1" dirty="0">
                <a:solidFill>
                  <a:schemeClr val="tx1"/>
                </a:solidFill>
              </a:rPr>
              <a:t>[</a:t>
            </a:r>
            <a:r>
              <a:rPr lang="en-US" altLang="zh-CN" sz="1400" b="1" dirty="0">
                <a:solidFill>
                  <a:schemeClr val="tx1"/>
                </a:solidFill>
              </a:rPr>
              <a:t>3</a:t>
            </a:r>
            <a:r>
              <a:rPr lang="en-US" sz="1400" b="1" dirty="0">
                <a:solidFill>
                  <a:schemeClr val="tx1"/>
                </a:solidFill>
              </a:rPr>
              <a:t>]</a:t>
            </a:r>
            <a:endParaRPr lang="en-CA" sz="1400" b="1" dirty="0">
              <a:solidFill>
                <a:schemeClr val="tx1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A698D3A-E587-3D2C-C9CA-A3027083375B}"/>
              </a:ext>
            </a:extLst>
          </p:cNvPr>
          <p:cNvSpPr txBox="1"/>
          <p:nvPr/>
        </p:nvSpPr>
        <p:spPr>
          <a:xfrm>
            <a:off x="5534613" y="3095346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00521230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8781E56-6E63-1B84-BE35-3F80C2BB17CF}"/>
              </a:ext>
            </a:extLst>
          </p:cNvPr>
          <p:cNvSpPr txBox="1"/>
          <p:nvPr/>
        </p:nvSpPr>
        <p:spPr>
          <a:xfrm>
            <a:off x="5534613" y="3653215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007A1E22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566F61A-2C2C-0ADD-EC7C-3912F1D60180}"/>
              </a:ext>
            </a:extLst>
          </p:cNvPr>
          <p:cNvSpPr txBox="1"/>
          <p:nvPr/>
        </p:nvSpPr>
        <p:spPr>
          <a:xfrm>
            <a:off x="5528543" y="4169900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004FF3E0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0EEE89D-9A0A-6FD1-1DA4-CBE47F0E11EE}"/>
              </a:ext>
            </a:extLst>
          </p:cNvPr>
          <p:cNvSpPr txBox="1"/>
          <p:nvPr/>
        </p:nvSpPr>
        <p:spPr>
          <a:xfrm>
            <a:off x="5524208" y="4708065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0012E33E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3100816-68CD-A369-4B41-41E7C4ADC937}"/>
              </a:ext>
            </a:extLst>
          </p:cNvPr>
          <p:cNvSpPr txBox="1"/>
          <p:nvPr/>
        </p:nvSpPr>
        <p:spPr>
          <a:xfrm>
            <a:off x="5558066" y="3318516"/>
            <a:ext cx="347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CF27F41-7D78-DFA6-D3FD-DEFC4E0D4302}"/>
              </a:ext>
            </a:extLst>
          </p:cNvPr>
          <p:cNvSpPr txBox="1"/>
          <p:nvPr/>
        </p:nvSpPr>
        <p:spPr>
          <a:xfrm>
            <a:off x="5534212" y="3891520"/>
            <a:ext cx="347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F4BB01E-F3CD-9B4F-AED9-2FE59A3573EA}"/>
              </a:ext>
            </a:extLst>
          </p:cNvPr>
          <p:cNvSpPr txBox="1"/>
          <p:nvPr/>
        </p:nvSpPr>
        <p:spPr>
          <a:xfrm>
            <a:off x="5536304" y="4462949"/>
            <a:ext cx="347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16D0F27-5D15-7E63-197B-3D654DED2ADF}"/>
              </a:ext>
            </a:extLst>
          </p:cNvPr>
          <p:cNvSpPr txBox="1"/>
          <p:nvPr/>
        </p:nvSpPr>
        <p:spPr>
          <a:xfrm>
            <a:off x="5534212" y="5007719"/>
            <a:ext cx="347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8196C23-DA4E-4513-270C-1FA9BB690362}"/>
              </a:ext>
            </a:extLst>
          </p:cNvPr>
          <p:cNvSpPr txBox="1"/>
          <p:nvPr/>
        </p:nvSpPr>
        <p:spPr>
          <a:xfrm>
            <a:off x="2859130" y="3436681"/>
            <a:ext cx="12821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>
                <a:solidFill>
                  <a:schemeClr val="accent2"/>
                </a:solidFill>
              </a:rPr>
              <a:t>0x 00521230</a:t>
            </a:r>
            <a:endParaRPr lang="en-CA" b="1" dirty="0">
              <a:solidFill>
                <a:schemeClr val="accent2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4F26293-31EF-7290-8D8D-F0CE10071C87}"/>
              </a:ext>
            </a:extLst>
          </p:cNvPr>
          <p:cNvSpPr txBox="1"/>
          <p:nvPr/>
        </p:nvSpPr>
        <p:spPr>
          <a:xfrm>
            <a:off x="2856154" y="3781574"/>
            <a:ext cx="12821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>
                <a:solidFill>
                  <a:schemeClr val="accent2"/>
                </a:solidFill>
              </a:rPr>
              <a:t>0x 007A1E22</a:t>
            </a:r>
            <a:endParaRPr lang="en-CA" b="1" dirty="0">
              <a:solidFill>
                <a:schemeClr val="accent2"/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C25A0F9-9FB4-33F4-DA2D-0E954A2D6548}"/>
              </a:ext>
            </a:extLst>
          </p:cNvPr>
          <p:cNvSpPr txBox="1"/>
          <p:nvPr/>
        </p:nvSpPr>
        <p:spPr>
          <a:xfrm>
            <a:off x="2854684" y="4129352"/>
            <a:ext cx="12821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>
                <a:solidFill>
                  <a:schemeClr val="accent2"/>
                </a:solidFill>
              </a:rPr>
              <a:t>0x 00</a:t>
            </a:r>
            <a:r>
              <a:rPr lang="en-US" altLang="zh-CN" sz="1600" b="1" dirty="0">
                <a:solidFill>
                  <a:schemeClr val="accent2"/>
                </a:solidFill>
              </a:rPr>
              <a:t>4FF3E0</a:t>
            </a:r>
            <a:endParaRPr lang="en-CA" b="1" dirty="0">
              <a:solidFill>
                <a:schemeClr val="accent2"/>
              </a:solidFill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8E7A56D-62C0-540B-5B99-FF908BCA7006}"/>
              </a:ext>
            </a:extLst>
          </p:cNvPr>
          <p:cNvSpPr txBox="1"/>
          <p:nvPr/>
        </p:nvSpPr>
        <p:spPr>
          <a:xfrm>
            <a:off x="2857074" y="4474766"/>
            <a:ext cx="12821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>
                <a:solidFill>
                  <a:schemeClr val="accent2"/>
                </a:solidFill>
              </a:rPr>
              <a:t>0x 0012E33E</a:t>
            </a:r>
            <a:endParaRPr lang="en-CA" b="1" dirty="0">
              <a:solidFill>
                <a:schemeClr val="accent2"/>
              </a:solidFill>
            </a:endParaRPr>
          </a:p>
        </p:txBody>
      </p:sp>
      <p:sp>
        <p:nvSpPr>
          <p:cNvPr id="71" name="Speech Bubble: Rectangle 70">
            <a:extLst>
              <a:ext uri="{FF2B5EF4-FFF2-40B4-BE49-F238E27FC236}">
                <a16:creationId xmlns:a16="http://schemas.microsoft.com/office/drawing/2014/main" id="{1807C8E4-F62D-2AD5-26B2-A7D03E6272AE}"/>
              </a:ext>
            </a:extLst>
          </p:cNvPr>
          <p:cNvSpPr/>
          <p:nvPr/>
        </p:nvSpPr>
        <p:spPr>
          <a:xfrm>
            <a:off x="562409" y="2692700"/>
            <a:ext cx="1841428" cy="538097"/>
          </a:xfrm>
          <a:prstGeom prst="wedgeRectCallout">
            <a:avLst>
              <a:gd name="adj1" fmla="val 74456"/>
              <a:gd name="adj2" fmla="val 95828"/>
            </a:avLst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These are all values of char* type</a:t>
            </a:r>
            <a:endParaRPr lang="en-US" sz="1600" b="1" dirty="0">
              <a:solidFill>
                <a:schemeClr val="tx1"/>
              </a:solidFill>
              <a:latin typeface="Courier"/>
            </a:endParaRPr>
          </a:p>
        </p:txBody>
      </p:sp>
      <p:sp>
        <p:nvSpPr>
          <p:cNvPr id="73" name="Speech Bubble: Rectangle 72">
            <a:extLst>
              <a:ext uri="{FF2B5EF4-FFF2-40B4-BE49-F238E27FC236}">
                <a16:creationId xmlns:a16="http://schemas.microsoft.com/office/drawing/2014/main" id="{12F0F057-000C-2738-EDC0-F2E37868CCB5}"/>
              </a:ext>
            </a:extLst>
          </p:cNvPr>
          <p:cNvSpPr/>
          <p:nvPr/>
        </p:nvSpPr>
        <p:spPr>
          <a:xfrm>
            <a:off x="770354" y="5015842"/>
            <a:ext cx="2898649" cy="360634"/>
          </a:xfrm>
          <a:prstGeom prst="wedgeRectCallout">
            <a:avLst>
              <a:gd name="adj1" fmla="val -4928"/>
              <a:gd name="adj2" fmla="val -101831"/>
            </a:avLst>
          </a:prstGeom>
          <a:solidFill>
            <a:srgbClr val="FFDDDD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These are all addresses of char*</a:t>
            </a:r>
            <a:endParaRPr lang="en-US" sz="1600" b="1" dirty="0">
              <a:solidFill>
                <a:schemeClr val="tx1"/>
              </a:solidFill>
              <a:latin typeface="Courier"/>
            </a:endParaRP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C59319F8-5470-0351-8F44-9105F73DFD70}"/>
              </a:ext>
            </a:extLst>
          </p:cNvPr>
          <p:cNvCxnSpPr>
            <a:cxnSpLocks/>
          </p:cNvCxnSpPr>
          <p:nvPr/>
        </p:nvCxnSpPr>
        <p:spPr>
          <a:xfrm>
            <a:off x="4195654" y="3954210"/>
            <a:ext cx="798532" cy="1131052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83FBF199-52C6-E1DC-6866-A1A505DE0416}"/>
              </a:ext>
            </a:extLst>
          </p:cNvPr>
          <p:cNvCxnSpPr>
            <a:cxnSpLocks/>
          </p:cNvCxnSpPr>
          <p:nvPr/>
        </p:nvCxnSpPr>
        <p:spPr>
          <a:xfrm flipV="1">
            <a:off x="4195253" y="3966030"/>
            <a:ext cx="798933" cy="684000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942368A2-9559-A1C2-65E0-6CB7A41D9325}"/>
              </a:ext>
            </a:extLst>
          </p:cNvPr>
          <p:cNvSpPr txBox="1"/>
          <p:nvPr/>
        </p:nvSpPr>
        <p:spPr>
          <a:xfrm>
            <a:off x="8075318" y="3337040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00631204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9107AC8-2519-3030-A1BF-A6E54504FF8B}"/>
              </a:ext>
            </a:extLst>
          </p:cNvPr>
          <p:cNvSpPr txBox="1"/>
          <p:nvPr/>
        </p:nvSpPr>
        <p:spPr>
          <a:xfrm>
            <a:off x="9314582" y="3341944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0063120C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A3A7E3-2E6C-6732-C085-D6498B4F41AE}"/>
              </a:ext>
            </a:extLst>
          </p:cNvPr>
          <p:cNvSpPr txBox="1"/>
          <p:nvPr/>
        </p:nvSpPr>
        <p:spPr>
          <a:xfrm>
            <a:off x="2855465" y="3786424"/>
            <a:ext cx="12821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>
                <a:solidFill>
                  <a:schemeClr val="accent2"/>
                </a:solidFill>
              </a:rPr>
              <a:t>0x 007A1E22</a:t>
            </a:r>
            <a:endParaRPr lang="en-CA" b="1" dirty="0">
              <a:solidFill>
                <a:schemeClr val="accent2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D1D65E-B736-21B7-FC86-297725967271}"/>
              </a:ext>
            </a:extLst>
          </p:cNvPr>
          <p:cNvSpPr txBox="1"/>
          <p:nvPr/>
        </p:nvSpPr>
        <p:spPr>
          <a:xfrm>
            <a:off x="2862448" y="4471136"/>
            <a:ext cx="12821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>
                <a:solidFill>
                  <a:schemeClr val="accent2"/>
                </a:solidFill>
              </a:rPr>
              <a:t>0x 0012E33E</a:t>
            </a:r>
            <a:endParaRPr lang="en-CA" b="1" dirty="0">
              <a:solidFill>
                <a:schemeClr val="accent2"/>
              </a:solidFill>
            </a:endParaRPr>
          </a:p>
        </p:txBody>
      </p:sp>
      <p:sp>
        <p:nvSpPr>
          <p:cNvPr id="12" name="Speech Bubble: Rectangle 11">
            <a:extLst>
              <a:ext uri="{FF2B5EF4-FFF2-40B4-BE49-F238E27FC236}">
                <a16:creationId xmlns:a16="http://schemas.microsoft.com/office/drawing/2014/main" id="{6CB56626-EAB6-E941-263C-BB61C46648CB}"/>
              </a:ext>
            </a:extLst>
          </p:cNvPr>
          <p:cNvSpPr/>
          <p:nvPr/>
        </p:nvSpPr>
        <p:spPr>
          <a:xfrm>
            <a:off x="7030254" y="5168373"/>
            <a:ext cx="3540098" cy="642159"/>
          </a:xfrm>
          <a:prstGeom prst="wedgeRectCallout">
            <a:avLst>
              <a:gd name="adj1" fmla="val 32088"/>
              <a:gd name="adj2" fmla="val -72216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s1 and s2 are therefore pointer to char*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i.e. </a:t>
            </a:r>
            <a:r>
              <a:rPr lang="en-US" sz="1600" b="1" dirty="0">
                <a:solidFill>
                  <a:schemeClr val="tx1"/>
                </a:solidFill>
              </a:rPr>
              <a:t>*(char*) =&gt; char**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CC26370-7114-93E0-368E-7FD7C6AF4E04}"/>
              </a:ext>
            </a:extLst>
          </p:cNvPr>
          <p:cNvSpPr/>
          <p:nvPr/>
        </p:nvSpPr>
        <p:spPr>
          <a:xfrm>
            <a:off x="9355864" y="579754"/>
            <a:ext cx="1861482" cy="404238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L9Ex2-StrSwap.c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0748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-3.7037E-7 L 0.51432 0.03148 " pathEditMode="relative" rAng="0" ptsTypes="AA">
                                      <p:cBhvr>
                                        <p:cTn id="13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716" y="157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 tmFilter="0, 0; .2, .5; .8, .5; 1, 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" dur="250" autoRev="1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42" presetClass="path" presetSubtype="0" accel="50000" decel="5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2.08333E-7 -3.7037E-7 L 2.08333E-7 -0.10069 " pathEditMode="relative" rAng="0" ptsTypes="AA">
                                      <p:cBhvr>
                                        <p:cTn id="27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0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 tmFilter="0, 0; .2, .5; .8, .5; 1, 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2" dur="250" autoRev="1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42" presetClass="path" presetSubtype="0" accel="50000" decel="50000" fill="hold" grpId="2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51432 0.03148 L 1.25E-6 0.10093 " pathEditMode="relative" rAng="0" ptsTypes="AA">
                                      <p:cBhvr>
                                        <p:cTn id="39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716" y="347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/>
      <p:bldP spid="69" grpId="0"/>
      <p:bldP spid="3" grpId="0"/>
      <p:bldP spid="3" grpId="1"/>
      <p:bldP spid="3" grpId="2"/>
      <p:bldP spid="10" grpId="0"/>
      <p:bldP spid="10" grpId="1"/>
      <p:bldP spid="1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68BBCBA1-6A5A-BE82-9584-653AB9A65F26}"/>
              </a:ext>
            </a:extLst>
          </p:cNvPr>
          <p:cNvSpPr txBox="1"/>
          <p:nvPr/>
        </p:nvSpPr>
        <p:spPr>
          <a:xfrm>
            <a:off x="832656" y="1563637"/>
            <a:ext cx="10379841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/>
              <a:t>“</a:t>
            </a:r>
            <a:r>
              <a:rPr lang="en-CA" sz="2000" b="1" dirty="0">
                <a:solidFill>
                  <a:srgbClr val="7030A0"/>
                </a:solidFill>
              </a:rPr>
              <a:t>An address-holding variable</a:t>
            </a:r>
            <a:r>
              <a:rPr lang="en-CA" sz="2000" dirty="0"/>
              <a:t> whose value is the address of </a:t>
            </a:r>
            <a:r>
              <a:rPr lang="en-CA" sz="2000" b="1" dirty="0">
                <a:solidFill>
                  <a:srgbClr val="7030A0"/>
                </a:solidFill>
              </a:rPr>
              <a:t>another address-holding variable</a:t>
            </a:r>
            <a:r>
              <a:rPr lang="en-CA" sz="2000" dirty="0"/>
              <a:t>”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“</a:t>
            </a:r>
            <a:r>
              <a:rPr lang="en-CA" b="1" dirty="0">
                <a:solidFill>
                  <a:srgbClr val="7030A0"/>
                </a:solidFill>
              </a:rPr>
              <a:t>A pointer</a:t>
            </a:r>
            <a:r>
              <a:rPr lang="en-CA" dirty="0"/>
              <a:t> whose value is the address of </a:t>
            </a:r>
            <a:r>
              <a:rPr lang="en-CA" b="1" dirty="0">
                <a:solidFill>
                  <a:srgbClr val="7030A0"/>
                </a:solidFill>
              </a:rPr>
              <a:t>another pointer</a:t>
            </a:r>
            <a:r>
              <a:rPr lang="en-CA" dirty="0"/>
              <a:t>”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7" y="585288"/>
            <a:ext cx="964752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Pointer to Pointer (aka. Double Pointer)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16</a:t>
            </a:fld>
            <a:endParaRPr lang="en-CA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9F091AB-C814-D9EF-5683-A38E8B92FDD3}"/>
              </a:ext>
            </a:extLst>
          </p:cNvPr>
          <p:cNvSpPr/>
          <p:nvPr/>
        </p:nvSpPr>
        <p:spPr>
          <a:xfrm flipH="1">
            <a:off x="2513884" y="3703043"/>
            <a:ext cx="1413286" cy="349840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b="1" dirty="0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BF7B920-AFC5-11A9-D948-79D9D5A6E8E8}"/>
              </a:ext>
            </a:extLst>
          </p:cNvPr>
          <p:cNvSpPr/>
          <p:nvPr/>
        </p:nvSpPr>
        <p:spPr>
          <a:xfrm flipH="1">
            <a:off x="2513884" y="4056803"/>
            <a:ext cx="1413286" cy="349840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b="1" dirty="0">
              <a:solidFill>
                <a:schemeClr val="tx1"/>
              </a:solidFill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0E30DD6F-6C72-F3B3-DBC7-96C4741F2910}"/>
              </a:ext>
            </a:extLst>
          </p:cNvPr>
          <p:cNvSpPr/>
          <p:nvPr/>
        </p:nvSpPr>
        <p:spPr>
          <a:xfrm flipH="1">
            <a:off x="2513483" y="4752623"/>
            <a:ext cx="1413286" cy="349840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b="1" dirty="0">
              <a:solidFill>
                <a:schemeClr val="tx1"/>
              </a:solidFill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10182419-8AB2-78EC-0B32-0A62A6F6D9BA}"/>
              </a:ext>
            </a:extLst>
          </p:cNvPr>
          <p:cNvSpPr/>
          <p:nvPr/>
        </p:nvSpPr>
        <p:spPr>
          <a:xfrm flipH="1">
            <a:off x="2513483" y="4399427"/>
            <a:ext cx="1413286" cy="349840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b="1" dirty="0">
              <a:solidFill>
                <a:schemeClr val="tx1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7F7903A-DCED-FA70-D06B-2EE749601999}"/>
              </a:ext>
            </a:extLst>
          </p:cNvPr>
          <p:cNvSpPr/>
          <p:nvPr/>
        </p:nvSpPr>
        <p:spPr>
          <a:xfrm>
            <a:off x="4725702" y="3497819"/>
            <a:ext cx="564777" cy="4027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‘M’</a:t>
            </a:r>
            <a:endParaRPr lang="en-CA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D0E88C3F-71FE-4C84-140B-A52EEC0EFCBE}"/>
              </a:ext>
            </a:extLst>
          </p:cNvPr>
          <p:cNvSpPr/>
          <p:nvPr/>
        </p:nvSpPr>
        <p:spPr>
          <a:xfrm>
            <a:off x="4725702" y="4042180"/>
            <a:ext cx="564777" cy="4027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‘2’</a:t>
            </a:r>
            <a:endParaRPr lang="en-CA" dirty="0"/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CCC245E-AF8E-46A3-C43F-9B2FAAEA3035}"/>
              </a:ext>
            </a:extLst>
          </p:cNvPr>
          <p:cNvSpPr/>
          <p:nvPr/>
        </p:nvSpPr>
        <p:spPr>
          <a:xfrm>
            <a:off x="4725702" y="4601796"/>
            <a:ext cx="564777" cy="4027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‘2’</a:t>
            </a:r>
            <a:endParaRPr lang="en-CA" dirty="0"/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86D262F1-C1E1-41AC-A854-614A16883225}"/>
              </a:ext>
            </a:extLst>
          </p:cNvPr>
          <p:cNvSpPr/>
          <p:nvPr/>
        </p:nvSpPr>
        <p:spPr>
          <a:xfrm>
            <a:off x="4725702" y="5161412"/>
            <a:ext cx="564777" cy="4027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‘1’</a:t>
            </a:r>
            <a:endParaRPr lang="en-CA" dirty="0"/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8FCA9216-78D4-0EF7-86D6-EB1E3658891C}"/>
              </a:ext>
            </a:extLst>
          </p:cNvPr>
          <p:cNvCxnSpPr>
            <a:stCxn id="5" idx="1"/>
            <a:endCxn id="16" idx="1"/>
          </p:cNvCxnSpPr>
          <p:nvPr/>
        </p:nvCxnSpPr>
        <p:spPr>
          <a:xfrm flipV="1">
            <a:off x="3927170" y="3699182"/>
            <a:ext cx="798532" cy="17878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C3D6C04C-353D-30E9-68E9-0BC824BCDB98}"/>
              </a:ext>
            </a:extLst>
          </p:cNvPr>
          <p:cNvCxnSpPr>
            <a:cxnSpLocks/>
            <a:stCxn id="33" idx="1"/>
            <a:endCxn id="52" idx="1"/>
          </p:cNvCxnSpPr>
          <p:nvPr/>
        </p:nvCxnSpPr>
        <p:spPr>
          <a:xfrm>
            <a:off x="3926769" y="4574347"/>
            <a:ext cx="798933" cy="22881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FBFA16A4-71F9-24C7-3565-598E7EF5E099}"/>
              </a:ext>
            </a:extLst>
          </p:cNvPr>
          <p:cNvSpPr txBox="1"/>
          <p:nvPr/>
        </p:nvSpPr>
        <p:spPr>
          <a:xfrm>
            <a:off x="2393665" y="3286837"/>
            <a:ext cx="16894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char* </a:t>
            </a:r>
            <a:r>
              <a:rPr lang="en-US" b="1" dirty="0" err="1">
                <a:solidFill>
                  <a:schemeClr val="tx1"/>
                </a:solidFill>
              </a:rPr>
              <a:t>strArray</a:t>
            </a:r>
            <a:r>
              <a:rPr lang="en-US" b="1" dirty="0">
                <a:solidFill>
                  <a:schemeClr val="tx1"/>
                </a:solidFill>
              </a:rPr>
              <a:t>[]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999604-73F5-1C03-ABD5-743F2C0FC827}"/>
              </a:ext>
            </a:extLst>
          </p:cNvPr>
          <p:cNvSpPr txBox="1"/>
          <p:nvPr/>
        </p:nvSpPr>
        <p:spPr>
          <a:xfrm>
            <a:off x="7672398" y="4435075"/>
            <a:ext cx="3540099" cy="1384995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swap(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 </a:t>
            </a:r>
            <a:r>
              <a:rPr lang="en-US" sz="1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s1,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 </a:t>
            </a:r>
            <a:r>
              <a:rPr lang="en-US" sz="1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s2)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char*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tempStr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tempStr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*s1;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*s1 = *s2;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*s2 =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tempStr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B1EFECF-861F-0855-0D0F-7FF9FE1738A4}"/>
              </a:ext>
            </a:extLst>
          </p:cNvPr>
          <p:cNvSpPr txBox="1"/>
          <p:nvPr/>
        </p:nvSpPr>
        <p:spPr>
          <a:xfrm>
            <a:off x="1386726" y="4775515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0063120C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A32C973-93D8-3325-B54E-FC4C9B46F268}"/>
              </a:ext>
            </a:extLst>
          </p:cNvPr>
          <p:cNvSpPr txBox="1"/>
          <p:nvPr/>
        </p:nvSpPr>
        <p:spPr>
          <a:xfrm>
            <a:off x="1386726" y="4435075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00631208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1049FC9-9C86-6535-8404-E16ED732CADF}"/>
              </a:ext>
            </a:extLst>
          </p:cNvPr>
          <p:cNvSpPr txBox="1"/>
          <p:nvPr/>
        </p:nvSpPr>
        <p:spPr>
          <a:xfrm>
            <a:off x="1392222" y="4065689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00631204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59FA57E-F5A6-C2C9-E31D-3F0E605720A6}"/>
              </a:ext>
            </a:extLst>
          </p:cNvPr>
          <p:cNvSpPr txBox="1"/>
          <p:nvPr/>
        </p:nvSpPr>
        <p:spPr>
          <a:xfrm>
            <a:off x="1389352" y="3714134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00631200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A698D3A-E587-3D2C-C9CA-A3027083375B}"/>
              </a:ext>
            </a:extLst>
          </p:cNvPr>
          <p:cNvSpPr txBox="1"/>
          <p:nvPr/>
        </p:nvSpPr>
        <p:spPr>
          <a:xfrm>
            <a:off x="5258195" y="3365528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00521230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8781E56-6E63-1B84-BE35-3F80C2BB17CF}"/>
              </a:ext>
            </a:extLst>
          </p:cNvPr>
          <p:cNvSpPr txBox="1"/>
          <p:nvPr/>
        </p:nvSpPr>
        <p:spPr>
          <a:xfrm>
            <a:off x="5258195" y="3923397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007A1E22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566F61A-2C2C-0ADD-EC7C-3912F1D60180}"/>
              </a:ext>
            </a:extLst>
          </p:cNvPr>
          <p:cNvSpPr txBox="1"/>
          <p:nvPr/>
        </p:nvSpPr>
        <p:spPr>
          <a:xfrm>
            <a:off x="5252125" y="4440082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004FF3E0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0EEE89D-9A0A-6FD1-1DA4-CBE47F0E11EE}"/>
              </a:ext>
            </a:extLst>
          </p:cNvPr>
          <p:cNvSpPr txBox="1"/>
          <p:nvPr/>
        </p:nvSpPr>
        <p:spPr>
          <a:xfrm>
            <a:off x="5247790" y="4978247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0012E33E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3100816-68CD-A369-4B41-41E7C4ADC937}"/>
              </a:ext>
            </a:extLst>
          </p:cNvPr>
          <p:cNvSpPr txBox="1"/>
          <p:nvPr/>
        </p:nvSpPr>
        <p:spPr>
          <a:xfrm>
            <a:off x="5281648" y="3588698"/>
            <a:ext cx="347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CF27F41-7D78-DFA6-D3FD-DEFC4E0D4302}"/>
              </a:ext>
            </a:extLst>
          </p:cNvPr>
          <p:cNvSpPr txBox="1"/>
          <p:nvPr/>
        </p:nvSpPr>
        <p:spPr>
          <a:xfrm>
            <a:off x="5257794" y="4161702"/>
            <a:ext cx="347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F4BB01E-F3CD-9B4F-AED9-2FE59A3573EA}"/>
              </a:ext>
            </a:extLst>
          </p:cNvPr>
          <p:cNvSpPr txBox="1"/>
          <p:nvPr/>
        </p:nvSpPr>
        <p:spPr>
          <a:xfrm>
            <a:off x="5259886" y="4733131"/>
            <a:ext cx="347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16D0F27-5D15-7E63-197B-3D654DED2ADF}"/>
              </a:ext>
            </a:extLst>
          </p:cNvPr>
          <p:cNvSpPr txBox="1"/>
          <p:nvPr/>
        </p:nvSpPr>
        <p:spPr>
          <a:xfrm>
            <a:off x="5257794" y="5277901"/>
            <a:ext cx="347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8196C23-DA4E-4513-270C-1FA9BB690362}"/>
              </a:ext>
            </a:extLst>
          </p:cNvPr>
          <p:cNvSpPr txBox="1"/>
          <p:nvPr/>
        </p:nvSpPr>
        <p:spPr>
          <a:xfrm>
            <a:off x="2582712" y="3706863"/>
            <a:ext cx="12821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>
                <a:solidFill>
                  <a:schemeClr val="accent2"/>
                </a:solidFill>
              </a:rPr>
              <a:t>0x 00521230</a:t>
            </a:r>
            <a:endParaRPr lang="en-CA" b="1" dirty="0">
              <a:solidFill>
                <a:schemeClr val="accent2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4F26293-31EF-7290-8D8D-F0CE10071C87}"/>
              </a:ext>
            </a:extLst>
          </p:cNvPr>
          <p:cNvSpPr txBox="1"/>
          <p:nvPr/>
        </p:nvSpPr>
        <p:spPr>
          <a:xfrm>
            <a:off x="2579736" y="4051756"/>
            <a:ext cx="12821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>
                <a:solidFill>
                  <a:schemeClr val="accent2"/>
                </a:solidFill>
              </a:rPr>
              <a:t>0x0012E33E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C25A0F9-9FB4-33F4-DA2D-0E954A2D6548}"/>
              </a:ext>
            </a:extLst>
          </p:cNvPr>
          <p:cNvSpPr txBox="1"/>
          <p:nvPr/>
        </p:nvSpPr>
        <p:spPr>
          <a:xfrm>
            <a:off x="2578266" y="4399534"/>
            <a:ext cx="12821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>
                <a:solidFill>
                  <a:schemeClr val="accent2"/>
                </a:solidFill>
              </a:rPr>
              <a:t>0x 00</a:t>
            </a:r>
            <a:r>
              <a:rPr lang="en-US" altLang="zh-CN" sz="1600" b="1" dirty="0">
                <a:solidFill>
                  <a:schemeClr val="accent2"/>
                </a:solidFill>
              </a:rPr>
              <a:t>4FF3E0</a:t>
            </a:r>
            <a:endParaRPr lang="en-CA" b="1" dirty="0">
              <a:solidFill>
                <a:schemeClr val="accent2"/>
              </a:solidFill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8E7A56D-62C0-540B-5B99-FF908BCA7006}"/>
              </a:ext>
            </a:extLst>
          </p:cNvPr>
          <p:cNvSpPr txBox="1"/>
          <p:nvPr/>
        </p:nvSpPr>
        <p:spPr>
          <a:xfrm>
            <a:off x="2580656" y="4744948"/>
            <a:ext cx="12821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>
                <a:solidFill>
                  <a:schemeClr val="accent2"/>
                </a:solidFill>
              </a:rPr>
              <a:t>0x 007A1E22</a:t>
            </a:r>
            <a:endParaRPr lang="en-CA" b="1" dirty="0">
              <a:solidFill>
                <a:schemeClr val="accent2"/>
              </a:solidFill>
            </a:endParaRP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C59319F8-5470-0351-8F44-9105F73DFD70}"/>
              </a:ext>
            </a:extLst>
          </p:cNvPr>
          <p:cNvCxnSpPr>
            <a:cxnSpLocks/>
          </p:cNvCxnSpPr>
          <p:nvPr/>
        </p:nvCxnSpPr>
        <p:spPr>
          <a:xfrm>
            <a:off x="3919236" y="4224392"/>
            <a:ext cx="798532" cy="1131052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83FBF199-52C6-E1DC-6866-A1A505DE0416}"/>
              </a:ext>
            </a:extLst>
          </p:cNvPr>
          <p:cNvCxnSpPr>
            <a:cxnSpLocks/>
          </p:cNvCxnSpPr>
          <p:nvPr/>
        </p:nvCxnSpPr>
        <p:spPr>
          <a:xfrm flipV="1">
            <a:off x="3918835" y="4236212"/>
            <a:ext cx="798933" cy="684000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2A10D94-37C9-A07E-CB2E-7DEDC9AA6C21}"/>
              </a:ext>
            </a:extLst>
          </p:cNvPr>
          <p:cNvSpPr txBox="1"/>
          <p:nvPr/>
        </p:nvSpPr>
        <p:spPr>
          <a:xfrm>
            <a:off x="8208264" y="2524766"/>
            <a:ext cx="2554224" cy="830997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a[ ] = {1, 2}; 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b[ ] = {3, 4, 5, 6}; 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c[ ] = {7, 8, 9};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int*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pp[3] = {a, b, c};</a:t>
            </a:r>
          </a:p>
        </p:txBody>
      </p:sp>
      <p:sp>
        <p:nvSpPr>
          <p:cNvPr id="17" name="Speech Bubble: Rectangle 16">
            <a:extLst>
              <a:ext uri="{FF2B5EF4-FFF2-40B4-BE49-F238E27FC236}">
                <a16:creationId xmlns:a16="http://schemas.microsoft.com/office/drawing/2014/main" id="{3A3D6B34-8E9B-6D7D-778F-196C1A8C8FFA}"/>
              </a:ext>
            </a:extLst>
          </p:cNvPr>
          <p:cNvSpPr/>
          <p:nvPr/>
        </p:nvSpPr>
        <p:spPr>
          <a:xfrm>
            <a:off x="1102997" y="2422925"/>
            <a:ext cx="2898649" cy="659471"/>
          </a:xfrm>
          <a:prstGeom prst="wedgeRectCallout">
            <a:avLst>
              <a:gd name="adj1" fmla="val 30404"/>
              <a:gd name="adj2" fmla="val 90990"/>
            </a:avLst>
          </a:prstGeom>
          <a:solidFill>
            <a:srgbClr val="FFDDDD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err="1">
                <a:solidFill>
                  <a:schemeClr val="tx1"/>
                </a:solidFill>
              </a:rPr>
              <a:t>strArray</a:t>
            </a:r>
            <a:r>
              <a:rPr lang="en-US" sz="1600" b="1" dirty="0">
                <a:solidFill>
                  <a:schemeClr val="tx1"/>
                </a:solidFill>
              </a:rPr>
              <a:t> (array name) is a </a:t>
            </a:r>
            <a:br>
              <a:rPr lang="en-US" sz="1600" b="1" dirty="0">
                <a:solidFill>
                  <a:schemeClr val="tx1"/>
                </a:solidFill>
              </a:rPr>
            </a:br>
            <a:r>
              <a:rPr lang="en-US" sz="1600" b="1" dirty="0">
                <a:solidFill>
                  <a:schemeClr val="tx1"/>
                </a:solidFill>
              </a:rPr>
              <a:t>Constant Char Double Pointer</a:t>
            </a:r>
            <a:endParaRPr lang="en-US" sz="1600" b="1" dirty="0">
              <a:solidFill>
                <a:schemeClr val="tx1"/>
              </a:solidFill>
              <a:latin typeface="Courier"/>
            </a:endParaRPr>
          </a:p>
        </p:txBody>
      </p:sp>
      <p:sp>
        <p:nvSpPr>
          <p:cNvPr id="18" name="Speech Bubble: Rectangle 17">
            <a:extLst>
              <a:ext uri="{FF2B5EF4-FFF2-40B4-BE49-F238E27FC236}">
                <a16:creationId xmlns:a16="http://schemas.microsoft.com/office/drawing/2014/main" id="{B75C247A-50E8-7DF1-A740-4223214CC278}"/>
              </a:ext>
            </a:extLst>
          </p:cNvPr>
          <p:cNvSpPr/>
          <p:nvPr/>
        </p:nvSpPr>
        <p:spPr>
          <a:xfrm>
            <a:off x="5062620" y="2390585"/>
            <a:ext cx="2898649" cy="659471"/>
          </a:xfrm>
          <a:prstGeom prst="wedgeRectCallout">
            <a:avLst>
              <a:gd name="adj1" fmla="val 60057"/>
              <a:gd name="adj2" fmla="val 67418"/>
            </a:avLst>
          </a:prstGeom>
          <a:solidFill>
            <a:srgbClr val="FFDDDD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pp (array name) is a </a:t>
            </a:r>
            <a:br>
              <a:rPr lang="en-US" sz="1600" b="1" dirty="0">
                <a:solidFill>
                  <a:schemeClr val="tx1"/>
                </a:solidFill>
              </a:rPr>
            </a:br>
            <a:r>
              <a:rPr lang="en-US" sz="1600" b="1" dirty="0">
                <a:solidFill>
                  <a:schemeClr val="tx1"/>
                </a:solidFill>
              </a:rPr>
              <a:t>Constant Int Double Pointer</a:t>
            </a:r>
            <a:endParaRPr lang="en-US" sz="1600" b="1" dirty="0">
              <a:solidFill>
                <a:schemeClr val="tx1"/>
              </a:solidFill>
              <a:latin typeface="Courier"/>
            </a:endParaRPr>
          </a:p>
        </p:txBody>
      </p:sp>
      <p:sp>
        <p:nvSpPr>
          <p:cNvPr id="19" name="Speech Bubble: Rectangle 18">
            <a:extLst>
              <a:ext uri="{FF2B5EF4-FFF2-40B4-BE49-F238E27FC236}">
                <a16:creationId xmlns:a16="http://schemas.microsoft.com/office/drawing/2014/main" id="{F80A5D1B-7B0C-7E0B-ED12-DE5160C54092}"/>
              </a:ext>
            </a:extLst>
          </p:cNvPr>
          <p:cNvSpPr/>
          <p:nvPr/>
        </p:nvSpPr>
        <p:spPr>
          <a:xfrm>
            <a:off x="7296429" y="3628294"/>
            <a:ext cx="2898649" cy="659471"/>
          </a:xfrm>
          <a:prstGeom prst="wedgeRectCallout">
            <a:avLst>
              <a:gd name="adj1" fmla="val 24726"/>
              <a:gd name="adj2" fmla="val 72964"/>
            </a:avLst>
          </a:prstGeom>
          <a:solidFill>
            <a:srgbClr val="FFDDDD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s1 and s2 are </a:t>
            </a:r>
            <a:br>
              <a:rPr lang="en-US" sz="1600" b="1" dirty="0">
                <a:solidFill>
                  <a:schemeClr val="tx1"/>
                </a:solidFill>
              </a:rPr>
            </a:br>
            <a:r>
              <a:rPr lang="en-US" sz="1600" b="1" dirty="0">
                <a:solidFill>
                  <a:schemeClr val="tx1"/>
                </a:solidFill>
              </a:rPr>
              <a:t>Variable Char Double Pointers</a:t>
            </a:r>
            <a:endParaRPr lang="en-US" sz="1600" b="1" dirty="0">
              <a:solidFill>
                <a:schemeClr val="tx1"/>
              </a:solidFill>
              <a:latin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794487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 descr="One solid circle, one ring, and one circle filled with diagonal lines">
            <a:extLst>
              <a:ext uri="{FF2B5EF4-FFF2-40B4-BE49-F238E27FC236}">
                <a16:creationId xmlns:a16="http://schemas.microsoft.com/office/drawing/2014/main" id="{117B1E9F-05A5-4510-8587-80B34F83DB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68254" y="747419"/>
            <a:ext cx="5363162" cy="536316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14B5F53-76BB-4185-819B-0CE94A358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DMA for Multidimensional Arrays</a:t>
            </a:r>
            <a:endParaRPr lang="en-US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699E1B-6ADB-4F72-95A0-4AA7EB020B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1EE999-66AE-40DE-9FC3-57D08FF72800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1EEE44-5A53-4177-97CB-790B8F12F8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B39AFDC-AC72-793A-C43B-890F2BA1388F}"/>
              </a:ext>
            </a:extLst>
          </p:cNvPr>
          <p:cNvSpPr txBox="1"/>
          <p:nvPr/>
        </p:nvSpPr>
        <p:spPr>
          <a:xfrm>
            <a:off x="831850" y="551471"/>
            <a:ext cx="526415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Watch Before Lecture:</a:t>
            </a:r>
          </a:p>
          <a:p>
            <a:r>
              <a:rPr lang="en-CA" sz="2000" b="1" dirty="0">
                <a:solidFill>
                  <a:srgbClr val="7F1F1F"/>
                </a:solidFill>
              </a:rPr>
              <a:t>[</a:t>
            </a:r>
            <a:r>
              <a:rPr lang="en-CA" sz="2000" b="1">
                <a:solidFill>
                  <a:srgbClr val="7F1F1F"/>
                </a:solidFill>
              </a:rPr>
              <a:t>PLV 9-2] Memory Management and Debugging</a:t>
            </a:r>
            <a:endParaRPr lang="en-US" sz="2000" b="1" dirty="0">
              <a:solidFill>
                <a:srgbClr val="7F1F1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48162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809423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DMA for 2D Arrays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563637"/>
            <a:ext cx="1052668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2D array (and of course N-D array) useful for data organization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DMA useful for keeping program memory-lean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>
                <a:solidFill>
                  <a:srgbClr val="0000FF"/>
                </a:solidFill>
              </a:rPr>
              <a:t>Method 1:</a:t>
            </a:r>
            <a:r>
              <a:rPr lang="en-CA" sz="2200" dirty="0"/>
              <a:t> Double Pointer + Individual Arrays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chemeClr val="accent6"/>
                </a:solidFill>
              </a:rPr>
              <a:t>Allocation</a:t>
            </a:r>
            <a:r>
              <a:rPr lang="en-CA" dirty="0"/>
              <a:t> Process for </a:t>
            </a:r>
            <a:r>
              <a:rPr lang="en-CA" b="1" dirty="0"/>
              <a:t>m x n </a:t>
            </a:r>
            <a:r>
              <a:rPr lang="en-CA" dirty="0"/>
              <a:t>2D array on heap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18</a:t>
            </a:fld>
            <a:endParaRPr lang="en-CA" dirty="0"/>
          </a:p>
        </p:txBody>
      </p:sp>
      <p:sp>
        <p:nvSpPr>
          <p:cNvPr id="45" name="Speech Bubble: Rectangle 44">
            <a:extLst>
              <a:ext uri="{FF2B5EF4-FFF2-40B4-BE49-F238E27FC236}">
                <a16:creationId xmlns:a16="http://schemas.microsoft.com/office/drawing/2014/main" id="{B499260C-308B-821F-C1FA-E84AF568241F}"/>
              </a:ext>
            </a:extLst>
          </p:cNvPr>
          <p:cNvSpPr/>
          <p:nvPr/>
        </p:nvSpPr>
        <p:spPr>
          <a:xfrm>
            <a:off x="7966004" y="2053921"/>
            <a:ext cx="3124570" cy="360789"/>
          </a:xfrm>
          <a:prstGeom prst="wedgeRectCallout">
            <a:avLst>
              <a:gd name="adj1" fmla="val -66355"/>
              <a:gd name="adj2" fmla="val -51405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b="1" dirty="0">
                <a:solidFill>
                  <a:schemeClr val="tx1"/>
                </a:solidFill>
              </a:rPr>
              <a:t>Makes sense to combine them</a:t>
            </a:r>
            <a:endParaRPr lang="en-US" sz="1600" b="1" dirty="0">
              <a:solidFill>
                <a:schemeClr val="tx1"/>
              </a:solidFill>
              <a:latin typeface="Courier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30D371E-75B6-0DF4-EAB2-D9219AE8680E}"/>
              </a:ext>
            </a:extLst>
          </p:cNvPr>
          <p:cNvSpPr txBox="1"/>
          <p:nvPr/>
        </p:nvSpPr>
        <p:spPr>
          <a:xfrm>
            <a:off x="5139043" y="585287"/>
            <a:ext cx="45405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- 3 Methods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A857EB5-0271-3EDA-9E76-8C02F14691EF}"/>
              </a:ext>
            </a:extLst>
          </p:cNvPr>
          <p:cNvSpPr txBox="1"/>
          <p:nvPr/>
        </p:nvSpPr>
        <p:spPr>
          <a:xfrm>
            <a:off x="997827" y="3187555"/>
            <a:ext cx="5080755" cy="2677656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m, n,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 **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dptr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For pointer lookup table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(“Provide Size 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m,n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): ”);</a:t>
            </a: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scanf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(“%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d,%d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”, &amp;m, &amp;n);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Allocate pointer lookup table (</a:t>
            </a:r>
            <a:r>
              <a:rPr lang="en-US" sz="1200" b="1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ie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 dim. m)</a:t>
            </a: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dptr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float**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)malloc( m * </a:t>
            </a:r>
            <a:r>
              <a:rPr lang="en-US" sz="12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float*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 );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Allocate individual arrays with dim. n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&lt; m;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++ )</a:t>
            </a:r>
          </a:p>
          <a:p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dptr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] = 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float*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)malloc( n * </a:t>
            </a:r>
            <a:r>
              <a:rPr lang="en-US" sz="12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 );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dptr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[1][1] = 10.000;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can use double-index notation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CEA9135-FE10-68BC-C6D3-5675F743D47D}"/>
              </a:ext>
            </a:extLst>
          </p:cNvPr>
          <p:cNvSpPr txBox="1"/>
          <p:nvPr/>
        </p:nvSpPr>
        <p:spPr>
          <a:xfrm>
            <a:off x="7151111" y="3113129"/>
            <a:ext cx="13745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float** </a:t>
            </a:r>
            <a:r>
              <a:rPr lang="en-US" b="1" dirty="0" err="1">
                <a:solidFill>
                  <a:schemeClr val="tx1"/>
                </a:solidFill>
              </a:rPr>
              <a:t>dptr</a:t>
            </a:r>
            <a:endParaRPr lang="en-CA" dirty="0"/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4D456F5A-8A73-88E7-CCDD-5350A069CC60}"/>
              </a:ext>
            </a:extLst>
          </p:cNvPr>
          <p:cNvSpPr/>
          <p:nvPr/>
        </p:nvSpPr>
        <p:spPr>
          <a:xfrm flipH="1">
            <a:off x="8045327" y="3552457"/>
            <a:ext cx="833111" cy="262840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600" b="1" dirty="0">
              <a:solidFill>
                <a:schemeClr val="tx1"/>
              </a:solidFill>
            </a:endParaRP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AC5E2CEC-ACB1-0FCE-B945-202F176967F8}"/>
              </a:ext>
            </a:extLst>
          </p:cNvPr>
          <p:cNvSpPr/>
          <p:nvPr/>
        </p:nvSpPr>
        <p:spPr>
          <a:xfrm flipH="1">
            <a:off x="8045327" y="3810421"/>
            <a:ext cx="833111" cy="262840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600" b="1" dirty="0">
              <a:solidFill>
                <a:schemeClr val="tx1"/>
              </a:solidFill>
            </a:endParaRP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51271CA8-7A82-C326-4C3D-00F61646D20A}"/>
              </a:ext>
            </a:extLst>
          </p:cNvPr>
          <p:cNvSpPr/>
          <p:nvPr/>
        </p:nvSpPr>
        <p:spPr>
          <a:xfrm flipH="1">
            <a:off x="8044926" y="4332065"/>
            <a:ext cx="833111" cy="262840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600" b="1" dirty="0">
              <a:solidFill>
                <a:schemeClr val="tx1"/>
              </a:solidFill>
            </a:endParaRP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B62DA025-605F-11FA-3509-9FAC96E47EC4}"/>
              </a:ext>
            </a:extLst>
          </p:cNvPr>
          <p:cNvSpPr/>
          <p:nvPr/>
        </p:nvSpPr>
        <p:spPr>
          <a:xfrm flipH="1">
            <a:off x="8044926" y="4074667"/>
            <a:ext cx="833111" cy="262840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600" b="1" dirty="0">
              <a:solidFill>
                <a:schemeClr val="tx1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656483F-E713-E0DB-28E0-E4EB48C96B30}"/>
              </a:ext>
            </a:extLst>
          </p:cNvPr>
          <p:cNvSpPr txBox="1"/>
          <p:nvPr/>
        </p:nvSpPr>
        <p:spPr>
          <a:xfrm>
            <a:off x="6674982" y="3527937"/>
            <a:ext cx="6565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 err="1">
                <a:solidFill>
                  <a:schemeClr val="tx1"/>
                </a:solidFill>
              </a:rPr>
              <a:t>dptr</a:t>
            </a:r>
            <a:r>
              <a:rPr lang="en-US" sz="1200" b="1" dirty="0">
                <a:solidFill>
                  <a:schemeClr val="tx1"/>
                </a:solidFill>
              </a:rPr>
              <a:t>[0]</a:t>
            </a:r>
            <a:endParaRPr lang="en-CA" sz="1200" b="1" dirty="0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1C548DB-C7B6-FDA7-5D27-5E1116535E3D}"/>
              </a:ext>
            </a:extLst>
          </p:cNvPr>
          <p:cNvSpPr txBox="1"/>
          <p:nvPr/>
        </p:nvSpPr>
        <p:spPr>
          <a:xfrm>
            <a:off x="7217734" y="4321604"/>
            <a:ext cx="11655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</a:rPr>
              <a:t>0x 63120C</a:t>
            </a:r>
            <a:endParaRPr lang="en-CA" sz="1400" b="1" dirty="0">
              <a:solidFill>
                <a:srgbClr val="7030A0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935315D-5852-8A90-9F5E-4B8A601C63AD}"/>
              </a:ext>
            </a:extLst>
          </p:cNvPr>
          <p:cNvSpPr txBox="1"/>
          <p:nvPr/>
        </p:nvSpPr>
        <p:spPr>
          <a:xfrm>
            <a:off x="7217734" y="4076962"/>
            <a:ext cx="11655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</a:rPr>
              <a:t>0x 631208</a:t>
            </a:r>
            <a:endParaRPr lang="en-CA" sz="1400" b="1" dirty="0">
              <a:solidFill>
                <a:srgbClr val="7030A0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1B12B26-EDF2-4C9A-F1DC-BB81D1E63EF6}"/>
              </a:ext>
            </a:extLst>
          </p:cNvPr>
          <p:cNvSpPr txBox="1"/>
          <p:nvPr/>
        </p:nvSpPr>
        <p:spPr>
          <a:xfrm>
            <a:off x="7223230" y="3785954"/>
            <a:ext cx="11655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</a:rPr>
              <a:t>0x 631204</a:t>
            </a:r>
            <a:endParaRPr lang="en-CA" sz="1400" b="1" dirty="0">
              <a:solidFill>
                <a:srgbClr val="7030A0"/>
              </a:solidFill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23DE8D2-6FF1-569A-34AE-31270BA8E7BA}"/>
              </a:ext>
            </a:extLst>
          </p:cNvPr>
          <p:cNvSpPr txBox="1"/>
          <p:nvPr/>
        </p:nvSpPr>
        <p:spPr>
          <a:xfrm>
            <a:off x="7220360" y="3530195"/>
            <a:ext cx="11655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</a:rPr>
              <a:t>0x 631200</a:t>
            </a:r>
            <a:endParaRPr lang="en-CA" sz="1400" b="1" dirty="0">
              <a:solidFill>
                <a:srgbClr val="7030A0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2EEECC2-47AB-9CFA-111A-0C4D9835EFD3}"/>
              </a:ext>
            </a:extLst>
          </p:cNvPr>
          <p:cNvSpPr txBox="1"/>
          <p:nvPr/>
        </p:nvSpPr>
        <p:spPr>
          <a:xfrm>
            <a:off x="8016802" y="3530195"/>
            <a:ext cx="9145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chemeClr val="accent2"/>
                </a:solidFill>
              </a:rPr>
              <a:t>0x 21230</a:t>
            </a:r>
            <a:endParaRPr lang="en-CA" sz="1600" b="1" dirty="0">
              <a:solidFill>
                <a:schemeClr val="accent2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C78262D-9430-6671-B353-95C1CB2BCBAF}"/>
              </a:ext>
            </a:extLst>
          </p:cNvPr>
          <p:cNvSpPr txBox="1"/>
          <p:nvPr/>
        </p:nvSpPr>
        <p:spPr>
          <a:xfrm>
            <a:off x="8013826" y="3779292"/>
            <a:ext cx="9145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chemeClr val="accent2"/>
                </a:solidFill>
              </a:rPr>
              <a:t>0x A1E22</a:t>
            </a:r>
            <a:endParaRPr lang="en-CA" sz="1600" b="1" dirty="0">
              <a:solidFill>
                <a:schemeClr val="accent2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C426700-35EB-60A6-7170-37A4F4FB936D}"/>
              </a:ext>
            </a:extLst>
          </p:cNvPr>
          <p:cNvSpPr txBox="1"/>
          <p:nvPr/>
        </p:nvSpPr>
        <p:spPr>
          <a:xfrm>
            <a:off x="8012356" y="4048692"/>
            <a:ext cx="9145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chemeClr val="accent2"/>
                </a:solidFill>
              </a:rPr>
              <a:t>0x </a:t>
            </a:r>
            <a:r>
              <a:rPr lang="en-US" altLang="zh-CN" sz="1400" b="1" dirty="0">
                <a:solidFill>
                  <a:schemeClr val="accent2"/>
                </a:solidFill>
              </a:rPr>
              <a:t>FF3E2</a:t>
            </a:r>
            <a:endParaRPr lang="en-CA" sz="1600" b="1" dirty="0">
              <a:solidFill>
                <a:schemeClr val="accent2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356D406-1C99-4EDC-10B4-0D149636FA35}"/>
              </a:ext>
            </a:extLst>
          </p:cNvPr>
          <p:cNvSpPr txBox="1"/>
          <p:nvPr/>
        </p:nvSpPr>
        <p:spPr>
          <a:xfrm>
            <a:off x="8014746" y="4298308"/>
            <a:ext cx="9126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chemeClr val="accent2"/>
                </a:solidFill>
              </a:rPr>
              <a:t>0x 2E335</a:t>
            </a:r>
            <a:endParaRPr lang="en-CA" sz="1600" b="1" dirty="0">
              <a:solidFill>
                <a:schemeClr val="accent2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4A25D89-A5AE-32EF-043C-48FD042699E1}"/>
              </a:ext>
            </a:extLst>
          </p:cNvPr>
          <p:cNvSpPr txBox="1"/>
          <p:nvPr/>
        </p:nvSpPr>
        <p:spPr>
          <a:xfrm>
            <a:off x="6670481" y="3802688"/>
            <a:ext cx="6565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 err="1">
                <a:solidFill>
                  <a:schemeClr val="tx1"/>
                </a:solidFill>
              </a:rPr>
              <a:t>dptr</a:t>
            </a:r>
            <a:r>
              <a:rPr lang="en-US" sz="1200" b="1" dirty="0">
                <a:solidFill>
                  <a:schemeClr val="tx1"/>
                </a:solidFill>
              </a:rPr>
              <a:t>[</a:t>
            </a:r>
            <a:r>
              <a:rPr lang="en-US" sz="1200" b="1" dirty="0"/>
              <a:t>1</a:t>
            </a:r>
            <a:r>
              <a:rPr lang="en-US" sz="1200" b="1" dirty="0">
                <a:solidFill>
                  <a:schemeClr val="tx1"/>
                </a:solidFill>
              </a:rPr>
              <a:t>]</a:t>
            </a:r>
            <a:endParaRPr lang="en-CA" sz="1200" b="1" dirty="0">
              <a:solidFill>
                <a:schemeClr val="tx1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0F9A369-2A60-552D-BE89-4402470F3789}"/>
              </a:ext>
            </a:extLst>
          </p:cNvPr>
          <p:cNvSpPr txBox="1"/>
          <p:nvPr/>
        </p:nvSpPr>
        <p:spPr>
          <a:xfrm>
            <a:off x="6673292" y="4070907"/>
            <a:ext cx="6565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 err="1">
                <a:solidFill>
                  <a:schemeClr val="tx1"/>
                </a:solidFill>
              </a:rPr>
              <a:t>dptr</a:t>
            </a:r>
            <a:r>
              <a:rPr lang="en-US" sz="1200" b="1" dirty="0">
                <a:solidFill>
                  <a:schemeClr val="tx1"/>
                </a:solidFill>
              </a:rPr>
              <a:t>[2]</a:t>
            </a:r>
            <a:endParaRPr lang="en-CA" sz="1200" b="1" dirty="0">
              <a:solidFill>
                <a:schemeClr val="tx1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AD4546E-24E2-7639-533D-F79A7BC4DB01}"/>
              </a:ext>
            </a:extLst>
          </p:cNvPr>
          <p:cNvSpPr txBox="1"/>
          <p:nvPr/>
        </p:nvSpPr>
        <p:spPr>
          <a:xfrm>
            <a:off x="6682001" y="4316777"/>
            <a:ext cx="6565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 err="1">
                <a:solidFill>
                  <a:schemeClr val="tx1"/>
                </a:solidFill>
              </a:rPr>
              <a:t>dptr</a:t>
            </a:r>
            <a:r>
              <a:rPr lang="en-US" sz="1200" b="1" dirty="0">
                <a:solidFill>
                  <a:schemeClr val="tx1"/>
                </a:solidFill>
              </a:rPr>
              <a:t>[3]</a:t>
            </a:r>
            <a:endParaRPr lang="en-CA" sz="1200" b="1" dirty="0">
              <a:solidFill>
                <a:schemeClr val="tx1"/>
              </a:solidFill>
            </a:endParaRPr>
          </a:p>
        </p:txBody>
      </p:sp>
      <p:sp>
        <p:nvSpPr>
          <p:cNvPr id="90" name="Left Brace 89">
            <a:extLst>
              <a:ext uri="{FF2B5EF4-FFF2-40B4-BE49-F238E27FC236}">
                <a16:creationId xmlns:a16="http://schemas.microsoft.com/office/drawing/2014/main" id="{CDE2390A-0BA3-F643-EE05-D87CD0793540}"/>
              </a:ext>
            </a:extLst>
          </p:cNvPr>
          <p:cNvSpPr/>
          <p:nvPr/>
        </p:nvSpPr>
        <p:spPr>
          <a:xfrm>
            <a:off x="6515699" y="3555522"/>
            <a:ext cx="202353" cy="986339"/>
          </a:xfrm>
          <a:prstGeom prst="leftBrac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0B9D1FBE-394D-D06B-B2AD-DCC628563AE5}"/>
              </a:ext>
            </a:extLst>
          </p:cNvPr>
          <p:cNvSpPr txBox="1"/>
          <p:nvPr/>
        </p:nvSpPr>
        <p:spPr>
          <a:xfrm>
            <a:off x="6118660" y="3803136"/>
            <a:ext cx="3657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b="1" dirty="0">
                <a:solidFill>
                  <a:srgbClr val="0070C0"/>
                </a:solidFill>
              </a:rPr>
              <a:t>m</a:t>
            </a:r>
            <a:endParaRPr lang="en-US" sz="2400" dirty="0"/>
          </a:p>
        </p:txBody>
      </p:sp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7497FD27-2169-63D7-7F71-7D4B1E996F1A}"/>
              </a:ext>
            </a:extLst>
          </p:cNvPr>
          <p:cNvSpPr/>
          <p:nvPr/>
        </p:nvSpPr>
        <p:spPr>
          <a:xfrm>
            <a:off x="9395093" y="3313482"/>
            <a:ext cx="347473" cy="3385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?</a:t>
            </a:r>
            <a:endParaRPr lang="en-CA" sz="1600" dirty="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F5489206-3F89-DAD4-06F8-1ECCCBE0D0A1}"/>
              </a:ext>
            </a:extLst>
          </p:cNvPr>
          <p:cNvSpPr txBox="1"/>
          <p:nvPr/>
        </p:nvSpPr>
        <p:spPr>
          <a:xfrm>
            <a:off x="9197195" y="3032698"/>
            <a:ext cx="7592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</a:rPr>
              <a:t>0x 21230</a:t>
            </a:r>
            <a:endParaRPr lang="en-CA" sz="1400" b="1" dirty="0">
              <a:solidFill>
                <a:srgbClr val="7030A0"/>
              </a:solidFill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1FCF97E1-FB98-D6A3-B63A-5B74158A985C}"/>
              </a:ext>
            </a:extLst>
          </p:cNvPr>
          <p:cNvSpPr txBox="1"/>
          <p:nvPr/>
        </p:nvSpPr>
        <p:spPr>
          <a:xfrm>
            <a:off x="10506679" y="3360538"/>
            <a:ext cx="3474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…</a:t>
            </a:r>
          </a:p>
        </p:txBody>
      </p: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4FE362E0-FBCB-FC9A-E90F-B8E48D007053}"/>
              </a:ext>
            </a:extLst>
          </p:cNvPr>
          <p:cNvSpPr/>
          <p:nvPr/>
        </p:nvSpPr>
        <p:spPr>
          <a:xfrm>
            <a:off x="9782671" y="3308059"/>
            <a:ext cx="347473" cy="3385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?</a:t>
            </a:r>
            <a:endParaRPr lang="en-CA" sz="1600" dirty="0"/>
          </a:p>
        </p:txBody>
      </p:sp>
      <p:sp>
        <p:nvSpPr>
          <p:cNvPr id="101" name="Rectangle: Rounded Corners 100">
            <a:extLst>
              <a:ext uri="{FF2B5EF4-FFF2-40B4-BE49-F238E27FC236}">
                <a16:creationId xmlns:a16="http://schemas.microsoft.com/office/drawing/2014/main" id="{773BD432-9AA8-93EF-9B73-2EB7613F5708}"/>
              </a:ext>
            </a:extLst>
          </p:cNvPr>
          <p:cNvSpPr/>
          <p:nvPr/>
        </p:nvSpPr>
        <p:spPr>
          <a:xfrm>
            <a:off x="10159206" y="3309573"/>
            <a:ext cx="347473" cy="3385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?</a:t>
            </a:r>
            <a:endParaRPr lang="en-CA" sz="1600" dirty="0"/>
          </a:p>
        </p:txBody>
      </p: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96132E16-467D-CEBA-5B04-8C4C8D93DEE2}"/>
              </a:ext>
            </a:extLst>
          </p:cNvPr>
          <p:cNvSpPr/>
          <p:nvPr/>
        </p:nvSpPr>
        <p:spPr>
          <a:xfrm>
            <a:off x="10814794" y="3305365"/>
            <a:ext cx="347473" cy="3385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?</a:t>
            </a:r>
            <a:endParaRPr lang="en-CA" sz="1600" dirty="0"/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A1288CCA-23B5-6267-8C10-3DE38CD7954D}"/>
              </a:ext>
            </a:extLst>
          </p:cNvPr>
          <p:cNvCxnSpPr>
            <a:stCxn id="81" idx="3"/>
            <a:endCxn id="97" idx="1"/>
          </p:cNvCxnSpPr>
          <p:nvPr/>
        </p:nvCxnSpPr>
        <p:spPr>
          <a:xfrm flipV="1">
            <a:off x="8931334" y="3482759"/>
            <a:ext cx="463759" cy="2013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5" name="Rectangle: Rounded Corners 104">
            <a:extLst>
              <a:ext uri="{FF2B5EF4-FFF2-40B4-BE49-F238E27FC236}">
                <a16:creationId xmlns:a16="http://schemas.microsoft.com/office/drawing/2014/main" id="{F2EBBBD5-D7F9-95CF-D48A-FBC7B97617E6}"/>
              </a:ext>
            </a:extLst>
          </p:cNvPr>
          <p:cNvSpPr/>
          <p:nvPr/>
        </p:nvSpPr>
        <p:spPr>
          <a:xfrm>
            <a:off x="9399440" y="3997112"/>
            <a:ext cx="347473" cy="3385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?</a:t>
            </a:r>
            <a:endParaRPr lang="en-CA" sz="1600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A0AC92BD-EE8C-A404-D086-4A573B49C862}"/>
              </a:ext>
            </a:extLst>
          </p:cNvPr>
          <p:cNvSpPr txBox="1"/>
          <p:nvPr/>
        </p:nvSpPr>
        <p:spPr>
          <a:xfrm>
            <a:off x="9201542" y="3716328"/>
            <a:ext cx="8956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</a:rPr>
              <a:t>0x A1E22</a:t>
            </a:r>
            <a:endParaRPr lang="en-CA" sz="1400" b="1" dirty="0">
              <a:solidFill>
                <a:srgbClr val="7030A0"/>
              </a:solidFill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59399FC8-F578-1A4D-686B-ADFFB1994CAC}"/>
              </a:ext>
            </a:extLst>
          </p:cNvPr>
          <p:cNvSpPr txBox="1"/>
          <p:nvPr/>
        </p:nvSpPr>
        <p:spPr>
          <a:xfrm>
            <a:off x="10511026" y="4044168"/>
            <a:ext cx="3474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…</a:t>
            </a:r>
          </a:p>
        </p:txBody>
      </p: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36F47DA8-6792-6CC6-5E42-F509456A6049}"/>
              </a:ext>
            </a:extLst>
          </p:cNvPr>
          <p:cNvSpPr/>
          <p:nvPr/>
        </p:nvSpPr>
        <p:spPr>
          <a:xfrm>
            <a:off x="9787018" y="3991689"/>
            <a:ext cx="347473" cy="3385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?</a:t>
            </a:r>
            <a:endParaRPr lang="en-CA" sz="1600" dirty="0"/>
          </a:p>
        </p:txBody>
      </p:sp>
      <p:sp>
        <p:nvSpPr>
          <p:cNvPr id="109" name="Rectangle: Rounded Corners 108">
            <a:extLst>
              <a:ext uri="{FF2B5EF4-FFF2-40B4-BE49-F238E27FC236}">
                <a16:creationId xmlns:a16="http://schemas.microsoft.com/office/drawing/2014/main" id="{11CAD34C-4ADF-D104-18E9-3531DD2F7D8C}"/>
              </a:ext>
            </a:extLst>
          </p:cNvPr>
          <p:cNvSpPr/>
          <p:nvPr/>
        </p:nvSpPr>
        <p:spPr>
          <a:xfrm>
            <a:off x="10163553" y="3993203"/>
            <a:ext cx="347473" cy="3385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?</a:t>
            </a:r>
            <a:endParaRPr lang="en-CA" sz="1600" dirty="0"/>
          </a:p>
        </p:txBody>
      </p:sp>
      <p:sp>
        <p:nvSpPr>
          <p:cNvPr id="110" name="Rectangle: Rounded Corners 109">
            <a:extLst>
              <a:ext uri="{FF2B5EF4-FFF2-40B4-BE49-F238E27FC236}">
                <a16:creationId xmlns:a16="http://schemas.microsoft.com/office/drawing/2014/main" id="{A0965754-899B-7011-B596-30F85EAB2636}"/>
              </a:ext>
            </a:extLst>
          </p:cNvPr>
          <p:cNvSpPr/>
          <p:nvPr/>
        </p:nvSpPr>
        <p:spPr>
          <a:xfrm>
            <a:off x="10819141" y="3988995"/>
            <a:ext cx="347473" cy="3385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?</a:t>
            </a:r>
            <a:endParaRPr lang="en-CA" sz="1600" dirty="0"/>
          </a:p>
        </p:txBody>
      </p: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78C99B24-6305-60E7-5937-A647634E0ED3}"/>
              </a:ext>
            </a:extLst>
          </p:cNvPr>
          <p:cNvCxnSpPr>
            <a:cxnSpLocks/>
            <a:stCxn id="82" idx="3"/>
            <a:endCxn id="105" idx="1"/>
          </p:cNvCxnSpPr>
          <p:nvPr/>
        </p:nvCxnSpPr>
        <p:spPr>
          <a:xfrm>
            <a:off x="8928358" y="3933181"/>
            <a:ext cx="471082" cy="23320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E03EE842-9CF5-A1B3-E9CB-4481FEA6FEEA}"/>
              </a:ext>
            </a:extLst>
          </p:cNvPr>
          <p:cNvSpPr/>
          <p:nvPr/>
        </p:nvSpPr>
        <p:spPr>
          <a:xfrm>
            <a:off x="9403069" y="4714471"/>
            <a:ext cx="347473" cy="3385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?</a:t>
            </a:r>
            <a:endParaRPr lang="en-CA" sz="1600" dirty="0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52C80B76-8CAF-2784-E645-4483DBA8DF48}"/>
              </a:ext>
            </a:extLst>
          </p:cNvPr>
          <p:cNvSpPr txBox="1"/>
          <p:nvPr/>
        </p:nvSpPr>
        <p:spPr>
          <a:xfrm>
            <a:off x="9205171" y="4433687"/>
            <a:ext cx="8956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</a:rPr>
              <a:t>0x FF3E2</a:t>
            </a:r>
            <a:endParaRPr lang="en-CA" sz="1400" b="1" dirty="0">
              <a:solidFill>
                <a:srgbClr val="7030A0"/>
              </a:solidFill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DDB4844A-DA0A-10EF-34B3-77AFAB658F7A}"/>
              </a:ext>
            </a:extLst>
          </p:cNvPr>
          <p:cNvSpPr txBox="1"/>
          <p:nvPr/>
        </p:nvSpPr>
        <p:spPr>
          <a:xfrm>
            <a:off x="10514655" y="4761527"/>
            <a:ext cx="3474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…</a:t>
            </a:r>
          </a:p>
        </p:txBody>
      </p:sp>
      <p:sp>
        <p:nvSpPr>
          <p:cNvPr id="117" name="Rectangle: Rounded Corners 116">
            <a:extLst>
              <a:ext uri="{FF2B5EF4-FFF2-40B4-BE49-F238E27FC236}">
                <a16:creationId xmlns:a16="http://schemas.microsoft.com/office/drawing/2014/main" id="{D7C90625-9D6C-2934-2A94-57C08394B9AB}"/>
              </a:ext>
            </a:extLst>
          </p:cNvPr>
          <p:cNvSpPr/>
          <p:nvPr/>
        </p:nvSpPr>
        <p:spPr>
          <a:xfrm>
            <a:off x="9790647" y="4709048"/>
            <a:ext cx="347473" cy="3385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?</a:t>
            </a:r>
            <a:endParaRPr lang="en-CA" sz="1600" dirty="0"/>
          </a:p>
        </p:txBody>
      </p:sp>
      <p:sp>
        <p:nvSpPr>
          <p:cNvPr id="118" name="Rectangle: Rounded Corners 117">
            <a:extLst>
              <a:ext uri="{FF2B5EF4-FFF2-40B4-BE49-F238E27FC236}">
                <a16:creationId xmlns:a16="http://schemas.microsoft.com/office/drawing/2014/main" id="{4F74086F-DDC2-6C23-B9F7-61AC050D7669}"/>
              </a:ext>
            </a:extLst>
          </p:cNvPr>
          <p:cNvSpPr/>
          <p:nvPr/>
        </p:nvSpPr>
        <p:spPr>
          <a:xfrm>
            <a:off x="10167182" y="4710562"/>
            <a:ext cx="347473" cy="3385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?</a:t>
            </a:r>
            <a:endParaRPr lang="en-CA" sz="1600" dirty="0"/>
          </a:p>
        </p:txBody>
      </p:sp>
      <p:sp>
        <p:nvSpPr>
          <p:cNvPr id="119" name="Rectangle: Rounded Corners 118">
            <a:extLst>
              <a:ext uri="{FF2B5EF4-FFF2-40B4-BE49-F238E27FC236}">
                <a16:creationId xmlns:a16="http://schemas.microsoft.com/office/drawing/2014/main" id="{8316A23C-A675-E7F5-117F-58BF24146F9E}"/>
              </a:ext>
            </a:extLst>
          </p:cNvPr>
          <p:cNvSpPr/>
          <p:nvPr/>
        </p:nvSpPr>
        <p:spPr>
          <a:xfrm>
            <a:off x="10822770" y="4706354"/>
            <a:ext cx="347473" cy="3385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?</a:t>
            </a:r>
            <a:endParaRPr lang="en-CA" sz="1600" dirty="0"/>
          </a:p>
        </p:txBody>
      </p: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528B54B8-93BB-5E4B-3280-3BA59DB7A8E0}"/>
              </a:ext>
            </a:extLst>
          </p:cNvPr>
          <p:cNvCxnSpPr>
            <a:cxnSpLocks/>
            <a:stCxn id="83" idx="3"/>
            <a:endCxn id="114" idx="1"/>
          </p:cNvCxnSpPr>
          <p:nvPr/>
        </p:nvCxnSpPr>
        <p:spPr>
          <a:xfrm>
            <a:off x="8926888" y="4202581"/>
            <a:ext cx="476181" cy="68116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4" name="Rectangle: Rounded Corners 123">
            <a:extLst>
              <a:ext uri="{FF2B5EF4-FFF2-40B4-BE49-F238E27FC236}">
                <a16:creationId xmlns:a16="http://schemas.microsoft.com/office/drawing/2014/main" id="{6A477CBB-5AFD-61E5-ED5A-7455E5775137}"/>
              </a:ext>
            </a:extLst>
          </p:cNvPr>
          <p:cNvSpPr/>
          <p:nvPr/>
        </p:nvSpPr>
        <p:spPr>
          <a:xfrm>
            <a:off x="9411778" y="5398132"/>
            <a:ext cx="347473" cy="3385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?</a:t>
            </a:r>
            <a:endParaRPr lang="en-CA" sz="1600" dirty="0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CDF09B01-59D5-D32B-646C-866A935AF9AE}"/>
              </a:ext>
            </a:extLst>
          </p:cNvPr>
          <p:cNvSpPr txBox="1"/>
          <p:nvPr/>
        </p:nvSpPr>
        <p:spPr>
          <a:xfrm>
            <a:off x="9213880" y="5117348"/>
            <a:ext cx="8956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</a:rPr>
              <a:t>0x 2E335</a:t>
            </a:r>
            <a:endParaRPr lang="en-CA" sz="1400" b="1" dirty="0">
              <a:solidFill>
                <a:srgbClr val="7030A0"/>
              </a:solidFill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A2EFD52A-045E-58B7-922E-72AB6DC07FA4}"/>
              </a:ext>
            </a:extLst>
          </p:cNvPr>
          <p:cNvSpPr txBox="1"/>
          <p:nvPr/>
        </p:nvSpPr>
        <p:spPr>
          <a:xfrm>
            <a:off x="10523364" y="5445188"/>
            <a:ext cx="3474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…</a:t>
            </a:r>
          </a:p>
        </p:txBody>
      </p:sp>
      <p:sp>
        <p:nvSpPr>
          <p:cNvPr id="127" name="Rectangle: Rounded Corners 126">
            <a:extLst>
              <a:ext uri="{FF2B5EF4-FFF2-40B4-BE49-F238E27FC236}">
                <a16:creationId xmlns:a16="http://schemas.microsoft.com/office/drawing/2014/main" id="{4521BB40-B288-5023-D1DB-3D83E7B6A74D}"/>
              </a:ext>
            </a:extLst>
          </p:cNvPr>
          <p:cNvSpPr/>
          <p:nvPr/>
        </p:nvSpPr>
        <p:spPr>
          <a:xfrm>
            <a:off x="9799356" y="5392709"/>
            <a:ext cx="347473" cy="3385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?</a:t>
            </a:r>
            <a:endParaRPr lang="en-CA" sz="1600" dirty="0"/>
          </a:p>
        </p:txBody>
      </p:sp>
      <p:sp>
        <p:nvSpPr>
          <p:cNvPr id="128" name="Rectangle: Rounded Corners 127">
            <a:extLst>
              <a:ext uri="{FF2B5EF4-FFF2-40B4-BE49-F238E27FC236}">
                <a16:creationId xmlns:a16="http://schemas.microsoft.com/office/drawing/2014/main" id="{74BBDC60-8EE2-A83A-5110-43F4F03505DC}"/>
              </a:ext>
            </a:extLst>
          </p:cNvPr>
          <p:cNvSpPr/>
          <p:nvPr/>
        </p:nvSpPr>
        <p:spPr>
          <a:xfrm>
            <a:off x="10175891" y="5394223"/>
            <a:ext cx="347473" cy="3385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?</a:t>
            </a:r>
            <a:endParaRPr lang="en-CA" sz="1600" dirty="0"/>
          </a:p>
        </p:txBody>
      </p:sp>
      <p:sp>
        <p:nvSpPr>
          <p:cNvPr id="129" name="Rectangle: Rounded Corners 128">
            <a:extLst>
              <a:ext uri="{FF2B5EF4-FFF2-40B4-BE49-F238E27FC236}">
                <a16:creationId xmlns:a16="http://schemas.microsoft.com/office/drawing/2014/main" id="{FC494C54-E3DB-7A70-BFD8-6DDA21BF391B}"/>
              </a:ext>
            </a:extLst>
          </p:cNvPr>
          <p:cNvSpPr/>
          <p:nvPr/>
        </p:nvSpPr>
        <p:spPr>
          <a:xfrm>
            <a:off x="10831479" y="5390015"/>
            <a:ext cx="347473" cy="3385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?</a:t>
            </a:r>
            <a:endParaRPr lang="en-CA" sz="1600" dirty="0"/>
          </a:p>
        </p:txBody>
      </p: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D12095DB-7361-D400-60E0-1BB9F2F68E6B}"/>
              </a:ext>
            </a:extLst>
          </p:cNvPr>
          <p:cNvCxnSpPr>
            <a:cxnSpLocks/>
            <a:stCxn id="84" idx="3"/>
            <a:endCxn id="124" idx="1"/>
          </p:cNvCxnSpPr>
          <p:nvPr/>
        </p:nvCxnSpPr>
        <p:spPr>
          <a:xfrm>
            <a:off x="8927403" y="4452197"/>
            <a:ext cx="484375" cy="111521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3" name="Speech Bubble: Rectangle 132">
            <a:extLst>
              <a:ext uri="{FF2B5EF4-FFF2-40B4-BE49-F238E27FC236}">
                <a16:creationId xmlns:a16="http://schemas.microsoft.com/office/drawing/2014/main" id="{01D22ABA-80B1-D069-A0A0-B6A378B542B1}"/>
              </a:ext>
            </a:extLst>
          </p:cNvPr>
          <p:cNvSpPr/>
          <p:nvPr/>
        </p:nvSpPr>
        <p:spPr>
          <a:xfrm>
            <a:off x="6447526" y="4970202"/>
            <a:ext cx="2538903" cy="905820"/>
          </a:xfrm>
          <a:prstGeom prst="wedgeRectCallout">
            <a:avLst>
              <a:gd name="adj1" fmla="val -65938"/>
              <a:gd name="adj2" fmla="val 30730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u="sng" dirty="0">
                <a:solidFill>
                  <a:schemeClr val="tx1"/>
                </a:solidFill>
              </a:rPr>
              <a:t>Follow the Addresses</a:t>
            </a:r>
          </a:p>
          <a:p>
            <a:r>
              <a:rPr lang="en-US" sz="1600" dirty="0" err="1">
                <a:solidFill>
                  <a:schemeClr val="tx1"/>
                </a:solidFill>
              </a:rPr>
              <a:t>dptr</a:t>
            </a:r>
            <a:r>
              <a:rPr lang="en-US" sz="1600" dirty="0">
                <a:solidFill>
                  <a:schemeClr val="tx1"/>
                </a:solidFill>
              </a:rPr>
              <a:t>[</a:t>
            </a:r>
            <a:r>
              <a:rPr lang="en-US" sz="1600" dirty="0" err="1">
                <a:solidFill>
                  <a:schemeClr val="tx1"/>
                </a:solidFill>
              </a:rPr>
              <a:t>i</a:t>
            </a:r>
            <a:r>
              <a:rPr lang="en-US" sz="1600" dirty="0">
                <a:solidFill>
                  <a:schemeClr val="tx1"/>
                </a:solidFill>
              </a:rPr>
              <a:t>][j] 	= *(</a:t>
            </a:r>
            <a:r>
              <a:rPr lang="en-US" sz="1600" dirty="0" err="1">
                <a:solidFill>
                  <a:schemeClr val="tx1"/>
                </a:solidFill>
              </a:rPr>
              <a:t>dptr</a:t>
            </a:r>
            <a:r>
              <a:rPr lang="en-US" sz="1600" dirty="0">
                <a:solidFill>
                  <a:schemeClr val="tx1"/>
                </a:solidFill>
              </a:rPr>
              <a:t>[</a:t>
            </a:r>
            <a:r>
              <a:rPr lang="en-US" sz="1600" dirty="0" err="1">
                <a:solidFill>
                  <a:schemeClr val="tx1"/>
                </a:solidFill>
              </a:rPr>
              <a:t>i</a:t>
            </a:r>
            <a:r>
              <a:rPr lang="en-US" sz="1600" dirty="0">
                <a:solidFill>
                  <a:schemeClr val="tx1"/>
                </a:solidFill>
              </a:rPr>
              <a:t>] + j)</a:t>
            </a:r>
            <a:br>
              <a:rPr lang="en-US" sz="1600" dirty="0">
                <a:solidFill>
                  <a:schemeClr val="tx1"/>
                </a:solidFill>
              </a:rPr>
            </a:br>
            <a:r>
              <a:rPr lang="en-US" sz="1600" dirty="0">
                <a:solidFill>
                  <a:schemeClr val="tx1"/>
                </a:solidFill>
              </a:rPr>
              <a:t>  	= *(*(</a:t>
            </a:r>
            <a:r>
              <a:rPr lang="en-US" sz="1600" dirty="0" err="1">
                <a:solidFill>
                  <a:schemeClr val="tx1"/>
                </a:solidFill>
              </a:rPr>
              <a:t>dptr</a:t>
            </a:r>
            <a:r>
              <a:rPr lang="en-US" sz="1600" dirty="0">
                <a:solidFill>
                  <a:schemeClr val="tx1"/>
                </a:solidFill>
              </a:rPr>
              <a:t> + </a:t>
            </a:r>
            <a:r>
              <a:rPr lang="en-US" sz="1600" dirty="0" err="1">
                <a:solidFill>
                  <a:schemeClr val="tx1"/>
                </a:solidFill>
              </a:rPr>
              <a:t>i</a:t>
            </a:r>
            <a:r>
              <a:rPr lang="en-US" sz="1600" dirty="0">
                <a:solidFill>
                  <a:schemeClr val="tx1"/>
                </a:solidFill>
              </a:rPr>
              <a:t>) + j)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134" name="Left Brace 133">
            <a:extLst>
              <a:ext uri="{FF2B5EF4-FFF2-40B4-BE49-F238E27FC236}">
                <a16:creationId xmlns:a16="http://schemas.microsoft.com/office/drawing/2014/main" id="{09D5FB48-8E31-DBE9-3723-17F6FEA89BE4}"/>
              </a:ext>
            </a:extLst>
          </p:cNvPr>
          <p:cNvSpPr/>
          <p:nvPr/>
        </p:nvSpPr>
        <p:spPr>
          <a:xfrm rot="5400000">
            <a:off x="10115324" y="2082219"/>
            <a:ext cx="255018" cy="1695481"/>
          </a:xfrm>
          <a:prstGeom prst="leftBrac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264BC79D-A3D0-9C2A-E068-AE568CCE930F}"/>
              </a:ext>
            </a:extLst>
          </p:cNvPr>
          <p:cNvSpPr txBox="1"/>
          <p:nvPr/>
        </p:nvSpPr>
        <p:spPr>
          <a:xfrm>
            <a:off x="10082303" y="2422452"/>
            <a:ext cx="3657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b="1" dirty="0">
                <a:solidFill>
                  <a:srgbClr val="0070C0"/>
                </a:solidFill>
              </a:rPr>
              <a:t>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85398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750"/>
                            </p:stCondLst>
                            <p:childTnLst>
                              <p:par>
                                <p:cTn id="7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750"/>
                            </p:stCondLst>
                            <p:childTnLst>
                              <p:par>
                                <p:cTn id="7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8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46" grpId="0"/>
      <p:bldP spid="47" grpId="0" animBg="1"/>
      <p:bldP spid="48" grpId="0"/>
      <p:bldP spid="69" grpId="0" animBg="1"/>
      <p:bldP spid="70" grpId="0" animBg="1"/>
      <p:bldP spid="71" grpId="0" animBg="1"/>
      <p:bldP spid="72" grpId="0" animBg="1"/>
      <p:bldP spid="73" grpId="0"/>
      <p:bldP spid="74" grpId="0"/>
      <p:bldP spid="75" grpId="0"/>
      <p:bldP spid="76" grpId="0"/>
      <p:bldP spid="77" grpId="0"/>
      <p:bldP spid="81" grpId="0"/>
      <p:bldP spid="82" grpId="0"/>
      <p:bldP spid="83" grpId="0"/>
      <p:bldP spid="84" grpId="0"/>
      <p:bldP spid="87" grpId="0"/>
      <p:bldP spid="88" grpId="0"/>
      <p:bldP spid="89" grpId="0"/>
      <p:bldP spid="90" grpId="0" animBg="1"/>
      <p:bldP spid="92" grpId="0"/>
      <p:bldP spid="97" grpId="0" animBg="1"/>
      <p:bldP spid="98" grpId="0"/>
      <p:bldP spid="99" grpId="0"/>
      <p:bldP spid="100" grpId="0" animBg="1"/>
      <p:bldP spid="101" grpId="0" animBg="1"/>
      <p:bldP spid="102" grpId="0" animBg="1"/>
      <p:bldP spid="105" grpId="0" animBg="1"/>
      <p:bldP spid="106" grpId="0"/>
      <p:bldP spid="107" grpId="0"/>
      <p:bldP spid="108" grpId="0" animBg="1"/>
      <p:bldP spid="109" grpId="0" animBg="1"/>
      <p:bldP spid="110" grpId="0" animBg="1"/>
      <p:bldP spid="114" grpId="0" animBg="1"/>
      <p:bldP spid="115" grpId="0"/>
      <p:bldP spid="116" grpId="0"/>
      <p:bldP spid="117" grpId="0" animBg="1"/>
      <p:bldP spid="118" grpId="0" animBg="1"/>
      <p:bldP spid="119" grpId="0" animBg="1"/>
      <p:bldP spid="124" grpId="0" animBg="1"/>
      <p:bldP spid="125" grpId="0"/>
      <p:bldP spid="126" grpId="0"/>
      <p:bldP spid="127" grpId="0" animBg="1"/>
      <p:bldP spid="128" grpId="0" animBg="1"/>
      <p:bldP spid="129" grpId="0" animBg="1"/>
      <p:bldP spid="133" grpId="0" animBg="1"/>
      <p:bldP spid="134" grpId="0" animBg="1"/>
      <p:bldP spid="13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769303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DMA for 2D Arrays - 3 Methods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563637"/>
            <a:ext cx="1052668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2D array (and of course N-D array) useful for data organization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DMA useful for keeping program memory-lean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>
                <a:solidFill>
                  <a:srgbClr val="0000FF"/>
                </a:solidFill>
              </a:rPr>
              <a:t>Method 1:</a:t>
            </a:r>
            <a:r>
              <a:rPr lang="en-CA" sz="2200" dirty="0"/>
              <a:t> Double Pointer + Individual Arrays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rgbClr val="FF0000"/>
                </a:solidFill>
              </a:rPr>
              <a:t>Deallocation</a:t>
            </a:r>
            <a:r>
              <a:rPr lang="en-CA" dirty="0"/>
              <a:t> Process for </a:t>
            </a:r>
            <a:r>
              <a:rPr lang="en-CA" b="1" dirty="0"/>
              <a:t>m x n </a:t>
            </a:r>
            <a:r>
              <a:rPr lang="en-CA" dirty="0"/>
              <a:t>2D array on heap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19</a:t>
            </a:fld>
            <a:endParaRPr lang="en-CA" dirty="0"/>
          </a:p>
        </p:txBody>
      </p:sp>
      <p:sp>
        <p:nvSpPr>
          <p:cNvPr id="45" name="Speech Bubble: Rectangle 44">
            <a:extLst>
              <a:ext uri="{FF2B5EF4-FFF2-40B4-BE49-F238E27FC236}">
                <a16:creationId xmlns:a16="http://schemas.microsoft.com/office/drawing/2014/main" id="{B499260C-308B-821F-C1FA-E84AF568241F}"/>
              </a:ext>
            </a:extLst>
          </p:cNvPr>
          <p:cNvSpPr/>
          <p:nvPr/>
        </p:nvSpPr>
        <p:spPr>
          <a:xfrm>
            <a:off x="7966004" y="2053921"/>
            <a:ext cx="3124570" cy="360789"/>
          </a:xfrm>
          <a:prstGeom prst="wedgeRectCallout">
            <a:avLst>
              <a:gd name="adj1" fmla="val -66355"/>
              <a:gd name="adj2" fmla="val -51405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b="1" dirty="0">
                <a:solidFill>
                  <a:schemeClr val="tx1"/>
                </a:solidFill>
              </a:rPr>
              <a:t>Makes sense to combine them</a:t>
            </a:r>
            <a:endParaRPr lang="en-US" sz="1600" b="1" dirty="0">
              <a:solidFill>
                <a:schemeClr val="tx1"/>
              </a:solidFill>
              <a:latin typeface="Courier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A857EB5-0271-3EDA-9E76-8C02F14691EF}"/>
              </a:ext>
            </a:extLst>
          </p:cNvPr>
          <p:cNvSpPr txBox="1"/>
          <p:nvPr/>
        </p:nvSpPr>
        <p:spPr>
          <a:xfrm>
            <a:off x="997827" y="3361291"/>
            <a:ext cx="5080755" cy="2369880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Continue from the previous slide…</a:t>
            </a:r>
          </a:p>
          <a:p>
            <a:r>
              <a:rPr 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MUST Deallocate in REVERSE ORDER!!</a:t>
            </a:r>
            <a:endParaRPr lang="en-US" sz="12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Deallocate sub-level individual arrays first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&lt; m;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++ )</a:t>
            </a:r>
          </a:p>
          <a:p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dptr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] != NULL ) 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If allocated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free(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dptr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] );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Deallocate it now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Then deallocate the pointer lookup table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free(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dptr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);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dptr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NULL; 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Make sure no one misuses </a:t>
            </a:r>
            <a:r>
              <a:rPr lang="en-US" sz="1200" b="1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dptr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later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CEA9135-FE10-68BC-C6D3-5675F743D47D}"/>
              </a:ext>
            </a:extLst>
          </p:cNvPr>
          <p:cNvSpPr txBox="1"/>
          <p:nvPr/>
        </p:nvSpPr>
        <p:spPr>
          <a:xfrm>
            <a:off x="7151111" y="3113129"/>
            <a:ext cx="13745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float** </a:t>
            </a:r>
            <a:r>
              <a:rPr lang="en-US" b="1" dirty="0" err="1">
                <a:solidFill>
                  <a:schemeClr val="tx1"/>
                </a:solidFill>
              </a:rPr>
              <a:t>dptr</a:t>
            </a:r>
            <a:endParaRPr lang="en-CA" dirty="0"/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4D456F5A-8A73-88E7-CCDD-5350A069CC60}"/>
              </a:ext>
            </a:extLst>
          </p:cNvPr>
          <p:cNvSpPr/>
          <p:nvPr/>
        </p:nvSpPr>
        <p:spPr>
          <a:xfrm flipH="1">
            <a:off x="8045327" y="3552457"/>
            <a:ext cx="833111" cy="262840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600" b="1" dirty="0">
              <a:solidFill>
                <a:schemeClr val="tx1"/>
              </a:solidFill>
            </a:endParaRP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AC5E2CEC-ACB1-0FCE-B945-202F176967F8}"/>
              </a:ext>
            </a:extLst>
          </p:cNvPr>
          <p:cNvSpPr/>
          <p:nvPr/>
        </p:nvSpPr>
        <p:spPr>
          <a:xfrm flipH="1">
            <a:off x="8045327" y="3810421"/>
            <a:ext cx="833111" cy="262840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600" b="1" dirty="0">
              <a:solidFill>
                <a:schemeClr val="tx1"/>
              </a:solidFill>
            </a:endParaRP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51271CA8-7A82-C326-4C3D-00F61646D20A}"/>
              </a:ext>
            </a:extLst>
          </p:cNvPr>
          <p:cNvSpPr/>
          <p:nvPr/>
        </p:nvSpPr>
        <p:spPr>
          <a:xfrm flipH="1">
            <a:off x="8044926" y="4332065"/>
            <a:ext cx="833111" cy="262840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600" b="1" dirty="0">
              <a:solidFill>
                <a:schemeClr val="tx1"/>
              </a:solidFill>
            </a:endParaRP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B62DA025-605F-11FA-3509-9FAC96E47EC4}"/>
              </a:ext>
            </a:extLst>
          </p:cNvPr>
          <p:cNvSpPr/>
          <p:nvPr/>
        </p:nvSpPr>
        <p:spPr>
          <a:xfrm flipH="1">
            <a:off x="8044926" y="4074667"/>
            <a:ext cx="833111" cy="262840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600" b="1" dirty="0">
              <a:solidFill>
                <a:schemeClr val="tx1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656483F-E713-E0DB-28E0-E4EB48C96B30}"/>
              </a:ext>
            </a:extLst>
          </p:cNvPr>
          <p:cNvSpPr txBox="1"/>
          <p:nvPr/>
        </p:nvSpPr>
        <p:spPr>
          <a:xfrm>
            <a:off x="6674982" y="3527937"/>
            <a:ext cx="6565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 err="1">
                <a:solidFill>
                  <a:schemeClr val="tx1"/>
                </a:solidFill>
              </a:rPr>
              <a:t>dptr</a:t>
            </a:r>
            <a:r>
              <a:rPr lang="en-US" sz="1200" b="1" dirty="0">
                <a:solidFill>
                  <a:schemeClr val="tx1"/>
                </a:solidFill>
              </a:rPr>
              <a:t>[0]</a:t>
            </a:r>
            <a:endParaRPr lang="en-CA" sz="1200" b="1" dirty="0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1C548DB-C7B6-FDA7-5D27-5E1116535E3D}"/>
              </a:ext>
            </a:extLst>
          </p:cNvPr>
          <p:cNvSpPr txBox="1"/>
          <p:nvPr/>
        </p:nvSpPr>
        <p:spPr>
          <a:xfrm>
            <a:off x="7217734" y="4321604"/>
            <a:ext cx="11655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</a:rPr>
              <a:t>0x 63120C</a:t>
            </a:r>
            <a:endParaRPr lang="en-CA" sz="1400" b="1" dirty="0">
              <a:solidFill>
                <a:srgbClr val="7030A0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935315D-5852-8A90-9F5E-4B8A601C63AD}"/>
              </a:ext>
            </a:extLst>
          </p:cNvPr>
          <p:cNvSpPr txBox="1"/>
          <p:nvPr/>
        </p:nvSpPr>
        <p:spPr>
          <a:xfrm>
            <a:off x="7217734" y="4076962"/>
            <a:ext cx="11655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</a:rPr>
              <a:t>0x 631208</a:t>
            </a:r>
            <a:endParaRPr lang="en-CA" sz="1400" b="1" dirty="0">
              <a:solidFill>
                <a:srgbClr val="7030A0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1B12B26-EDF2-4C9A-F1DC-BB81D1E63EF6}"/>
              </a:ext>
            </a:extLst>
          </p:cNvPr>
          <p:cNvSpPr txBox="1"/>
          <p:nvPr/>
        </p:nvSpPr>
        <p:spPr>
          <a:xfrm>
            <a:off x="7223230" y="3785954"/>
            <a:ext cx="11655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</a:rPr>
              <a:t>0x 631204</a:t>
            </a:r>
            <a:endParaRPr lang="en-CA" sz="1400" b="1" dirty="0">
              <a:solidFill>
                <a:srgbClr val="7030A0"/>
              </a:solidFill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23DE8D2-6FF1-569A-34AE-31270BA8E7BA}"/>
              </a:ext>
            </a:extLst>
          </p:cNvPr>
          <p:cNvSpPr txBox="1"/>
          <p:nvPr/>
        </p:nvSpPr>
        <p:spPr>
          <a:xfrm>
            <a:off x="7220360" y="3530195"/>
            <a:ext cx="11655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</a:rPr>
              <a:t>0x 631200</a:t>
            </a:r>
            <a:endParaRPr lang="en-CA" sz="1400" b="1" dirty="0">
              <a:solidFill>
                <a:srgbClr val="7030A0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2EEECC2-47AB-9CFA-111A-0C4D9835EFD3}"/>
              </a:ext>
            </a:extLst>
          </p:cNvPr>
          <p:cNvSpPr txBox="1"/>
          <p:nvPr/>
        </p:nvSpPr>
        <p:spPr>
          <a:xfrm>
            <a:off x="8016802" y="3530195"/>
            <a:ext cx="9145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chemeClr val="accent2"/>
                </a:solidFill>
              </a:rPr>
              <a:t>0x 21230</a:t>
            </a:r>
            <a:endParaRPr lang="en-CA" sz="1600" b="1" dirty="0">
              <a:solidFill>
                <a:schemeClr val="accent2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C78262D-9430-6671-B353-95C1CB2BCBAF}"/>
              </a:ext>
            </a:extLst>
          </p:cNvPr>
          <p:cNvSpPr txBox="1"/>
          <p:nvPr/>
        </p:nvSpPr>
        <p:spPr>
          <a:xfrm>
            <a:off x="8013826" y="3779292"/>
            <a:ext cx="9145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chemeClr val="accent2"/>
                </a:solidFill>
              </a:rPr>
              <a:t>0x A1E22</a:t>
            </a:r>
            <a:endParaRPr lang="en-CA" sz="1600" b="1" dirty="0">
              <a:solidFill>
                <a:schemeClr val="accent2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C426700-35EB-60A6-7170-37A4F4FB936D}"/>
              </a:ext>
            </a:extLst>
          </p:cNvPr>
          <p:cNvSpPr txBox="1"/>
          <p:nvPr/>
        </p:nvSpPr>
        <p:spPr>
          <a:xfrm>
            <a:off x="8012356" y="4048692"/>
            <a:ext cx="9145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chemeClr val="accent2"/>
                </a:solidFill>
              </a:rPr>
              <a:t>0x </a:t>
            </a:r>
            <a:r>
              <a:rPr lang="en-US" altLang="zh-CN" sz="1400" b="1" dirty="0">
                <a:solidFill>
                  <a:schemeClr val="accent2"/>
                </a:solidFill>
              </a:rPr>
              <a:t>FF3E2</a:t>
            </a:r>
            <a:endParaRPr lang="en-CA" sz="1600" b="1" dirty="0">
              <a:solidFill>
                <a:schemeClr val="accent2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356D406-1C99-4EDC-10B4-0D149636FA35}"/>
              </a:ext>
            </a:extLst>
          </p:cNvPr>
          <p:cNvSpPr txBox="1"/>
          <p:nvPr/>
        </p:nvSpPr>
        <p:spPr>
          <a:xfrm>
            <a:off x="8014746" y="4298308"/>
            <a:ext cx="9126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chemeClr val="accent2"/>
                </a:solidFill>
              </a:rPr>
              <a:t>0x 2E335</a:t>
            </a:r>
            <a:endParaRPr lang="en-CA" sz="1600" b="1" dirty="0">
              <a:solidFill>
                <a:schemeClr val="accent2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4A25D89-A5AE-32EF-043C-48FD042699E1}"/>
              </a:ext>
            </a:extLst>
          </p:cNvPr>
          <p:cNvSpPr txBox="1"/>
          <p:nvPr/>
        </p:nvSpPr>
        <p:spPr>
          <a:xfrm>
            <a:off x="6670481" y="3802688"/>
            <a:ext cx="6565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 err="1">
                <a:solidFill>
                  <a:schemeClr val="tx1"/>
                </a:solidFill>
              </a:rPr>
              <a:t>dptr</a:t>
            </a:r>
            <a:r>
              <a:rPr lang="en-US" sz="1200" b="1" dirty="0">
                <a:solidFill>
                  <a:schemeClr val="tx1"/>
                </a:solidFill>
              </a:rPr>
              <a:t>[</a:t>
            </a:r>
            <a:r>
              <a:rPr lang="en-US" sz="1200" b="1" dirty="0"/>
              <a:t>1</a:t>
            </a:r>
            <a:r>
              <a:rPr lang="en-US" sz="1200" b="1" dirty="0">
                <a:solidFill>
                  <a:schemeClr val="tx1"/>
                </a:solidFill>
              </a:rPr>
              <a:t>]</a:t>
            </a:r>
            <a:endParaRPr lang="en-CA" sz="1200" b="1" dirty="0">
              <a:solidFill>
                <a:schemeClr val="tx1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0F9A369-2A60-552D-BE89-4402470F3789}"/>
              </a:ext>
            </a:extLst>
          </p:cNvPr>
          <p:cNvSpPr txBox="1"/>
          <p:nvPr/>
        </p:nvSpPr>
        <p:spPr>
          <a:xfrm>
            <a:off x="6673292" y="4070907"/>
            <a:ext cx="6565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 err="1">
                <a:solidFill>
                  <a:schemeClr val="tx1"/>
                </a:solidFill>
              </a:rPr>
              <a:t>dptr</a:t>
            </a:r>
            <a:r>
              <a:rPr lang="en-US" sz="1200" b="1" dirty="0">
                <a:solidFill>
                  <a:schemeClr val="tx1"/>
                </a:solidFill>
              </a:rPr>
              <a:t>[2]</a:t>
            </a:r>
            <a:endParaRPr lang="en-CA" sz="1200" b="1" dirty="0">
              <a:solidFill>
                <a:schemeClr val="tx1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AD4546E-24E2-7639-533D-F79A7BC4DB01}"/>
              </a:ext>
            </a:extLst>
          </p:cNvPr>
          <p:cNvSpPr txBox="1"/>
          <p:nvPr/>
        </p:nvSpPr>
        <p:spPr>
          <a:xfrm>
            <a:off x="6682001" y="4316777"/>
            <a:ext cx="6565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 err="1">
                <a:solidFill>
                  <a:schemeClr val="tx1"/>
                </a:solidFill>
              </a:rPr>
              <a:t>dptr</a:t>
            </a:r>
            <a:r>
              <a:rPr lang="en-US" sz="1200" b="1" dirty="0">
                <a:solidFill>
                  <a:schemeClr val="tx1"/>
                </a:solidFill>
              </a:rPr>
              <a:t>[3]</a:t>
            </a:r>
            <a:endParaRPr lang="en-CA" sz="1200" b="1" dirty="0">
              <a:solidFill>
                <a:schemeClr val="tx1"/>
              </a:solidFill>
            </a:endParaRPr>
          </a:p>
        </p:txBody>
      </p:sp>
      <p:sp>
        <p:nvSpPr>
          <p:cNvPr id="90" name="Left Brace 89">
            <a:extLst>
              <a:ext uri="{FF2B5EF4-FFF2-40B4-BE49-F238E27FC236}">
                <a16:creationId xmlns:a16="http://schemas.microsoft.com/office/drawing/2014/main" id="{CDE2390A-0BA3-F643-EE05-D87CD0793540}"/>
              </a:ext>
            </a:extLst>
          </p:cNvPr>
          <p:cNvSpPr/>
          <p:nvPr/>
        </p:nvSpPr>
        <p:spPr>
          <a:xfrm>
            <a:off x="6515699" y="3555522"/>
            <a:ext cx="202353" cy="986339"/>
          </a:xfrm>
          <a:prstGeom prst="leftBrac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0B9D1FBE-394D-D06B-B2AD-DCC628563AE5}"/>
              </a:ext>
            </a:extLst>
          </p:cNvPr>
          <p:cNvSpPr txBox="1"/>
          <p:nvPr/>
        </p:nvSpPr>
        <p:spPr>
          <a:xfrm>
            <a:off x="6118660" y="3803136"/>
            <a:ext cx="3657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b="1" dirty="0">
                <a:solidFill>
                  <a:srgbClr val="0070C0"/>
                </a:solidFill>
              </a:rPr>
              <a:t>m</a:t>
            </a:r>
            <a:endParaRPr lang="en-US" sz="2400" dirty="0"/>
          </a:p>
        </p:txBody>
      </p:sp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7497FD27-2169-63D7-7F71-7D4B1E996F1A}"/>
              </a:ext>
            </a:extLst>
          </p:cNvPr>
          <p:cNvSpPr/>
          <p:nvPr/>
        </p:nvSpPr>
        <p:spPr>
          <a:xfrm>
            <a:off x="9395093" y="3313482"/>
            <a:ext cx="347473" cy="3385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?</a:t>
            </a:r>
            <a:endParaRPr lang="en-CA" sz="1600" dirty="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F5489206-3F89-DAD4-06F8-1ECCCBE0D0A1}"/>
              </a:ext>
            </a:extLst>
          </p:cNvPr>
          <p:cNvSpPr txBox="1"/>
          <p:nvPr/>
        </p:nvSpPr>
        <p:spPr>
          <a:xfrm>
            <a:off x="9197195" y="3032698"/>
            <a:ext cx="7592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</a:rPr>
              <a:t>0x 21230</a:t>
            </a:r>
            <a:endParaRPr lang="en-CA" sz="1400" b="1" dirty="0">
              <a:solidFill>
                <a:srgbClr val="7030A0"/>
              </a:solidFill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1FCF97E1-FB98-D6A3-B63A-5B74158A985C}"/>
              </a:ext>
            </a:extLst>
          </p:cNvPr>
          <p:cNvSpPr txBox="1"/>
          <p:nvPr/>
        </p:nvSpPr>
        <p:spPr>
          <a:xfrm>
            <a:off x="10506679" y="3360538"/>
            <a:ext cx="3474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…</a:t>
            </a:r>
          </a:p>
        </p:txBody>
      </p: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4FE362E0-FBCB-FC9A-E90F-B8E48D007053}"/>
              </a:ext>
            </a:extLst>
          </p:cNvPr>
          <p:cNvSpPr/>
          <p:nvPr/>
        </p:nvSpPr>
        <p:spPr>
          <a:xfrm>
            <a:off x="9782671" y="3308059"/>
            <a:ext cx="347473" cy="3385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?</a:t>
            </a:r>
            <a:endParaRPr lang="en-CA" sz="1600" dirty="0"/>
          </a:p>
        </p:txBody>
      </p:sp>
      <p:sp>
        <p:nvSpPr>
          <p:cNvPr id="101" name="Rectangle: Rounded Corners 100">
            <a:extLst>
              <a:ext uri="{FF2B5EF4-FFF2-40B4-BE49-F238E27FC236}">
                <a16:creationId xmlns:a16="http://schemas.microsoft.com/office/drawing/2014/main" id="{773BD432-9AA8-93EF-9B73-2EB7613F5708}"/>
              </a:ext>
            </a:extLst>
          </p:cNvPr>
          <p:cNvSpPr/>
          <p:nvPr/>
        </p:nvSpPr>
        <p:spPr>
          <a:xfrm>
            <a:off x="10159206" y="3309573"/>
            <a:ext cx="347473" cy="3385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?</a:t>
            </a:r>
            <a:endParaRPr lang="en-CA" sz="1600" dirty="0"/>
          </a:p>
        </p:txBody>
      </p: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96132E16-467D-CEBA-5B04-8C4C8D93DEE2}"/>
              </a:ext>
            </a:extLst>
          </p:cNvPr>
          <p:cNvSpPr/>
          <p:nvPr/>
        </p:nvSpPr>
        <p:spPr>
          <a:xfrm>
            <a:off x="10814794" y="3305365"/>
            <a:ext cx="347473" cy="3385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?</a:t>
            </a:r>
            <a:endParaRPr lang="en-CA" sz="1600" dirty="0"/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A1288CCA-23B5-6267-8C10-3DE38CD7954D}"/>
              </a:ext>
            </a:extLst>
          </p:cNvPr>
          <p:cNvCxnSpPr>
            <a:stCxn id="81" idx="3"/>
            <a:endCxn id="97" idx="1"/>
          </p:cNvCxnSpPr>
          <p:nvPr/>
        </p:nvCxnSpPr>
        <p:spPr>
          <a:xfrm flipV="1">
            <a:off x="8931334" y="3482759"/>
            <a:ext cx="463759" cy="2013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5" name="Rectangle: Rounded Corners 104">
            <a:extLst>
              <a:ext uri="{FF2B5EF4-FFF2-40B4-BE49-F238E27FC236}">
                <a16:creationId xmlns:a16="http://schemas.microsoft.com/office/drawing/2014/main" id="{F2EBBBD5-D7F9-95CF-D48A-FBC7B97617E6}"/>
              </a:ext>
            </a:extLst>
          </p:cNvPr>
          <p:cNvSpPr/>
          <p:nvPr/>
        </p:nvSpPr>
        <p:spPr>
          <a:xfrm>
            <a:off x="9399440" y="3997112"/>
            <a:ext cx="347473" cy="3385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?</a:t>
            </a:r>
            <a:endParaRPr lang="en-CA" sz="1600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A0AC92BD-EE8C-A404-D086-4A573B49C862}"/>
              </a:ext>
            </a:extLst>
          </p:cNvPr>
          <p:cNvSpPr txBox="1"/>
          <p:nvPr/>
        </p:nvSpPr>
        <p:spPr>
          <a:xfrm>
            <a:off x="9201542" y="3716328"/>
            <a:ext cx="8956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</a:rPr>
              <a:t>0x A1E22</a:t>
            </a:r>
            <a:endParaRPr lang="en-CA" sz="1400" b="1" dirty="0">
              <a:solidFill>
                <a:srgbClr val="7030A0"/>
              </a:solidFill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59399FC8-F578-1A4D-686B-ADFFB1994CAC}"/>
              </a:ext>
            </a:extLst>
          </p:cNvPr>
          <p:cNvSpPr txBox="1"/>
          <p:nvPr/>
        </p:nvSpPr>
        <p:spPr>
          <a:xfrm>
            <a:off x="10511026" y="4044168"/>
            <a:ext cx="3474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…</a:t>
            </a:r>
          </a:p>
        </p:txBody>
      </p: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36F47DA8-6792-6CC6-5E42-F509456A6049}"/>
              </a:ext>
            </a:extLst>
          </p:cNvPr>
          <p:cNvSpPr/>
          <p:nvPr/>
        </p:nvSpPr>
        <p:spPr>
          <a:xfrm>
            <a:off x="9787018" y="3991689"/>
            <a:ext cx="347473" cy="3385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?</a:t>
            </a:r>
            <a:endParaRPr lang="en-CA" sz="1600" dirty="0"/>
          </a:p>
        </p:txBody>
      </p:sp>
      <p:sp>
        <p:nvSpPr>
          <p:cNvPr id="109" name="Rectangle: Rounded Corners 108">
            <a:extLst>
              <a:ext uri="{FF2B5EF4-FFF2-40B4-BE49-F238E27FC236}">
                <a16:creationId xmlns:a16="http://schemas.microsoft.com/office/drawing/2014/main" id="{11CAD34C-4ADF-D104-18E9-3531DD2F7D8C}"/>
              </a:ext>
            </a:extLst>
          </p:cNvPr>
          <p:cNvSpPr/>
          <p:nvPr/>
        </p:nvSpPr>
        <p:spPr>
          <a:xfrm>
            <a:off x="10163553" y="3993203"/>
            <a:ext cx="347473" cy="3385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?</a:t>
            </a:r>
            <a:endParaRPr lang="en-CA" sz="1600" dirty="0"/>
          </a:p>
        </p:txBody>
      </p:sp>
      <p:sp>
        <p:nvSpPr>
          <p:cNvPr id="110" name="Rectangle: Rounded Corners 109">
            <a:extLst>
              <a:ext uri="{FF2B5EF4-FFF2-40B4-BE49-F238E27FC236}">
                <a16:creationId xmlns:a16="http://schemas.microsoft.com/office/drawing/2014/main" id="{A0965754-899B-7011-B596-30F85EAB2636}"/>
              </a:ext>
            </a:extLst>
          </p:cNvPr>
          <p:cNvSpPr/>
          <p:nvPr/>
        </p:nvSpPr>
        <p:spPr>
          <a:xfrm>
            <a:off x="10819141" y="3988995"/>
            <a:ext cx="347473" cy="3385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?</a:t>
            </a:r>
            <a:endParaRPr lang="en-CA" sz="1600" dirty="0"/>
          </a:p>
        </p:txBody>
      </p: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78C99B24-6305-60E7-5937-A647634E0ED3}"/>
              </a:ext>
            </a:extLst>
          </p:cNvPr>
          <p:cNvCxnSpPr>
            <a:cxnSpLocks/>
            <a:stCxn id="82" idx="3"/>
            <a:endCxn id="105" idx="1"/>
          </p:cNvCxnSpPr>
          <p:nvPr/>
        </p:nvCxnSpPr>
        <p:spPr>
          <a:xfrm>
            <a:off x="8928358" y="3933181"/>
            <a:ext cx="471082" cy="23320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E03EE842-9CF5-A1B3-E9CB-4481FEA6FEEA}"/>
              </a:ext>
            </a:extLst>
          </p:cNvPr>
          <p:cNvSpPr/>
          <p:nvPr/>
        </p:nvSpPr>
        <p:spPr>
          <a:xfrm>
            <a:off x="9403069" y="4714471"/>
            <a:ext cx="347473" cy="3385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?</a:t>
            </a:r>
            <a:endParaRPr lang="en-CA" sz="1600" dirty="0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52C80B76-8CAF-2784-E645-4483DBA8DF48}"/>
              </a:ext>
            </a:extLst>
          </p:cNvPr>
          <p:cNvSpPr txBox="1"/>
          <p:nvPr/>
        </p:nvSpPr>
        <p:spPr>
          <a:xfrm>
            <a:off x="9205171" y="4433687"/>
            <a:ext cx="8956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</a:rPr>
              <a:t>0x FF3E2</a:t>
            </a:r>
            <a:endParaRPr lang="en-CA" sz="1400" b="1" dirty="0">
              <a:solidFill>
                <a:srgbClr val="7030A0"/>
              </a:solidFill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DDB4844A-DA0A-10EF-34B3-77AFAB658F7A}"/>
              </a:ext>
            </a:extLst>
          </p:cNvPr>
          <p:cNvSpPr txBox="1"/>
          <p:nvPr/>
        </p:nvSpPr>
        <p:spPr>
          <a:xfrm>
            <a:off x="10514655" y="4761527"/>
            <a:ext cx="3474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…</a:t>
            </a:r>
          </a:p>
        </p:txBody>
      </p:sp>
      <p:sp>
        <p:nvSpPr>
          <p:cNvPr id="117" name="Rectangle: Rounded Corners 116">
            <a:extLst>
              <a:ext uri="{FF2B5EF4-FFF2-40B4-BE49-F238E27FC236}">
                <a16:creationId xmlns:a16="http://schemas.microsoft.com/office/drawing/2014/main" id="{D7C90625-9D6C-2934-2A94-57C08394B9AB}"/>
              </a:ext>
            </a:extLst>
          </p:cNvPr>
          <p:cNvSpPr/>
          <p:nvPr/>
        </p:nvSpPr>
        <p:spPr>
          <a:xfrm>
            <a:off x="9790647" y="4709048"/>
            <a:ext cx="347473" cy="3385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?</a:t>
            </a:r>
            <a:endParaRPr lang="en-CA" sz="1600" dirty="0"/>
          </a:p>
        </p:txBody>
      </p:sp>
      <p:sp>
        <p:nvSpPr>
          <p:cNvPr id="118" name="Rectangle: Rounded Corners 117">
            <a:extLst>
              <a:ext uri="{FF2B5EF4-FFF2-40B4-BE49-F238E27FC236}">
                <a16:creationId xmlns:a16="http://schemas.microsoft.com/office/drawing/2014/main" id="{4F74086F-DDC2-6C23-B9F7-61AC050D7669}"/>
              </a:ext>
            </a:extLst>
          </p:cNvPr>
          <p:cNvSpPr/>
          <p:nvPr/>
        </p:nvSpPr>
        <p:spPr>
          <a:xfrm>
            <a:off x="10167182" y="4710562"/>
            <a:ext cx="347473" cy="3385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?</a:t>
            </a:r>
            <a:endParaRPr lang="en-CA" sz="1600" dirty="0"/>
          </a:p>
        </p:txBody>
      </p:sp>
      <p:sp>
        <p:nvSpPr>
          <p:cNvPr id="119" name="Rectangle: Rounded Corners 118">
            <a:extLst>
              <a:ext uri="{FF2B5EF4-FFF2-40B4-BE49-F238E27FC236}">
                <a16:creationId xmlns:a16="http://schemas.microsoft.com/office/drawing/2014/main" id="{8316A23C-A675-E7F5-117F-58BF24146F9E}"/>
              </a:ext>
            </a:extLst>
          </p:cNvPr>
          <p:cNvSpPr/>
          <p:nvPr/>
        </p:nvSpPr>
        <p:spPr>
          <a:xfrm>
            <a:off x="10822770" y="4706354"/>
            <a:ext cx="347473" cy="3385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?</a:t>
            </a:r>
            <a:endParaRPr lang="en-CA" sz="1600" dirty="0"/>
          </a:p>
        </p:txBody>
      </p: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528B54B8-93BB-5E4B-3280-3BA59DB7A8E0}"/>
              </a:ext>
            </a:extLst>
          </p:cNvPr>
          <p:cNvCxnSpPr>
            <a:cxnSpLocks/>
            <a:stCxn id="83" idx="3"/>
            <a:endCxn id="114" idx="1"/>
          </p:cNvCxnSpPr>
          <p:nvPr/>
        </p:nvCxnSpPr>
        <p:spPr>
          <a:xfrm>
            <a:off x="8926888" y="4202581"/>
            <a:ext cx="476181" cy="68116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4" name="Rectangle: Rounded Corners 123">
            <a:extLst>
              <a:ext uri="{FF2B5EF4-FFF2-40B4-BE49-F238E27FC236}">
                <a16:creationId xmlns:a16="http://schemas.microsoft.com/office/drawing/2014/main" id="{6A477CBB-5AFD-61E5-ED5A-7455E5775137}"/>
              </a:ext>
            </a:extLst>
          </p:cNvPr>
          <p:cNvSpPr/>
          <p:nvPr/>
        </p:nvSpPr>
        <p:spPr>
          <a:xfrm>
            <a:off x="9411778" y="5398132"/>
            <a:ext cx="347473" cy="3385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?</a:t>
            </a:r>
            <a:endParaRPr lang="en-CA" sz="1600" dirty="0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CDF09B01-59D5-D32B-646C-866A935AF9AE}"/>
              </a:ext>
            </a:extLst>
          </p:cNvPr>
          <p:cNvSpPr txBox="1"/>
          <p:nvPr/>
        </p:nvSpPr>
        <p:spPr>
          <a:xfrm>
            <a:off x="9213880" y="5117348"/>
            <a:ext cx="8956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</a:rPr>
              <a:t>0x 2E335</a:t>
            </a:r>
            <a:endParaRPr lang="en-CA" sz="1400" b="1" dirty="0">
              <a:solidFill>
                <a:srgbClr val="7030A0"/>
              </a:solidFill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A2EFD52A-045E-58B7-922E-72AB6DC07FA4}"/>
              </a:ext>
            </a:extLst>
          </p:cNvPr>
          <p:cNvSpPr txBox="1"/>
          <p:nvPr/>
        </p:nvSpPr>
        <p:spPr>
          <a:xfrm>
            <a:off x="10523364" y="5445188"/>
            <a:ext cx="3474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…</a:t>
            </a:r>
          </a:p>
        </p:txBody>
      </p:sp>
      <p:sp>
        <p:nvSpPr>
          <p:cNvPr id="127" name="Rectangle: Rounded Corners 126">
            <a:extLst>
              <a:ext uri="{FF2B5EF4-FFF2-40B4-BE49-F238E27FC236}">
                <a16:creationId xmlns:a16="http://schemas.microsoft.com/office/drawing/2014/main" id="{4521BB40-B288-5023-D1DB-3D83E7B6A74D}"/>
              </a:ext>
            </a:extLst>
          </p:cNvPr>
          <p:cNvSpPr/>
          <p:nvPr/>
        </p:nvSpPr>
        <p:spPr>
          <a:xfrm>
            <a:off x="9799356" y="5392709"/>
            <a:ext cx="347473" cy="3385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?</a:t>
            </a:r>
            <a:endParaRPr lang="en-CA" sz="1600" dirty="0"/>
          </a:p>
        </p:txBody>
      </p:sp>
      <p:sp>
        <p:nvSpPr>
          <p:cNvPr id="128" name="Rectangle: Rounded Corners 127">
            <a:extLst>
              <a:ext uri="{FF2B5EF4-FFF2-40B4-BE49-F238E27FC236}">
                <a16:creationId xmlns:a16="http://schemas.microsoft.com/office/drawing/2014/main" id="{74BBDC60-8EE2-A83A-5110-43F4F03505DC}"/>
              </a:ext>
            </a:extLst>
          </p:cNvPr>
          <p:cNvSpPr/>
          <p:nvPr/>
        </p:nvSpPr>
        <p:spPr>
          <a:xfrm>
            <a:off x="10175891" y="5394223"/>
            <a:ext cx="347473" cy="3385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?</a:t>
            </a:r>
            <a:endParaRPr lang="en-CA" sz="1600" dirty="0"/>
          </a:p>
        </p:txBody>
      </p:sp>
      <p:sp>
        <p:nvSpPr>
          <p:cNvPr id="129" name="Rectangle: Rounded Corners 128">
            <a:extLst>
              <a:ext uri="{FF2B5EF4-FFF2-40B4-BE49-F238E27FC236}">
                <a16:creationId xmlns:a16="http://schemas.microsoft.com/office/drawing/2014/main" id="{FC494C54-E3DB-7A70-BFD8-6DDA21BF391B}"/>
              </a:ext>
            </a:extLst>
          </p:cNvPr>
          <p:cNvSpPr/>
          <p:nvPr/>
        </p:nvSpPr>
        <p:spPr>
          <a:xfrm>
            <a:off x="10831479" y="5390015"/>
            <a:ext cx="347473" cy="3385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?</a:t>
            </a:r>
            <a:endParaRPr lang="en-CA" sz="1600" dirty="0"/>
          </a:p>
        </p:txBody>
      </p: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D12095DB-7361-D400-60E0-1BB9F2F68E6B}"/>
              </a:ext>
            </a:extLst>
          </p:cNvPr>
          <p:cNvCxnSpPr>
            <a:cxnSpLocks/>
            <a:stCxn id="84" idx="3"/>
            <a:endCxn id="124" idx="1"/>
          </p:cNvCxnSpPr>
          <p:nvPr/>
        </p:nvCxnSpPr>
        <p:spPr>
          <a:xfrm>
            <a:off x="8927403" y="4452197"/>
            <a:ext cx="484375" cy="111521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4" name="Left Brace 133">
            <a:extLst>
              <a:ext uri="{FF2B5EF4-FFF2-40B4-BE49-F238E27FC236}">
                <a16:creationId xmlns:a16="http://schemas.microsoft.com/office/drawing/2014/main" id="{09D5FB48-8E31-DBE9-3723-17F6FEA89BE4}"/>
              </a:ext>
            </a:extLst>
          </p:cNvPr>
          <p:cNvSpPr/>
          <p:nvPr/>
        </p:nvSpPr>
        <p:spPr>
          <a:xfrm rot="5400000">
            <a:off x="10115324" y="2082219"/>
            <a:ext cx="255018" cy="1695481"/>
          </a:xfrm>
          <a:prstGeom prst="leftBrac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264BC79D-A3D0-9C2A-E068-AE568CCE930F}"/>
              </a:ext>
            </a:extLst>
          </p:cNvPr>
          <p:cNvSpPr txBox="1"/>
          <p:nvPr/>
        </p:nvSpPr>
        <p:spPr>
          <a:xfrm>
            <a:off x="10082303" y="2422452"/>
            <a:ext cx="3657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b="1" dirty="0">
                <a:solidFill>
                  <a:srgbClr val="0070C0"/>
                </a:solidFill>
              </a:rPr>
              <a:t>n</a:t>
            </a:r>
            <a:endParaRPr lang="en-US" sz="2400" dirty="0"/>
          </a:p>
        </p:txBody>
      </p:sp>
      <p:sp>
        <p:nvSpPr>
          <p:cNvPr id="2" name="Speech Bubble: Rectangle 1">
            <a:extLst>
              <a:ext uri="{FF2B5EF4-FFF2-40B4-BE49-F238E27FC236}">
                <a16:creationId xmlns:a16="http://schemas.microsoft.com/office/drawing/2014/main" id="{CE57BF19-99FE-D456-212D-66F98D394C35}"/>
              </a:ext>
            </a:extLst>
          </p:cNvPr>
          <p:cNvSpPr/>
          <p:nvPr/>
        </p:nvSpPr>
        <p:spPr>
          <a:xfrm>
            <a:off x="6480998" y="5239097"/>
            <a:ext cx="2107642" cy="510600"/>
          </a:xfrm>
          <a:prstGeom prst="wedgeRectCallout">
            <a:avLst>
              <a:gd name="adj1" fmla="val -72828"/>
              <a:gd name="adj2" fmla="val 18208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b="1" dirty="0">
                <a:solidFill>
                  <a:schemeClr val="tx1"/>
                </a:solidFill>
              </a:rPr>
              <a:t>Try accessing </a:t>
            </a:r>
            <a:r>
              <a:rPr lang="en-CA" sz="1600" b="1" dirty="0" err="1">
                <a:solidFill>
                  <a:schemeClr val="tx1"/>
                </a:solidFill>
              </a:rPr>
              <a:t>dptr</a:t>
            </a:r>
            <a:r>
              <a:rPr lang="en-CA" sz="1600" b="1" dirty="0">
                <a:solidFill>
                  <a:schemeClr val="tx1"/>
                </a:solidFill>
              </a:rPr>
              <a:t>[</a:t>
            </a:r>
            <a:r>
              <a:rPr lang="en-CA" sz="1600" b="1" dirty="0" err="1">
                <a:solidFill>
                  <a:schemeClr val="tx1"/>
                </a:solidFill>
              </a:rPr>
              <a:t>i</a:t>
            </a:r>
            <a:r>
              <a:rPr lang="en-CA" sz="1600" b="1" dirty="0">
                <a:solidFill>
                  <a:schemeClr val="tx1"/>
                </a:solidFill>
              </a:rPr>
              <a:t>][j] without </a:t>
            </a:r>
            <a:r>
              <a:rPr lang="en-CA" sz="1600" b="1" dirty="0" err="1">
                <a:solidFill>
                  <a:schemeClr val="tx1"/>
                </a:solidFill>
              </a:rPr>
              <a:t>dptr</a:t>
            </a:r>
            <a:r>
              <a:rPr lang="en-CA" sz="1600" b="1" dirty="0">
                <a:solidFill>
                  <a:schemeClr val="tx1"/>
                </a:solidFill>
              </a:rPr>
              <a:t> = NULL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CBD64CE-C5E0-F07F-CE80-0B9069CDEE96}"/>
              </a:ext>
            </a:extLst>
          </p:cNvPr>
          <p:cNvSpPr/>
          <p:nvPr/>
        </p:nvSpPr>
        <p:spPr>
          <a:xfrm>
            <a:off x="9015984" y="579754"/>
            <a:ext cx="2201362" cy="404238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L9Ex3-DMA2D-M1.c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9594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 tmFilter="0, 0; .2, .5; .8, .5; 1, 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" dur="250" autoRev="1" fill="hold"/>
                                        <p:tgtEl>
                                          <p:spTgt spid="8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3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2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6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2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9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2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42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2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45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 tmFilter="0, 0; .2, .5; .8, .5; 1, 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7" dur="250" autoRev="1" fill="hold"/>
                                        <p:tgtEl>
                                          <p:spTgt spid="8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1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2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4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2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2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70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2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73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0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0" presetClass="exit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 tmFilter="0, 0; .2, .5; .8, .5; 1, 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5" dur="250" autoRev="1" fill="hold"/>
                                        <p:tgtEl>
                                          <p:spTgt spid="8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89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2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92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2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95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2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98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2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01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0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0" presetClass="exit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" dur="500" tmFilter="0, 0; .2, .5; .8, .5; 1, 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3" dur="250" autoRev="1" fill="hold"/>
                                        <p:tgtEl>
                                          <p:spTgt spid="8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17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2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20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2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23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2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26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2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29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0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2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0" presetClass="exit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5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0" dur="500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500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4" dur="500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500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5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59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5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7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7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7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8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8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8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8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9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95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98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3" dur="5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4" dur="5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6" presetID="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7" dur="500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8" dur="500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3" dur="500" tmFilter="0, 0; .2, .5; .8, .5; 1, 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4" dur="250" autoRev="1" fill="hold"/>
                                        <p:tgtEl>
                                          <p:spTgt spid="7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1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6" dur="500" tmFilter="0, 0; .2, .5; .8, .5; 1, 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7" dur="250" autoRev="1" fill="hold"/>
                                        <p:tgtEl>
                                          <p:spTgt spid="4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>
                      <p:stCondLst>
                        <p:cond delay="indefinite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2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48" grpId="0"/>
      <p:bldP spid="69" grpId="0" animBg="1"/>
      <p:bldP spid="70" grpId="0" animBg="1"/>
      <p:bldP spid="71" grpId="0" animBg="1"/>
      <p:bldP spid="72" grpId="0" animBg="1"/>
      <p:bldP spid="73" grpId="0"/>
      <p:bldP spid="74" grpId="0"/>
      <p:bldP spid="75" grpId="0"/>
      <p:bldP spid="76" grpId="0"/>
      <p:bldP spid="77" grpId="0"/>
      <p:bldP spid="77" grpId="1"/>
      <p:bldP spid="81" grpId="0"/>
      <p:bldP spid="81" grpId="1"/>
      <p:bldP spid="82" grpId="0"/>
      <p:bldP spid="82" grpId="1"/>
      <p:bldP spid="83" grpId="0"/>
      <p:bldP spid="83" grpId="1"/>
      <p:bldP spid="84" grpId="0"/>
      <p:bldP spid="84" grpId="1"/>
      <p:bldP spid="87" grpId="0"/>
      <p:bldP spid="88" grpId="0"/>
      <p:bldP spid="89" grpId="0"/>
      <p:bldP spid="90" grpId="0" animBg="1"/>
      <p:bldP spid="92" grpId="0"/>
      <p:bldP spid="97" grpId="0" animBg="1"/>
      <p:bldP spid="98" grpId="0"/>
      <p:bldP spid="99" grpId="0"/>
      <p:bldP spid="100" grpId="0" animBg="1"/>
      <p:bldP spid="101" grpId="0" animBg="1"/>
      <p:bldP spid="102" grpId="0" animBg="1"/>
      <p:bldP spid="105" grpId="0" animBg="1"/>
      <p:bldP spid="106" grpId="0"/>
      <p:bldP spid="107" grpId="0"/>
      <p:bldP spid="108" grpId="0" animBg="1"/>
      <p:bldP spid="109" grpId="0" animBg="1"/>
      <p:bldP spid="110" grpId="0" animBg="1"/>
      <p:bldP spid="114" grpId="0" animBg="1"/>
      <p:bldP spid="115" grpId="0"/>
      <p:bldP spid="116" grpId="0"/>
      <p:bldP spid="117" grpId="0" animBg="1"/>
      <p:bldP spid="118" grpId="0" animBg="1"/>
      <p:bldP spid="119" grpId="0" animBg="1"/>
      <p:bldP spid="124" grpId="0" animBg="1"/>
      <p:bldP spid="125" grpId="0"/>
      <p:bldP spid="126" grpId="0"/>
      <p:bldP spid="127" grpId="0" animBg="1"/>
      <p:bldP spid="128" grpId="0" animBg="1"/>
      <p:bldP spid="129" grpId="0" animBg="1"/>
      <p:bldP spid="134" grpId="0" animBg="1"/>
      <p:bldP spid="135" grpId="0"/>
      <p:bldP spid="2" grpId="0" animBg="1"/>
      <p:bldP spid="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7" y="585288"/>
            <a:ext cx="912374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DMA for 2D Arrays - 3 Methods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563637"/>
            <a:ext cx="1052668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>
                <a:solidFill>
                  <a:srgbClr val="0000FF"/>
                </a:solidFill>
              </a:rPr>
              <a:t>Method 2:</a:t>
            </a:r>
            <a:r>
              <a:rPr lang="en-CA" sz="2200" dirty="0"/>
              <a:t> Double Pointer + Massive Linear Array (Stack Style)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chemeClr val="accent6"/>
                </a:solidFill>
              </a:rPr>
              <a:t>Allocation</a:t>
            </a:r>
            <a:r>
              <a:rPr lang="en-CA" dirty="0"/>
              <a:t> Process for “simulated” </a:t>
            </a:r>
            <a:r>
              <a:rPr lang="en-CA" b="1" dirty="0"/>
              <a:t>m x n </a:t>
            </a:r>
            <a:r>
              <a:rPr lang="en-CA" dirty="0"/>
              <a:t>2D array on heap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20</a:t>
            </a:fld>
            <a:endParaRPr lang="en-CA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A857EB5-0271-3EDA-9E76-8C02F14691EF}"/>
              </a:ext>
            </a:extLst>
          </p:cNvPr>
          <p:cNvSpPr txBox="1"/>
          <p:nvPr/>
        </p:nvSpPr>
        <p:spPr>
          <a:xfrm>
            <a:off x="924179" y="2317525"/>
            <a:ext cx="5080755" cy="3416320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m, n,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 **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dptr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For pointer lookup table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 *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  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For the single massive linear array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(“Provide Size 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m,n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): ”);</a:t>
            </a: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scanf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(“%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d,%d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”, &amp;m, &amp;n);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Allocate pointer lookup table (</a:t>
            </a:r>
            <a:r>
              <a:rPr lang="en-US" sz="1200" b="1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ie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 dim. m)</a:t>
            </a: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dptr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float**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)malloc( m * </a:t>
            </a:r>
            <a:r>
              <a:rPr lang="en-US" sz="12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float*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 );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Allocate single linear array</a:t>
            </a: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float*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)malloc( m * n * </a:t>
            </a:r>
            <a:r>
              <a:rPr lang="en-US" sz="12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 );</a:t>
            </a:r>
          </a:p>
          <a:p>
            <a:endParaRPr lang="en-US" sz="12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Then, link the lookup table elements to array</a:t>
            </a:r>
            <a:endParaRPr lang="en-US" sz="12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&lt; m;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++ )</a:t>
            </a:r>
          </a:p>
          <a:p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dptr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* n;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dptr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[1][1] = 10.000;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can use double-index notation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CEA9135-FE10-68BC-C6D3-5675F743D47D}"/>
              </a:ext>
            </a:extLst>
          </p:cNvPr>
          <p:cNvSpPr txBox="1"/>
          <p:nvPr/>
        </p:nvSpPr>
        <p:spPr>
          <a:xfrm>
            <a:off x="7050527" y="3113129"/>
            <a:ext cx="13745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float** </a:t>
            </a:r>
            <a:r>
              <a:rPr lang="en-US" b="1" dirty="0" err="1">
                <a:solidFill>
                  <a:schemeClr val="tx1"/>
                </a:solidFill>
              </a:rPr>
              <a:t>dptr</a:t>
            </a:r>
            <a:endParaRPr lang="en-CA" dirty="0"/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4D456F5A-8A73-88E7-CCDD-5350A069CC60}"/>
              </a:ext>
            </a:extLst>
          </p:cNvPr>
          <p:cNvSpPr/>
          <p:nvPr/>
        </p:nvSpPr>
        <p:spPr>
          <a:xfrm flipH="1">
            <a:off x="7944743" y="3552457"/>
            <a:ext cx="833111" cy="262840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600" b="1" dirty="0">
              <a:solidFill>
                <a:schemeClr val="tx1"/>
              </a:solidFill>
            </a:endParaRP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AC5E2CEC-ACB1-0FCE-B945-202F176967F8}"/>
              </a:ext>
            </a:extLst>
          </p:cNvPr>
          <p:cNvSpPr/>
          <p:nvPr/>
        </p:nvSpPr>
        <p:spPr>
          <a:xfrm flipH="1">
            <a:off x="7944743" y="3810421"/>
            <a:ext cx="833111" cy="262840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600" b="1" dirty="0">
              <a:solidFill>
                <a:schemeClr val="tx1"/>
              </a:solidFill>
            </a:endParaRP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51271CA8-7A82-C326-4C3D-00F61646D20A}"/>
              </a:ext>
            </a:extLst>
          </p:cNvPr>
          <p:cNvSpPr/>
          <p:nvPr/>
        </p:nvSpPr>
        <p:spPr>
          <a:xfrm flipH="1">
            <a:off x="7944342" y="4332065"/>
            <a:ext cx="833111" cy="262840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600" b="1" dirty="0">
              <a:solidFill>
                <a:schemeClr val="tx1"/>
              </a:solidFill>
            </a:endParaRP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B62DA025-605F-11FA-3509-9FAC96E47EC4}"/>
              </a:ext>
            </a:extLst>
          </p:cNvPr>
          <p:cNvSpPr/>
          <p:nvPr/>
        </p:nvSpPr>
        <p:spPr>
          <a:xfrm flipH="1">
            <a:off x="7944342" y="4074667"/>
            <a:ext cx="833111" cy="262840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600" b="1" dirty="0">
              <a:solidFill>
                <a:schemeClr val="tx1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656483F-E713-E0DB-28E0-E4EB48C96B30}"/>
              </a:ext>
            </a:extLst>
          </p:cNvPr>
          <p:cNvSpPr txBox="1"/>
          <p:nvPr/>
        </p:nvSpPr>
        <p:spPr>
          <a:xfrm>
            <a:off x="6574398" y="3527937"/>
            <a:ext cx="6565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 err="1">
                <a:solidFill>
                  <a:schemeClr val="tx1"/>
                </a:solidFill>
              </a:rPr>
              <a:t>dptr</a:t>
            </a:r>
            <a:r>
              <a:rPr lang="en-US" sz="1200" b="1" dirty="0">
                <a:solidFill>
                  <a:schemeClr val="tx1"/>
                </a:solidFill>
              </a:rPr>
              <a:t>[0]</a:t>
            </a:r>
            <a:endParaRPr lang="en-CA" sz="1200" b="1" dirty="0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1C548DB-C7B6-FDA7-5D27-5E1116535E3D}"/>
              </a:ext>
            </a:extLst>
          </p:cNvPr>
          <p:cNvSpPr txBox="1"/>
          <p:nvPr/>
        </p:nvSpPr>
        <p:spPr>
          <a:xfrm>
            <a:off x="7117150" y="4321604"/>
            <a:ext cx="11655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</a:rPr>
              <a:t>0x 63120C</a:t>
            </a:r>
            <a:endParaRPr lang="en-CA" sz="1400" b="1" dirty="0">
              <a:solidFill>
                <a:srgbClr val="7030A0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935315D-5852-8A90-9F5E-4B8A601C63AD}"/>
              </a:ext>
            </a:extLst>
          </p:cNvPr>
          <p:cNvSpPr txBox="1"/>
          <p:nvPr/>
        </p:nvSpPr>
        <p:spPr>
          <a:xfrm>
            <a:off x="7117150" y="4076962"/>
            <a:ext cx="11655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</a:rPr>
              <a:t>0x 631208</a:t>
            </a:r>
            <a:endParaRPr lang="en-CA" sz="1400" b="1" dirty="0">
              <a:solidFill>
                <a:srgbClr val="7030A0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1B12B26-EDF2-4C9A-F1DC-BB81D1E63EF6}"/>
              </a:ext>
            </a:extLst>
          </p:cNvPr>
          <p:cNvSpPr txBox="1"/>
          <p:nvPr/>
        </p:nvSpPr>
        <p:spPr>
          <a:xfrm>
            <a:off x="7122646" y="3785954"/>
            <a:ext cx="11655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</a:rPr>
              <a:t>0x 631204</a:t>
            </a:r>
            <a:endParaRPr lang="en-CA" sz="1400" b="1" dirty="0">
              <a:solidFill>
                <a:srgbClr val="7030A0"/>
              </a:solidFill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23DE8D2-6FF1-569A-34AE-31270BA8E7BA}"/>
              </a:ext>
            </a:extLst>
          </p:cNvPr>
          <p:cNvSpPr txBox="1"/>
          <p:nvPr/>
        </p:nvSpPr>
        <p:spPr>
          <a:xfrm>
            <a:off x="7119776" y="3530195"/>
            <a:ext cx="11655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</a:rPr>
              <a:t>0x 631200</a:t>
            </a:r>
            <a:endParaRPr lang="en-CA" sz="1400" b="1" dirty="0">
              <a:solidFill>
                <a:srgbClr val="7030A0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2EEECC2-47AB-9CFA-111A-0C4D9835EFD3}"/>
              </a:ext>
            </a:extLst>
          </p:cNvPr>
          <p:cNvSpPr txBox="1"/>
          <p:nvPr/>
        </p:nvSpPr>
        <p:spPr>
          <a:xfrm>
            <a:off x="7916218" y="3530195"/>
            <a:ext cx="9145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chemeClr val="accent2"/>
                </a:solidFill>
              </a:rPr>
              <a:t>0x 21234</a:t>
            </a:r>
            <a:endParaRPr lang="en-CA" sz="1600" b="1" dirty="0">
              <a:solidFill>
                <a:schemeClr val="accent2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C78262D-9430-6671-B353-95C1CB2BCBAF}"/>
              </a:ext>
            </a:extLst>
          </p:cNvPr>
          <p:cNvSpPr txBox="1"/>
          <p:nvPr/>
        </p:nvSpPr>
        <p:spPr>
          <a:xfrm>
            <a:off x="7913242" y="3779292"/>
            <a:ext cx="9145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chemeClr val="accent2"/>
                </a:solidFill>
              </a:rPr>
              <a:t>0x 21254</a:t>
            </a:r>
            <a:endParaRPr lang="en-CA" sz="1600" b="1" dirty="0">
              <a:solidFill>
                <a:schemeClr val="accent2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C426700-35EB-60A6-7170-37A4F4FB936D}"/>
              </a:ext>
            </a:extLst>
          </p:cNvPr>
          <p:cNvSpPr txBox="1"/>
          <p:nvPr/>
        </p:nvSpPr>
        <p:spPr>
          <a:xfrm>
            <a:off x="7911772" y="4048692"/>
            <a:ext cx="9145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chemeClr val="accent2"/>
                </a:solidFill>
              </a:rPr>
              <a:t>0x </a:t>
            </a:r>
            <a:r>
              <a:rPr lang="en-US" altLang="zh-CN" sz="1400" b="1" dirty="0">
                <a:solidFill>
                  <a:schemeClr val="accent2"/>
                </a:solidFill>
              </a:rPr>
              <a:t>21274</a:t>
            </a:r>
            <a:endParaRPr lang="en-CA" sz="1600" b="1" dirty="0">
              <a:solidFill>
                <a:schemeClr val="accent2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356D406-1C99-4EDC-10B4-0D149636FA35}"/>
              </a:ext>
            </a:extLst>
          </p:cNvPr>
          <p:cNvSpPr txBox="1"/>
          <p:nvPr/>
        </p:nvSpPr>
        <p:spPr>
          <a:xfrm>
            <a:off x="7914162" y="4298308"/>
            <a:ext cx="9126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chemeClr val="accent2"/>
                </a:solidFill>
              </a:rPr>
              <a:t>0x 21294</a:t>
            </a:r>
            <a:endParaRPr lang="en-CA" sz="1600" b="1" dirty="0">
              <a:solidFill>
                <a:schemeClr val="accent2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4A25D89-A5AE-32EF-043C-48FD042699E1}"/>
              </a:ext>
            </a:extLst>
          </p:cNvPr>
          <p:cNvSpPr txBox="1"/>
          <p:nvPr/>
        </p:nvSpPr>
        <p:spPr>
          <a:xfrm>
            <a:off x="6569897" y="3802688"/>
            <a:ext cx="6565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 err="1">
                <a:solidFill>
                  <a:schemeClr val="tx1"/>
                </a:solidFill>
              </a:rPr>
              <a:t>dptr</a:t>
            </a:r>
            <a:r>
              <a:rPr lang="en-US" sz="1200" b="1" dirty="0">
                <a:solidFill>
                  <a:schemeClr val="tx1"/>
                </a:solidFill>
              </a:rPr>
              <a:t>[</a:t>
            </a:r>
            <a:r>
              <a:rPr lang="en-US" sz="1200" b="1" dirty="0"/>
              <a:t>1</a:t>
            </a:r>
            <a:r>
              <a:rPr lang="en-US" sz="1200" b="1" dirty="0">
                <a:solidFill>
                  <a:schemeClr val="tx1"/>
                </a:solidFill>
              </a:rPr>
              <a:t>]</a:t>
            </a:r>
            <a:endParaRPr lang="en-CA" sz="1200" b="1" dirty="0">
              <a:solidFill>
                <a:schemeClr val="tx1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0F9A369-2A60-552D-BE89-4402470F3789}"/>
              </a:ext>
            </a:extLst>
          </p:cNvPr>
          <p:cNvSpPr txBox="1"/>
          <p:nvPr/>
        </p:nvSpPr>
        <p:spPr>
          <a:xfrm>
            <a:off x="6572708" y="4070907"/>
            <a:ext cx="6565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 err="1">
                <a:solidFill>
                  <a:schemeClr val="tx1"/>
                </a:solidFill>
              </a:rPr>
              <a:t>dptr</a:t>
            </a:r>
            <a:r>
              <a:rPr lang="en-US" sz="1200" b="1" dirty="0">
                <a:solidFill>
                  <a:schemeClr val="tx1"/>
                </a:solidFill>
              </a:rPr>
              <a:t>[2]</a:t>
            </a:r>
            <a:endParaRPr lang="en-CA" sz="1200" b="1" dirty="0">
              <a:solidFill>
                <a:schemeClr val="tx1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AD4546E-24E2-7639-533D-F79A7BC4DB01}"/>
              </a:ext>
            </a:extLst>
          </p:cNvPr>
          <p:cNvSpPr txBox="1"/>
          <p:nvPr/>
        </p:nvSpPr>
        <p:spPr>
          <a:xfrm>
            <a:off x="6581417" y="4316777"/>
            <a:ext cx="6565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 err="1">
                <a:solidFill>
                  <a:schemeClr val="tx1"/>
                </a:solidFill>
              </a:rPr>
              <a:t>dptr</a:t>
            </a:r>
            <a:r>
              <a:rPr lang="en-US" sz="1200" b="1" dirty="0">
                <a:solidFill>
                  <a:schemeClr val="tx1"/>
                </a:solidFill>
              </a:rPr>
              <a:t>[3]</a:t>
            </a:r>
            <a:endParaRPr lang="en-CA" sz="1200" b="1" dirty="0">
              <a:solidFill>
                <a:schemeClr val="tx1"/>
              </a:solidFill>
            </a:endParaRPr>
          </a:p>
        </p:txBody>
      </p:sp>
      <p:sp>
        <p:nvSpPr>
          <p:cNvPr id="90" name="Left Brace 89">
            <a:extLst>
              <a:ext uri="{FF2B5EF4-FFF2-40B4-BE49-F238E27FC236}">
                <a16:creationId xmlns:a16="http://schemas.microsoft.com/office/drawing/2014/main" id="{CDE2390A-0BA3-F643-EE05-D87CD0793540}"/>
              </a:ext>
            </a:extLst>
          </p:cNvPr>
          <p:cNvSpPr/>
          <p:nvPr/>
        </p:nvSpPr>
        <p:spPr>
          <a:xfrm>
            <a:off x="6415115" y="3555522"/>
            <a:ext cx="202353" cy="986339"/>
          </a:xfrm>
          <a:prstGeom prst="leftBrac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0B9D1FBE-394D-D06B-B2AD-DCC628563AE5}"/>
              </a:ext>
            </a:extLst>
          </p:cNvPr>
          <p:cNvSpPr txBox="1"/>
          <p:nvPr/>
        </p:nvSpPr>
        <p:spPr>
          <a:xfrm>
            <a:off x="6018076" y="3803136"/>
            <a:ext cx="3657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b="1" dirty="0">
                <a:solidFill>
                  <a:srgbClr val="0070C0"/>
                </a:solidFill>
              </a:rPr>
              <a:t>m</a:t>
            </a:r>
            <a:endParaRPr lang="en-US" sz="2400" dirty="0"/>
          </a:p>
        </p:txBody>
      </p:sp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7497FD27-2169-63D7-7F71-7D4B1E996F1A}"/>
              </a:ext>
            </a:extLst>
          </p:cNvPr>
          <p:cNvSpPr/>
          <p:nvPr/>
        </p:nvSpPr>
        <p:spPr>
          <a:xfrm>
            <a:off x="9426277" y="555220"/>
            <a:ext cx="347473" cy="3385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?</a:t>
            </a:r>
            <a:endParaRPr lang="en-CA" sz="1600" dirty="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F5489206-3F89-DAD4-06F8-1ECCCBE0D0A1}"/>
              </a:ext>
            </a:extLst>
          </p:cNvPr>
          <p:cNvSpPr txBox="1"/>
          <p:nvPr/>
        </p:nvSpPr>
        <p:spPr>
          <a:xfrm>
            <a:off x="9768811" y="582652"/>
            <a:ext cx="7592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</a:rPr>
              <a:t>0x 21234</a:t>
            </a:r>
            <a:endParaRPr lang="en-CA" sz="1400" b="1" dirty="0">
              <a:solidFill>
                <a:srgbClr val="7030A0"/>
              </a:solidFill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1FCF97E1-FB98-D6A3-B63A-5B74158A985C}"/>
              </a:ext>
            </a:extLst>
          </p:cNvPr>
          <p:cNvSpPr txBox="1"/>
          <p:nvPr/>
        </p:nvSpPr>
        <p:spPr>
          <a:xfrm rot="5400000">
            <a:off x="9479654" y="1248943"/>
            <a:ext cx="3474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…</a:t>
            </a:r>
          </a:p>
        </p:txBody>
      </p:sp>
      <p:sp>
        <p:nvSpPr>
          <p:cNvPr id="101" name="Rectangle: Rounded Corners 100">
            <a:extLst>
              <a:ext uri="{FF2B5EF4-FFF2-40B4-BE49-F238E27FC236}">
                <a16:creationId xmlns:a16="http://schemas.microsoft.com/office/drawing/2014/main" id="{773BD432-9AA8-93EF-9B73-2EB7613F5708}"/>
              </a:ext>
            </a:extLst>
          </p:cNvPr>
          <p:cNvSpPr/>
          <p:nvPr/>
        </p:nvSpPr>
        <p:spPr>
          <a:xfrm>
            <a:off x="9426278" y="1534728"/>
            <a:ext cx="347473" cy="3385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?</a:t>
            </a:r>
            <a:endParaRPr lang="en-CA" sz="1600" dirty="0"/>
          </a:p>
        </p:txBody>
      </p: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96132E16-467D-CEBA-5B04-8C4C8D93DEE2}"/>
              </a:ext>
            </a:extLst>
          </p:cNvPr>
          <p:cNvSpPr/>
          <p:nvPr/>
        </p:nvSpPr>
        <p:spPr>
          <a:xfrm>
            <a:off x="9424887" y="926582"/>
            <a:ext cx="347473" cy="3385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?</a:t>
            </a:r>
            <a:endParaRPr lang="en-CA" sz="1600" dirty="0"/>
          </a:p>
        </p:txBody>
      </p:sp>
      <p:sp>
        <p:nvSpPr>
          <p:cNvPr id="133" name="Speech Bubble: Rectangle 132">
            <a:extLst>
              <a:ext uri="{FF2B5EF4-FFF2-40B4-BE49-F238E27FC236}">
                <a16:creationId xmlns:a16="http://schemas.microsoft.com/office/drawing/2014/main" id="{01D22ABA-80B1-D069-A0A0-B6A378B542B1}"/>
              </a:ext>
            </a:extLst>
          </p:cNvPr>
          <p:cNvSpPr/>
          <p:nvPr/>
        </p:nvSpPr>
        <p:spPr>
          <a:xfrm>
            <a:off x="6374374" y="4814754"/>
            <a:ext cx="2538903" cy="905820"/>
          </a:xfrm>
          <a:prstGeom prst="wedgeRectCallout">
            <a:avLst>
              <a:gd name="adj1" fmla="val -65938"/>
              <a:gd name="adj2" fmla="val 30730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u="sng" dirty="0">
                <a:solidFill>
                  <a:schemeClr val="tx1"/>
                </a:solidFill>
              </a:rPr>
              <a:t>Follow the Addresses</a:t>
            </a:r>
          </a:p>
          <a:p>
            <a:r>
              <a:rPr lang="en-US" sz="1600" dirty="0" err="1">
                <a:solidFill>
                  <a:schemeClr val="tx1"/>
                </a:solidFill>
              </a:rPr>
              <a:t>dptr</a:t>
            </a:r>
            <a:r>
              <a:rPr lang="en-US" sz="1600" dirty="0">
                <a:solidFill>
                  <a:schemeClr val="tx1"/>
                </a:solidFill>
              </a:rPr>
              <a:t>[</a:t>
            </a:r>
            <a:r>
              <a:rPr lang="en-US" sz="1600" dirty="0" err="1">
                <a:solidFill>
                  <a:schemeClr val="tx1"/>
                </a:solidFill>
              </a:rPr>
              <a:t>i</a:t>
            </a:r>
            <a:r>
              <a:rPr lang="en-US" sz="1600" dirty="0">
                <a:solidFill>
                  <a:schemeClr val="tx1"/>
                </a:solidFill>
              </a:rPr>
              <a:t>][j] 	= *(</a:t>
            </a:r>
            <a:r>
              <a:rPr lang="en-US" sz="1600" dirty="0" err="1">
                <a:solidFill>
                  <a:schemeClr val="tx1"/>
                </a:solidFill>
              </a:rPr>
              <a:t>dptr</a:t>
            </a:r>
            <a:r>
              <a:rPr lang="en-US" sz="1600" dirty="0">
                <a:solidFill>
                  <a:schemeClr val="tx1"/>
                </a:solidFill>
              </a:rPr>
              <a:t>[</a:t>
            </a:r>
            <a:r>
              <a:rPr lang="en-US" sz="1600" dirty="0" err="1">
                <a:solidFill>
                  <a:schemeClr val="tx1"/>
                </a:solidFill>
              </a:rPr>
              <a:t>i</a:t>
            </a:r>
            <a:r>
              <a:rPr lang="en-US" sz="1600" dirty="0">
                <a:solidFill>
                  <a:schemeClr val="tx1"/>
                </a:solidFill>
              </a:rPr>
              <a:t>] + j)</a:t>
            </a:r>
            <a:br>
              <a:rPr lang="en-US" sz="1600" dirty="0">
                <a:solidFill>
                  <a:schemeClr val="tx1"/>
                </a:solidFill>
              </a:rPr>
            </a:br>
            <a:r>
              <a:rPr lang="en-US" sz="1600" dirty="0">
                <a:solidFill>
                  <a:schemeClr val="tx1"/>
                </a:solidFill>
              </a:rPr>
              <a:t>  	= *(*(</a:t>
            </a:r>
            <a:r>
              <a:rPr lang="en-US" sz="1600" dirty="0" err="1">
                <a:solidFill>
                  <a:schemeClr val="tx1"/>
                </a:solidFill>
              </a:rPr>
              <a:t>dptr</a:t>
            </a:r>
            <a:r>
              <a:rPr lang="en-US" sz="1600" dirty="0">
                <a:solidFill>
                  <a:schemeClr val="tx1"/>
                </a:solidFill>
              </a:rPr>
              <a:t> + </a:t>
            </a:r>
            <a:r>
              <a:rPr lang="en-US" sz="1600" dirty="0" err="1">
                <a:solidFill>
                  <a:schemeClr val="tx1"/>
                </a:solidFill>
              </a:rPr>
              <a:t>i</a:t>
            </a:r>
            <a:r>
              <a:rPr lang="en-US" sz="1600" dirty="0">
                <a:solidFill>
                  <a:schemeClr val="tx1"/>
                </a:solidFill>
              </a:rPr>
              <a:t>) + j)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134" name="Left Brace 133">
            <a:extLst>
              <a:ext uri="{FF2B5EF4-FFF2-40B4-BE49-F238E27FC236}">
                <a16:creationId xmlns:a16="http://schemas.microsoft.com/office/drawing/2014/main" id="{09D5FB48-8E31-DBE9-3723-17F6FEA89BE4}"/>
              </a:ext>
            </a:extLst>
          </p:cNvPr>
          <p:cNvSpPr/>
          <p:nvPr/>
        </p:nvSpPr>
        <p:spPr>
          <a:xfrm rot="10800000">
            <a:off x="10502875" y="705469"/>
            <a:ext cx="255018" cy="1027739"/>
          </a:xfrm>
          <a:prstGeom prst="leftBrac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264BC79D-A3D0-9C2A-E068-AE568CCE930F}"/>
              </a:ext>
            </a:extLst>
          </p:cNvPr>
          <p:cNvSpPr txBox="1"/>
          <p:nvPr/>
        </p:nvSpPr>
        <p:spPr>
          <a:xfrm>
            <a:off x="10739605" y="963265"/>
            <a:ext cx="3657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b="1" dirty="0">
                <a:solidFill>
                  <a:srgbClr val="0070C0"/>
                </a:solidFill>
              </a:rPr>
              <a:t>n</a:t>
            </a:r>
            <a:endParaRPr lang="en-US" sz="2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97D32A-7466-21C7-1C69-09B756966F16}"/>
              </a:ext>
            </a:extLst>
          </p:cNvPr>
          <p:cNvSpPr txBox="1"/>
          <p:nvPr/>
        </p:nvSpPr>
        <p:spPr>
          <a:xfrm>
            <a:off x="9831587" y="246490"/>
            <a:ext cx="13745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float* </a:t>
            </a:r>
            <a:r>
              <a:rPr lang="en-US" b="1" dirty="0" err="1">
                <a:solidFill>
                  <a:schemeClr val="tx1"/>
                </a:solidFill>
              </a:rPr>
              <a:t>ptr</a:t>
            </a:r>
            <a:endParaRPr lang="en-CA" b="1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48EF3B6-7FBF-D4C0-05DA-BAD27C62927B}"/>
              </a:ext>
            </a:extLst>
          </p:cNvPr>
          <p:cNvSpPr/>
          <p:nvPr/>
        </p:nvSpPr>
        <p:spPr>
          <a:xfrm>
            <a:off x="9428239" y="1918624"/>
            <a:ext cx="347473" cy="3385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?</a:t>
            </a:r>
            <a:endParaRPr lang="en-CA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9D1BB6-F73A-0A46-293E-2E75B8AA1A1C}"/>
              </a:ext>
            </a:extLst>
          </p:cNvPr>
          <p:cNvSpPr txBox="1"/>
          <p:nvPr/>
        </p:nvSpPr>
        <p:spPr>
          <a:xfrm rot="5400000">
            <a:off x="9481616" y="2612347"/>
            <a:ext cx="3474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…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9F527C7-B208-5C66-E586-1327D4CCB141}"/>
              </a:ext>
            </a:extLst>
          </p:cNvPr>
          <p:cNvSpPr/>
          <p:nvPr/>
        </p:nvSpPr>
        <p:spPr>
          <a:xfrm>
            <a:off x="9428240" y="2898132"/>
            <a:ext cx="347473" cy="3385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?</a:t>
            </a:r>
            <a:endParaRPr lang="en-CA" sz="1600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3423ECC-F092-F62F-3F12-CA5EC91B4846}"/>
              </a:ext>
            </a:extLst>
          </p:cNvPr>
          <p:cNvSpPr/>
          <p:nvPr/>
        </p:nvSpPr>
        <p:spPr>
          <a:xfrm>
            <a:off x="9426849" y="2289986"/>
            <a:ext cx="347473" cy="3385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?</a:t>
            </a:r>
            <a:endParaRPr lang="en-CA" sz="1600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B4FA92E-4EF6-84AD-749D-559068D40FDC}"/>
              </a:ext>
            </a:extLst>
          </p:cNvPr>
          <p:cNvSpPr/>
          <p:nvPr/>
        </p:nvSpPr>
        <p:spPr>
          <a:xfrm>
            <a:off x="9435197" y="3279826"/>
            <a:ext cx="347473" cy="3385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?</a:t>
            </a:r>
            <a:endParaRPr lang="en-CA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79EE84-23DA-DB82-3D0B-3193DD3C0CBC}"/>
              </a:ext>
            </a:extLst>
          </p:cNvPr>
          <p:cNvSpPr txBox="1"/>
          <p:nvPr/>
        </p:nvSpPr>
        <p:spPr>
          <a:xfrm rot="5400000">
            <a:off x="9488574" y="3973549"/>
            <a:ext cx="3474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…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5D2C631-BBCE-93AB-A0A4-F2DC958388AF}"/>
              </a:ext>
            </a:extLst>
          </p:cNvPr>
          <p:cNvSpPr/>
          <p:nvPr/>
        </p:nvSpPr>
        <p:spPr>
          <a:xfrm>
            <a:off x="9435198" y="4259334"/>
            <a:ext cx="347473" cy="3385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?</a:t>
            </a:r>
            <a:endParaRPr lang="en-CA" sz="1600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BF6C4D8-DEF5-D437-309D-EE9C7DDCFDEB}"/>
              </a:ext>
            </a:extLst>
          </p:cNvPr>
          <p:cNvSpPr/>
          <p:nvPr/>
        </p:nvSpPr>
        <p:spPr>
          <a:xfrm>
            <a:off x="9433807" y="3651188"/>
            <a:ext cx="347473" cy="3385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?</a:t>
            </a:r>
            <a:endParaRPr lang="en-CA" sz="1600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196286B-58B3-5DC0-BCFC-4EEF67629E75}"/>
              </a:ext>
            </a:extLst>
          </p:cNvPr>
          <p:cNvSpPr/>
          <p:nvPr/>
        </p:nvSpPr>
        <p:spPr>
          <a:xfrm>
            <a:off x="9437159" y="4643230"/>
            <a:ext cx="347473" cy="3385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?</a:t>
            </a:r>
            <a:endParaRPr lang="en-CA" sz="16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89649F0-0094-E387-ACE7-99F63714F7F6}"/>
              </a:ext>
            </a:extLst>
          </p:cNvPr>
          <p:cNvSpPr txBox="1"/>
          <p:nvPr/>
        </p:nvSpPr>
        <p:spPr>
          <a:xfrm rot="5400000">
            <a:off x="9490536" y="5336953"/>
            <a:ext cx="3474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…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9AF8F78-A87D-4BA1-BFC9-316D517DEBB9}"/>
              </a:ext>
            </a:extLst>
          </p:cNvPr>
          <p:cNvSpPr/>
          <p:nvPr/>
        </p:nvSpPr>
        <p:spPr>
          <a:xfrm>
            <a:off x="9437160" y="5622738"/>
            <a:ext cx="347473" cy="3385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?</a:t>
            </a:r>
            <a:endParaRPr lang="en-CA" sz="1600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91ED85D-0848-9A00-3165-0F47A933BDF3}"/>
              </a:ext>
            </a:extLst>
          </p:cNvPr>
          <p:cNvSpPr/>
          <p:nvPr/>
        </p:nvSpPr>
        <p:spPr>
          <a:xfrm>
            <a:off x="9435769" y="5014592"/>
            <a:ext cx="347473" cy="3385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?</a:t>
            </a:r>
            <a:endParaRPr lang="en-CA" sz="16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0AB1157-440D-2D34-68F3-13649F0E21E3}"/>
              </a:ext>
            </a:extLst>
          </p:cNvPr>
          <p:cNvSpPr txBox="1"/>
          <p:nvPr/>
        </p:nvSpPr>
        <p:spPr>
          <a:xfrm>
            <a:off x="9765892" y="935440"/>
            <a:ext cx="7592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</a:rPr>
              <a:t>0x 21238</a:t>
            </a:r>
            <a:endParaRPr lang="en-CA" sz="1400" b="1" dirty="0">
              <a:solidFill>
                <a:srgbClr val="7030A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098A1E8-AEC8-A8EF-2B0B-1218A118E2AF}"/>
              </a:ext>
            </a:extLst>
          </p:cNvPr>
          <p:cNvSpPr txBox="1"/>
          <p:nvPr/>
        </p:nvSpPr>
        <p:spPr>
          <a:xfrm>
            <a:off x="9762992" y="1573481"/>
            <a:ext cx="7592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</a:rPr>
              <a:t>0x 21250</a:t>
            </a:r>
            <a:endParaRPr lang="en-CA" sz="1400" b="1" dirty="0">
              <a:solidFill>
                <a:srgbClr val="7030A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C630294-4090-73D9-147C-9D6EAA55CF19}"/>
              </a:ext>
            </a:extLst>
          </p:cNvPr>
          <p:cNvSpPr txBox="1"/>
          <p:nvPr/>
        </p:nvSpPr>
        <p:spPr>
          <a:xfrm>
            <a:off x="9759667" y="1936059"/>
            <a:ext cx="7592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</a:rPr>
              <a:t>0x 21254</a:t>
            </a:r>
            <a:endParaRPr lang="en-CA" sz="1400" b="1" dirty="0">
              <a:solidFill>
                <a:srgbClr val="7030A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95B1A96-0821-6F32-53C8-214E8BDC4253}"/>
              </a:ext>
            </a:extLst>
          </p:cNvPr>
          <p:cNvSpPr txBox="1"/>
          <p:nvPr/>
        </p:nvSpPr>
        <p:spPr>
          <a:xfrm>
            <a:off x="9759515" y="2302862"/>
            <a:ext cx="7592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</a:rPr>
              <a:t>0x 21258</a:t>
            </a:r>
            <a:endParaRPr lang="en-CA" sz="1400" b="1" dirty="0">
              <a:solidFill>
                <a:srgbClr val="7030A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7AD63E2-AE15-0134-0F0B-926600E1FD2A}"/>
              </a:ext>
            </a:extLst>
          </p:cNvPr>
          <p:cNvSpPr txBox="1"/>
          <p:nvPr/>
        </p:nvSpPr>
        <p:spPr>
          <a:xfrm>
            <a:off x="9769369" y="2924159"/>
            <a:ext cx="7592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</a:rPr>
              <a:t>0x 21270</a:t>
            </a:r>
            <a:endParaRPr lang="en-CA" sz="1400" b="1" dirty="0">
              <a:solidFill>
                <a:srgbClr val="7030A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9B4E926-0271-21ED-5939-910DFA200EE6}"/>
              </a:ext>
            </a:extLst>
          </p:cNvPr>
          <p:cNvSpPr txBox="1"/>
          <p:nvPr/>
        </p:nvSpPr>
        <p:spPr>
          <a:xfrm>
            <a:off x="9766044" y="3286737"/>
            <a:ext cx="7592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</a:rPr>
              <a:t>0x 21274</a:t>
            </a:r>
            <a:endParaRPr lang="en-CA" sz="1400" b="1" dirty="0">
              <a:solidFill>
                <a:srgbClr val="7030A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9E310E-4AF5-BF62-4E7E-BB1C58CB12D8}"/>
              </a:ext>
            </a:extLst>
          </p:cNvPr>
          <p:cNvSpPr txBox="1"/>
          <p:nvPr/>
        </p:nvSpPr>
        <p:spPr>
          <a:xfrm>
            <a:off x="9765892" y="3653540"/>
            <a:ext cx="7592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</a:rPr>
              <a:t>0x 21278</a:t>
            </a:r>
            <a:endParaRPr lang="en-CA" sz="1400" b="1" dirty="0">
              <a:solidFill>
                <a:srgbClr val="7030A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B5056EB-4A9E-6E68-D294-BAAD6BD0EBF0}"/>
              </a:ext>
            </a:extLst>
          </p:cNvPr>
          <p:cNvSpPr txBox="1"/>
          <p:nvPr/>
        </p:nvSpPr>
        <p:spPr>
          <a:xfrm>
            <a:off x="9762992" y="4303841"/>
            <a:ext cx="7592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</a:rPr>
              <a:t>0x 21290</a:t>
            </a:r>
            <a:endParaRPr lang="en-CA" sz="1400" b="1" dirty="0">
              <a:solidFill>
                <a:srgbClr val="7030A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2C0304E-9963-862D-A9CB-9B1FD51BE749}"/>
              </a:ext>
            </a:extLst>
          </p:cNvPr>
          <p:cNvSpPr txBox="1"/>
          <p:nvPr/>
        </p:nvSpPr>
        <p:spPr>
          <a:xfrm>
            <a:off x="9759667" y="4666419"/>
            <a:ext cx="7592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</a:rPr>
              <a:t>0x 21294</a:t>
            </a:r>
            <a:endParaRPr lang="en-CA" sz="1400" b="1" dirty="0">
              <a:solidFill>
                <a:srgbClr val="7030A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E999F09-9913-B1B9-5F34-B82B244A75A3}"/>
              </a:ext>
            </a:extLst>
          </p:cNvPr>
          <p:cNvSpPr txBox="1"/>
          <p:nvPr/>
        </p:nvSpPr>
        <p:spPr>
          <a:xfrm>
            <a:off x="9759515" y="5033222"/>
            <a:ext cx="7592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</a:rPr>
              <a:t>0x 21298</a:t>
            </a:r>
            <a:endParaRPr lang="en-CA" sz="1400" b="1" dirty="0">
              <a:solidFill>
                <a:srgbClr val="7030A0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3FFF0A3-9996-2D53-D908-42F389AEFAEB}"/>
              </a:ext>
            </a:extLst>
          </p:cNvPr>
          <p:cNvSpPr txBox="1"/>
          <p:nvPr/>
        </p:nvSpPr>
        <p:spPr>
          <a:xfrm>
            <a:off x="9759514" y="5662576"/>
            <a:ext cx="8416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</a:rPr>
              <a:t>0x 212B0</a:t>
            </a:r>
            <a:endParaRPr lang="en-CA" sz="1400" b="1" dirty="0">
              <a:solidFill>
                <a:srgbClr val="7030A0"/>
              </a:solidFill>
            </a:endParaRPr>
          </a:p>
        </p:txBody>
      </p:sp>
      <p:sp>
        <p:nvSpPr>
          <p:cNvPr id="32" name="Left Brace 31">
            <a:extLst>
              <a:ext uri="{FF2B5EF4-FFF2-40B4-BE49-F238E27FC236}">
                <a16:creationId xmlns:a16="http://schemas.microsoft.com/office/drawing/2014/main" id="{E157B71B-AA7C-B676-36A2-3A86492108C5}"/>
              </a:ext>
            </a:extLst>
          </p:cNvPr>
          <p:cNvSpPr/>
          <p:nvPr/>
        </p:nvSpPr>
        <p:spPr>
          <a:xfrm rot="10800000">
            <a:off x="10502875" y="2046220"/>
            <a:ext cx="255018" cy="1027739"/>
          </a:xfrm>
          <a:prstGeom prst="leftBrac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EF05960-E3A5-33C6-D3DA-E5781A14EC7F}"/>
              </a:ext>
            </a:extLst>
          </p:cNvPr>
          <p:cNvSpPr txBox="1"/>
          <p:nvPr/>
        </p:nvSpPr>
        <p:spPr>
          <a:xfrm>
            <a:off x="10739605" y="2304016"/>
            <a:ext cx="3657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b="1" dirty="0">
                <a:solidFill>
                  <a:srgbClr val="0070C0"/>
                </a:solidFill>
              </a:rPr>
              <a:t>n</a:t>
            </a:r>
            <a:endParaRPr lang="en-US" sz="2400" dirty="0"/>
          </a:p>
        </p:txBody>
      </p:sp>
      <p:sp>
        <p:nvSpPr>
          <p:cNvPr id="34" name="Left Brace 33">
            <a:extLst>
              <a:ext uri="{FF2B5EF4-FFF2-40B4-BE49-F238E27FC236}">
                <a16:creationId xmlns:a16="http://schemas.microsoft.com/office/drawing/2014/main" id="{AF655817-6692-C556-AEE7-5D7CDE9A9821}"/>
              </a:ext>
            </a:extLst>
          </p:cNvPr>
          <p:cNvSpPr/>
          <p:nvPr/>
        </p:nvSpPr>
        <p:spPr>
          <a:xfrm rot="10800000">
            <a:off x="10511365" y="3419109"/>
            <a:ext cx="255018" cy="1027739"/>
          </a:xfrm>
          <a:prstGeom prst="leftBrac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5460205-CC12-A891-9AF5-2BB379EA70C7}"/>
              </a:ext>
            </a:extLst>
          </p:cNvPr>
          <p:cNvSpPr txBox="1"/>
          <p:nvPr/>
        </p:nvSpPr>
        <p:spPr>
          <a:xfrm>
            <a:off x="10748095" y="3676905"/>
            <a:ext cx="3657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b="1" dirty="0">
                <a:solidFill>
                  <a:srgbClr val="0070C0"/>
                </a:solidFill>
              </a:rPr>
              <a:t>n</a:t>
            </a:r>
            <a:endParaRPr lang="en-US" sz="2400" dirty="0"/>
          </a:p>
        </p:txBody>
      </p:sp>
      <p:sp>
        <p:nvSpPr>
          <p:cNvPr id="36" name="Left Brace 35">
            <a:extLst>
              <a:ext uri="{FF2B5EF4-FFF2-40B4-BE49-F238E27FC236}">
                <a16:creationId xmlns:a16="http://schemas.microsoft.com/office/drawing/2014/main" id="{3A9F7F24-0874-8DFE-2FF2-EF740AC27201}"/>
              </a:ext>
            </a:extLst>
          </p:cNvPr>
          <p:cNvSpPr/>
          <p:nvPr/>
        </p:nvSpPr>
        <p:spPr>
          <a:xfrm rot="10800000">
            <a:off x="10530059" y="4815896"/>
            <a:ext cx="255018" cy="1027739"/>
          </a:xfrm>
          <a:prstGeom prst="leftBrac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196CA96-1AB2-B877-1973-2D766AEC637A}"/>
              </a:ext>
            </a:extLst>
          </p:cNvPr>
          <p:cNvSpPr txBox="1"/>
          <p:nvPr/>
        </p:nvSpPr>
        <p:spPr>
          <a:xfrm>
            <a:off x="10766789" y="5073692"/>
            <a:ext cx="3657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b="1" dirty="0">
                <a:solidFill>
                  <a:srgbClr val="0070C0"/>
                </a:solidFill>
              </a:rPr>
              <a:t>n</a:t>
            </a:r>
            <a:endParaRPr lang="en-US" sz="2400" dirty="0"/>
          </a:p>
        </p:txBody>
      </p:sp>
      <p:sp>
        <p:nvSpPr>
          <p:cNvPr id="38" name="Left Brace 37">
            <a:extLst>
              <a:ext uri="{FF2B5EF4-FFF2-40B4-BE49-F238E27FC236}">
                <a16:creationId xmlns:a16="http://schemas.microsoft.com/office/drawing/2014/main" id="{50BB6B20-6E7C-8E66-496C-E25F50B138E0}"/>
              </a:ext>
            </a:extLst>
          </p:cNvPr>
          <p:cNvSpPr/>
          <p:nvPr/>
        </p:nvSpPr>
        <p:spPr>
          <a:xfrm rot="10800000">
            <a:off x="11005735" y="712006"/>
            <a:ext cx="255018" cy="5131629"/>
          </a:xfrm>
          <a:prstGeom prst="leftBrac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B0537B4-13EA-5AFB-7976-5EED320B8D4E}"/>
              </a:ext>
            </a:extLst>
          </p:cNvPr>
          <p:cNvSpPr txBox="1"/>
          <p:nvPr/>
        </p:nvSpPr>
        <p:spPr>
          <a:xfrm rot="5400000">
            <a:off x="10969148" y="3046987"/>
            <a:ext cx="9238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b="1" dirty="0">
                <a:solidFill>
                  <a:srgbClr val="C00000"/>
                </a:solidFill>
              </a:rPr>
              <a:t>m * n</a:t>
            </a:r>
            <a:endParaRPr lang="en-US" sz="2400" dirty="0">
              <a:solidFill>
                <a:srgbClr val="C00000"/>
              </a:solidFill>
            </a:endParaRP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1B4AC072-7D42-A505-8EAA-B36D1E850FBF}"/>
              </a:ext>
            </a:extLst>
          </p:cNvPr>
          <p:cNvCxnSpPr>
            <a:cxnSpLocks/>
            <a:stCxn id="81" idx="3"/>
            <a:endCxn id="97" idx="1"/>
          </p:cNvCxnSpPr>
          <p:nvPr/>
        </p:nvCxnSpPr>
        <p:spPr>
          <a:xfrm flipV="1">
            <a:off x="8830750" y="724497"/>
            <a:ext cx="595527" cy="295958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1839A69-51C6-42A4-36EE-95CFCC11BA0F}"/>
              </a:ext>
            </a:extLst>
          </p:cNvPr>
          <p:cNvCxnSpPr>
            <a:cxnSpLocks/>
            <a:stCxn id="82" idx="3"/>
            <a:endCxn id="8" idx="1"/>
          </p:cNvCxnSpPr>
          <p:nvPr/>
        </p:nvCxnSpPr>
        <p:spPr>
          <a:xfrm flipV="1">
            <a:off x="8827774" y="2087901"/>
            <a:ext cx="600465" cy="18452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33930EAF-0A9D-8345-5858-32C833953EB6}"/>
              </a:ext>
            </a:extLst>
          </p:cNvPr>
          <p:cNvCxnSpPr>
            <a:cxnSpLocks/>
            <a:stCxn id="83" idx="3"/>
            <a:endCxn id="12" idx="1"/>
          </p:cNvCxnSpPr>
          <p:nvPr/>
        </p:nvCxnSpPr>
        <p:spPr>
          <a:xfrm flipV="1">
            <a:off x="8826304" y="3449103"/>
            <a:ext cx="608893" cy="75347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CA57217C-E105-25A7-5686-30DE9B3AB829}"/>
              </a:ext>
            </a:extLst>
          </p:cNvPr>
          <p:cNvCxnSpPr>
            <a:cxnSpLocks/>
            <a:stCxn id="84" idx="3"/>
            <a:endCxn id="17" idx="1"/>
          </p:cNvCxnSpPr>
          <p:nvPr/>
        </p:nvCxnSpPr>
        <p:spPr>
          <a:xfrm>
            <a:off x="8826819" y="4452197"/>
            <a:ext cx="610340" cy="36031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1322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48" grpId="0"/>
      <p:bldP spid="69" grpId="0" animBg="1"/>
      <p:bldP spid="70" grpId="0" animBg="1"/>
      <p:bldP spid="71" grpId="0" animBg="1"/>
      <p:bldP spid="72" grpId="0" animBg="1"/>
      <p:bldP spid="73" grpId="0"/>
      <p:bldP spid="74" grpId="0"/>
      <p:bldP spid="75" grpId="0"/>
      <p:bldP spid="76" grpId="0"/>
      <p:bldP spid="77" grpId="0"/>
      <p:bldP spid="81" grpId="0"/>
      <p:bldP spid="82" grpId="0"/>
      <p:bldP spid="83" grpId="0"/>
      <p:bldP spid="84" grpId="0"/>
      <p:bldP spid="87" grpId="0"/>
      <p:bldP spid="88" grpId="0"/>
      <p:bldP spid="89" grpId="0"/>
      <p:bldP spid="90" grpId="0" animBg="1"/>
      <p:bldP spid="92" grpId="0"/>
      <p:bldP spid="97" grpId="0" animBg="1"/>
      <p:bldP spid="98" grpId="0"/>
      <p:bldP spid="99" grpId="0"/>
      <p:bldP spid="101" grpId="0" animBg="1"/>
      <p:bldP spid="102" grpId="0" animBg="1"/>
      <p:bldP spid="133" grpId="0" animBg="1"/>
      <p:bldP spid="134" grpId="0" animBg="1"/>
      <p:bldP spid="135" grpId="0"/>
      <p:bldP spid="2" grpId="0"/>
      <p:bldP spid="8" grpId="0" animBg="1"/>
      <p:bldP spid="9" grpId="0"/>
      <p:bldP spid="10" grpId="0" animBg="1"/>
      <p:bldP spid="11" grpId="0" animBg="1"/>
      <p:bldP spid="12" grpId="0" animBg="1"/>
      <p:bldP spid="14" grpId="0"/>
      <p:bldP spid="15" grpId="0" animBg="1"/>
      <p:bldP spid="16" grpId="0" animBg="1"/>
      <p:bldP spid="17" grpId="0" animBg="1"/>
      <p:bldP spid="18" grpId="0"/>
      <p:bldP spid="19" grpId="0" animBg="1"/>
      <p:bldP spid="20" grpId="0" animBg="1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 animBg="1"/>
      <p:bldP spid="33" grpId="0"/>
      <p:bldP spid="34" grpId="0" animBg="1"/>
      <p:bldP spid="35" grpId="0"/>
      <p:bldP spid="36" grpId="0" animBg="1"/>
      <p:bldP spid="37" grpId="0"/>
      <p:bldP spid="38" grpId="0" animBg="1"/>
      <p:bldP spid="3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7" y="585288"/>
            <a:ext cx="912374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DMA for 2D Arrays - 3 Methods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563637"/>
            <a:ext cx="1052668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>
                <a:solidFill>
                  <a:srgbClr val="0000FF"/>
                </a:solidFill>
              </a:rPr>
              <a:t>Method 2:</a:t>
            </a:r>
            <a:r>
              <a:rPr lang="en-CA" sz="2200" dirty="0"/>
              <a:t> Double Pointer + Massive Linear Array (Stack Style)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rgbClr val="FF0000"/>
                </a:solidFill>
              </a:rPr>
              <a:t>Deallocation</a:t>
            </a:r>
            <a:r>
              <a:rPr lang="en-CA" dirty="0"/>
              <a:t> Process for “simulated” </a:t>
            </a:r>
            <a:r>
              <a:rPr lang="en-CA" b="1" dirty="0"/>
              <a:t>m x n </a:t>
            </a:r>
            <a:r>
              <a:rPr lang="en-CA" dirty="0"/>
              <a:t>2D array on heap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21</a:t>
            </a:fld>
            <a:endParaRPr lang="en-CA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A857EB5-0271-3EDA-9E76-8C02F14691EF}"/>
              </a:ext>
            </a:extLst>
          </p:cNvPr>
          <p:cNvSpPr txBox="1"/>
          <p:nvPr/>
        </p:nvSpPr>
        <p:spPr>
          <a:xfrm>
            <a:off x="924179" y="2372389"/>
            <a:ext cx="5080755" cy="2769989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Continue from the previous slide…</a:t>
            </a:r>
          </a:p>
          <a:p>
            <a:r>
              <a:rPr lang="en-US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Required to Deallocate in REVERSE ORDER?</a:t>
            </a:r>
            <a:endParaRPr lang="en-US" sz="1100" dirty="0">
              <a:solidFill>
                <a:schemeClr val="accent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Nope. This method doesn’t.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Deallocate Pointer Lookup Table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free(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dptr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);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Deallocate Linear Array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free(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);</a:t>
            </a:r>
          </a:p>
          <a:p>
            <a:endParaRPr lang="en-US" sz="12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Deallocation order can be swapped</a:t>
            </a:r>
            <a:endParaRPr lang="en-US" sz="12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dptr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NULL; 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Make sure no one misuses </a:t>
            </a:r>
            <a:r>
              <a:rPr lang="en-US" sz="1200" b="1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dptr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later</a:t>
            </a: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NULL;  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Make sure no one misuses </a:t>
            </a:r>
            <a:r>
              <a:rPr lang="en-US" sz="1200" b="1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later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CEA9135-FE10-68BC-C6D3-5675F743D47D}"/>
              </a:ext>
            </a:extLst>
          </p:cNvPr>
          <p:cNvSpPr txBox="1"/>
          <p:nvPr/>
        </p:nvSpPr>
        <p:spPr>
          <a:xfrm>
            <a:off x="7050527" y="3113129"/>
            <a:ext cx="13745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float** </a:t>
            </a:r>
            <a:r>
              <a:rPr lang="en-US" b="1" dirty="0" err="1">
                <a:solidFill>
                  <a:schemeClr val="tx1"/>
                </a:solidFill>
              </a:rPr>
              <a:t>dptr</a:t>
            </a:r>
            <a:endParaRPr lang="en-CA" dirty="0"/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4D456F5A-8A73-88E7-CCDD-5350A069CC60}"/>
              </a:ext>
            </a:extLst>
          </p:cNvPr>
          <p:cNvSpPr/>
          <p:nvPr/>
        </p:nvSpPr>
        <p:spPr>
          <a:xfrm flipH="1">
            <a:off x="7944743" y="3552457"/>
            <a:ext cx="833111" cy="262840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600" b="1" dirty="0">
              <a:solidFill>
                <a:schemeClr val="tx1"/>
              </a:solidFill>
            </a:endParaRP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AC5E2CEC-ACB1-0FCE-B945-202F176967F8}"/>
              </a:ext>
            </a:extLst>
          </p:cNvPr>
          <p:cNvSpPr/>
          <p:nvPr/>
        </p:nvSpPr>
        <p:spPr>
          <a:xfrm flipH="1">
            <a:off x="7944743" y="3810421"/>
            <a:ext cx="833111" cy="262840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600" b="1" dirty="0">
              <a:solidFill>
                <a:schemeClr val="tx1"/>
              </a:solidFill>
            </a:endParaRP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51271CA8-7A82-C326-4C3D-00F61646D20A}"/>
              </a:ext>
            </a:extLst>
          </p:cNvPr>
          <p:cNvSpPr/>
          <p:nvPr/>
        </p:nvSpPr>
        <p:spPr>
          <a:xfrm flipH="1">
            <a:off x="7944342" y="4332065"/>
            <a:ext cx="833111" cy="262840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600" b="1" dirty="0">
              <a:solidFill>
                <a:schemeClr val="tx1"/>
              </a:solidFill>
            </a:endParaRP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B62DA025-605F-11FA-3509-9FAC96E47EC4}"/>
              </a:ext>
            </a:extLst>
          </p:cNvPr>
          <p:cNvSpPr/>
          <p:nvPr/>
        </p:nvSpPr>
        <p:spPr>
          <a:xfrm flipH="1">
            <a:off x="7944342" y="4074667"/>
            <a:ext cx="833111" cy="262840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600" b="1" dirty="0">
              <a:solidFill>
                <a:schemeClr val="tx1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656483F-E713-E0DB-28E0-E4EB48C96B30}"/>
              </a:ext>
            </a:extLst>
          </p:cNvPr>
          <p:cNvSpPr txBox="1"/>
          <p:nvPr/>
        </p:nvSpPr>
        <p:spPr>
          <a:xfrm>
            <a:off x="6574398" y="3527937"/>
            <a:ext cx="6565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 err="1">
                <a:solidFill>
                  <a:schemeClr val="tx1"/>
                </a:solidFill>
              </a:rPr>
              <a:t>dptr</a:t>
            </a:r>
            <a:r>
              <a:rPr lang="en-US" sz="1200" b="1" dirty="0">
                <a:solidFill>
                  <a:schemeClr val="tx1"/>
                </a:solidFill>
              </a:rPr>
              <a:t>[0]</a:t>
            </a:r>
            <a:endParaRPr lang="en-CA" sz="1200" b="1" dirty="0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1C548DB-C7B6-FDA7-5D27-5E1116535E3D}"/>
              </a:ext>
            </a:extLst>
          </p:cNvPr>
          <p:cNvSpPr txBox="1"/>
          <p:nvPr/>
        </p:nvSpPr>
        <p:spPr>
          <a:xfrm>
            <a:off x="7117150" y="4321604"/>
            <a:ext cx="11655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</a:rPr>
              <a:t>0x 63120C</a:t>
            </a:r>
            <a:endParaRPr lang="en-CA" sz="1400" b="1" dirty="0">
              <a:solidFill>
                <a:srgbClr val="7030A0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935315D-5852-8A90-9F5E-4B8A601C63AD}"/>
              </a:ext>
            </a:extLst>
          </p:cNvPr>
          <p:cNvSpPr txBox="1"/>
          <p:nvPr/>
        </p:nvSpPr>
        <p:spPr>
          <a:xfrm>
            <a:off x="7117150" y="4076962"/>
            <a:ext cx="11655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</a:rPr>
              <a:t>0x 631208</a:t>
            </a:r>
            <a:endParaRPr lang="en-CA" sz="1400" b="1" dirty="0">
              <a:solidFill>
                <a:srgbClr val="7030A0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1B12B26-EDF2-4C9A-F1DC-BB81D1E63EF6}"/>
              </a:ext>
            </a:extLst>
          </p:cNvPr>
          <p:cNvSpPr txBox="1"/>
          <p:nvPr/>
        </p:nvSpPr>
        <p:spPr>
          <a:xfrm>
            <a:off x="7122646" y="3785954"/>
            <a:ext cx="11655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</a:rPr>
              <a:t>0x 631204</a:t>
            </a:r>
            <a:endParaRPr lang="en-CA" sz="1400" b="1" dirty="0">
              <a:solidFill>
                <a:srgbClr val="7030A0"/>
              </a:solidFill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23DE8D2-6FF1-569A-34AE-31270BA8E7BA}"/>
              </a:ext>
            </a:extLst>
          </p:cNvPr>
          <p:cNvSpPr txBox="1"/>
          <p:nvPr/>
        </p:nvSpPr>
        <p:spPr>
          <a:xfrm>
            <a:off x="7119776" y="3530195"/>
            <a:ext cx="11655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</a:rPr>
              <a:t>0x 631200</a:t>
            </a:r>
            <a:endParaRPr lang="en-CA" sz="1400" b="1" dirty="0">
              <a:solidFill>
                <a:srgbClr val="7030A0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2EEECC2-47AB-9CFA-111A-0C4D9835EFD3}"/>
              </a:ext>
            </a:extLst>
          </p:cNvPr>
          <p:cNvSpPr txBox="1"/>
          <p:nvPr/>
        </p:nvSpPr>
        <p:spPr>
          <a:xfrm>
            <a:off x="7916218" y="3530195"/>
            <a:ext cx="9145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chemeClr val="accent2"/>
                </a:solidFill>
              </a:rPr>
              <a:t>0x 21234</a:t>
            </a:r>
            <a:endParaRPr lang="en-CA" sz="1600" b="1" dirty="0">
              <a:solidFill>
                <a:schemeClr val="accent2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C78262D-9430-6671-B353-95C1CB2BCBAF}"/>
              </a:ext>
            </a:extLst>
          </p:cNvPr>
          <p:cNvSpPr txBox="1"/>
          <p:nvPr/>
        </p:nvSpPr>
        <p:spPr>
          <a:xfrm>
            <a:off x="7913242" y="3779292"/>
            <a:ext cx="9145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chemeClr val="accent2"/>
                </a:solidFill>
              </a:rPr>
              <a:t>0x 21254</a:t>
            </a:r>
            <a:endParaRPr lang="en-CA" sz="1600" b="1" dirty="0">
              <a:solidFill>
                <a:schemeClr val="accent2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C426700-35EB-60A6-7170-37A4F4FB936D}"/>
              </a:ext>
            </a:extLst>
          </p:cNvPr>
          <p:cNvSpPr txBox="1"/>
          <p:nvPr/>
        </p:nvSpPr>
        <p:spPr>
          <a:xfrm>
            <a:off x="7911772" y="4048692"/>
            <a:ext cx="9145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chemeClr val="accent2"/>
                </a:solidFill>
              </a:rPr>
              <a:t>0x </a:t>
            </a:r>
            <a:r>
              <a:rPr lang="en-US" altLang="zh-CN" sz="1400" b="1" dirty="0">
                <a:solidFill>
                  <a:schemeClr val="accent2"/>
                </a:solidFill>
              </a:rPr>
              <a:t>21274</a:t>
            </a:r>
            <a:endParaRPr lang="en-CA" sz="1600" b="1" dirty="0">
              <a:solidFill>
                <a:schemeClr val="accent2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356D406-1C99-4EDC-10B4-0D149636FA35}"/>
              </a:ext>
            </a:extLst>
          </p:cNvPr>
          <p:cNvSpPr txBox="1"/>
          <p:nvPr/>
        </p:nvSpPr>
        <p:spPr>
          <a:xfrm>
            <a:off x="7914162" y="4298308"/>
            <a:ext cx="9126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chemeClr val="accent2"/>
                </a:solidFill>
              </a:rPr>
              <a:t>0x 21294</a:t>
            </a:r>
            <a:endParaRPr lang="en-CA" sz="1600" b="1" dirty="0">
              <a:solidFill>
                <a:schemeClr val="accent2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4A25D89-A5AE-32EF-043C-48FD042699E1}"/>
              </a:ext>
            </a:extLst>
          </p:cNvPr>
          <p:cNvSpPr txBox="1"/>
          <p:nvPr/>
        </p:nvSpPr>
        <p:spPr>
          <a:xfrm>
            <a:off x="6569897" y="3802688"/>
            <a:ext cx="6565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 err="1">
                <a:solidFill>
                  <a:schemeClr val="tx1"/>
                </a:solidFill>
              </a:rPr>
              <a:t>dptr</a:t>
            </a:r>
            <a:r>
              <a:rPr lang="en-US" sz="1200" b="1" dirty="0">
                <a:solidFill>
                  <a:schemeClr val="tx1"/>
                </a:solidFill>
              </a:rPr>
              <a:t>[</a:t>
            </a:r>
            <a:r>
              <a:rPr lang="en-US" sz="1200" b="1" dirty="0"/>
              <a:t>1</a:t>
            </a:r>
            <a:r>
              <a:rPr lang="en-US" sz="1200" b="1" dirty="0">
                <a:solidFill>
                  <a:schemeClr val="tx1"/>
                </a:solidFill>
              </a:rPr>
              <a:t>]</a:t>
            </a:r>
            <a:endParaRPr lang="en-CA" sz="1200" b="1" dirty="0">
              <a:solidFill>
                <a:schemeClr val="tx1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0F9A369-2A60-552D-BE89-4402470F3789}"/>
              </a:ext>
            </a:extLst>
          </p:cNvPr>
          <p:cNvSpPr txBox="1"/>
          <p:nvPr/>
        </p:nvSpPr>
        <p:spPr>
          <a:xfrm>
            <a:off x="6572708" y="4070907"/>
            <a:ext cx="6565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 err="1">
                <a:solidFill>
                  <a:schemeClr val="tx1"/>
                </a:solidFill>
              </a:rPr>
              <a:t>dptr</a:t>
            </a:r>
            <a:r>
              <a:rPr lang="en-US" sz="1200" b="1" dirty="0">
                <a:solidFill>
                  <a:schemeClr val="tx1"/>
                </a:solidFill>
              </a:rPr>
              <a:t>[2]</a:t>
            </a:r>
            <a:endParaRPr lang="en-CA" sz="1200" b="1" dirty="0">
              <a:solidFill>
                <a:schemeClr val="tx1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AD4546E-24E2-7639-533D-F79A7BC4DB01}"/>
              </a:ext>
            </a:extLst>
          </p:cNvPr>
          <p:cNvSpPr txBox="1"/>
          <p:nvPr/>
        </p:nvSpPr>
        <p:spPr>
          <a:xfrm>
            <a:off x="6581417" y="4316777"/>
            <a:ext cx="6565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 err="1">
                <a:solidFill>
                  <a:schemeClr val="tx1"/>
                </a:solidFill>
              </a:rPr>
              <a:t>dptr</a:t>
            </a:r>
            <a:r>
              <a:rPr lang="en-US" sz="1200" b="1" dirty="0">
                <a:solidFill>
                  <a:schemeClr val="tx1"/>
                </a:solidFill>
              </a:rPr>
              <a:t>[3]</a:t>
            </a:r>
            <a:endParaRPr lang="en-CA" sz="1200" b="1" dirty="0">
              <a:solidFill>
                <a:schemeClr val="tx1"/>
              </a:solidFill>
            </a:endParaRPr>
          </a:p>
        </p:txBody>
      </p:sp>
      <p:sp>
        <p:nvSpPr>
          <p:cNvPr id="90" name="Left Brace 89">
            <a:extLst>
              <a:ext uri="{FF2B5EF4-FFF2-40B4-BE49-F238E27FC236}">
                <a16:creationId xmlns:a16="http://schemas.microsoft.com/office/drawing/2014/main" id="{CDE2390A-0BA3-F643-EE05-D87CD0793540}"/>
              </a:ext>
            </a:extLst>
          </p:cNvPr>
          <p:cNvSpPr/>
          <p:nvPr/>
        </p:nvSpPr>
        <p:spPr>
          <a:xfrm>
            <a:off x="6415115" y="3555522"/>
            <a:ext cx="202353" cy="986339"/>
          </a:xfrm>
          <a:prstGeom prst="leftBrac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0B9D1FBE-394D-D06B-B2AD-DCC628563AE5}"/>
              </a:ext>
            </a:extLst>
          </p:cNvPr>
          <p:cNvSpPr txBox="1"/>
          <p:nvPr/>
        </p:nvSpPr>
        <p:spPr>
          <a:xfrm>
            <a:off x="6018076" y="3803136"/>
            <a:ext cx="3657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b="1" dirty="0">
                <a:solidFill>
                  <a:srgbClr val="0070C0"/>
                </a:solidFill>
              </a:rPr>
              <a:t>m</a:t>
            </a:r>
            <a:endParaRPr lang="en-US" sz="2400" dirty="0"/>
          </a:p>
        </p:txBody>
      </p:sp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7497FD27-2169-63D7-7F71-7D4B1E996F1A}"/>
              </a:ext>
            </a:extLst>
          </p:cNvPr>
          <p:cNvSpPr/>
          <p:nvPr/>
        </p:nvSpPr>
        <p:spPr>
          <a:xfrm>
            <a:off x="9426277" y="555220"/>
            <a:ext cx="347473" cy="3385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?</a:t>
            </a:r>
            <a:endParaRPr lang="en-CA" sz="1600" dirty="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F5489206-3F89-DAD4-06F8-1ECCCBE0D0A1}"/>
              </a:ext>
            </a:extLst>
          </p:cNvPr>
          <p:cNvSpPr txBox="1"/>
          <p:nvPr/>
        </p:nvSpPr>
        <p:spPr>
          <a:xfrm>
            <a:off x="9768811" y="582652"/>
            <a:ext cx="7592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</a:rPr>
              <a:t>0x 21234</a:t>
            </a:r>
            <a:endParaRPr lang="en-CA" sz="1400" b="1" dirty="0">
              <a:solidFill>
                <a:srgbClr val="7030A0"/>
              </a:solidFill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1FCF97E1-FB98-D6A3-B63A-5B74158A985C}"/>
              </a:ext>
            </a:extLst>
          </p:cNvPr>
          <p:cNvSpPr txBox="1"/>
          <p:nvPr/>
        </p:nvSpPr>
        <p:spPr>
          <a:xfrm rot="5400000">
            <a:off x="9479654" y="1248943"/>
            <a:ext cx="3474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…</a:t>
            </a:r>
          </a:p>
        </p:txBody>
      </p:sp>
      <p:sp>
        <p:nvSpPr>
          <p:cNvPr id="101" name="Rectangle: Rounded Corners 100">
            <a:extLst>
              <a:ext uri="{FF2B5EF4-FFF2-40B4-BE49-F238E27FC236}">
                <a16:creationId xmlns:a16="http://schemas.microsoft.com/office/drawing/2014/main" id="{773BD432-9AA8-93EF-9B73-2EB7613F5708}"/>
              </a:ext>
            </a:extLst>
          </p:cNvPr>
          <p:cNvSpPr/>
          <p:nvPr/>
        </p:nvSpPr>
        <p:spPr>
          <a:xfrm>
            <a:off x="9426278" y="1534728"/>
            <a:ext cx="347473" cy="3385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?</a:t>
            </a:r>
            <a:endParaRPr lang="en-CA" sz="1600" dirty="0"/>
          </a:p>
        </p:txBody>
      </p: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96132E16-467D-CEBA-5B04-8C4C8D93DEE2}"/>
              </a:ext>
            </a:extLst>
          </p:cNvPr>
          <p:cNvSpPr/>
          <p:nvPr/>
        </p:nvSpPr>
        <p:spPr>
          <a:xfrm>
            <a:off x="9424887" y="926582"/>
            <a:ext cx="347473" cy="3385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?</a:t>
            </a:r>
            <a:endParaRPr lang="en-CA" sz="1600" dirty="0"/>
          </a:p>
        </p:txBody>
      </p:sp>
      <p:sp>
        <p:nvSpPr>
          <p:cNvPr id="134" name="Left Brace 133">
            <a:extLst>
              <a:ext uri="{FF2B5EF4-FFF2-40B4-BE49-F238E27FC236}">
                <a16:creationId xmlns:a16="http://schemas.microsoft.com/office/drawing/2014/main" id="{09D5FB48-8E31-DBE9-3723-17F6FEA89BE4}"/>
              </a:ext>
            </a:extLst>
          </p:cNvPr>
          <p:cNvSpPr/>
          <p:nvPr/>
        </p:nvSpPr>
        <p:spPr>
          <a:xfrm rot="10800000">
            <a:off x="10502875" y="705469"/>
            <a:ext cx="255018" cy="1027739"/>
          </a:xfrm>
          <a:prstGeom prst="leftBrac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264BC79D-A3D0-9C2A-E068-AE568CCE930F}"/>
              </a:ext>
            </a:extLst>
          </p:cNvPr>
          <p:cNvSpPr txBox="1"/>
          <p:nvPr/>
        </p:nvSpPr>
        <p:spPr>
          <a:xfrm>
            <a:off x="10739605" y="963265"/>
            <a:ext cx="3657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b="1" dirty="0">
                <a:solidFill>
                  <a:srgbClr val="0070C0"/>
                </a:solidFill>
              </a:rPr>
              <a:t>n</a:t>
            </a:r>
            <a:endParaRPr lang="en-US" sz="2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97D32A-7466-21C7-1C69-09B756966F16}"/>
              </a:ext>
            </a:extLst>
          </p:cNvPr>
          <p:cNvSpPr txBox="1"/>
          <p:nvPr/>
        </p:nvSpPr>
        <p:spPr>
          <a:xfrm>
            <a:off x="9831587" y="246490"/>
            <a:ext cx="13745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float* </a:t>
            </a:r>
            <a:r>
              <a:rPr lang="en-US" b="1" dirty="0" err="1">
                <a:solidFill>
                  <a:schemeClr val="tx1"/>
                </a:solidFill>
              </a:rPr>
              <a:t>ptr</a:t>
            </a:r>
            <a:endParaRPr lang="en-CA" b="1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48EF3B6-7FBF-D4C0-05DA-BAD27C62927B}"/>
              </a:ext>
            </a:extLst>
          </p:cNvPr>
          <p:cNvSpPr/>
          <p:nvPr/>
        </p:nvSpPr>
        <p:spPr>
          <a:xfrm>
            <a:off x="9428239" y="1918624"/>
            <a:ext cx="347473" cy="3385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?</a:t>
            </a:r>
            <a:endParaRPr lang="en-CA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9D1BB6-F73A-0A46-293E-2E75B8AA1A1C}"/>
              </a:ext>
            </a:extLst>
          </p:cNvPr>
          <p:cNvSpPr txBox="1"/>
          <p:nvPr/>
        </p:nvSpPr>
        <p:spPr>
          <a:xfrm rot="5400000">
            <a:off x="9481616" y="2612347"/>
            <a:ext cx="3474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…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9F527C7-B208-5C66-E586-1327D4CCB141}"/>
              </a:ext>
            </a:extLst>
          </p:cNvPr>
          <p:cNvSpPr/>
          <p:nvPr/>
        </p:nvSpPr>
        <p:spPr>
          <a:xfrm>
            <a:off x="9428240" y="2898132"/>
            <a:ext cx="347473" cy="3385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?</a:t>
            </a:r>
            <a:endParaRPr lang="en-CA" sz="1600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3423ECC-F092-F62F-3F12-CA5EC91B4846}"/>
              </a:ext>
            </a:extLst>
          </p:cNvPr>
          <p:cNvSpPr/>
          <p:nvPr/>
        </p:nvSpPr>
        <p:spPr>
          <a:xfrm>
            <a:off x="9426849" y="2289986"/>
            <a:ext cx="347473" cy="3385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?</a:t>
            </a:r>
            <a:endParaRPr lang="en-CA" sz="1600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B4FA92E-4EF6-84AD-749D-559068D40FDC}"/>
              </a:ext>
            </a:extLst>
          </p:cNvPr>
          <p:cNvSpPr/>
          <p:nvPr/>
        </p:nvSpPr>
        <p:spPr>
          <a:xfrm>
            <a:off x="9435197" y="3279826"/>
            <a:ext cx="347473" cy="3385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?</a:t>
            </a:r>
            <a:endParaRPr lang="en-CA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79EE84-23DA-DB82-3D0B-3193DD3C0CBC}"/>
              </a:ext>
            </a:extLst>
          </p:cNvPr>
          <p:cNvSpPr txBox="1"/>
          <p:nvPr/>
        </p:nvSpPr>
        <p:spPr>
          <a:xfrm rot="5400000">
            <a:off x="9488574" y="3973549"/>
            <a:ext cx="3474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…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5D2C631-BBCE-93AB-A0A4-F2DC958388AF}"/>
              </a:ext>
            </a:extLst>
          </p:cNvPr>
          <p:cNvSpPr/>
          <p:nvPr/>
        </p:nvSpPr>
        <p:spPr>
          <a:xfrm>
            <a:off x="9435198" y="4259334"/>
            <a:ext cx="347473" cy="3385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?</a:t>
            </a:r>
            <a:endParaRPr lang="en-CA" sz="1600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BF6C4D8-DEF5-D437-309D-EE9C7DDCFDEB}"/>
              </a:ext>
            </a:extLst>
          </p:cNvPr>
          <p:cNvSpPr/>
          <p:nvPr/>
        </p:nvSpPr>
        <p:spPr>
          <a:xfrm>
            <a:off x="9433807" y="3651188"/>
            <a:ext cx="347473" cy="3385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?</a:t>
            </a:r>
            <a:endParaRPr lang="en-CA" sz="1600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196286B-58B3-5DC0-BCFC-4EEF67629E75}"/>
              </a:ext>
            </a:extLst>
          </p:cNvPr>
          <p:cNvSpPr/>
          <p:nvPr/>
        </p:nvSpPr>
        <p:spPr>
          <a:xfrm>
            <a:off x="9437159" y="4643230"/>
            <a:ext cx="347473" cy="3385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?</a:t>
            </a:r>
            <a:endParaRPr lang="en-CA" sz="16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89649F0-0094-E387-ACE7-99F63714F7F6}"/>
              </a:ext>
            </a:extLst>
          </p:cNvPr>
          <p:cNvSpPr txBox="1"/>
          <p:nvPr/>
        </p:nvSpPr>
        <p:spPr>
          <a:xfrm rot="5400000">
            <a:off x="9490536" y="5336953"/>
            <a:ext cx="3474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…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9AF8F78-A87D-4BA1-BFC9-316D517DEBB9}"/>
              </a:ext>
            </a:extLst>
          </p:cNvPr>
          <p:cNvSpPr/>
          <p:nvPr/>
        </p:nvSpPr>
        <p:spPr>
          <a:xfrm>
            <a:off x="9437160" y="5622738"/>
            <a:ext cx="347473" cy="3385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?</a:t>
            </a:r>
            <a:endParaRPr lang="en-CA" sz="1600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91ED85D-0848-9A00-3165-0F47A933BDF3}"/>
              </a:ext>
            </a:extLst>
          </p:cNvPr>
          <p:cNvSpPr/>
          <p:nvPr/>
        </p:nvSpPr>
        <p:spPr>
          <a:xfrm>
            <a:off x="9435769" y="5014592"/>
            <a:ext cx="347473" cy="3385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?</a:t>
            </a:r>
            <a:endParaRPr lang="en-CA" sz="16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0AB1157-440D-2D34-68F3-13649F0E21E3}"/>
              </a:ext>
            </a:extLst>
          </p:cNvPr>
          <p:cNvSpPr txBox="1"/>
          <p:nvPr/>
        </p:nvSpPr>
        <p:spPr>
          <a:xfrm>
            <a:off x="9765892" y="935440"/>
            <a:ext cx="7592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</a:rPr>
              <a:t>0x 21238</a:t>
            </a:r>
            <a:endParaRPr lang="en-CA" sz="1400" b="1" dirty="0">
              <a:solidFill>
                <a:srgbClr val="7030A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098A1E8-AEC8-A8EF-2B0B-1218A118E2AF}"/>
              </a:ext>
            </a:extLst>
          </p:cNvPr>
          <p:cNvSpPr txBox="1"/>
          <p:nvPr/>
        </p:nvSpPr>
        <p:spPr>
          <a:xfrm>
            <a:off x="9762992" y="1573481"/>
            <a:ext cx="7592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</a:rPr>
              <a:t>0x 21250</a:t>
            </a:r>
            <a:endParaRPr lang="en-CA" sz="1400" b="1" dirty="0">
              <a:solidFill>
                <a:srgbClr val="7030A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C630294-4090-73D9-147C-9D6EAA55CF19}"/>
              </a:ext>
            </a:extLst>
          </p:cNvPr>
          <p:cNvSpPr txBox="1"/>
          <p:nvPr/>
        </p:nvSpPr>
        <p:spPr>
          <a:xfrm>
            <a:off x="9759667" y="1936059"/>
            <a:ext cx="7592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</a:rPr>
              <a:t>0x 21254</a:t>
            </a:r>
            <a:endParaRPr lang="en-CA" sz="1400" b="1" dirty="0">
              <a:solidFill>
                <a:srgbClr val="7030A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95B1A96-0821-6F32-53C8-214E8BDC4253}"/>
              </a:ext>
            </a:extLst>
          </p:cNvPr>
          <p:cNvSpPr txBox="1"/>
          <p:nvPr/>
        </p:nvSpPr>
        <p:spPr>
          <a:xfrm>
            <a:off x="9759515" y="2302862"/>
            <a:ext cx="7592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</a:rPr>
              <a:t>0x 21258</a:t>
            </a:r>
            <a:endParaRPr lang="en-CA" sz="1400" b="1" dirty="0">
              <a:solidFill>
                <a:srgbClr val="7030A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7AD63E2-AE15-0134-0F0B-926600E1FD2A}"/>
              </a:ext>
            </a:extLst>
          </p:cNvPr>
          <p:cNvSpPr txBox="1"/>
          <p:nvPr/>
        </p:nvSpPr>
        <p:spPr>
          <a:xfrm>
            <a:off x="9769369" y="2924159"/>
            <a:ext cx="7592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</a:rPr>
              <a:t>0x 21270</a:t>
            </a:r>
            <a:endParaRPr lang="en-CA" sz="1400" b="1" dirty="0">
              <a:solidFill>
                <a:srgbClr val="7030A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9B4E926-0271-21ED-5939-910DFA200EE6}"/>
              </a:ext>
            </a:extLst>
          </p:cNvPr>
          <p:cNvSpPr txBox="1"/>
          <p:nvPr/>
        </p:nvSpPr>
        <p:spPr>
          <a:xfrm>
            <a:off x="9766044" y="3286737"/>
            <a:ext cx="7592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</a:rPr>
              <a:t>0x 21274</a:t>
            </a:r>
            <a:endParaRPr lang="en-CA" sz="1400" b="1" dirty="0">
              <a:solidFill>
                <a:srgbClr val="7030A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9E310E-4AF5-BF62-4E7E-BB1C58CB12D8}"/>
              </a:ext>
            </a:extLst>
          </p:cNvPr>
          <p:cNvSpPr txBox="1"/>
          <p:nvPr/>
        </p:nvSpPr>
        <p:spPr>
          <a:xfrm>
            <a:off x="9765892" y="3653540"/>
            <a:ext cx="7592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</a:rPr>
              <a:t>0x 21278</a:t>
            </a:r>
            <a:endParaRPr lang="en-CA" sz="1400" b="1" dirty="0">
              <a:solidFill>
                <a:srgbClr val="7030A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B5056EB-4A9E-6E68-D294-BAAD6BD0EBF0}"/>
              </a:ext>
            </a:extLst>
          </p:cNvPr>
          <p:cNvSpPr txBox="1"/>
          <p:nvPr/>
        </p:nvSpPr>
        <p:spPr>
          <a:xfrm>
            <a:off x="9762992" y="4303841"/>
            <a:ext cx="7592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</a:rPr>
              <a:t>0x 21290</a:t>
            </a:r>
            <a:endParaRPr lang="en-CA" sz="1400" b="1" dirty="0">
              <a:solidFill>
                <a:srgbClr val="7030A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2C0304E-9963-862D-A9CB-9B1FD51BE749}"/>
              </a:ext>
            </a:extLst>
          </p:cNvPr>
          <p:cNvSpPr txBox="1"/>
          <p:nvPr/>
        </p:nvSpPr>
        <p:spPr>
          <a:xfrm>
            <a:off x="9759667" y="4666419"/>
            <a:ext cx="7592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</a:rPr>
              <a:t>0x 21294</a:t>
            </a:r>
            <a:endParaRPr lang="en-CA" sz="1400" b="1" dirty="0">
              <a:solidFill>
                <a:srgbClr val="7030A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E999F09-9913-B1B9-5F34-B82B244A75A3}"/>
              </a:ext>
            </a:extLst>
          </p:cNvPr>
          <p:cNvSpPr txBox="1"/>
          <p:nvPr/>
        </p:nvSpPr>
        <p:spPr>
          <a:xfrm>
            <a:off x="9759515" y="5033222"/>
            <a:ext cx="7592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</a:rPr>
              <a:t>0x 21298</a:t>
            </a:r>
            <a:endParaRPr lang="en-CA" sz="1400" b="1" dirty="0">
              <a:solidFill>
                <a:srgbClr val="7030A0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3FFF0A3-9996-2D53-D908-42F389AEFAEB}"/>
              </a:ext>
            </a:extLst>
          </p:cNvPr>
          <p:cNvSpPr txBox="1"/>
          <p:nvPr/>
        </p:nvSpPr>
        <p:spPr>
          <a:xfrm>
            <a:off x="9759514" y="5662576"/>
            <a:ext cx="8416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</a:rPr>
              <a:t>0x 212B0</a:t>
            </a:r>
            <a:endParaRPr lang="en-CA" sz="1400" b="1" dirty="0">
              <a:solidFill>
                <a:srgbClr val="7030A0"/>
              </a:solidFill>
            </a:endParaRPr>
          </a:p>
        </p:txBody>
      </p:sp>
      <p:sp>
        <p:nvSpPr>
          <p:cNvPr id="32" name="Left Brace 31">
            <a:extLst>
              <a:ext uri="{FF2B5EF4-FFF2-40B4-BE49-F238E27FC236}">
                <a16:creationId xmlns:a16="http://schemas.microsoft.com/office/drawing/2014/main" id="{E157B71B-AA7C-B676-36A2-3A86492108C5}"/>
              </a:ext>
            </a:extLst>
          </p:cNvPr>
          <p:cNvSpPr/>
          <p:nvPr/>
        </p:nvSpPr>
        <p:spPr>
          <a:xfrm rot="10800000">
            <a:off x="10502875" y="2046220"/>
            <a:ext cx="255018" cy="1027739"/>
          </a:xfrm>
          <a:prstGeom prst="leftBrac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EF05960-E3A5-33C6-D3DA-E5781A14EC7F}"/>
              </a:ext>
            </a:extLst>
          </p:cNvPr>
          <p:cNvSpPr txBox="1"/>
          <p:nvPr/>
        </p:nvSpPr>
        <p:spPr>
          <a:xfrm>
            <a:off x="10739605" y="2304016"/>
            <a:ext cx="3657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b="1" dirty="0">
                <a:solidFill>
                  <a:srgbClr val="0070C0"/>
                </a:solidFill>
              </a:rPr>
              <a:t>n</a:t>
            </a:r>
            <a:endParaRPr lang="en-US" sz="2400" dirty="0"/>
          </a:p>
        </p:txBody>
      </p:sp>
      <p:sp>
        <p:nvSpPr>
          <p:cNvPr id="34" name="Left Brace 33">
            <a:extLst>
              <a:ext uri="{FF2B5EF4-FFF2-40B4-BE49-F238E27FC236}">
                <a16:creationId xmlns:a16="http://schemas.microsoft.com/office/drawing/2014/main" id="{AF655817-6692-C556-AEE7-5D7CDE9A9821}"/>
              </a:ext>
            </a:extLst>
          </p:cNvPr>
          <p:cNvSpPr/>
          <p:nvPr/>
        </p:nvSpPr>
        <p:spPr>
          <a:xfrm rot="10800000">
            <a:off x="10511365" y="3419109"/>
            <a:ext cx="255018" cy="1027739"/>
          </a:xfrm>
          <a:prstGeom prst="leftBrac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5460205-CC12-A891-9AF5-2BB379EA70C7}"/>
              </a:ext>
            </a:extLst>
          </p:cNvPr>
          <p:cNvSpPr txBox="1"/>
          <p:nvPr/>
        </p:nvSpPr>
        <p:spPr>
          <a:xfrm>
            <a:off x="10748095" y="3676905"/>
            <a:ext cx="3657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b="1" dirty="0">
                <a:solidFill>
                  <a:srgbClr val="0070C0"/>
                </a:solidFill>
              </a:rPr>
              <a:t>n</a:t>
            </a:r>
            <a:endParaRPr lang="en-US" sz="2400" dirty="0"/>
          </a:p>
        </p:txBody>
      </p:sp>
      <p:sp>
        <p:nvSpPr>
          <p:cNvPr id="36" name="Left Brace 35">
            <a:extLst>
              <a:ext uri="{FF2B5EF4-FFF2-40B4-BE49-F238E27FC236}">
                <a16:creationId xmlns:a16="http://schemas.microsoft.com/office/drawing/2014/main" id="{3A9F7F24-0874-8DFE-2FF2-EF740AC27201}"/>
              </a:ext>
            </a:extLst>
          </p:cNvPr>
          <p:cNvSpPr/>
          <p:nvPr/>
        </p:nvSpPr>
        <p:spPr>
          <a:xfrm rot="10800000">
            <a:off x="10530059" y="4815896"/>
            <a:ext cx="255018" cy="1027739"/>
          </a:xfrm>
          <a:prstGeom prst="leftBrac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196CA96-1AB2-B877-1973-2D766AEC637A}"/>
              </a:ext>
            </a:extLst>
          </p:cNvPr>
          <p:cNvSpPr txBox="1"/>
          <p:nvPr/>
        </p:nvSpPr>
        <p:spPr>
          <a:xfrm>
            <a:off x="10766789" y="5073692"/>
            <a:ext cx="3657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b="1" dirty="0">
                <a:solidFill>
                  <a:srgbClr val="0070C0"/>
                </a:solidFill>
              </a:rPr>
              <a:t>n</a:t>
            </a:r>
            <a:endParaRPr lang="en-US" sz="2400" dirty="0"/>
          </a:p>
        </p:txBody>
      </p:sp>
      <p:sp>
        <p:nvSpPr>
          <p:cNvPr id="38" name="Left Brace 37">
            <a:extLst>
              <a:ext uri="{FF2B5EF4-FFF2-40B4-BE49-F238E27FC236}">
                <a16:creationId xmlns:a16="http://schemas.microsoft.com/office/drawing/2014/main" id="{50BB6B20-6E7C-8E66-496C-E25F50B138E0}"/>
              </a:ext>
            </a:extLst>
          </p:cNvPr>
          <p:cNvSpPr/>
          <p:nvPr/>
        </p:nvSpPr>
        <p:spPr>
          <a:xfrm rot="10800000">
            <a:off x="11005735" y="712006"/>
            <a:ext cx="255018" cy="5131629"/>
          </a:xfrm>
          <a:prstGeom prst="leftBrac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B0537B4-13EA-5AFB-7976-5EED320B8D4E}"/>
              </a:ext>
            </a:extLst>
          </p:cNvPr>
          <p:cNvSpPr txBox="1"/>
          <p:nvPr/>
        </p:nvSpPr>
        <p:spPr>
          <a:xfrm rot="5400000">
            <a:off x="10969148" y="3046987"/>
            <a:ext cx="9238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b="1" dirty="0">
                <a:solidFill>
                  <a:srgbClr val="C00000"/>
                </a:solidFill>
              </a:rPr>
              <a:t>m * n</a:t>
            </a:r>
            <a:endParaRPr lang="en-US" sz="2400" dirty="0">
              <a:solidFill>
                <a:srgbClr val="C00000"/>
              </a:solidFill>
            </a:endParaRP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1B4AC072-7D42-A505-8EAA-B36D1E850FBF}"/>
              </a:ext>
            </a:extLst>
          </p:cNvPr>
          <p:cNvCxnSpPr>
            <a:cxnSpLocks/>
            <a:stCxn id="81" idx="3"/>
            <a:endCxn id="97" idx="1"/>
          </p:cNvCxnSpPr>
          <p:nvPr/>
        </p:nvCxnSpPr>
        <p:spPr>
          <a:xfrm flipV="1">
            <a:off x="8830750" y="724497"/>
            <a:ext cx="595527" cy="295958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1839A69-51C6-42A4-36EE-95CFCC11BA0F}"/>
              </a:ext>
            </a:extLst>
          </p:cNvPr>
          <p:cNvCxnSpPr>
            <a:cxnSpLocks/>
            <a:stCxn id="82" idx="3"/>
            <a:endCxn id="8" idx="1"/>
          </p:cNvCxnSpPr>
          <p:nvPr/>
        </p:nvCxnSpPr>
        <p:spPr>
          <a:xfrm flipV="1">
            <a:off x="8827774" y="2087901"/>
            <a:ext cx="600465" cy="18452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33930EAF-0A9D-8345-5858-32C833953EB6}"/>
              </a:ext>
            </a:extLst>
          </p:cNvPr>
          <p:cNvCxnSpPr>
            <a:cxnSpLocks/>
            <a:stCxn id="83" idx="3"/>
            <a:endCxn id="12" idx="1"/>
          </p:cNvCxnSpPr>
          <p:nvPr/>
        </p:nvCxnSpPr>
        <p:spPr>
          <a:xfrm flipV="1">
            <a:off x="8826304" y="3449103"/>
            <a:ext cx="608893" cy="75347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CA57217C-E105-25A7-5686-30DE9B3AB829}"/>
              </a:ext>
            </a:extLst>
          </p:cNvPr>
          <p:cNvCxnSpPr>
            <a:cxnSpLocks/>
            <a:stCxn id="84" idx="3"/>
            <a:endCxn id="17" idx="1"/>
          </p:cNvCxnSpPr>
          <p:nvPr/>
        </p:nvCxnSpPr>
        <p:spPr>
          <a:xfrm>
            <a:off x="8826819" y="4452197"/>
            <a:ext cx="610340" cy="36031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7A080A5-9EA4-364E-F7D5-1289ABFCE73E}"/>
              </a:ext>
            </a:extLst>
          </p:cNvPr>
          <p:cNvSpPr/>
          <p:nvPr/>
        </p:nvSpPr>
        <p:spPr>
          <a:xfrm>
            <a:off x="4416106" y="5289897"/>
            <a:ext cx="2201362" cy="404238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L9Ex4-DMA2D-M2.c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3865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5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8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7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2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7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2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7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2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8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2" presetClass="exit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5" dur="5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2" presetClass="exit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9" dur="500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1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4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0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4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5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5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7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7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7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7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4" presetClass="exit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82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14" presetClass="exit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85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4" presetClass="exit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8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14" presetClass="exit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9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4" presetClass="exit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9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14" presetClass="exit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9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4" presetClass="exit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0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" presetID="14" presetClass="exit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0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4" presetClass="exit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0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14" presetClass="exit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0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24" dur="500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500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2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29" dur="500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0" dur="500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31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69" grpId="0" animBg="1"/>
      <p:bldP spid="70" grpId="0" animBg="1"/>
      <p:bldP spid="71" grpId="0" animBg="1"/>
      <p:bldP spid="72" grpId="0" animBg="1"/>
      <p:bldP spid="73" grpId="0"/>
      <p:bldP spid="74" grpId="0"/>
      <p:bldP spid="75" grpId="0"/>
      <p:bldP spid="76" grpId="0"/>
      <p:bldP spid="77" grpId="0"/>
      <p:bldP spid="81" grpId="0"/>
      <p:bldP spid="82" grpId="0"/>
      <p:bldP spid="83" grpId="0"/>
      <p:bldP spid="84" grpId="0"/>
      <p:bldP spid="87" grpId="0"/>
      <p:bldP spid="88" grpId="0"/>
      <p:bldP spid="89" grpId="0"/>
      <p:bldP spid="90" grpId="0" animBg="1"/>
      <p:bldP spid="92" grpId="0"/>
      <p:bldP spid="97" grpId="0" animBg="1"/>
      <p:bldP spid="98" grpId="0"/>
      <p:bldP spid="99" grpId="0"/>
      <p:bldP spid="101" grpId="0" animBg="1"/>
      <p:bldP spid="102" grpId="0" animBg="1"/>
      <p:bldP spid="134" grpId="0" animBg="1"/>
      <p:bldP spid="135" grpId="0"/>
      <p:bldP spid="8" grpId="0" animBg="1"/>
      <p:bldP spid="9" grpId="0"/>
      <p:bldP spid="10" grpId="0" animBg="1"/>
      <p:bldP spid="11" grpId="0" animBg="1"/>
      <p:bldP spid="12" grpId="0" animBg="1"/>
      <p:bldP spid="14" grpId="0"/>
      <p:bldP spid="15" grpId="0" animBg="1"/>
      <p:bldP spid="16" grpId="0" animBg="1"/>
      <p:bldP spid="17" grpId="0" animBg="1"/>
      <p:bldP spid="18" grpId="0"/>
      <p:bldP spid="19" grpId="0" animBg="1"/>
      <p:bldP spid="20" grpId="0" animBg="1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 animBg="1"/>
      <p:bldP spid="33" grpId="0"/>
      <p:bldP spid="34" grpId="0" animBg="1"/>
      <p:bldP spid="35" grpId="0"/>
      <p:bldP spid="36" grpId="0" animBg="1"/>
      <p:bldP spid="37" grpId="0"/>
      <p:bldP spid="38" grpId="0" animBg="1"/>
      <p:bldP spid="39" grpId="0"/>
      <p:bldP spid="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7" y="585288"/>
            <a:ext cx="912374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DMA for 2D Arrays - 3 Methods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563637"/>
            <a:ext cx="10526686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>
                <a:solidFill>
                  <a:srgbClr val="0000FF"/>
                </a:solidFill>
              </a:rPr>
              <a:t>Method 3:</a:t>
            </a:r>
            <a:r>
              <a:rPr lang="en-CA" sz="2200" dirty="0"/>
              <a:t> Just One Single Massive Linear Array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chemeClr val="accent6"/>
                </a:solidFill>
              </a:rPr>
              <a:t>Allocation</a:t>
            </a:r>
            <a:r>
              <a:rPr lang="en-CA" dirty="0"/>
              <a:t> Process for “Brute-Forced” </a:t>
            </a:r>
            <a:r>
              <a:rPr lang="en-CA" b="1" dirty="0"/>
              <a:t>m x n </a:t>
            </a:r>
            <a:r>
              <a:rPr lang="en-CA" dirty="0"/>
              <a:t>2D array on heap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rgbClr val="FF0000"/>
                </a:solidFill>
              </a:rPr>
              <a:t>Deallocation</a:t>
            </a:r>
            <a:r>
              <a:rPr lang="en-CA" dirty="0"/>
              <a:t> Process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22</a:t>
            </a:fld>
            <a:endParaRPr lang="en-CA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A857EB5-0271-3EDA-9E76-8C02F14691EF}"/>
              </a:ext>
            </a:extLst>
          </p:cNvPr>
          <p:cNvSpPr txBox="1"/>
          <p:nvPr/>
        </p:nvSpPr>
        <p:spPr>
          <a:xfrm>
            <a:off x="1425617" y="2245211"/>
            <a:ext cx="5080755" cy="1569660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m, n;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 *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  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For the single massive linear array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(“Provide Size 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m,n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): ”);</a:t>
            </a: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scanf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(“%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d,%d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”, &amp;m, &amp;n);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Allocate single linear array</a:t>
            </a: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float*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)malloc( m * n * </a:t>
            </a:r>
            <a:r>
              <a:rPr lang="en-US" sz="12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 );</a:t>
            </a:r>
          </a:p>
        </p:txBody>
      </p:sp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7497FD27-2169-63D7-7F71-7D4B1E996F1A}"/>
              </a:ext>
            </a:extLst>
          </p:cNvPr>
          <p:cNvSpPr/>
          <p:nvPr/>
        </p:nvSpPr>
        <p:spPr>
          <a:xfrm>
            <a:off x="8914213" y="555220"/>
            <a:ext cx="347473" cy="3385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?</a:t>
            </a:r>
            <a:endParaRPr lang="en-CA" sz="1600" dirty="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F5489206-3F89-DAD4-06F8-1ECCCBE0D0A1}"/>
              </a:ext>
            </a:extLst>
          </p:cNvPr>
          <p:cNvSpPr txBox="1"/>
          <p:nvPr/>
        </p:nvSpPr>
        <p:spPr>
          <a:xfrm>
            <a:off x="9256747" y="582652"/>
            <a:ext cx="7592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</a:rPr>
              <a:t>0x 21234</a:t>
            </a:r>
            <a:endParaRPr lang="en-CA" sz="1400" b="1" dirty="0">
              <a:solidFill>
                <a:srgbClr val="7030A0"/>
              </a:solidFill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1FCF97E1-FB98-D6A3-B63A-5B74158A985C}"/>
              </a:ext>
            </a:extLst>
          </p:cNvPr>
          <p:cNvSpPr txBox="1"/>
          <p:nvPr/>
        </p:nvSpPr>
        <p:spPr>
          <a:xfrm rot="5400000">
            <a:off x="8967590" y="1248943"/>
            <a:ext cx="3474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…</a:t>
            </a:r>
          </a:p>
        </p:txBody>
      </p:sp>
      <p:sp>
        <p:nvSpPr>
          <p:cNvPr id="101" name="Rectangle: Rounded Corners 100">
            <a:extLst>
              <a:ext uri="{FF2B5EF4-FFF2-40B4-BE49-F238E27FC236}">
                <a16:creationId xmlns:a16="http://schemas.microsoft.com/office/drawing/2014/main" id="{773BD432-9AA8-93EF-9B73-2EB7613F5708}"/>
              </a:ext>
            </a:extLst>
          </p:cNvPr>
          <p:cNvSpPr/>
          <p:nvPr/>
        </p:nvSpPr>
        <p:spPr>
          <a:xfrm>
            <a:off x="8914214" y="1534728"/>
            <a:ext cx="347473" cy="3385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?</a:t>
            </a:r>
            <a:endParaRPr lang="en-CA" sz="1600" dirty="0"/>
          </a:p>
        </p:txBody>
      </p: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96132E16-467D-CEBA-5B04-8C4C8D93DEE2}"/>
              </a:ext>
            </a:extLst>
          </p:cNvPr>
          <p:cNvSpPr/>
          <p:nvPr/>
        </p:nvSpPr>
        <p:spPr>
          <a:xfrm>
            <a:off x="8912823" y="926582"/>
            <a:ext cx="347473" cy="3385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?</a:t>
            </a:r>
            <a:endParaRPr lang="en-CA" sz="1600" dirty="0"/>
          </a:p>
        </p:txBody>
      </p:sp>
      <p:sp>
        <p:nvSpPr>
          <p:cNvPr id="134" name="Left Brace 133">
            <a:extLst>
              <a:ext uri="{FF2B5EF4-FFF2-40B4-BE49-F238E27FC236}">
                <a16:creationId xmlns:a16="http://schemas.microsoft.com/office/drawing/2014/main" id="{09D5FB48-8E31-DBE9-3723-17F6FEA89BE4}"/>
              </a:ext>
            </a:extLst>
          </p:cNvPr>
          <p:cNvSpPr/>
          <p:nvPr/>
        </p:nvSpPr>
        <p:spPr>
          <a:xfrm rot="10800000">
            <a:off x="9990811" y="705469"/>
            <a:ext cx="255018" cy="1027739"/>
          </a:xfrm>
          <a:prstGeom prst="leftBrac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264BC79D-A3D0-9C2A-E068-AE568CCE930F}"/>
              </a:ext>
            </a:extLst>
          </p:cNvPr>
          <p:cNvSpPr txBox="1"/>
          <p:nvPr/>
        </p:nvSpPr>
        <p:spPr>
          <a:xfrm>
            <a:off x="10227541" y="963265"/>
            <a:ext cx="3657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b="1" dirty="0">
                <a:solidFill>
                  <a:srgbClr val="0070C0"/>
                </a:solidFill>
              </a:rPr>
              <a:t>n</a:t>
            </a:r>
            <a:endParaRPr lang="en-US" sz="2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97D32A-7466-21C7-1C69-09B756966F16}"/>
              </a:ext>
            </a:extLst>
          </p:cNvPr>
          <p:cNvSpPr txBox="1"/>
          <p:nvPr/>
        </p:nvSpPr>
        <p:spPr>
          <a:xfrm>
            <a:off x="9319523" y="246490"/>
            <a:ext cx="13745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float* </a:t>
            </a:r>
            <a:r>
              <a:rPr lang="en-US" b="1" dirty="0" err="1">
                <a:solidFill>
                  <a:schemeClr val="tx1"/>
                </a:solidFill>
              </a:rPr>
              <a:t>ptr</a:t>
            </a:r>
            <a:endParaRPr lang="en-CA" b="1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48EF3B6-7FBF-D4C0-05DA-BAD27C62927B}"/>
              </a:ext>
            </a:extLst>
          </p:cNvPr>
          <p:cNvSpPr/>
          <p:nvPr/>
        </p:nvSpPr>
        <p:spPr>
          <a:xfrm>
            <a:off x="8916175" y="1918624"/>
            <a:ext cx="347473" cy="3385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?</a:t>
            </a:r>
            <a:endParaRPr lang="en-CA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9D1BB6-F73A-0A46-293E-2E75B8AA1A1C}"/>
              </a:ext>
            </a:extLst>
          </p:cNvPr>
          <p:cNvSpPr txBox="1"/>
          <p:nvPr/>
        </p:nvSpPr>
        <p:spPr>
          <a:xfrm rot="5400000">
            <a:off x="8969552" y="2612347"/>
            <a:ext cx="3474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…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9F527C7-B208-5C66-E586-1327D4CCB141}"/>
              </a:ext>
            </a:extLst>
          </p:cNvPr>
          <p:cNvSpPr/>
          <p:nvPr/>
        </p:nvSpPr>
        <p:spPr>
          <a:xfrm>
            <a:off x="8916176" y="2898132"/>
            <a:ext cx="347473" cy="3385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?</a:t>
            </a:r>
            <a:endParaRPr lang="en-CA" sz="1600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3423ECC-F092-F62F-3F12-CA5EC91B4846}"/>
              </a:ext>
            </a:extLst>
          </p:cNvPr>
          <p:cNvSpPr/>
          <p:nvPr/>
        </p:nvSpPr>
        <p:spPr>
          <a:xfrm>
            <a:off x="8914785" y="2289986"/>
            <a:ext cx="347473" cy="3385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?</a:t>
            </a:r>
            <a:endParaRPr lang="en-CA" sz="1600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B4FA92E-4EF6-84AD-749D-559068D40FDC}"/>
              </a:ext>
            </a:extLst>
          </p:cNvPr>
          <p:cNvSpPr/>
          <p:nvPr/>
        </p:nvSpPr>
        <p:spPr>
          <a:xfrm>
            <a:off x="8923133" y="3279826"/>
            <a:ext cx="347473" cy="3385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?</a:t>
            </a:r>
            <a:endParaRPr lang="en-CA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79EE84-23DA-DB82-3D0B-3193DD3C0CBC}"/>
              </a:ext>
            </a:extLst>
          </p:cNvPr>
          <p:cNvSpPr txBox="1"/>
          <p:nvPr/>
        </p:nvSpPr>
        <p:spPr>
          <a:xfrm rot="5400000">
            <a:off x="8976510" y="3973549"/>
            <a:ext cx="3474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…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5D2C631-BBCE-93AB-A0A4-F2DC958388AF}"/>
              </a:ext>
            </a:extLst>
          </p:cNvPr>
          <p:cNvSpPr/>
          <p:nvPr/>
        </p:nvSpPr>
        <p:spPr>
          <a:xfrm>
            <a:off x="8923134" y="4259334"/>
            <a:ext cx="347473" cy="3385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?</a:t>
            </a:r>
            <a:endParaRPr lang="en-CA" sz="1600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BF6C4D8-DEF5-D437-309D-EE9C7DDCFDEB}"/>
              </a:ext>
            </a:extLst>
          </p:cNvPr>
          <p:cNvSpPr/>
          <p:nvPr/>
        </p:nvSpPr>
        <p:spPr>
          <a:xfrm>
            <a:off x="8921743" y="3651188"/>
            <a:ext cx="347473" cy="3385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?</a:t>
            </a:r>
            <a:endParaRPr lang="en-CA" sz="1600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196286B-58B3-5DC0-BCFC-4EEF67629E75}"/>
              </a:ext>
            </a:extLst>
          </p:cNvPr>
          <p:cNvSpPr/>
          <p:nvPr/>
        </p:nvSpPr>
        <p:spPr>
          <a:xfrm>
            <a:off x="8925095" y="4643230"/>
            <a:ext cx="347473" cy="3385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?</a:t>
            </a:r>
            <a:endParaRPr lang="en-CA" sz="16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89649F0-0094-E387-ACE7-99F63714F7F6}"/>
              </a:ext>
            </a:extLst>
          </p:cNvPr>
          <p:cNvSpPr txBox="1"/>
          <p:nvPr/>
        </p:nvSpPr>
        <p:spPr>
          <a:xfrm rot="5400000">
            <a:off x="8978472" y="5336953"/>
            <a:ext cx="3474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…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9AF8F78-A87D-4BA1-BFC9-316D517DEBB9}"/>
              </a:ext>
            </a:extLst>
          </p:cNvPr>
          <p:cNvSpPr/>
          <p:nvPr/>
        </p:nvSpPr>
        <p:spPr>
          <a:xfrm>
            <a:off x="8925096" y="5622738"/>
            <a:ext cx="347473" cy="3385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?</a:t>
            </a:r>
            <a:endParaRPr lang="en-CA" sz="1600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91ED85D-0848-9A00-3165-0F47A933BDF3}"/>
              </a:ext>
            </a:extLst>
          </p:cNvPr>
          <p:cNvSpPr/>
          <p:nvPr/>
        </p:nvSpPr>
        <p:spPr>
          <a:xfrm>
            <a:off x="8923705" y="5014592"/>
            <a:ext cx="347473" cy="3385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?</a:t>
            </a:r>
            <a:endParaRPr lang="en-CA" sz="16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0AB1157-440D-2D34-68F3-13649F0E21E3}"/>
              </a:ext>
            </a:extLst>
          </p:cNvPr>
          <p:cNvSpPr txBox="1"/>
          <p:nvPr/>
        </p:nvSpPr>
        <p:spPr>
          <a:xfrm>
            <a:off x="9253828" y="935440"/>
            <a:ext cx="7592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</a:rPr>
              <a:t>0x 21238</a:t>
            </a:r>
            <a:endParaRPr lang="en-CA" sz="1400" b="1" dirty="0">
              <a:solidFill>
                <a:srgbClr val="7030A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098A1E8-AEC8-A8EF-2B0B-1218A118E2AF}"/>
              </a:ext>
            </a:extLst>
          </p:cNvPr>
          <p:cNvSpPr txBox="1"/>
          <p:nvPr/>
        </p:nvSpPr>
        <p:spPr>
          <a:xfrm>
            <a:off x="9250928" y="1573481"/>
            <a:ext cx="7592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</a:rPr>
              <a:t>0x 21250</a:t>
            </a:r>
            <a:endParaRPr lang="en-CA" sz="1400" b="1" dirty="0">
              <a:solidFill>
                <a:srgbClr val="7030A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C630294-4090-73D9-147C-9D6EAA55CF19}"/>
              </a:ext>
            </a:extLst>
          </p:cNvPr>
          <p:cNvSpPr txBox="1"/>
          <p:nvPr/>
        </p:nvSpPr>
        <p:spPr>
          <a:xfrm>
            <a:off x="9247603" y="1936059"/>
            <a:ext cx="7592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</a:rPr>
              <a:t>0x 21254</a:t>
            </a:r>
            <a:endParaRPr lang="en-CA" sz="1400" b="1" dirty="0">
              <a:solidFill>
                <a:srgbClr val="7030A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95B1A96-0821-6F32-53C8-214E8BDC4253}"/>
              </a:ext>
            </a:extLst>
          </p:cNvPr>
          <p:cNvSpPr txBox="1"/>
          <p:nvPr/>
        </p:nvSpPr>
        <p:spPr>
          <a:xfrm>
            <a:off x="9247451" y="2302862"/>
            <a:ext cx="7592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</a:rPr>
              <a:t>0x 21258</a:t>
            </a:r>
            <a:endParaRPr lang="en-CA" sz="1400" b="1" dirty="0">
              <a:solidFill>
                <a:srgbClr val="7030A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7AD63E2-AE15-0134-0F0B-926600E1FD2A}"/>
              </a:ext>
            </a:extLst>
          </p:cNvPr>
          <p:cNvSpPr txBox="1"/>
          <p:nvPr/>
        </p:nvSpPr>
        <p:spPr>
          <a:xfrm>
            <a:off x="9257305" y="2924159"/>
            <a:ext cx="7592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</a:rPr>
              <a:t>0x 21270</a:t>
            </a:r>
            <a:endParaRPr lang="en-CA" sz="1400" b="1" dirty="0">
              <a:solidFill>
                <a:srgbClr val="7030A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9B4E926-0271-21ED-5939-910DFA200EE6}"/>
              </a:ext>
            </a:extLst>
          </p:cNvPr>
          <p:cNvSpPr txBox="1"/>
          <p:nvPr/>
        </p:nvSpPr>
        <p:spPr>
          <a:xfrm>
            <a:off x="9253980" y="3286737"/>
            <a:ext cx="7592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</a:rPr>
              <a:t>0x 21274</a:t>
            </a:r>
            <a:endParaRPr lang="en-CA" sz="1400" b="1" dirty="0">
              <a:solidFill>
                <a:srgbClr val="7030A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9E310E-4AF5-BF62-4E7E-BB1C58CB12D8}"/>
              </a:ext>
            </a:extLst>
          </p:cNvPr>
          <p:cNvSpPr txBox="1"/>
          <p:nvPr/>
        </p:nvSpPr>
        <p:spPr>
          <a:xfrm>
            <a:off x="9253828" y="3653540"/>
            <a:ext cx="7592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</a:rPr>
              <a:t>0x 21278</a:t>
            </a:r>
            <a:endParaRPr lang="en-CA" sz="1400" b="1" dirty="0">
              <a:solidFill>
                <a:srgbClr val="7030A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B5056EB-4A9E-6E68-D294-BAAD6BD0EBF0}"/>
              </a:ext>
            </a:extLst>
          </p:cNvPr>
          <p:cNvSpPr txBox="1"/>
          <p:nvPr/>
        </p:nvSpPr>
        <p:spPr>
          <a:xfrm>
            <a:off x="9250928" y="4303841"/>
            <a:ext cx="7592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</a:rPr>
              <a:t>0x 21290</a:t>
            </a:r>
            <a:endParaRPr lang="en-CA" sz="1400" b="1" dirty="0">
              <a:solidFill>
                <a:srgbClr val="7030A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2C0304E-9963-862D-A9CB-9B1FD51BE749}"/>
              </a:ext>
            </a:extLst>
          </p:cNvPr>
          <p:cNvSpPr txBox="1"/>
          <p:nvPr/>
        </p:nvSpPr>
        <p:spPr>
          <a:xfrm>
            <a:off x="9247603" y="4666419"/>
            <a:ext cx="7592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</a:rPr>
              <a:t>0x 21294</a:t>
            </a:r>
            <a:endParaRPr lang="en-CA" sz="1400" b="1" dirty="0">
              <a:solidFill>
                <a:srgbClr val="7030A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E999F09-9913-B1B9-5F34-B82B244A75A3}"/>
              </a:ext>
            </a:extLst>
          </p:cNvPr>
          <p:cNvSpPr txBox="1"/>
          <p:nvPr/>
        </p:nvSpPr>
        <p:spPr>
          <a:xfrm>
            <a:off x="9247451" y="5033222"/>
            <a:ext cx="7592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</a:rPr>
              <a:t>0x 21298</a:t>
            </a:r>
            <a:endParaRPr lang="en-CA" sz="1400" b="1" dirty="0">
              <a:solidFill>
                <a:srgbClr val="7030A0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3FFF0A3-9996-2D53-D908-42F389AEFAEB}"/>
              </a:ext>
            </a:extLst>
          </p:cNvPr>
          <p:cNvSpPr txBox="1"/>
          <p:nvPr/>
        </p:nvSpPr>
        <p:spPr>
          <a:xfrm>
            <a:off x="9247450" y="5662576"/>
            <a:ext cx="8416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</a:rPr>
              <a:t>0x 212B0</a:t>
            </a:r>
            <a:endParaRPr lang="en-CA" sz="1400" b="1" dirty="0">
              <a:solidFill>
                <a:srgbClr val="7030A0"/>
              </a:solidFill>
            </a:endParaRPr>
          </a:p>
        </p:txBody>
      </p:sp>
      <p:sp>
        <p:nvSpPr>
          <p:cNvPr id="32" name="Left Brace 31">
            <a:extLst>
              <a:ext uri="{FF2B5EF4-FFF2-40B4-BE49-F238E27FC236}">
                <a16:creationId xmlns:a16="http://schemas.microsoft.com/office/drawing/2014/main" id="{E157B71B-AA7C-B676-36A2-3A86492108C5}"/>
              </a:ext>
            </a:extLst>
          </p:cNvPr>
          <p:cNvSpPr/>
          <p:nvPr/>
        </p:nvSpPr>
        <p:spPr>
          <a:xfrm rot="10800000">
            <a:off x="9990811" y="2046220"/>
            <a:ext cx="255018" cy="1027739"/>
          </a:xfrm>
          <a:prstGeom prst="leftBrac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EF05960-E3A5-33C6-D3DA-E5781A14EC7F}"/>
              </a:ext>
            </a:extLst>
          </p:cNvPr>
          <p:cNvSpPr txBox="1"/>
          <p:nvPr/>
        </p:nvSpPr>
        <p:spPr>
          <a:xfrm>
            <a:off x="10227541" y="2304016"/>
            <a:ext cx="3657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b="1" dirty="0">
                <a:solidFill>
                  <a:srgbClr val="0070C0"/>
                </a:solidFill>
              </a:rPr>
              <a:t>n</a:t>
            </a:r>
            <a:endParaRPr lang="en-US" sz="2400" dirty="0"/>
          </a:p>
        </p:txBody>
      </p:sp>
      <p:sp>
        <p:nvSpPr>
          <p:cNvPr id="34" name="Left Brace 33">
            <a:extLst>
              <a:ext uri="{FF2B5EF4-FFF2-40B4-BE49-F238E27FC236}">
                <a16:creationId xmlns:a16="http://schemas.microsoft.com/office/drawing/2014/main" id="{AF655817-6692-C556-AEE7-5D7CDE9A9821}"/>
              </a:ext>
            </a:extLst>
          </p:cNvPr>
          <p:cNvSpPr/>
          <p:nvPr/>
        </p:nvSpPr>
        <p:spPr>
          <a:xfrm rot="10800000">
            <a:off x="9999301" y="3419109"/>
            <a:ext cx="255018" cy="1027739"/>
          </a:xfrm>
          <a:prstGeom prst="leftBrac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5460205-CC12-A891-9AF5-2BB379EA70C7}"/>
              </a:ext>
            </a:extLst>
          </p:cNvPr>
          <p:cNvSpPr txBox="1"/>
          <p:nvPr/>
        </p:nvSpPr>
        <p:spPr>
          <a:xfrm>
            <a:off x="10236031" y="3676905"/>
            <a:ext cx="3657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b="1" dirty="0">
                <a:solidFill>
                  <a:srgbClr val="0070C0"/>
                </a:solidFill>
              </a:rPr>
              <a:t>n</a:t>
            </a:r>
            <a:endParaRPr lang="en-US" sz="2400" dirty="0"/>
          </a:p>
        </p:txBody>
      </p:sp>
      <p:sp>
        <p:nvSpPr>
          <p:cNvPr id="36" name="Left Brace 35">
            <a:extLst>
              <a:ext uri="{FF2B5EF4-FFF2-40B4-BE49-F238E27FC236}">
                <a16:creationId xmlns:a16="http://schemas.microsoft.com/office/drawing/2014/main" id="{3A9F7F24-0874-8DFE-2FF2-EF740AC27201}"/>
              </a:ext>
            </a:extLst>
          </p:cNvPr>
          <p:cNvSpPr/>
          <p:nvPr/>
        </p:nvSpPr>
        <p:spPr>
          <a:xfrm rot="10800000">
            <a:off x="10017995" y="4815896"/>
            <a:ext cx="255018" cy="1027739"/>
          </a:xfrm>
          <a:prstGeom prst="leftBrac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196CA96-1AB2-B877-1973-2D766AEC637A}"/>
              </a:ext>
            </a:extLst>
          </p:cNvPr>
          <p:cNvSpPr txBox="1"/>
          <p:nvPr/>
        </p:nvSpPr>
        <p:spPr>
          <a:xfrm>
            <a:off x="10254725" y="5073692"/>
            <a:ext cx="3657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b="1" dirty="0">
                <a:solidFill>
                  <a:srgbClr val="0070C0"/>
                </a:solidFill>
              </a:rPr>
              <a:t>n</a:t>
            </a:r>
            <a:endParaRPr lang="en-US" sz="2400" dirty="0"/>
          </a:p>
        </p:txBody>
      </p:sp>
      <p:sp>
        <p:nvSpPr>
          <p:cNvPr id="38" name="Left Brace 37">
            <a:extLst>
              <a:ext uri="{FF2B5EF4-FFF2-40B4-BE49-F238E27FC236}">
                <a16:creationId xmlns:a16="http://schemas.microsoft.com/office/drawing/2014/main" id="{50BB6B20-6E7C-8E66-496C-E25F50B138E0}"/>
              </a:ext>
            </a:extLst>
          </p:cNvPr>
          <p:cNvSpPr/>
          <p:nvPr/>
        </p:nvSpPr>
        <p:spPr>
          <a:xfrm rot="10800000">
            <a:off x="10493671" y="712006"/>
            <a:ext cx="255018" cy="5131629"/>
          </a:xfrm>
          <a:prstGeom prst="leftBrac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B0537B4-13EA-5AFB-7976-5EED320B8D4E}"/>
              </a:ext>
            </a:extLst>
          </p:cNvPr>
          <p:cNvSpPr txBox="1"/>
          <p:nvPr/>
        </p:nvSpPr>
        <p:spPr>
          <a:xfrm rot="5400000">
            <a:off x="10457084" y="3046987"/>
            <a:ext cx="9238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b="1" dirty="0">
                <a:solidFill>
                  <a:srgbClr val="C00000"/>
                </a:solidFill>
              </a:rPr>
              <a:t>m * n</a:t>
            </a:r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15F9145-68DE-454B-2302-ED8F54B2D1C0}"/>
              </a:ext>
            </a:extLst>
          </p:cNvPr>
          <p:cNvSpPr txBox="1"/>
          <p:nvPr/>
        </p:nvSpPr>
        <p:spPr>
          <a:xfrm>
            <a:off x="1425617" y="3866783"/>
            <a:ext cx="5080755" cy="954107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US" sz="1400" b="1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sz="1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400" b="1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][j] </a:t>
            </a:r>
            <a:r>
              <a:rPr lang="en-US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cannot be used in this method</a:t>
            </a:r>
          </a:p>
          <a:p>
            <a:r>
              <a:rPr lang="en-US" sz="1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Instead, brute force index calculation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*(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+ 2*n + 0) = 3.0;  </a:t>
            </a:r>
            <a:r>
              <a:rPr lang="en-US" sz="1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US" sz="1400" b="1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sz="1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[2][0] = 3.0</a:t>
            </a: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[ 1*n + 1 ] = 4.0;  </a:t>
            </a:r>
            <a:r>
              <a:rPr lang="en-US" sz="1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US" sz="1400" b="1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sz="1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[1][1] = 4.0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C6ECE33-5A6C-1027-C92E-1E7CBAD8CD26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6096000" y="3449103"/>
            <a:ext cx="2827133" cy="99774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8088813E-D80A-A8B8-59A8-7BF62DBD4AE0}"/>
              </a:ext>
            </a:extLst>
          </p:cNvPr>
          <p:cNvCxnSpPr>
            <a:cxnSpLocks/>
            <a:endCxn id="11" idx="1"/>
          </p:cNvCxnSpPr>
          <p:nvPr/>
        </p:nvCxnSpPr>
        <p:spPr>
          <a:xfrm flipV="1">
            <a:off x="5897880" y="2459263"/>
            <a:ext cx="3016905" cy="218396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3" name="Speech Bubble: Rectangle 52">
            <a:extLst>
              <a:ext uri="{FF2B5EF4-FFF2-40B4-BE49-F238E27FC236}">
                <a16:creationId xmlns:a16="http://schemas.microsoft.com/office/drawing/2014/main" id="{52CBAC47-8F08-F35C-6AE6-76E23F65703C}"/>
              </a:ext>
            </a:extLst>
          </p:cNvPr>
          <p:cNvSpPr/>
          <p:nvPr/>
        </p:nvSpPr>
        <p:spPr>
          <a:xfrm>
            <a:off x="6747841" y="4382983"/>
            <a:ext cx="1938677" cy="905820"/>
          </a:xfrm>
          <a:prstGeom prst="wedgeRectCallout">
            <a:avLst>
              <a:gd name="adj1" fmla="val -78201"/>
              <a:gd name="adj2" fmla="val -18734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u="sng" dirty="0">
                <a:solidFill>
                  <a:schemeClr val="tx1"/>
                </a:solidFill>
              </a:rPr>
              <a:t>Formula for </a:t>
            </a:r>
            <a:r>
              <a:rPr lang="en-US" sz="1600" b="1" u="sng" dirty="0" err="1">
                <a:solidFill>
                  <a:schemeClr val="tx1"/>
                </a:solidFill>
              </a:rPr>
              <a:t>ptr</a:t>
            </a:r>
            <a:r>
              <a:rPr lang="en-US" sz="1600" b="1" u="sng" dirty="0">
                <a:solidFill>
                  <a:schemeClr val="tx1"/>
                </a:solidFill>
              </a:rPr>
              <a:t>[</a:t>
            </a:r>
            <a:r>
              <a:rPr lang="en-US" sz="1600" b="1" u="sng" dirty="0" err="1">
                <a:solidFill>
                  <a:schemeClr val="tx1"/>
                </a:solidFill>
              </a:rPr>
              <a:t>i</a:t>
            </a:r>
            <a:r>
              <a:rPr lang="en-US" sz="1600" b="1" u="sng" dirty="0">
                <a:solidFill>
                  <a:schemeClr val="tx1"/>
                </a:solidFill>
              </a:rPr>
              <a:t>][j]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*(</a:t>
            </a:r>
            <a:r>
              <a:rPr lang="en-US" sz="1600" dirty="0" err="1">
                <a:solidFill>
                  <a:schemeClr val="tx1"/>
                </a:solidFill>
              </a:rPr>
              <a:t>ptr</a:t>
            </a:r>
            <a:r>
              <a:rPr lang="en-US" sz="1600" dirty="0">
                <a:solidFill>
                  <a:schemeClr val="tx1"/>
                </a:solidFill>
              </a:rPr>
              <a:t> + </a:t>
            </a:r>
            <a:r>
              <a:rPr lang="en-US" sz="1600" dirty="0" err="1">
                <a:solidFill>
                  <a:schemeClr val="tx1"/>
                </a:solidFill>
              </a:rPr>
              <a:t>i</a:t>
            </a:r>
            <a:r>
              <a:rPr lang="en-US" sz="1600" dirty="0">
                <a:solidFill>
                  <a:schemeClr val="tx1"/>
                </a:solidFill>
              </a:rPr>
              <a:t>*n + j)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tx1"/>
                </a:solidFill>
              </a:rPr>
              <a:t>ptr</a:t>
            </a:r>
            <a:r>
              <a:rPr lang="en-US" sz="1600" dirty="0">
                <a:solidFill>
                  <a:schemeClr val="tx1"/>
                </a:solidFill>
              </a:rPr>
              <a:t>[ </a:t>
            </a:r>
            <a:r>
              <a:rPr lang="en-US" sz="1600" dirty="0" err="1">
                <a:solidFill>
                  <a:schemeClr val="tx1"/>
                </a:solidFill>
              </a:rPr>
              <a:t>i</a:t>
            </a:r>
            <a:r>
              <a:rPr lang="en-US" sz="1600" dirty="0">
                <a:solidFill>
                  <a:schemeClr val="tx1"/>
                </a:solidFill>
              </a:rPr>
              <a:t>*n + j]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09A081A-83FA-2C8F-9609-A07546A9288C}"/>
              </a:ext>
            </a:extLst>
          </p:cNvPr>
          <p:cNvSpPr txBox="1"/>
          <p:nvPr/>
        </p:nvSpPr>
        <p:spPr>
          <a:xfrm>
            <a:off x="1433128" y="5235256"/>
            <a:ext cx="5080755" cy="646331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Extremely Simple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free(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);</a:t>
            </a: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NULL; 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Make sure no one misuses </a:t>
            </a:r>
            <a:r>
              <a:rPr lang="en-US" sz="1200" b="1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later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21D30B84-29B0-B59E-AA9D-65448296AB46}"/>
              </a:ext>
            </a:extLst>
          </p:cNvPr>
          <p:cNvSpPr/>
          <p:nvPr/>
        </p:nvSpPr>
        <p:spPr>
          <a:xfrm>
            <a:off x="5165819" y="2848483"/>
            <a:ext cx="2201362" cy="404238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L9Ex5-DMA2D-M3.c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0094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50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53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56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59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6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6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6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7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7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7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8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8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8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9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9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9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0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0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0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0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4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1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2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2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6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3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2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33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36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8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3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4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4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4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0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5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5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6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5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6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2" presetID="2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26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5" presetID="2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26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>
                      <p:stCondLst>
                        <p:cond delay="indefinite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id="270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71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3" fill="hold">
                      <p:stCondLst>
                        <p:cond delay="indefinite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97" grpId="0" animBg="1"/>
      <p:bldP spid="97" grpId="1" animBg="1"/>
      <p:bldP spid="98" grpId="0"/>
      <p:bldP spid="98" grpId="1"/>
      <p:bldP spid="99" grpId="0"/>
      <p:bldP spid="99" grpId="1"/>
      <p:bldP spid="101" grpId="0" animBg="1"/>
      <p:bldP spid="101" grpId="1" animBg="1"/>
      <p:bldP spid="102" grpId="0" animBg="1"/>
      <p:bldP spid="102" grpId="1" animBg="1"/>
      <p:bldP spid="134" grpId="0" animBg="1"/>
      <p:bldP spid="134" grpId="1" animBg="1"/>
      <p:bldP spid="135" grpId="0"/>
      <p:bldP spid="135" grpId="1"/>
      <p:bldP spid="2" grpId="0"/>
      <p:bldP spid="8" grpId="0" animBg="1"/>
      <p:bldP spid="8" grpId="1" animBg="1"/>
      <p:bldP spid="9" grpId="0"/>
      <p:bldP spid="9" grpId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4" grpId="0"/>
      <p:bldP spid="14" grpId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/>
      <p:bldP spid="18" grpId="1"/>
      <p:bldP spid="19" grpId="0" animBg="1"/>
      <p:bldP spid="19" grpId="1" animBg="1"/>
      <p:bldP spid="20" grpId="0" animBg="1"/>
      <p:bldP spid="20" grpId="1" animBg="1"/>
      <p:bldP spid="21" grpId="0"/>
      <p:bldP spid="21" grpId="1"/>
      <p:bldP spid="22" grpId="0"/>
      <p:bldP spid="22" grpId="1"/>
      <p:bldP spid="23" grpId="0"/>
      <p:bldP spid="23" grpId="1"/>
      <p:bldP spid="24" grpId="0"/>
      <p:bldP spid="24" grpId="1"/>
      <p:bldP spid="25" grpId="0"/>
      <p:bldP spid="25" grpId="1"/>
      <p:bldP spid="26" grpId="0"/>
      <p:bldP spid="26" grpId="1"/>
      <p:bldP spid="27" grpId="0"/>
      <p:bldP spid="27" grpId="1"/>
      <p:bldP spid="28" grpId="0"/>
      <p:bldP spid="28" grpId="1"/>
      <p:bldP spid="29" grpId="0"/>
      <p:bldP spid="29" grpId="1"/>
      <p:bldP spid="30" grpId="0"/>
      <p:bldP spid="30" grpId="1"/>
      <p:bldP spid="31" grpId="0"/>
      <p:bldP spid="31" grpId="1"/>
      <p:bldP spid="32" grpId="0" animBg="1"/>
      <p:bldP spid="32" grpId="1" animBg="1"/>
      <p:bldP spid="33" grpId="0"/>
      <p:bldP spid="33" grpId="1"/>
      <p:bldP spid="34" grpId="0" animBg="1"/>
      <p:bldP spid="34" grpId="1" animBg="1"/>
      <p:bldP spid="35" grpId="0"/>
      <p:bldP spid="35" grpId="1"/>
      <p:bldP spid="36" grpId="0" animBg="1"/>
      <p:bldP spid="36" grpId="1" animBg="1"/>
      <p:bldP spid="37" grpId="0"/>
      <p:bldP spid="37" grpId="1"/>
      <p:bldP spid="38" grpId="0" animBg="1"/>
      <p:bldP spid="38" grpId="1" animBg="1"/>
      <p:bldP spid="39" grpId="0"/>
      <p:bldP spid="39" grpId="1"/>
      <p:bldP spid="42" grpId="0" animBg="1"/>
      <p:bldP spid="53" grpId="0" animBg="1"/>
      <p:bldP spid="57" grpId="0" animBg="1"/>
      <p:bldP spid="5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7" y="585288"/>
            <a:ext cx="912374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DMA for 2D Arrays - 3 Methods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563637"/>
            <a:ext cx="10526686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Summary of Pros and Cons</a:t>
            </a: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No better or worse, just suitability for your design goals and application environments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23</a:t>
            </a:fld>
            <a:endParaRPr lang="en-CA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AFEEC14-9E26-5419-F7DF-AFC56B8CEAD8}"/>
              </a:ext>
            </a:extLst>
          </p:cNvPr>
          <p:cNvSpPr/>
          <p:nvPr/>
        </p:nvSpPr>
        <p:spPr>
          <a:xfrm>
            <a:off x="833933" y="2576804"/>
            <a:ext cx="3379622" cy="30584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CA" sz="2000" b="1" u="sng" dirty="0"/>
              <a:t>Method 1</a:t>
            </a:r>
            <a:br>
              <a:rPr lang="en-CA" sz="1600" dirty="0"/>
            </a:br>
            <a:r>
              <a:rPr lang="en-CA" sz="1600" dirty="0"/>
              <a:t>Double Pointer + Individual Arrays</a:t>
            </a:r>
            <a:br>
              <a:rPr lang="en-CA" sz="1600" dirty="0"/>
            </a:br>
            <a:endParaRPr lang="en-CA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1600" b="1" dirty="0"/>
              <a:t>Pros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400" dirty="0"/>
              <a:t>Natural indexed notation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400" dirty="0"/>
              <a:t>Easy jagged N-D arrays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400" dirty="0"/>
              <a:t>Swapping sub-arrays simple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400" dirty="0"/>
              <a:t>Dimensionally scalable</a:t>
            </a:r>
            <a:br>
              <a:rPr lang="en-CA" sz="1400" dirty="0"/>
            </a:br>
            <a:endParaRPr lang="en-CA" sz="1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1600" b="1" dirty="0"/>
              <a:t>Cons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400" dirty="0"/>
              <a:t>Setup somewhat complex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400" dirty="0"/>
              <a:t>Error-prone deallocation</a:t>
            </a:r>
            <a:endParaRPr lang="en-US" sz="160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DE9E4FF-6657-A56E-FB20-3EB281F23C85}"/>
              </a:ext>
            </a:extLst>
          </p:cNvPr>
          <p:cNvSpPr/>
          <p:nvPr/>
        </p:nvSpPr>
        <p:spPr>
          <a:xfrm>
            <a:off x="4306242" y="2575844"/>
            <a:ext cx="3420464" cy="30584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CA" sz="2000" b="1" u="sng" dirty="0"/>
              <a:t>Method 2</a:t>
            </a:r>
            <a:br>
              <a:rPr lang="en-CA" sz="1600" dirty="0"/>
            </a:br>
            <a:r>
              <a:rPr lang="en-CA" sz="1600" dirty="0"/>
              <a:t>Double Pointer + One Linear Array</a:t>
            </a:r>
            <a:br>
              <a:rPr lang="en-CA" sz="1600" dirty="0"/>
            </a:br>
            <a:endParaRPr lang="en-CA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1600" b="1" dirty="0"/>
              <a:t>Pros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400" dirty="0"/>
              <a:t>Natural indexed notation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400" dirty="0"/>
              <a:t>Stack-like array setup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400" dirty="0"/>
              <a:t>Simpler deallocation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400" dirty="0"/>
              <a:t>Somewhat dimensionally scalable</a:t>
            </a:r>
            <a:br>
              <a:rPr lang="en-CA" sz="1400" dirty="0"/>
            </a:br>
            <a:endParaRPr lang="en-CA" sz="1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1600" b="1" dirty="0"/>
              <a:t>Cons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400" dirty="0"/>
              <a:t>Setup involves pointer calc.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400" dirty="0"/>
              <a:t>Harder jagged N-D array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6D5200B-465D-3F20-F680-8FCE5A9E046A}"/>
              </a:ext>
            </a:extLst>
          </p:cNvPr>
          <p:cNvSpPr/>
          <p:nvPr/>
        </p:nvSpPr>
        <p:spPr>
          <a:xfrm>
            <a:off x="7817537" y="2578495"/>
            <a:ext cx="3420464" cy="3055762"/>
          </a:xfrm>
          <a:prstGeom prst="rect">
            <a:avLst/>
          </a:prstGeom>
          <a:solidFill>
            <a:srgbClr val="FF66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CA" sz="2000" b="1" u="sng" dirty="0"/>
              <a:t>Method 3</a:t>
            </a:r>
            <a:br>
              <a:rPr lang="en-CA" sz="1600" dirty="0"/>
            </a:br>
            <a:r>
              <a:rPr lang="en-CA" sz="1600" dirty="0"/>
              <a:t>One Single Linear Array</a:t>
            </a:r>
            <a:br>
              <a:rPr lang="en-CA" sz="1600" dirty="0"/>
            </a:br>
            <a:endParaRPr lang="en-CA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1600" b="1" dirty="0"/>
              <a:t>Pros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400" dirty="0"/>
              <a:t>Simplest setup and deallocation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400" dirty="0"/>
              <a:t>No double pointer needed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400" dirty="0"/>
              <a:t>Environmentally scalable</a:t>
            </a:r>
            <a:br>
              <a:rPr lang="en-CA" sz="1400" dirty="0"/>
            </a:br>
            <a:endParaRPr lang="en-CA" sz="1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1600" b="1" dirty="0"/>
              <a:t>Cons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400" dirty="0"/>
              <a:t>No indexed notation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400" dirty="0"/>
              <a:t>Pointer calculation everything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400" dirty="0"/>
              <a:t>Not dimensionally scalable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774698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0" grpId="0" animBg="1"/>
      <p:bldP spid="4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7" y="585288"/>
            <a:ext cx="912374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DMA for 2D Arrays - Example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563637"/>
            <a:ext cx="1052668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2D Memory Allocation Routine (Method 1) with Proper Error Handling</a:t>
            </a: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24</a:t>
            </a:fld>
            <a:endParaRPr lang="en-CA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9C601D7-C276-0031-56DE-CACD9E571272}"/>
              </a:ext>
            </a:extLst>
          </p:cNvPr>
          <p:cNvSpPr txBox="1"/>
          <p:nvPr/>
        </p:nvSpPr>
        <p:spPr>
          <a:xfrm>
            <a:off x="722929" y="2245211"/>
            <a:ext cx="6296959" cy="3416320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float**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allocate2DFloat(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m,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n)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error = 0;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float**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NULL;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// Allocate pointer lookup table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 (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float**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calloc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 m, </a:t>
            </a:r>
            <a:r>
              <a:rPr lang="en-US" sz="12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float*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 ) ) == NULL)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(“Not enough memory\n”);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NULL; 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i.e. failed to allocate memory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for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&lt; m;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++ ) {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Allocate individual arrays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 !(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] = 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float*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calloc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 n, </a:t>
            </a:r>
            <a:r>
              <a:rPr lang="en-US" sz="12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 ) ) )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   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if any </a:t>
            </a:r>
            <a:r>
              <a:rPr lang="en-US" sz="1200" b="1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alloc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failed, start error-handling now!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    error = 1; 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}	</a:t>
            </a:r>
            <a:endParaRPr lang="en-US" sz="12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endParaRPr lang="en-US" sz="12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96EE4F-9816-B684-46AF-65C0EDD2D101}"/>
              </a:ext>
            </a:extLst>
          </p:cNvPr>
          <p:cNvSpPr txBox="1"/>
          <p:nvPr/>
        </p:nvSpPr>
        <p:spPr>
          <a:xfrm>
            <a:off x="7079522" y="2251277"/>
            <a:ext cx="4179237" cy="3416320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// Error Handling Process for Sub-Array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 error == 1 )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(“Not enough memory\n”);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&lt; m;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++ )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] != NULL ){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	free(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] 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    }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	free(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NULL;  </a:t>
            </a:r>
            <a:b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	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i.e. failed to allocate memory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endParaRPr lang="en-US" sz="12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end of function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133A7D6-72C1-5072-384E-C333E33DF876}"/>
              </a:ext>
            </a:extLst>
          </p:cNvPr>
          <p:cNvSpPr/>
          <p:nvPr/>
        </p:nvSpPr>
        <p:spPr>
          <a:xfrm>
            <a:off x="9015984" y="579754"/>
            <a:ext cx="2201362" cy="404238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L9Ex6-DMA-Full.c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3DC4D28A-1B81-554E-D4D9-379FB3C6E6B0}"/>
              </a:ext>
            </a:extLst>
          </p:cNvPr>
          <p:cNvSpPr/>
          <p:nvPr/>
        </p:nvSpPr>
        <p:spPr>
          <a:xfrm>
            <a:off x="7585670" y="1225347"/>
            <a:ext cx="3780730" cy="360789"/>
          </a:xfrm>
          <a:prstGeom prst="wedgeRectCallout">
            <a:avLst>
              <a:gd name="adj1" fmla="val -3923"/>
              <a:gd name="adj2" fmla="val -118990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b="1" dirty="0">
                <a:solidFill>
                  <a:schemeClr val="tx1"/>
                </a:solidFill>
              </a:rPr>
              <a:t>BONUS – Formal Deallocation Function!</a:t>
            </a:r>
            <a:endParaRPr lang="en-US" sz="1600" b="1" dirty="0">
              <a:solidFill>
                <a:schemeClr val="tx1"/>
              </a:solidFill>
              <a:latin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2618773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500" tmFilter="0, 0; .2, .5; .8, .5; 1, 0"/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7" dur="250" autoRev="1" fill="hold"/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  <p:bldP spid="10" grpId="0" animBg="1"/>
      <p:bldP spid="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268464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Takeaways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8" y="1468387"/>
            <a:ext cx="719577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b="1" dirty="0"/>
              <a:t>Array of Pointers (Pointers to Pointers)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Underlying concept of N-dimensional array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Double pointer can be seen as a pointer lookup table setup</a:t>
            </a:r>
            <a:br>
              <a:rPr lang="en-CA" dirty="0"/>
            </a:br>
            <a:r>
              <a:rPr lang="en-CA" dirty="0"/>
              <a:t>for accessing sub-level arrays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Can construct jagged arrays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Cost-effective array swapping</a:t>
            </a:r>
          </a:p>
          <a:p>
            <a:pPr lvl="1"/>
            <a:endParaRPr lang="en-CA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b="1" dirty="0"/>
              <a:t>DMA for Multidimensional Arrays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3 Methods, with pros and cons</a:t>
            </a:r>
            <a:endParaRPr lang="en-CA" i="1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25</a:t>
            </a:fld>
            <a:endParaRPr lang="en-CA" dirty="0"/>
          </a:p>
        </p:txBody>
      </p:sp>
      <p:pic>
        <p:nvPicPr>
          <p:cNvPr id="9" name="Graphic 8" descr="Three circles each containing concentric circles.">
            <a:extLst>
              <a:ext uri="{FF2B5EF4-FFF2-40B4-BE49-F238E27FC236}">
                <a16:creationId xmlns:a16="http://schemas.microsoft.com/office/drawing/2014/main" id="{AD0038CC-0843-437C-BFCF-0646F453B2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88020" y="776106"/>
            <a:ext cx="5305788" cy="5305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344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255916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Upcoming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563637"/>
            <a:ext cx="6900553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b="1" dirty="0"/>
              <a:t>C Struct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Motivation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C Aliasing – Typedef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Accessing members in a struct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Multiparameter IO for function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Structure and Pointer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DMA for Structure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b="1" dirty="0"/>
              <a:t>Roadmap to C++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26</a:t>
            </a:fld>
            <a:endParaRPr lang="en-CA" dirty="0"/>
          </a:p>
        </p:txBody>
      </p:sp>
      <p:pic>
        <p:nvPicPr>
          <p:cNvPr id="9" name="Graphic 8" descr="Three circles each containing concentric circles.">
            <a:extLst>
              <a:ext uri="{FF2B5EF4-FFF2-40B4-BE49-F238E27FC236}">
                <a16:creationId xmlns:a16="http://schemas.microsoft.com/office/drawing/2014/main" id="{AD0038CC-0843-437C-BFCF-0646F453B2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88020" y="776106"/>
            <a:ext cx="5305788" cy="5305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0510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33337</TotalTime>
  <Words>4570</Words>
  <Application>Microsoft Office PowerPoint</Application>
  <PresentationFormat>Widescreen</PresentationFormat>
  <Paragraphs>1089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Calibri</vt:lpstr>
      <vt:lpstr>Calibri Light</vt:lpstr>
      <vt:lpstr>Courier</vt:lpstr>
      <vt:lpstr>Courier New</vt:lpstr>
      <vt:lpstr>Office Theme</vt:lpstr>
      <vt:lpstr>PowerPoint Presentation</vt:lpstr>
      <vt:lpstr>PowerPoint Presentation</vt:lpstr>
      <vt:lpstr>2D Array on Heap</vt:lpstr>
      <vt:lpstr>PowerPoint Presentation</vt:lpstr>
      <vt:lpstr>PowerPoint Presentation</vt:lpstr>
      <vt:lpstr>PowerPoint Presentation</vt:lpstr>
      <vt:lpstr>PowerPoint Presentation</vt:lpstr>
      <vt:lpstr>Odd-Shaped Arrays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DMA for Multidimensional Arrays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 9 - Array of Pointers</dc:title>
  <dc:creator>Shahrukh Athar</dc:creator>
  <cp:lastModifiedBy>Shahrukh Athar</cp:lastModifiedBy>
  <cp:revision>682</cp:revision>
  <dcterms:created xsi:type="dcterms:W3CDTF">2018-10-02T00:35:18Z</dcterms:created>
  <dcterms:modified xsi:type="dcterms:W3CDTF">2024-10-28T05:20:20Z</dcterms:modified>
</cp:coreProperties>
</file>