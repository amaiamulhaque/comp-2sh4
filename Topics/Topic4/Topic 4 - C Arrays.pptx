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sldIdLst>
    <p:sldId id="256" r:id="rId2"/>
    <p:sldId id="264" r:id="rId3"/>
    <p:sldId id="270" r:id="rId4"/>
    <p:sldId id="408" r:id="rId5"/>
    <p:sldId id="412" r:id="rId6"/>
    <p:sldId id="411" r:id="rId7"/>
    <p:sldId id="413" r:id="rId8"/>
    <p:sldId id="414" r:id="rId9"/>
    <p:sldId id="415" r:id="rId10"/>
    <p:sldId id="416" r:id="rId11"/>
    <p:sldId id="417" r:id="rId12"/>
    <p:sldId id="418" r:id="rId13"/>
    <p:sldId id="378" r:id="rId14"/>
    <p:sldId id="379" r:id="rId15"/>
    <p:sldId id="419" r:id="rId16"/>
    <p:sldId id="420" r:id="rId17"/>
    <p:sldId id="421" r:id="rId18"/>
    <p:sldId id="422" r:id="rId19"/>
    <p:sldId id="423" r:id="rId20"/>
    <p:sldId id="426" r:id="rId21"/>
    <p:sldId id="427" r:id="rId22"/>
    <p:sldId id="428" r:id="rId23"/>
    <p:sldId id="429" r:id="rId24"/>
    <p:sldId id="430" r:id="rId25"/>
    <p:sldId id="377" r:id="rId26"/>
    <p:sldId id="313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A870D2"/>
    <a:srgbClr val="E9EBF5"/>
    <a:srgbClr val="7F1F1F"/>
    <a:srgbClr val="EBF1E9"/>
    <a:srgbClr val="FFDDDD"/>
    <a:srgbClr val="FF7D7D"/>
    <a:srgbClr val="FFC000"/>
    <a:srgbClr val="E8D9F3"/>
    <a:srgbClr val="D1B3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A49FD1-C801-49A5-8B3B-7E4466140B0B}" type="datetimeFigureOut">
              <a:rPr lang="en-US" smtClean="0"/>
              <a:t>9/24/2024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5F8C59-6400-4A47-9B68-202DC97D1A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17418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BF0B6A-6EA8-48B1-890E-DBE9F55C93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041BC4-FC72-4C99-A6E3-D36F48E005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EB7F54-454F-4230-BCD0-7E298954CF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BFC9D-8A37-4207-9EED-DA2ABD1734E0}" type="datetimeFigureOut">
              <a:rPr lang="en-CA" smtClean="0"/>
              <a:t>2024-09-24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C61BE9-5CD9-4798-8B28-41A7B3B212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723F6D-6949-4755-9EB3-0B4CF36828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C85A8-916E-4330-983D-E7D081D6863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865341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4C3B6A-6FB6-43A1-923B-948DA708EC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32D120-9635-40F5-BD6A-8B18A091E5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A2D18D-D540-45BC-92C8-5C043E6BEA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BFC9D-8A37-4207-9EED-DA2ABD1734E0}" type="datetimeFigureOut">
              <a:rPr lang="en-CA" smtClean="0"/>
              <a:t>2024-09-24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09A943-3396-4512-9E17-E9C48D4044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73FB98-9712-4920-84AA-67299297C2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C85A8-916E-4330-983D-E7D081D6863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878418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FC0B3-F2E8-4150-9C9F-249EA1EEB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B89AC4-4CCA-41C9-8CD3-FDA4F8BFD3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B67CB5-DCF0-4F91-A3A4-AC18FA8DCE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BFC9D-8A37-4207-9EED-DA2ABD1734E0}" type="datetimeFigureOut">
              <a:rPr lang="en-CA" smtClean="0"/>
              <a:t>2024-09-24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AD0D37-7F5D-4DA2-928A-A46FC161AF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835497-1021-4F40-B052-5FDB6EA00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C85A8-916E-4330-983D-E7D081D6863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817108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78113F-9A27-4454-9066-1D4816CBAC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37B618-A31F-4B60-9C62-B8612EFF3C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596AB5-6DB6-442F-A300-81550E203D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BFC75A-6003-426C-9DB2-9B39A4B0D9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BFC9D-8A37-4207-9EED-DA2ABD1734E0}" type="datetimeFigureOut">
              <a:rPr lang="en-CA" smtClean="0"/>
              <a:t>2024-09-24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DB4B50-F363-4912-A26C-0359D566C7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216A83-7103-44F3-87B3-CEE5D964D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C85A8-916E-4330-983D-E7D081D6863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242624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81195-ACB2-4934-8F4E-F2958669EF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758A89-F5A9-4F9B-A223-97C13BC231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16795C-363C-48DB-AD3D-2F9C61E1EB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E36750-9C96-4B01-9805-33AC964663D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41DC454-D419-49C4-8D63-67A4795D954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843FABF-0142-467C-AE89-DE5CD45B0C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BFC9D-8A37-4207-9EED-DA2ABD1734E0}" type="datetimeFigureOut">
              <a:rPr lang="en-CA" smtClean="0"/>
              <a:t>2024-09-24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0DB3F96-5224-4C13-AD6F-1105B1ADA5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2A5A20E-F42A-4D9D-B91C-6088C1DCA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C85A8-916E-4330-983D-E7D081D6863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701239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5B7978-81C5-4AE1-8616-9BD6D82E9B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B3CD8A4-8B49-41C6-B266-DDCE9828A4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BFC9D-8A37-4207-9EED-DA2ABD1734E0}" type="datetimeFigureOut">
              <a:rPr lang="en-CA" smtClean="0"/>
              <a:t>2024-09-24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0EAF09-62CD-4D41-A12D-7A187B1586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916380-B9B6-4A57-92A4-92928B666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C85A8-916E-4330-983D-E7D081D6863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688001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3B50F4B-56DD-47FF-8723-5B8E812DB7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BFC9D-8A37-4207-9EED-DA2ABD1734E0}" type="datetimeFigureOut">
              <a:rPr lang="en-CA" smtClean="0"/>
              <a:t>2024-09-24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00A2383-5FD6-4CA9-B869-66F36C29F9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D04989-A74B-47B9-BBF3-7E03ED0AF0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C85A8-916E-4330-983D-E7D081D6863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948229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CFE9DE-5FE6-448D-8017-76CEB79B70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4F5170-09A8-4802-948A-2FC1342490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03ADFF-B73A-409D-B75B-F2CD7B6DDE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410021-EAD0-4B81-B79C-468DFF6404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BFC9D-8A37-4207-9EED-DA2ABD1734E0}" type="datetimeFigureOut">
              <a:rPr lang="en-CA" smtClean="0"/>
              <a:t>2024-09-24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B38279-373B-4DD6-9B4D-8391BC7BD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87FDA3-5AFE-4A11-A0BE-334D33D89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C85A8-916E-4330-983D-E7D081D6863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069489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59788-A568-4DD7-ADA9-9ABF1663CB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DFC9A0F-20B9-4F4D-8494-51CC0F0F15A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3D0EFE-BCFC-4795-81FA-C1868FB99C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A51377-1691-4253-8517-5C1042A925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BFC9D-8A37-4207-9EED-DA2ABD1734E0}" type="datetimeFigureOut">
              <a:rPr lang="en-CA" smtClean="0"/>
              <a:t>2024-09-24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094FC9-DA1F-4922-BE56-216E722BA6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32F70E-C891-4B2C-90E2-48DF1E698F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C85A8-916E-4330-983D-E7D081D6863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836967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4A1662-B2C5-4D3D-A91F-576556E374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D83262-9C38-48C2-92DD-DFF488E745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6F95AE-11FE-461F-86AA-DD7226E115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BFC9D-8A37-4207-9EED-DA2ABD1734E0}" type="datetimeFigureOut">
              <a:rPr lang="en-CA" smtClean="0"/>
              <a:t>2024-09-24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E4B16A-019A-4707-B5FE-6A7A4FAA56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C9DE2A-7C3E-4387-BD36-F66C7D0C21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C85A8-916E-4330-983D-E7D081D6863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693427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B34312D-85D8-4F4E-9225-EE35F67774C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6A2784-F633-44EE-8524-4C659B6A13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8F275D-A9E9-4573-A113-62A0D463E8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BFC9D-8A37-4207-9EED-DA2ABD1734E0}" type="datetimeFigureOut">
              <a:rPr lang="en-CA" smtClean="0"/>
              <a:t>2024-09-24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45AB9-9C02-4C46-A2F5-EA99128AA5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9DAC47-ACD1-475E-929F-BEA3913CD6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C85A8-916E-4330-983D-E7D081D6863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402295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9561F7F-5C44-431A-8DF8-3CE3DE3D3D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51CD12-5D97-4A00-9D87-C774CAFD4A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F3DE7A-C95D-4242-B510-AF0B3126229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7BFC9D-8A37-4207-9EED-DA2ABD1734E0}" type="datetimeFigureOut">
              <a:rPr lang="en-CA" smtClean="0"/>
              <a:t>2024-09-24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080F37-BB84-4C94-94FA-DF32380325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4C9D4C-3C3D-49C6-9E5A-9FEE72A286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FC85A8-916E-4330-983D-E7D081D6863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670994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sv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B39D983-FBB4-420A-9D1B-9D486DEE0A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374" y="0"/>
            <a:ext cx="3158763" cy="187072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12BEA56-DD51-434A-8A58-1499DABCDB67}"/>
              </a:ext>
            </a:extLst>
          </p:cNvPr>
          <p:cNvSpPr txBox="1"/>
          <p:nvPr/>
        </p:nvSpPr>
        <p:spPr>
          <a:xfrm>
            <a:off x="4698273" y="2611819"/>
            <a:ext cx="279551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A" sz="60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 Arrays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632D380-33B6-48EC-8744-F89F20911832}"/>
              </a:ext>
            </a:extLst>
          </p:cNvPr>
          <p:cNvSpPr txBox="1"/>
          <p:nvPr/>
        </p:nvSpPr>
        <p:spPr>
          <a:xfrm>
            <a:off x="3975701" y="1867574"/>
            <a:ext cx="422583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A" sz="32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COMPENG 2SH4 Topic 4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FA5C08D-C241-8FFA-D875-41D5C95728B2}"/>
              </a:ext>
            </a:extLst>
          </p:cNvPr>
          <p:cNvSpPr txBox="1"/>
          <p:nvPr/>
        </p:nvSpPr>
        <p:spPr>
          <a:xfrm>
            <a:off x="1388853" y="6596390"/>
            <a:ext cx="1080314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Credit: The current version of these slides has been developed by Dr. Scott Chen (2SH4 F23 C02). I am using these slides with his permission and have made only slight modifications.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6C16D6-9137-09EB-54C6-123B478A4B42}"/>
              </a:ext>
            </a:extLst>
          </p:cNvPr>
          <p:cNvSpPr txBox="1"/>
          <p:nvPr/>
        </p:nvSpPr>
        <p:spPr>
          <a:xfrm>
            <a:off x="4185188" y="5068547"/>
            <a:ext cx="382162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3600" b="1" dirty="0"/>
              <a:t>Dr. Shahrukh Athar</a:t>
            </a:r>
          </a:p>
        </p:txBody>
      </p:sp>
    </p:spTree>
    <p:extLst>
      <p:ext uri="{BB962C8B-B14F-4D97-AF65-F5344CB8AC3E}">
        <p14:creationId xmlns:p14="http://schemas.microsoft.com/office/powerpoint/2010/main" val="19577878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8" y="585288"/>
            <a:ext cx="195630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Agenda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8" y="1563637"/>
            <a:ext cx="654350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b="1" dirty="0"/>
              <a:t>C Primitive Array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Declaration, Definition, and Initialization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Passing Arrays into and out of Functions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Array Access Control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Two-Dimensional Array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</p:txBody>
      </p:sp>
      <p:pic>
        <p:nvPicPr>
          <p:cNvPr id="12" name="Graphic 11" descr="Three circles each containing concentric circles.">
            <a:extLst>
              <a:ext uri="{FF2B5EF4-FFF2-40B4-BE49-F238E27FC236}">
                <a16:creationId xmlns:a16="http://schemas.microsoft.com/office/drawing/2014/main" id="{A4D28325-1E70-41A7-BF16-E0919AFAD5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88020" y="776106"/>
            <a:ext cx="5305788" cy="5305788"/>
          </a:xfrm>
          <a:prstGeom prst="rect">
            <a:avLst/>
          </a:prstGeom>
        </p:spPr>
      </p:pic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2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0589526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 descr="One solid circle, one ring, and one circle filled with diagonal lines">
            <a:extLst>
              <a:ext uri="{FF2B5EF4-FFF2-40B4-BE49-F238E27FC236}">
                <a16:creationId xmlns:a16="http://schemas.microsoft.com/office/drawing/2014/main" id="{117B1E9F-05A5-4510-8587-80B34F83DB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68254" y="747419"/>
            <a:ext cx="5363162" cy="5363162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14B5F53-76BB-4185-819B-0CE94A358F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rPr>
              <a:t>C Primitive Array</a:t>
            </a:r>
            <a:endParaRPr lang="en-US" sz="4400" b="1" dirty="0">
              <a:solidFill>
                <a:srgbClr val="7F1F1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1699E1B-6ADB-4F72-95A0-4AA7EB020B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11EE999-66AE-40DE-9FC3-57D08FF72800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A1EEE44-5A53-4177-97CB-790B8F12F8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69382E1-B5BF-ED16-636C-045BA598938E}"/>
              </a:ext>
            </a:extLst>
          </p:cNvPr>
          <p:cNvSpPr txBox="1"/>
          <p:nvPr/>
        </p:nvSpPr>
        <p:spPr>
          <a:xfrm>
            <a:off x="831850" y="551471"/>
            <a:ext cx="526415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Watch Before Lecture:</a:t>
            </a:r>
          </a:p>
          <a:p>
            <a:r>
              <a:rPr lang="en-CA" sz="2000" b="1" dirty="0">
                <a:solidFill>
                  <a:srgbClr val="7F1F1F"/>
                </a:solidFill>
              </a:rPr>
              <a:t>[PLV 4-1] Primitive Array</a:t>
            </a:r>
            <a:endParaRPr lang="en-US" sz="2000" b="1" dirty="0">
              <a:solidFill>
                <a:srgbClr val="7F1F1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19272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8" y="585288"/>
            <a:ext cx="5149038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Array – A Closer Look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6" y="1563637"/>
            <a:ext cx="7525033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Array Definition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CA" sz="22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CA" sz="22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data_type</a:t>
            </a:r>
            <a:r>
              <a:rPr lang="en-US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CA" dirty="0"/>
              <a:t>is the type of elements to be stored in the array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b="1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array_name</a:t>
            </a:r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CA" dirty="0"/>
              <a:t>refers to the </a:t>
            </a:r>
            <a:r>
              <a:rPr lang="en-CA" b="1" i="1" dirty="0"/>
              <a:t>base address</a:t>
            </a:r>
            <a:r>
              <a:rPr lang="en-CA" dirty="0"/>
              <a:t> of the array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b="1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array_size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CA" dirty="0"/>
              <a:t>is the number of elements to be stored in the array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sz="22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Some Examples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lang="en-CA" dirty="0"/>
              <a:t> </a:t>
            </a:r>
            <a:r>
              <a:rPr lang="en-CA" dirty="0">
                <a:latin typeface="Courier"/>
              </a:rPr>
              <a:t>aa[6];  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dirty="0"/>
              <a:t>Defines an array to hold 6 double elements, array named </a:t>
            </a:r>
            <a:r>
              <a:rPr lang="en-CA" b="1" i="1" dirty="0"/>
              <a:t>aa</a:t>
            </a:r>
            <a:r>
              <a:rPr lang="en-CA" dirty="0"/>
              <a:t>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CA" dirty="0"/>
              <a:t> </a:t>
            </a:r>
            <a:r>
              <a:rPr lang="en-CA" dirty="0">
                <a:latin typeface="Courier"/>
              </a:rPr>
              <a:t>x[12], y[20];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dirty="0"/>
              <a:t>Defines an array </a:t>
            </a:r>
            <a:r>
              <a:rPr lang="en-US" b="1" dirty="0"/>
              <a:t>x</a:t>
            </a:r>
            <a:r>
              <a:rPr lang="en-US" dirty="0"/>
              <a:t> to hold 12 </a:t>
            </a:r>
            <a:r>
              <a:rPr lang="en-US" b="1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ints</a:t>
            </a:r>
            <a:r>
              <a:rPr lang="en-US" dirty="0"/>
              <a:t>, and array </a:t>
            </a:r>
            <a:r>
              <a:rPr lang="en-US" b="1" dirty="0"/>
              <a:t>y</a:t>
            </a:r>
            <a:r>
              <a:rPr lang="en-US" dirty="0"/>
              <a:t> to hold 20 </a:t>
            </a:r>
            <a:r>
              <a:rPr lang="en-US" b="1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ints</a:t>
            </a:r>
            <a:r>
              <a:rPr lang="en-US" dirty="0"/>
              <a:t>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</a:t>
            </a:r>
            <a:r>
              <a:rPr lang="en-US" dirty="0"/>
              <a:t> </a:t>
            </a:r>
            <a:r>
              <a:rPr lang="en-US" dirty="0">
                <a:latin typeface="Courier"/>
              </a:rPr>
              <a:t>b[4], j;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dirty="0"/>
              <a:t>Defines array b of 4 </a:t>
            </a:r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chars</a:t>
            </a:r>
            <a:r>
              <a:rPr lang="en-US" dirty="0"/>
              <a:t>, and variable j of type </a:t>
            </a:r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</a:t>
            </a:r>
            <a:r>
              <a:rPr lang="en-US" dirty="0"/>
              <a:t>.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4</a:t>
            </a:fld>
            <a:endParaRPr lang="en-CA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B0F2384-8E24-29C5-1626-8120BF54DBC9}"/>
              </a:ext>
            </a:extLst>
          </p:cNvPr>
          <p:cNvSpPr txBox="1"/>
          <p:nvPr/>
        </p:nvSpPr>
        <p:spPr>
          <a:xfrm>
            <a:off x="2360490" y="2087484"/>
            <a:ext cx="4811132" cy="338554"/>
          </a:xfrm>
          <a:prstGeom prst="rect">
            <a:avLst/>
          </a:prstGeom>
          <a:solidFill>
            <a:srgbClr val="FFDDDD"/>
          </a:solidFill>
          <a:ln w="28575">
            <a:solidFill>
              <a:srgbClr val="7F1F1F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data_type</a:t>
            </a:r>
            <a:r>
              <a:rPr lang="en-US" sz="16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b="1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array_name</a:t>
            </a:r>
            <a:r>
              <a:rPr lang="en-US" sz="16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[ </a:t>
            </a:r>
            <a:r>
              <a:rPr lang="en-US" sz="1600" b="1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array_size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];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8B0FFD8-50BB-9176-7264-9B2232C30E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7689" y="2128177"/>
            <a:ext cx="2986118" cy="2511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23719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8" y="585288"/>
            <a:ext cx="5149038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Array – A Closer Look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6" y="1563637"/>
            <a:ext cx="9751038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Accessing Array Elements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CA" sz="22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CA" sz="22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b="1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array_name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index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  <a:r>
              <a:rPr lang="en-CA" dirty="0"/>
              <a:t>  is an </a:t>
            </a:r>
            <a:r>
              <a:rPr lang="en-CA" b="1" i="1" dirty="0" err="1">
                <a:solidFill>
                  <a:schemeClr val="accent1"/>
                </a:solidFill>
              </a:rPr>
              <a:t>lvalue</a:t>
            </a:r>
            <a:r>
              <a:rPr lang="en-CA" dirty="0"/>
              <a:t> </a:t>
            </a:r>
            <a:endParaRPr lang="en-CA" b="1" dirty="0">
              <a:solidFill>
                <a:srgbClr val="FF0000"/>
              </a:solidFill>
            </a:endParaRP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dirty="0"/>
              <a:t>i.e. each element in an array is treated just as a variable.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b="1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array_name</a:t>
            </a:r>
            <a:r>
              <a:rPr lang="en-US" dirty="0"/>
              <a:t> </a:t>
            </a:r>
            <a:r>
              <a:rPr lang="en-CA" dirty="0"/>
              <a:t>without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index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  <a:r>
              <a:rPr lang="en-CA" dirty="0"/>
              <a:t> is </a:t>
            </a:r>
            <a:r>
              <a:rPr lang="en-CA" b="1" dirty="0"/>
              <a:t>NOT AN LVALUE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en-CA" dirty="0"/>
              <a:t>It literally is the address of where the first array element is</a:t>
            </a:r>
            <a:br>
              <a:rPr lang="en-CA" dirty="0"/>
            </a:br>
            <a:r>
              <a:rPr lang="en-CA" dirty="0"/>
              <a:t>(More to come)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Example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lang="en-CA" dirty="0"/>
              <a:t> </a:t>
            </a:r>
            <a:r>
              <a:rPr lang="en-CA" dirty="0">
                <a:latin typeface="Courier"/>
              </a:rPr>
              <a:t>a[2], b[2];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dirty="0">
                <a:latin typeface="Courier"/>
              </a:rPr>
              <a:t>b[0] = 6.0; b[1] = -4.5; a[1]++;  </a:t>
            </a:r>
            <a:r>
              <a:rPr lang="en-CA" b="1" dirty="0">
                <a:solidFill>
                  <a:schemeClr val="accent6"/>
                </a:solidFill>
                <a:latin typeface="Courier"/>
              </a:rPr>
              <a:t>// correct usage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dirty="0">
                <a:latin typeface="Courier"/>
              </a:rPr>
              <a:t>a = b; b = 3.35;	</a:t>
            </a:r>
            <a:r>
              <a:rPr lang="en-US" b="1" dirty="0">
                <a:solidFill>
                  <a:srgbClr val="FF0000"/>
                </a:solidFill>
                <a:latin typeface="Courier"/>
              </a:rPr>
              <a:t>// syntax error – modify address (!!)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dirty="0">
                <a:latin typeface="Courier"/>
              </a:rPr>
              <a:t>a = {5.7, 8.9};	</a:t>
            </a:r>
            <a:r>
              <a:rPr lang="en-US" b="1" dirty="0">
                <a:solidFill>
                  <a:srgbClr val="FF0000"/>
                </a:solidFill>
                <a:latin typeface="Courier"/>
              </a:rPr>
              <a:t>// syntax error – bad batch </a:t>
            </a:r>
            <a:r>
              <a:rPr lang="en-US" b="1" dirty="0" err="1">
                <a:solidFill>
                  <a:srgbClr val="FF0000"/>
                </a:solidFill>
                <a:latin typeface="Courier"/>
              </a:rPr>
              <a:t>init</a:t>
            </a:r>
            <a:r>
              <a:rPr lang="en-US" b="1" dirty="0">
                <a:solidFill>
                  <a:srgbClr val="FF0000"/>
                </a:solidFill>
                <a:latin typeface="Courier"/>
              </a:rPr>
              <a:t> attempt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en-CA" b="1" dirty="0">
              <a:solidFill>
                <a:srgbClr val="FF0000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sz="2200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5</a:t>
            </a:fld>
            <a:endParaRPr lang="en-CA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B013BDE-390B-FB0A-CC55-815438E14225}"/>
              </a:ext>
            </a:extLst>
          </p:cNvPr>
          <p:cNvSpPr txBox="1"/>
          <p:nvPr/>
        </p:nvSpPr>
        <p:spPr>
          <a:xfrm>
            <a:off x="2136753" y="2126395"/>
            <a:ext cx="2756259" cy="338554"/>
          </a:xfrm>
          <a:prstGeom prst="rect">
            <a:avLst/>
          </a:prstGeom>
          <a:solidFill>
            <a:srgbClr val="FFDDDD"/>
          </a:solidFill>
          <a:ln w="28575">
            <a:solidFill>
              <a:srgbClr val="7F1F1F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b="1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array_name</a:t>
            </a:r>
            <a:r>
              <a:rPr lang="en-US" sz="16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[ </a:t>
            </a:r>
            <a:r>
              <a:rPr lang="en-US" sz="16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index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];</a:t>
            </a:r>
          </a:p>
        </p:txBody>
      </p:sp>
      <p:sp>
        <p:nvSpPr>
          <p:cNvPr id="10" name="Speech Bubble: Rectangle 9">
            <a:extLst>
              <a:ext uri="{FF2B5EF4-FFF2-40B4-BE49-F238E27FC236}">
                <a16:creationId xmlns:a16="http://schemas.microsoft.com/office/drawing/2014/main" id="{BEA02FBF-285D-6528-082C-41C37FFED936}"/>
              </a:ext>
            </a:extLst>
          </p:cNvPr>
          <p:cNvSpPr/>
          <p:nvPr/>
        </p:nvSpPr>
        <p:spPr>
          <a:xfrm>
            <a:off x="5494218" y="1789523"/>
            <a:ext cx="2151722" cy="412431"/>
          </a:xfrm>
          <a:prstGeom prst="wedgeRectCallout">
            <a:avLst>
              <a:gd name="adj1" fmla="val -59237"/>
              <a:gd name="adj2" fmla="val 140629"/>
            </a:avLst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Remember what it is?</a:t>
            </a:r>
            <a:endParaRPr lang="en-US" sz="1600" b="1" dirty="0">
              <a:solidFill>
                <a:srgbClr val="FF0000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95A1AD4-B48A-D254-F798-CC58C37730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7479" y="746449"/>
            <a:ext cx="3019210" cy="3750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76571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8" y="585288"/>
            <a:ext cx="489775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Array – Initialization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6" y="1563637"/>
            <a:ext cx="9751038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Arrays can be initialized by two methods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CA" b="1" dirty="0"/>
              <a:t>Initializer List</a:t>
            </a:r>
            <a:r>
              <a:rPr lang="en-CA" dirty="0"/>
              <a:t>	Great for initialization with known values / zeroes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CA" b="1" dirty="0"/>
              <a:t>For-loop</a:t>
            </a:r>
            <a:r>
              <a:rPr lang="en-CA" dirty="0"/>
              <a:t>		Great for initialization with programmatical convenience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CA" sz="22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Method 1 – Initializer List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sz="2200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6</a:t>
            </a:fld>
            <a:endParaRPr lang="en-CA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1ACF3F1-5248-6C42-0605-7A84EF529434}"/>
              </a:ext>
            </a:extLst>
          </p:cNvPr>
          <p:cNvSpPr txBox="1"/>
          <p:nvPr/>
        </p:nvSpPr>
        <p:spPr>
          <a:xfrm>
            <a:off x="1294312" y="3425472"/>
            <a:ext cx="3812709" cy="338554"/>
          </a:xfrm>
          <a:prstGeom prst="rect">
            <a:avLst/>
          </a:prstGeom>
          <a:solidFill>
            <a:srgbClr val="FFDDDD"/>
          </a:solidFill>
          <a:ln w="28575">
            <a:solidFill>
              <a:srgbClr val="7F1F1F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c[</a:t>
            </a:r>
            <a:r>
              <a:rPr lang="en-US" sz="16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] = {</a:t>
            </a:r>
            <a:r>
              <a:rPr lang="en-US" sz="16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100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6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60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6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30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6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90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182D7A26-E943-092A-8F2C-149E4784E493}"/>
              </a:ext>
            </a:extLst>
          </p:cNvPr>
          <p:cNvSpPr/>
          <p:nvPr/>
        </p:nvSpPr>
        <p:spPr>
          <a:xfrm>
            <a:off x="1780145" y="4296068"/>
            <a:ext cx="957938" cy="349839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600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BBC2B9E6-29C2-A053-AD2C-AFE7EC42BBA9}"/>
              </a:ext>
            </a:extLst>
          </p:cNvPr>
          <p:cNvSpPr/>
          <p:nvPr/>
        </p:nvSpPr>
        <p:spPr>
          <a:xfrm>
            <a:off x="1777097" y="4651773"/>
            <a:ext cx="957938" cy="349839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600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1E079D5-ECD0-25F7-3E9D-66F151EED525}"/>
              </a:ext>
            </a:extLst>
          </p:cNvPr>
          <p:cNvSpPr/>
          <p:nvPr/>
        </p:nvSpPr>
        <p:spPr>
          <a:xfrm>
            <a:off x="1777097" y="5001381"/>
            <a:ext cx="957938" cy="349839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600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198C33A2-5979-295A-EB24-912362A2477B}"/>
              </a:ext>
            </a:extLst>
          </p:cNvPr>
          <p:cNvSpPr/>
          <p:nvPr/>
        </p:nvSpPr>
        <p:spPr>
          <a:xfrm>
            <a:off x="1774049" y="5357085"/>
            <a:ext cx="957938" cy="349839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60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350C5E2-F324-F142-B16A-689FA28B0048}"/>
              </a:ext>
            </a:extLst>
          </p:cNvPr>
          <p:cNvSpPr txBox="1"/>
          <p:nvPr/>
        </p:nvSpPr>
        <p:spPr>
          <a:xfrm>
            <a:off x="1733010" y="3893689"/>
            <a:ext cx="10537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chemeClr val="accent1"/>
                </a:solidFill>
              </a:rPr>
              <a:t>int c[4]</a:t>
            </a: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726547A-DB3B-49FA-8A19-8914328CEA76}"/>
              </a:ext>
            </a:extLst>
          </p:cNvPr>
          <p:cNvSpPr txBox="1"/>
          <p:nvPr/>
        </p:nvSpPr>
        <p:spPr>
          <a:xfrm>
            <a:off x="1958010" y="5342156"/>
            <a:ext cx="6815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000" b="1" dirty="0">
                <a:solidFill>
                  <a:srgbClr val="7030A0"/>
                </a:solidFill>
              </a:rPr>
              <a:t>100</a:t>
            </a:r>
            <a:endParaRPr lang="en-US" sz="2000" b="1" dirty="0">
              <a:solidFill>
                <a:srgbClr val="7030A0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00E5D28-9216-0223-F91C-0033ED1D8E32}"/>
              </a:ext>
            </a:extLst>
          </p:cNvPr>
          <p:cNvSpPr txBox="1"/>
          <p:nvPr/>
        </p:nvSpPr>
        <p:spPr>
          <a:xfrm>
            <a:off x="2015909" y="4987181"/>
            <a:ext cx="5120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000" b="1" dirty="0">
                <a:solidFill>
                  <a:srgbClr val="7030A0"/>
                </a:solidFill>
              </a:rPr>
              <a:t>60</a:t>
            </a:r>
            <a:endParaRPr lang="en-US" sz="2000" b="1" dirty="0">
              <a:solidFill>
                <a:srgbClr val="7030A0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65B8EFF-C50E-DEEF-1815-B6C7068E77B4}"/>
              </a:ext>
            </a:extLst>
          </p:cNvPr>
          <p:cNvSpPr txBox="1"/>
          <p:nvPr/>
        </p:nvSpPr>
        <p:spPr>
          <a:xfrm>
            <a:off x="2022522" y="4627444"/>
            <a:ext cx="5120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000" b="1" dirty="0">
                <a:solidFill>
                  <a:srgbClr val="7030A0"/>
                </a:solidFill>
              </a:rPr>
              <a:t>30</a:t>
            </a:r>
            <a:endParaRPr lang="en-US" sz="2000" b="1" dirty="0">
              <a:solidFill>
                <a:srgbClr val="7030A0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ACF151F-4ABD-BD23-6B0D-82CC393B7F50}"/>
              </a:ext>
            </a:extLst>
          </p:cNvPr>
          <p:cNvSpPr txBox="1"/>
          <p:nvPr/>
        </p:nvSpPr>
        <p:spPr>
          <a:xfrm>
            <a:off x="2034468" y="4277812"/>
            <a:ext cx="5120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000" b="1" dirty="0">
                <a:solidFill>
                  <a:srgbClr val="7030A0"/>
                </a:solidFill>
              </a:rPr>
              <a:t>90</a:t>
            </a:r>
            <a:endParaRPr lang="en-US" sz="2000" b="1" dirty="0">
              <a:solidFill>
                <a:srgbClr val="7030A0"/>
              </a:solidFill>
            </a:endParaRPr>
          </a:p>
        </p:txBody>
      </p:sp>
      <p:sp>
        <p:nvSpPr>
          <p:cNvPr id="24" name="Speech Bubble: Rectangle 23">
            <a:extLst>
              <a:ext uri="{FF2B5EF4-FFF2-40B4-BE49-F238E27FC236}">
                <a16:creationId xmlns:a16="http://schemas.microsoft.com/office/drawing/2014/main" id="{72FB3EC2-2622-055E-1A36-D3B77958325F}"/>
              </a:ext>
            </a:extLst>
          </p:cNvPr>
          <p:cNvSpPr/>
          <p:nvPr/>
        </p:nvSpPr>
        <p:spPr>
          <a:xfrm>
            <a:off x="3258750" y="4268251"/>
            <a:ext cx="1778283" cy="662901"/>
          </a:xfrm>
          <a:prstGeom prst="wedgeRectCallout">
            <a:avLst>
              <a:gd name="adj1" fmla="val -61960"/>
              <a:gd name="adj2" fmla="val 90696"/>
            </a:avLst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Allocate Memory</a:t>
            </a:r>
          </a:p>
          <a:p>
            <a:pPr algn="ctr"/>
            <a:r>
              <a:rPr lang="en-US" sz="1600" b="1" dirty="0">
                <a:solidFill>
                  <a:schemeClr val="tx1"/>
                </a:solidFill>
              </a:rPr>
              <a:t>Fill with Values</a:t>
            </a:r>
            <a:endParaRPr lang="en-US" sz="1600" b="1" dirty="0">
              <a:solidFill>
                <a:srgbClr val="FF0000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E26315A-71F7-9B06-5A63-F18B94C1C569}"/>
              </a:ext>
            </a:extLst>
          </p:cNvPr>
          <p:cNvSpPr txBox="1"/>
          <p:nvPr/>
        </p:nvSpPr>
        <p:spPr>
          <a:xfrm>
            <a:off x="6101800" y="3429475"/>
            <a:ext cx="2864545" cy="338554"/>
          </a:xfrm>
          <a:prstGeom prst="rect">
            <a:avLst/>
          </a:prstGeom>
          <a:solidFill>
            <a:srgbClr val="FFDDDD"/>
          </a:solidFill>
          <a:ln w="28575">
            <a:solidFill>
              <a:srgbClr val="7F1F1F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c[</a:t>
            </a:r>
            <a:r>
              <a:rPr lang="en-US" sz="16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] = {</a:t>
            </a:r>
            <a:r>
              <a:rPr lang="en-US" sz="16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100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6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60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5CB1B4E4-DE32-7383-430E-EB213BDC0032}"/>
              </a:ext>
            </a:extLst>
          </p:cNvPr>
          <p:cNvSpPr/>
          <p:nvPr/>
        </p:nvSpPr>
        <p:spPr>
          <a:xfrm>
            <a:off x="6424836" y="4300071"/>
            <a:ext cx="957938" cy="349839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600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9421AFEA-9368-50D7-50C8-091CE3D1F5F5}"/>
              </a:ext>
            </a:extLst>
          </p:cNvPr>
          <p:cNvSpPr/>
          <p:nvPr/>
        </p:nvSpPr>
        <p:spPr>
          <a:xfrm>
            <a:off x="6421788" y="4655776"/>
            <a:ext cx="957938" cy="349839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600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B550F5AB-0EF5-CF00-E7F4-7D5EAE6AEC7B}"/>
              </a:ext>
            </a:extLst>
          </p:cNvPr>
          <p:cNvSpPr/>
          <p:nvPr/>
        </p:nvSpPr>
        <p:spPr>
          <a:xfrm>
            <a:off x="6421788" y="5005384"/>
            <a:ext cx="957938" cy="349839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600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829D4309-F036-8DA7-827F-160BDB9B2A66}"/>
              </a:ext>
            </a:extLst>
          </p:cNvPr>
          <p:cNvSpPr/>
          <p:nvPr/>
        </p:nvSpPr>
        <p:spPr>
          <a:xfrm>
            <a:off x="6418740" y="5361088"/>
            <a:ext cx="957938" cy="349839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60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88508D3-B627-B0A0-F466-93F9EAE6F9DC}"/>
              </a:ext>
            </a:extLst>
          </p:cNvPr>
          <p:cNvSpPr txBox="1"/>
          <p:nvPr/>
        </p:nvSpPr>
        <p:spPr>
          <a:xfrm>
            <a:off x="6377701" y="3897692"/>
            <a:ext cx="10537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chemeClr val="accent1"/>
                </a:solidFill>
              </a:rPr>
              <a:t>int c[4]</a:t>
            </a: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BAEEAE0-24E9-8156-6528-C9A7879CB633}"/>
              </a:ext>
            </a:extLst>
          </p:cNvPr>
          <p:cNvSpPr txBox="1"/>
          <p:nvPr/>
        </p:nvSpPr>
        <p:spPr>
          <a:xfrm>
            <a:off x="6602701" y="5346159"/>
            <a:ext cx="6815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000" b="1" dirty="0">
                <a:solidFill>
                  <a:srgbClr val="7030A0"/>
                </a:solidFill>
              </a:rPr>
              <a:t>100</a:t>
            </a:r>
            <a:endParaRPr lang="en-US" sz="2000" b="1" dirty="0">
              <a:solidFill>
                <a:srgbClr val="7030A0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9E886DE-9690-4BDC-C02E-123254FA8FD0}"/>
              </a:ext>
            </a:extLst>
          </p:cNvPr>
          <p:cNvSpPr txBox="1"/>
          <p:nvPr/>
        </p:nvSpPr>
        <p:spPr>
          <a:xfrm>
            <a:off x="6660600" y="4991184"/>
            <a:ext cx="5120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000" b="1" dirty="0">
                <a:solidFill>
                  <a:srgbClr val="7030A0"/>
                </a:solidFill>
              </a:rPr>
              <a:t>60</a:t>
            </a:r>
            <a:endParaRPr lang="en-US" sz="2000" b="1" dirty="0">
              <a:solidFill>
                <a:srgbClr val="7030A0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A7B2829-6AE5-D0E6-AE8E-0EB67252C93F}"/>
              </a:ext>
            </a:extLst>
          </p:cNvPr>
          <p:cNvSpPr txBox="1"/>
          <p:nvPr/>
        </p:nvSpPr>
        <p:spPr>
          <a:xfrm>
            <a:off x="6667213" y="4631447"/>
            <a:ext cx="5120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000" b="1" dirty="0">
                <a:solidFill>
                  <a:srgbClr val="7030A0"/>
                </a:solidFill>
              </a:rPr>
              <a:t> </a:t>
            </a:r>
            <a:r>
              <a:rPr lang="en-CA" sz="2000" b="1" dirty="0">
                <a:solidFill>
                  <a:srgbClr val="FF0000"/>
                </a:solidFill>
              </a:rPr>
              <a:t>0</a:t>
            </a:r>
            <a:endParaRPr lang="en-US" sz="2000" b="1" dirty="0">
              <a:solidFill>
                <a:srgbClr val="FF0000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03233E7-0C41-7BDB-5E92-2AE5BF10B812}"/>
              </a:ext>
            </a:extLst>
          </p:cNvPr>
          <p:cNvSpPr txBox="1"/>
          <p:nvPr/>
        </p:nvSpPr>
        <p:spPr>
          <a:xfrm>
            <a:off x="6679159" y="4281815"/>
            <a:ext cx="5120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000" b="1" dirty="0">
                <a:solidFill>
                  <a:srgbClr val="7030A0"/>
                </a:solidFill>
              </a:rPr>
              <a:t> </a:t>
            </a:r>
            <a:r>
              <a:rPr lang="en-CA" sz="2000" b="1" dirty="0">
                <a:solidFill>
                  <a:srgbClr val="FF0000"/>
                </a:solidFill>
              </a:rPr>
              <a:t>0</a:t>
            </a:r>
            <a:endParaRPr lang="en-US" sz="2000" b="1" dirty="0">
              <a:solidFill>
                <a:srgbClr val="FF0000"/>
              </a:solidFill>
            </a:endParaRPr>
          </a:p>
        </p:txBody>
      </p:sp>
      <p:sp>
        <p:nvSpPr>
          <p:cNvPr id="35" name="Speech Bubble: Rectangle 34">
            <a:extLst>
              <a:ext uri="{FF2B5EF4-FFF2-40B4-BE49-F238E27FC236}">
                <a16:creationId xmlns:a16="http://schemas.microsoft.com/office/drawing/2014/main" id="{246F33F6-3B96-E771-DA3B-C04C74303A9A}"/>
              </a:ext>
            </a:extLst>
          </p:cNvPr>
          <p:cNvSpPr/>
          <p:nvPr/>
        </p:nvSpPr>
        <p:spPr>
          <a:xfrm>
            <a:off x="7852891" y="4134852"/>
            <a:ext cx="3309056" cy="1022109"/>
          </a:xfrm>
          <a:prstGeom prst="wedgeRectCallout">
            <a:avLst>
              <a:gd name="adj1" fmla="val -54611"/>
              <a:gd name="adj2" fmla="val 76420"/>
            </a:avLst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Allocate Memory</a:t>
            </a:r>
          </a:p>
          <a:p>
            <a:pPr algn="ctr"/>
            <a:r>
              <a:rPr lang="en-US" sz="1600" b="1" dirty="0">
                <a:solidFill>
                  <a:schemeClr val="tx1"/>
                </a:solidFill>
              </a:rPr>
              <a:t>Fill Leading Elements with Values</a:t>
            </a:r>
          </a:p>
          <a:p>
            <a:pPr algn="ctr"/>
            <a:r>
              <a:rPr lang="en-US" sz="1600" b="1" dirty="0">
                <a:solidFill>
                  <a:schemeClr val="tx1"/>
                </a:solidFill>
              </a:rPr>
              <a:t>Pad Unspecified Elements with Zero</a:t>
            </a:r>
            <a:endParaRPr lang="en-US" sz="16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0358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20" grpId="0"/>
      <p:bldP spid="21" grpId="0"/>
      <p:bldP spid="22" grpId="0"/>
      <p:bldP spid="23" grpId="0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1" grpId="0"/>
      <p:bldP spid="32" grpId="0"/>
      <p:bldP spid="33" grpId="0"/>
      <p:bldP spid="34" grpId="0"/>
      <p:bldP spid="3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8" y="585288"/>
            <a:ext cx="489775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Array – Initialization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6" y="1563637"/>
            <a:ext cx="9751038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Arrays can be initialized by two methods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CA" b="1" dirty="0"/>
              <a:t>Initializer List</a:t>
            </a:r>
            <a:r>
              <a:rPr lang="en-CA" dirty="0"/>
              <a:t>	Great for initialization with known values / zeroes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CA" b="1" dirty="0"/>
              <a:t>For-loop</a:t>
            </a:r>
            <a:r>
              <a:rPr lang="en-CA" dirty="0"/>
              <a:t>		Great for initialization with programmatical convenience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CA" sz="22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Method 1 – Initializer List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sz="2200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7</a:t>
            </a:fld>
            <a:endParaRPr lang="en-CA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1ACF3F1-5248-6C42-0605-7A84EF529434}"/>
              </a:ext>
            </a:extLst>
          </p:cNvPr>
          <p:cNvSpPr txBox="1"/>
          <p:nvPr/>
        </p:nvSpPr>
        <p:spPr>
          <a:xfrm>
            <a:off x="1294312" y="3425472"/>
            <a:ext cx="2052003" cy="338554"/>
          </a:xfrm>
          <a:prstGeom prst="rect">
            <a:avLst/>
          </a:prstGeom>
          <a:solidFill>
            <a:srgbClr val="FFDDDD"/>
          </a:solidFill>
          <a:ln w="28575">
            <a:solidFill>
              <a:srgbClr val="7F1F1F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c[</a:t>
            </a:r>
            <a:r>
              <a:rPr lang="en-US" sz="16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] = {</a:t>
            </a:r>
            <a:r>
              <a:rPr lang="en-US" sz="16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182D7A26-E943-092A-8F2C-149E4784E493}"/>
              </a:ext>
            </a:extLst>
          </p:cNvPr>
          <p:cNvSpPr/>
          <p:nvPr/>
        </p:nvSpPr>
        <p:spPr>
          <a:xfrm>
            <a:off x="1780145" y="4296068"/>
            <a:ext cx="957938" cy="349839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600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BBC2B9E6-29C2-A053-AD2C-AFE7EC42BBA9}"/>
              </a:ext>
            </a:extLst>
          </p:cNvPr>
          <p:cNvSpPr/>
          <p:nvPr/>
        </p:nvSpPr>
        <p:spPr>
          <a:xfrm>
            <a:off x="1777097" y="4651773"/>
            <a:ext cx="957938" cy="349839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600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1E079D5-ECD0-25F7-3E9D-66F151EED525}"/>
              </a:ext>
            </a:extLst>
          </p:cNvPr>
          <p:cNvSpPr/>
          <p:nvPr/>
        </p:nvSpPr>
        <p:spPr>
          <a:xfrm>
            <a:off x="1777097" y="5001381"/>
            <a:ext cx="957938" cy="349839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600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198C33A2-5979-295A-EB24-912362A2477B}"/>
              </a:ext>
            </a:extLst>
          </p:cNvPr>
          <p:cNvSpPr/>
          <p:nvPr/>
        </p:nvSpPr>
        <p:spPr>
          <a:xfrm>
            <a:off x="1774049" y="5357085"/>
            <a:ext cx="957938" cy="349839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60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350C5E2-F324-F142-B16A-689FA28B0048}"/>
              </a:ext>
            </a:extLst>
          </p:cNvPr>
          <p:cNvSpPr txBox="1"/>
          <p:nvPr/>
        </p:nvSpPr>
        <p:spPr>
          <a:xfrm>
            <a:off x="1733010" y="3893689"/>
            <a:ext cx="10537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chemeClr val="accent1"/>
                </a:solidFill>
              </a:rPr>
              <a:t>int c[4]</a:t>
            </a: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726547A-DB3B-49FA-8A19-8914328CEA76}"/>
              </a:ext>
            </a:extLst>
          </p:cNvPr>
          <p:cNvSpPr txBox="1"/>
          <p:nvPr/>
        </p:nvSpPr>
        <p:spPr>
          <a:xfrm>
            <a:off x="1958010" y="5342156"/>
            <a:ext cx="6815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000" b="1" dirty="0">
                <a:solidFill>
                  <a:srgbClr val="7030A0"/>
                </a:solidFill>
              </a:rPr>
              <a:t>  0</a:t>
            </a:r>
            <a:endParaRPr lang="en-US" sz="2000" b="1" dirty="0">
              <a:solidFill>
                <a:srgbClr val="7030A0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00E5D28-9216-0223-F91C-0033ED1D8E32}"/>
              </a:ext>
            </a:extLst>
          </p:cNvPr>
          <p:cNvSpPr txBox="1"/>
          <p:nvPr/>
        </p:nvSpPr>
        <p:spPr>
          <a:xfrm>
            <a:off x="2015909" y="4987181"/>
            <a:ext cx="5120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000" b="1" dirty="0">
                <a:solidFill>
                  <a:srgbClr val="FF0000"/>
                </a:solidFill>
              </a:rPr>
              <a:t> 0</a:t>
            </a:r>
            <a:endParaRPr lang="en-US" sz="2000" b="1" dirty="0">
              <a:solidFill>
                <a:srgbClr val="FF0000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65B8EFF-C50E-DEEF-1815-B6C7068E77B4}"/>
              </a:ext>
            </a:extLst>
          </p:cNvPr>
          <p:cNvSpPr txBox="1"/>
          <p:nvPr/>
        </p:nvSpPr>
        <p:spPr>
          <a:xfrm>
            <a:off x="2022522" y="4627444"/>
            <a:ext cx="5120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000" b="1" dirty="0">
                <a:solidFill>
                  <a:srgbClr val="FF0000"/>
                </a:solidFill>
              </a:rPr>
              <a:t> 0</a:t>
            </a:r>
            <a:endParaRPr lang="en-US" sz="2000" b="1" dirty="0">
              <a:solidFill>
                <a:srgbClr val="FF0000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ACF151F-4ABD-BD23-6B0D-82CC393B7F50}"/>
              </a:ext>
            </a:extLst>
          </p:cNvPr>
          <p:cNvSpPr txBox="1"/>
          <p:nvPr/>
        </p:nvSpPr>
        <p:spPr>
          <a:xfrm>
            <a:off x="2034468" y="4277812"/>
            <a:ext cx="5120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000" b="1" dirty="0">
                <a:solidFill>
                  <a:srgbClr val="FF0000"/>
                </a:solidFill>
              </a:rPr>
              <a:t> 0</a:t>
            </a:r>
            <a:endParaRPr lang="en-US" sz="2000" b="1" dirty="0">
              <a:solidFill>
                <a:srgbClr val="FF0000"/>
              </a:solidFill>
            </a:endParaRPr>
          </a:p>
        </p:txBody>
      </p:sp>
      <p:sp>
        <p:nvSpPr>
          <p:cNvPr id="24" name="Speech Bubble: Rectangle 23">
            <a:extLst>
              <a:ext uri="{FF2B5EF4-FFF2-40B4-BE49-F238E27FC236}">
                <a16:creationId xmlns:a16="http://schemas.microsoft.com/office/drawing/2014/main" id="{72FB3EC2-2622-055E-1A36-D3B77958325F}"/>
              </a:ext>
            </a:extLst>
          </p:cNvPr>
          <p:cNvSpPr/>
          <p:nvPr/>
        </p:nvSpPr>
        <p:spPr>
          <a:xfrm>
            <a:off x="3132046" y="4277812"/>
            <a:ext cx="2169284" cy="873802"/>
          </a:xfrm>
          <a:prstGeom prst="wedgeRectCallout">
            <a:avLst>
              <a:gd name="adj1" fmla="val -41781"/>
              <a:gd name="adj2" fmla="val -97445"/>
            </a:avLst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This is how we specify </a:t>
            </a:r>
            <a:r>
              <a:rPr lang="en-US" sz="1600" b="1" dirty="0" err="1">
                <a:solidFill>
                  <a:schemeClr val="tx1"/>
                </a:solidFill>
              </a:rPr>
              <a:t>init</a:t>
            </a:r>
            <a:r>
              <a:rPr lang="en-US" sz="1600" b="1" dirty="0">
                <a:solidFill>
                  <a:schemeClr val="tx1"/>
                </a:solidFill>
              </a:rPr>
              <a:t> values of zero for all elements</a:t>
            </a:r>
            <a:endParaRPr lang="en-US" sz="1600" b="1" dirty="0">
              <a:solidFill>
                <a:srgbClr val="FF0000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E26315A-71F7-9B06-5A63-F18B94C1C569}"/>
              </a:ext>
            </a:extLst>
          </p:cNvPr>
          <p:cNvSpPr txBox="1"/>
          <p:nvPr/>
        </p:nvSpPr>
        <p:spPr>
          <a:xfrm>
            <a:off x="6101800" y="3429475"/>
            <a:ext cx="3421579" cy="338554"/>
          </a:xfrm>
          <a:prstGeom prst="rect">
            <a:avLst/>
          </a:prstGeom>
          <a:solidFill>
            <a:srgbClr val="FFDDDD"/>
          </a:solidFill>
          <a:ln w="28575">
            <a:solidFill>
              <a:srgbClr val="7F1F1F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c[ ] = {</a:t>
            </a:r>
            <a:r>
              <a:rPr lang="en-US" sz="16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100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6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60, 30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5CB1B4E4-DE32-7383-430E-EB213BDC0032}"/>
              </a:ext>
            </a:extLst>
          </p:cNvPr>
          <p:cNvSpPr/>
          <p:nvPr/>
        </p:nvSpPr>
        <p:spPr>
          <a:xfrm>
            <a:off x="6424836" y="4300071"/>
            <a:ext cx="957938" cy="349839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600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9421AFEA-9368-50D7-50C8-091CE3D1F5F5}"/>
              </a:ext>
            </a:extLst>
          </p:cNvPr>
          <p:cNvSpPr/>
          <p:nvPr/>
        </p:nvSpPr>
        <p:spPr>
          <a:xfrm>
            <a:off x="6421788" y="4655776"/>
            <a:ext cx="957938" cy="349839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600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B550F5AB-0EF5-CF00-E7F4-7D5EAE6AEC7B}"/>
              </a:ext>
            </a:extLst>
          </p:cNvPr>
          <p:cNvSpPr/>
          <p:nvPr/>
        </p:nvSpPr>
        <p:spPr>
          <a:xfrm>
            <a:off x="6421788" y="5005384"/>
            <a:ext cx="957938" cy="349839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60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88508D3-B627-B0A0-F466-93F9EAE6F9DC}"/>
              </a:ext>
            </a:extLst>
          </p:cNvPr>
          <p:cNvSpPr txBox="1"/>
          <p:nvPr/>
        </p:nvSpPr>
        <p:spPr>
          <a:xfrm>
            <a:off x="6377701" y="3897692"/>
            <a:ext cx="10537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chemeClr val="accent1"/>
                </a:solidFill>
              </a:rPr>
              <a:t>int c[</a:t>
            </a:r>
            <a:r>
              <a:rPr lang="en-US" b="1" dirty="0">
                <a:solidFill>
                  <a:srgbClr val="FF0000"/>
                </a:solidFill>
              </a:rPr>
              <a:t> 3 </a:t>
            </a:r>
            <a:r>
              <a:rPr lang="en-US" b="1" dirty="0">
                <a:solidFill>
                  <a:schemeClr val="accent1"/>
                </a:solidFill>
              </a:rPr>
              <a:t>]</a:t>
            </a: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9E886DE-9690-4BDC-C02E-123254FA8FD0}"/>
              </a:ext>
            </a:extLst>
          </p:cNvPr>
          <p:cNvSpPr txBox="1"/>
          <p:nvPr/>
        </p:nvSpPr>
        <p:spPr>
          <a:xfrm>
            <a:off x="6606834" y="4991184"/>
            <a:ext cx="61959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000" b="1" dirty="0">
                <a:solidFill>
                  <a:srgbClr val="7030A0"/>
                </a:solidFill>
              </a:rPr>
              <a:t>100</a:t>
            </a:r>
            <a:endParaRPr lang="en-US" sz="2000" b="1" dirty="0">
              <a:solidFill>
                <a:srgbClr val="7030A0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A7B2829-6AE5-D0E6-AE8E-0EB67252C93F}"/>
              </a:ext>
            </a:extLst>
          </p:cNvPr>
          <p:cNvSpPr txBox="1"/>
          <p:nvPr/>
        </p:nvSpPr>
        <p:spPr>
          <a:xfrm>
            <a:off x="6667213" y="4631447"/>
            <a:ext cx="5120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000" b="1" dirty="0">
                <a:solidFill>
                  <a:srgbClr val="7030A0"/>
                </a:solidFill>
              </a:rPr>
              <a:t>60</a:t>
            </a:r>
            <a:endParaRPr lang="en-US" sz="2000" b="1" dirty="0">
              <a:solidFill>
                <a:srgbClr val="7030A0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03233E7-0C41-7BDB-5E92-2AE5BF10B812}"/>
              </a:ext>
            </a:extLst>
          </p:cNvPr>
          <p:cNvSpPr txBox="1"/>
          <p:nvPr/>
        </p:nvSpPr>
        <p:spPr>
          <a:xfrm>
            <a:off x="6679159" y="4281815"/>
            <a:ext cx="5120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000" b="1" dirty="0">
                <a:solidFill>
                  <a:srgbClr val="7030A0"/>
                </a:solidFill>
              </a:rPr>
              <a:t>30</a:t>
            </a:r>
            <a:endParaRPr lang="en-US" sz="2000" b="1" dirty="0">
              <a:solidFill>
                <a:srgbClr val="7030A0"/>
              </a:solidFill>
            </a:endParaRPr>
          </a:p>
        </p:txBody>
      </p:sp>
      <p:sp>
        <p:nvSpPr>
          <p:cNvPr id="35" name="Speech Bubble: Rectangle 34">
            <a:extLst>
              <a:ext uri="{FF2B5EF4-FFF2-40B4-BE49-F238E27FC236}">
                <a16:creationId xmlns:a16="http://schemas.microsoft.com/office/drawing/2014/main" id="{246F33F6-3B96-E771-DA3B-C04C74303A9A}"/>
              </a:ext>
            </a:extLst>
          </p:cNvPr>
          <p:cNvSpPr/>
          <p:nvPr/>
        </p:nvSpPr>
        <p:spPr>
          <a:xfrm>
            <a:off x="7852891" y="4134852"/>
            <a:ext cx="3309056" cy="1022109"/>
          </a:xfrm>
          <a:prstGeom prst="wedgeRectCallout">
            <a:avLst>
              <a:gd name="adj1" fmla="val -62254"/>
              <a:gd name="adj2" fmla="val -50159"/>
            </a:avLst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If </a:t>
            </a:r>
            <a:r>
              <a:rPr lang="en-US" sz="1600" b="1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array_size</a:t>
            </a:r>
            <a:r>
              <a:rPr lang="en-US" sz="1600" b="1" dirty="0">
                <a:solidFill>
                  <a:schemeClr val="tx1"/>
                </a:solidFill>
              </a:rPr>
              <a:t> not specified, the number of initializer values will specify the array size</a:t>
            </a:r>
            <a:endParaRPr lang="en-US" sz="16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05441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20" grpId="0"/>
      <p:bldP spid="21" grpId="0"/>
      <p:bldP spid="22" grpId="0"/>
      <p:bldP spid="23" grpId="0"/>
      <p:bldP spid="24" grpId="0" animBg="1"/>
      <p:bldP spid="25" grpId="0" animBg="1"/>
      <p:bldP spid="26" grpId="0" animBg="1"/>
      <p:bldP spid="27" grpId="0" animBg="1"/>
      <p:bldP spid="28" grpId="0" animBg="1"/>
      <p:bldP spid="32" grpId="0"/>
      <p:bldP spid="33" grpId="0"/>
      <p:bldP spid="34" grpId="0"/>
      <p:bldP spid="3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8" y="585288"/>
            <a:ext cx="489775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Array – Initialization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6" y="1563637"/>
            <a:ext cx="9751038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Arrays can be initialized by two methods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CA" b="1" dirty="0"/>
              <a:t>Initializer List</a:t>
            </a:r>
            <a:r>
              <a:rPr lang="en-CA" dirty="0"/>
              <a:t>	Great for initialization with known values / zeroes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CA" b="1" dirty="0"/>
              <a:t>For-loop</a:t>
            </a:r>
            <a:r>
              <a:rPr lang="en-CA" dirty="0"/>
              <a:t>		Great for initialization with programmatical convenience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CA" sz="22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Method 2 – For Loop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sz="2200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8</a:t>
            </a:fld>
            <a:endParaRPr lang="en-CA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C3A1F2E-F273-961D-1EE7-5BA6B87D92A2}"/>
              </a:ext>
            </a:extLst>
          </p:cNvPr>
          <p:cNvSpPr txBox="1"/>
          <p:nvPr/>
        </p:nvSpPr>
        <p:spPr>
          <a:xfrm>
            <a:off x="1608306" y="3335602"/>
            <a:ext cx="2972403" cy="1015663"/>
          </a:xfrm>
          <a:prstGeom prst="rect">
            <a:avLst/>
          </a:prstGeom>
          <a:ln w="28575">
            <a:solidFill>
              <a:srgbClr val="00B05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n = 40;</a:t>
            </a:r>
          </a:p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c[n];</a:t>
            </a: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= 0; </a:t>
            </a:r>
            <a:r>
              <a:rPr lang="en-US" sz="12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2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&lt;= n – 1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++ )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c[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] = 100;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9569062-2B3E-137E-AE13-62B1D56F6FE1}"/>
              </a:ext>
            </a:extLst>
          </p:cNvPr>
          <p:cNvSpPr txBox="1"/>
          <p:nvPr/>
        </p:nvSpPr>
        <p:spPr>
          <a:xfrm>
            <a:off x="1608306" y="4466577"/>
            <a:ext cx="2972403" cy="1015663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n = 40;</a:t>
            </a:r>
          </a:p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c[n];</a:t>
            </a: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= 0; </a:t>
            </a:r>
            <a:r>
              <a:rPr lang="en-US" sz="12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2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 n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++ )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c[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] = 100;</a:t>
            </a:r>
          </a:p>
        </p:txBody>
      </p:sp>
      <p:sp>
        <p:nvSpPr>
          <p:cNvPr id="10" name="Speech Bubble: Rectangle 9">
            <a:extLst>
              <a:ext uri="{FF2B5EF4-FFF2-40B4-BE49-F238E27FC236}">
                <a16:creationId xmlns:a16="http://schemas.microsoft.com/office/drawing/2014/main" id="{D9587D8F-D3B4-BF33-E61D-5D046A2C99E6}"/>
              </a:ext>
            </a:extLst>
          </p:cNvPr>
          <p:cNvSpPr/>
          <p:nvPr/>
        </p:nvSpPr>
        <p:spPr>
          <a:xfrm>
            <a:off x="5582191" y="2670505"/>
            <a:ext cx="3309257" cy="669536"/>
          </a:xfrm>
          <a:prstGeom prst="wedgeRectCallout">
            <a:avLst>
              <a:gd name="adj1" fmla="val -74623"/>
              <a:gd name="adj2" fmla="val 61892"/>
            </a:avLst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Tx/>
              <a:buChar char="-"/>
            </a:pPr>
            <a:r>
              <a:rPr lang="en-US" sz="1600" b="1" dirty="0">
                <a:solidFill>
                  <a:schemeClr val="tx1"/>
                </a:solidFill>
              </a:rPr>
              <a:t>Array c is defined</a:t>
            </a:r>
          </a:p>
          <a:p>
            <a:pPr marL="285750" indent="-285750">
              <a:buFontTx/>
              <a:buChar char="-"/>
            </a:pPr>
            <a:r>
              <a:rPr lang="en-US" sz="1600" b="1" dirty="0">
                <a:solidFill>
                  <a:schemeClr val="tx1"/>
                </a:solidFill>
              </a:rPr>
              <a:t>Its elements are initialized to 100</a:t>
            </a:r>
            <a:endParaRPr lang="en-US" sz="1600" b="1" dirty="0">
              <a:solidFill>
                <a:srgbClr val="FF000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75EA032-A0E3-6C00-668E-494B59BD36AE}"/>
              </a:ext>
            </a:extLst>
          </p:cNvPr>
          <p:cNvSpPr txBox="1"/>
          <p:nvPr/>
        </p:nvSpPr>
        <p:spPr>
          <a:xfrm>
            <a:off x="5858296" y="3582752"/>
            <a:ext cx="4513609" cy="2308324"/>
          </a:xfrm>
          <a:prstGeom prst="rect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n,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(“Size of the array: ”);</a:t>
            </a:r>
          </a:p>
          <a:p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scanf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(“%d”, &amp;n);</a:t>
            </a:r>
          </a:p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c[n];</a:t>
            </a: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(“Provide %d integers: ”, n);</a:t>
            </a:r>
          </a:p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= 0; </a:t>
            </a:r>
            <a:r>
              <a:rPr lang="en-US" sz="12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2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&lt;= n – 1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++ )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scanf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(“%d”, &amp;c[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]);</a:t>
            </a: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(“The elements you’ve supplied are: \n”);</a:t>
            </a:r>
          </a:p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= 0; </a:t>
            </a:r>
            <a:r>
              <a:rPr lang="en-US" sz="12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2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 n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++ )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(“%d\n”, c[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]);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A9CAA858-10AE-D0E0-0F72-FDAAB83C5829}"/>
              </a:ext>
            </a:extLst>
          </p:cNvPr>
          <p:cNvSpPr/>
          <p:nvPr/>
        </p:nvSpPr>
        <p:spPr>
          <a:xfrm>
            <a:off x="9112465" y="3498927"/>
            <a:ext cx="1861482" cy="404238"/>
          </a:xfrm>
          <a:prstGeom prst="roundRect">
            <a:avLst/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chemeClr val="tx1"/>
                </a:solidFill>
              </a:rPr>
              <a:t>L4Ex1-ArrayInit.c</a:t>
            </a:r>
            <a:endParaRPr lang="en-US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42493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8" y="585288"/>
            <a:ext cx="563064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Array – Common Errors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6" y="1563637"/>
            <a:ext cx="9751038" cy="24314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Syntax Errors in Initialization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CA" dirty="0"/>
              <a:t>Initializer list longer than the specified array elements</a:t>
            </a:r>
          </a:p>
          <a:p>
            <a:pPr marL="914400" lvl="1" indent="-457200">
              <a:buFont typeface="+mj-lt"/>
              <a:buAutoNum type="arabicPeriod"/>
            </a:pPr>
            <a:endParaRPr lang="en-CA" dirty="0"/>
          </a:p>
          <a:p>
            <a:pPr marL="914400" lvl="1" indent="-457200">
              <a:buFont typeface="+mj-lt"/>
              <a:buAutoNum type="arabicPeriod"/>
            </a:pPr>
            <a:endParaRPr lang="en-CA" dirty="0"/>
          </a:p>
          <a:p>
            <a:pPr marL="914400" lvl="1" indent="-457200">
              <a:buFont typeface="+mj-lt"/>
              <a:buAutoNum type="arabicPeriod"/>
            </a:pPr>
            <a:endParaRPr lang="en-CA" dirty="0"/>
          </a:p>
          <a:p>
            <a:pPr marL="914400" lvl="1" indent="-457200">
              <a:buFont typeface="+mj-lt"/>
              <a:buAutoNum type="arabicPeriod"/>
            </a:pPr>
            <a:endParaRPr lang="en-CA" dirty="0"/>
          </a:p>
          <a:p>
            <a:pPr marL="914400" lvl="1" indent="-457200">
              <a:buFont typeface="+mj-lt"/>
              <a:buAutoNum type="arabicPeriod"/>
            </a:pPr>
            <a:r>
              <a:rPr lang="en-CA" dirty="0"/>
              <a:t>Initializing array with an existing array using array name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sz="2200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9</a:t>
            </a:fld>
            <a:endParaRPr lang="en-CA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A4D9E4-FC06-8451-C432-8DC4CE2AFAA1}"/>
              </a:ext>
            </a:extLst>
          </p:cNvPr>
          <p:cNvSpPr txBox="1"/>
          <p:nvPr/>
        </p:nvSpPr>
        <p:spPr>
          <a:xfrm>
            <a:off x="2844439" y="2531464"/>
            <a:ext cx="5123905" cy="338554"/>
          </a:xfrm>
          <a:prstGeom prst="rect">
            <a:avLst/>
          </a:prstGeom>
          <a:solidFill>
            <a:srgbClr val="FFDDDD"/>
          </a:solidFill>
          <a:ln w="28575">
            <a:solidFill>
              <a:srgbClr val="7F1F1F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c[</a:t>
            </a:r>
            <a:r>
              <a:rPr lang="en-US" sz="16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] = {</a:t>
            </a:r>
            <a:r>
              <a:rPr lang="en-US" sz="16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100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6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60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6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30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6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90</a:t>
            </a:r>
            <a:r>
              <a:rPr lang="en-US" sz="1600" b="1" dirty="0">
                <a:solidFill>
                  <a:srgbClr val="FF0000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, 65, 322</a:t>
            </a:r>
            <a:r>
              <a:rPr lang="en-US" sz="16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</a:p>
        </p:txBody>
      </p:sp>
      <p:sp>
        <p:nvSpPr>
          <p:cNvPr id="8" name="Speech Bubble: Rectangle 7">
            <a:extLst>
              <a:ext uri="{FF2B5EF4-FFF2-40B4-BE49-F238E27FC236}">
                <a16:creationId xmlns:a16="http://schemas.microsoft.com/office/drawing/2014/main" id="{B48CA8BB-AB27-8DFB-E0A1-F22FEBE3F57D}"/>
              </a:ext>
            </a:extLst>
          </p:cNvPr>
          <p:cNvSpPr/>
          <p:nvPr/>
        </p:nvSpPr>
        <p:spPr>
          <a:xfrm>
            <a:off x="7620001" y="1985188"/>
            <a:ext cx="1506583" cy="482016"/>
          </a:xfrm>
          <a:prstGeom prst="wedgeRectCallout">
            <a:avLst>
              <a:gd name="adj1" fmla="val -74623"/>
              <a:gd name="adj2" fmla="val 61892"/>
            </a:avLst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Syntax Error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0DD91C7-25DD-FCE7-005B-222B1E758191}"/>
              </a:ext>
            </a:extLst>
          </p:cNvPr>
          <p:cNvSpPr txBox="1"/>
          <p:nvPr/>
        </p:nvSpPr>
        <p:spPr>
          <a:xfrm>
            <a:off x="2422073" y="3911592"/>
            <a:ext cx="3299459" cy="584775"/>
          </a:xfrm>
          <a:prstGeom prst="rect">
            <a:avLst/>
          </a:prstGeom>
          <a:solidFill>
            <a:srgbClr val="FFDDDD"/>
          </a:solidFill>
          <a:ln w="28575">
            <a:solidFill>
              <a:srgbClr val="7F1F1F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c[3] = {</a:t>
            </a:r>
            <a:r>
              <a:rPr lang="en-US" sz="16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100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6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60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6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30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</a:p>
          <a:p>
            <a:r>
              <a:rPr lang="en-US" sz="16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sz="1600" b="1" dirty="0">
                <a:solidFill>
                  <a:srgbClr val="FF0000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d[3] = c;</a:t>
            </a:r>
          </a:p>
        </p:txBody>
      </p:sp>
      <p:sp>
        <p:nvSpPr>
          <p:cNvPr id="15" name="Speech Bubble: Rectangle 14">
            <a:extLst>
              <a:ext uri="{FF2B5EF4-FFF2-40B4-BE49-F238E27FC236}">
                <a16:creationId xmlns:a16="http://schemas.microsoft.com/office/drawing/2014/main" id="{5D60BEAE-A3B5-D5F4-619B-6E9A2299D7DA}"/>
              </a:ext>
            </a:extLst>
          </p:cNvPr>
          <p:cNvSpPr/>
          <p:nvPr/>
        </p:nvSpPr>
        <p:spPr>
          <a:xfrm>
            <a:off x="2422073" y="4867264"/>
            <a:ext cx="1506583" cy="482016"/>
          </a:xfrm>
          <a:prstGeom prst="wedgeRectCallout">
            <a:avLst>
              <a:gd name="adj1" fmla="val 8614"/>
              <a:gd name="adj2" fmla="val -124198"/>
            </a:avLst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Syntax Error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26B94C0-9BB4-4044-AC93-33C37924B071}"/>
              </a:ext>
            </a:extLst>
          </p:cNvPr>
          <p:cNvSpPr txBox="1"/>
          <p:nvPr/>
        </p:nvSpPr>
        <p:spPr>
          <a:xfrm>
            <a:off x="6375219" y="3911591"/>
            <a:ext cx="3151414" cy="1169551"/>
          </a:xfrm>
          <a:prstGeom prst="rect">
            <a:avLst/>
          </a:prstGeom>
          <a:ln w="28575">
            <a:solidFill>
              <a:srgbClr val="00B05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c[3] = {100, 60, 30}</a:t>
            </a:r>
          </a:p>
          <a:p>
            <a:r>
              <a:rPr lang="en-US" sz="14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d[3];</a:t>
            </a:r>
          </a:p>
          <a:p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= 0;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&lt; 3;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++ )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d[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] = c[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];</a:t>
            </a:r>
          </a:p>
        </p:txBody>
      </p:sp>
      <p:sp>
        <p:nvSpPr>
          <p:cNvPr id="17" name="Speech Bubble: Rectangle 16">
            <a:extLst>
              <a:ext uri="{FF2B5EF4-FFF2-40B4-BE49-F238E27FC236}">
                <a16:creationId xmlns:a16="http://schemas.microsoft.com/office/drawing/2014/main" id="{6EFF8638-A001-732A-C665-55505DEABDFE}"/>
              </a:ext>
            </a:extLst>
          </p:cNvPr>
          <p:cNvSpPr/>
          <p:nvPr/>
        </p:nvSpPr>
        <p:spPr>
          <a:xfrm>
            <a:off x="7160451" y="5277783"/>
            <a:ext cx="2205788" cy="482016"/>
          </a:xfrm>
          <a:prstGeom prst="wedgeRectCallout">
            <a:avLst>
              <a:gd name="adj1" fmla="val -44565"/>
              <a:gd name="adj2" fmla="val -98904"/>
            </a:avLst>
          </a:prstGeom>
          <a:solidFill>
            <a:schemeClr val="accent6">
              <a:lumMod val="20000"/>
              <a:lumOff val="80000"/>
            </a:schemeClr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Correct Copy Process</a:t>
            </a:r>
          </a:p>
        </p:txBody>
      </p:sp>
    </p:spTree>
    <p:extLst>
      <p:ext uri="{BB962C8B-B14F-4D97-AF65-F5344CB8AC3E}">
        <p14:creationId xmlns:p14="http://schemas.microsoft.com/office/powerpoint/2010/main" val="41110920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8" y="585288"/>
            <a:ext cx="563064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Array – Common Errors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5" y="1563637"/>
            <a:ext cx="10253355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Semantic Errors in Array Access – Access Out of Bound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CA" sz="22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CA" sz="22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You are allowed to access anything as an element beyond the array range – until </a:t>
            </a:r>
            <a:r>
              <a:rPr lang="en-CA" b="1" dirty="0">
                <a:solidFill>
                  <a:srgbClr val="FF0000"/>
                </a:solidFill>
              </a:rPr>
              <a:t>bad things happen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Your program will do its best job (incorrectly) interpreting this data with the given array data type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sz="2200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10</a:t>
            </a:fld>
            <a:endParaRPr lang="en-CA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C70EFEF4-48F1-24AE-7579-2D55E1CF8AEF}"/>
              </a:ext>
            </a:extLst>
          </p:cNvPr>
          <p:cNvSpPr/>
          <p:nvPr/>
        </p:nvSpPr>
        <p:spPr>
          <a:xfrm>
            <a:off x="2895968" y="2092628"/>
            <a:ext cx="5731359" cy="404238"/>
          </a:xfrm>
          <a:prstGeom prst="roundRect">
            <a:avLst/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2400" b="1" dirty="0">
                <a:solidFill>
                  <a:srgbClr val="FF0000"/>
                </a:solidFill>
              </a:rPr>
              <a:t>C has NO ARRAY BOUNDARY CHECKING!!!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A40E08-F44F-C066-6DF4-0A2BD93D37D7}"/>
              </a:ext>
            </a:extLst>
          </p:cNvPr>
          <p:cNvSpPr txBox="1"/>
          <p:nvPr/>
        </p:nvSpPr>
        <p:spPr>
          <a:xfrm>
            <a:off x="3706767" y="3617003"/>
            <a:ext cx="2925392" cy="1384995"/>
          </a:xfrm>
          <a:prstGeom prst="rect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c[3] = {100, 60, 30};</a:t>
            </a:r>
          </a:p>
          <a:p>
            <a:r>
              <a:rPr lang="en-US" sz="14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a;</a:t>
            </a:r>
          </a:p>
          <a:p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a = c[3];</a:t>
            </a:r>
          </a:p>
          <a:p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c[10] = 120;</a:t>
            </a:r>
          </a:p>
        </p:txBody>
      </p:sp>
      <p:sp>
        <p:nvSpPr>
          <p:cNvPr id="8" name="Speech Bubble: Rectangle 7">
            <a:extLst>
              <a:ext uri="{FF2B5EF4-FFF2-40B4-BE49-F238E27FC236}">
                <a16:creationId xmlns:a16="http://schemas.microsoft.com/office/drawing/2014/main" id="{A607F0AC-E364-A88F-75F6-451D6250BB43}"/>
              </a:ext>
            </a:extLst>
          </p:cNvPr>
          <p:cNvSpPr/>
          <p:nvPr/>
        </p:nvSpPr>
        <p:spPr>
          <a:xfrm>
            <a:off x="1277085" y="3423553"/>
            <a:ext cx="1618883" cy="398360"/>
          </a:xfrm>
          <a:prstGeom prst="wedgeRectCallout">
            <a:avLst>
              <a:gd name="adj1" fmla="val 104298"/>
              <a:gd name="adj2" fmla="val 195209"/>
            </a:avLst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Out of Bound!</a:t>
            </a:r>
          </a:p>
        </p:txBody>
      </p:sp>
      <p:sp>
        <p:nvSpPr>
          <p:cNvPr id="9" name="Speech Bubble: Rectangle 8">
            <a:extLst>
              <a:ext uri="{FF2B5EF4-FFF2-40B4-BE49-F238E27FC236}">
                <a16:creationId xmlns:a16="http://schemas.microsoft.com/office/drawing/2014/main" id="{FC12AD1B-2649-D01A-025C-E66573898E80}"/>
              </a:ext>
            </a:extLst>
          </p:cNvPr>
          <p:cNvSpPr/>
          <p:nvPr/>
        </p:nvSpPr>
        <p:spPr>
          <a:xfrm>
            <a:off x="1277084" y="4356782"/>
            <a:ext cx="1618883" cy="641564"/>
          </a:xfrm>
          <a:prstGeom prst="wedgeRectCallout">
            <a:avLst>
              <a:gd name="adj1" fmla="val 103749"/>
              <a:gd name="adj2" fmla="val 28681"/>
            </a:avLst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Out of Bound!</a:t>
            </a:r>
          </a:p>
          <a:p>
            <a:pPr algn="ctr"/>
            <a:r>
              <a:rPr lang="en-US" sz="1600" b="1" dirty="0">
                <a:solidFill>
                  <a:srgbClr val="FF0000"/>
                </a:solidFill>
              </a:rPr>
              <a:t>(Worse)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F5B7062-4606-CDC7-5861-0DF3D0C0E38B}"/>
              </a:ext>
            </a:extLst>
          </p:cNvPr>
          <p:cNvSpPr txBox="1"/>
          <p:nvPr/>
        </p:nvSpPr>
        <p:spPr>
          <a:xfrm>
            <a:off x="7300547" y="3944657"/>
            <a:ext cx="3175864" cy="1600438"/>
          </a:xfrm>
          <a:prstGeom prst="rect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c[200] = {0};</a:t>
            </a:r>
          </a:p>
          <a:p>
            <a:r>
              <a:rPr lang="en-US" sz="14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= 0;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&lt; </a:t>
            </a:r>
            <a:r>
              <a:rPr lang="en-US" sz="1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20000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++ )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c[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] = 3*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0DCCF436-E6F7-8DB8-506D-32C0EF875A15}"/>
              </a:ext>
            </a:extLst>
          </p:cNvPr>
          <p:cNvSpPr/>
          <p:nvPr/>
        </p:nvSpPr>
        <p:spPr>
          <a:xfrm>
            <a:off x="7660779" y="3410683"/>
            <a:ext cx="2500478" cy="404238"/>
          </a:xfrm>
          <a:prstGeom prst="roundRect">
            <a:avLst/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2000" b="1" dirty="0">
                <a:solidFill>
                  <a:srgbClr val="FF0000"/>
                </a:solidFill>
              </a:rPr>
              <a:t>How bad could it be?</a:t>
            </a:r>
            <a:endParaRPr lang="en-US" sz="2000" b="1" dirty="0">
              <a:solidFill>
                <a:srgbClr val="FF0000"/>
              </a:solidFill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3E0C543C-7CF5-206E-3C45-EB5AE43180FC}"/>
              </a:ext>
            </a:extLst>
          </p:cNvPr>
          <p:cNvSpPr/>
          <p:nvPr/>
        </p:nvSpPr>
        <p:spPr>
          <a:xfrm>
            <a:off x="4800069" y="5484514"/>
            <a:ext cx="5859222" cy="404238"/>
          </a:xfrm>
          <a:prstGeom prst="roundRect">
            <a:avLst/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2000" b="1" dirty="0">
                <a:solidFill>
                  <a:srgbClr val="FF0000"/>
                </a:solidFill>
              </a:rPr>
              <a:t>Error Code: -1,073,741,819 (Segmentation Failure)</a:t>
            </a:r>
            <a:endParaRPr lang="en-US" sz="2000" b="1" dirty="0">
              <a:solidFill>
                <a:srgbClr val="FF0000"/>
              </a:solidFill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EC6DFB81-16B5-6D2A-5E20-29112F45D96C}"/>
              </a:ext>
            </a:extLst>
          </p:cNvPr>
          <p:cNvSpPr/>
          <p:nvPr/>
        </p:nvSpPr>
        <p:spPr>
          <a:xfrm>
            <a:off x="9051505" y="1029663"/>
            <a:ext cx="1861482" cy="404238"/>
          </a:xfrm>
          <a:prstGeom prst="roundRect">
            <a:avLst/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chemeClr val="tx1"/>
                </a:solidFill>
              </a:rPr>
              <a:t>L4Ex2-SegFault.c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5" name="Speech Bubble: Rectangle 14">
            <a:extLst>
              <a:ext uri="{FF2B5EF4-FFF2-40B4-BE49-F238E27FC236}">
                <a16:creationId xmlns:a16="http://schemas.microsoft.com/office/drawing/2014/main" id="{09B6D067-D923-22F3-4E9C-B6103F542B77}"/>
              </a:ext>
            </a:extLst>
          </p:cNvPr>
          <p:cNvSpPr/>
          <p:nvPr/>
        </p:nvSpPr>
        <p:spPr>
          <a:xfrm>
            <a:off x="832655" y="5280974"/>
            <a:ext cx="2874112" cy="528242"/>
          </a:xfrm>
          <a:prstGeom prst="wedgeRectCallout">
            <a:avLst>
              <a:gd name="adj1" fmla="val 95207"/>
              <a:gd name="adj2" fmla="val 30776"/>
            </a:avLst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Use </a:t>
            </a:r>
            <a:r>
              <a:rPr lang="en-CA" b="1" dirty="0">
                <a:solidFill>
                  <a:srgbClr val="0000FF"/>
                </a:solidFill>
              </a:rPr>
              <a:t>$LASTEXITCODE</a:t>
            </a:r>
            <a:r>
              <a:rPr lang="en-US" sz="1600" b="1" dirty="0">
                <a:solidFill>
                  <a:srgbClr val="0000FF"/>
                </a:solidFill>
              </a:rPr>
              <a:t> </a:t>
            </a:r>
            <a:r>
              <a:rPr lang="en-US" sz="1600" b="1" dirty="0">
                <a:solidFill>
                  <a:srgbClr val="FF0000"/>
                </a:solidFill>
              </a:rPr>
              <a:t>to check for the error code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7047927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/>
      <p:bldP spid="8" grpId="0" animBg="1"/>
      <p:bldP spid="9" grpId="0" animBg="1"/>
      <p:bldP spid="10" grpId="0" animBg="1"/>
      <p:bldP spid="11" grpId="0" animBg="1"/>
      <p:bldP spid="12" grpId="0" animBg="1"/>
      <p:bldP spid="14" grpId="0" animBg="1"/>
      <p:bldP spid="1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8" y="585288"/>
            <a:ext cx="563064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Array – Common Errors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5" y="1563637"/>
            <a:ext cx="10253355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Semantic Errors in Array Access – Access Out of Bound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CA" sz="22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CA" sz="22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b="1" dirty="0"/>
              <a:t>Segmentation Fault </a:t>
            </a:r>
            <a:r>
              <a:rPr lang="en-CA" dirty="0"/>
              <a:t>– Operating System telling you that your program </a:t>
            </a:r>
            <a:r>
              <a:rPr lang="en-CA" b="1" i="1" dirty="0"/>
              <a:t>“stepped out of bound”</a:t>
            </a:r>
            <a:endParaRPr lang="en-CA" b="1" i="1" dirty="0">
              <a:solidFill>
                <a:srgbClr val="FF0000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Typical Culprit – Loop Continuation Condition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sz="2200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11</a:t>
            </a:fld>
            <a:endParaRPr lang="en-CA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C70EFEF4-48F1-24AE-7579-2D55E1CF8AEF}"/>
              </a:ext>
            </a:extLst>
          </p:cNvPr>
          <p:cNvSpPr/>
          <p:nvPr/>
        </p:nvSpPr>
        <p:spPr>
          <a:xfrm>
            <a:off x="2895968" y="2092628"/>
            <a:ext cx="5731359" cy="404238"/>
          </a:xfrm>
          <a:prstGeom prst="roundRect">
            <a:avLst/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2400" b="1" dirty="0">
                <a:solidFill>
                  <a:srgbClr val="FF0000"/>
                </a:solidFill>
              </a:rPr>
              <a:t>C has NO ARRAY BOUNDARY CHECKING!!!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F5B7062-4606-CDC7-5861-0DF3D0C0E38B}"/>
              </a:ext>
            </a:extLst>
          </p:cNvPr>
          <p:cNvSpPr txBox="1"/>
          <p:nvPr/>
        </p:nvSpPr>
        <p:spPr>
          <a:xfrm>
            <a:off x="1722330" y="3472704"/>
            <a:ext cx="4147248" cy="2031325"/>
          </a:xfrm>
          <a:prstGeom prst="rect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INCORRECT – 1 element out of bound</a:t>
            </a:r>
            <a:br>
              <a:rPr lang="en-US" sz="14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lang="en-US" sz="1400" b="1" dirty="0">
              <a:solidFill>
                <a:schemeClr val="accent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c[200] = {0};</a:t>
            </a:r>
          </a:p>
          <a:p>
            <a:r>
              <a:rPr lang="en-US" sz="14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= 0;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&lt;=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200;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++ )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c[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] = 3*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38733DB-257D-7BC1-E905-CE2628C436AF}"/>
              </a:ext>
            </a:extLst>
          </p:cNvPr>
          <p:cNvSpPr txBox="1"/>
          <p:nvPr/>
        </p:nvSpPr>
        <p:spPr>
          <a:xfrm>
            <a:off x="6159347" y="3474882"/>
            <a:ext cx="4147248" cy="2031325"/>
          </a:xfrm>
          <a:prstGeom prst="rect">
            <a:avLst/>
          </a:prstGeom>
          <a:ln w="28575">
            <a:solidFill>
              <a:srgbClr val="00B05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CORRECT – No out-of-bound access</a:t>
            </a:r>
          </a:p>
          <a:p>
            <a:endParaRPr lang="en-US" sz="1400" b="1" dirty="0">
              <a:solidFill>
                <a:schemeClr val="accent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c[200] = {0};</a:t>
            </a:r>
          </a:p>
          <a:p>
            <a:r>
              <a:rPr lang="en-US" sz="14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= 0;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200;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++ )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c[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] = 3*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0589372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 descr="One solid circle, one ring, and one circle filled with diagonal lines">
            <a:extLst>
              <a:ext uri="{FF2B5EF4-FFF2-40B4-BE49-F238E27FC236}">
                <a16:creationId xmlns:a16="http://schemas.microsoft.com/office/drawing/2014/main" id="{117B1E9F-05A5-4510-8587-80B34F83DB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68254" y="747419"/>
            <a:ext cx="5363162" cy="5363162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14B5F53-76BB-4185-819B-0CE94A358F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rPr>
              <a:t>Arrays and Functions</a:t>
            </a:r>
            <a:endParaRPr lang="en-US" sz="4400" b="1" dirty="0">
              <a:solidFill>
                <a:srgbClr val="7F1F1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1699E1B-6ADB-4F72-95A0-4AA7EB020B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11EE999-66AE-40DE-9FC3-57D08FF72800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A1EEE44-5A53-4177-97CB-790B8F12F8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00681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8" y="585288"/>
            <a:ext cx="507812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Arrays and Functions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8" y="1563637"/>
            <a:ext cx="10166268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b="1" dirty="0">
                <a:solidFill>
                  <a:srgbClr val="FF0000"/>
                </a:solidFill>
                <a:latin typeface="Algerian" panose="04020705040A02060702" pitchFamily="82" charset="0"/>
              </a:rPr>
              <a:t>Many Gotchas!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A function cannot return an array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Arrays can only be passed into a function using both…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dirty="0"/>
              <a:t>Array Name (</a:t>
            </a:r>
            <a:r>
              <a:rPr lang="en-CA" b="1" i="1" dirty="0"/>
              <a:t>Starting Address</a:t>
            </a:r>
            <a:r>
              <a:rPr lang="en-CA" dirty="0"/>
              <a:t> in the memory)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dirty="0"/>
              <a:t>Array Size (To ensure no out-of-bound access)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For all arrays passed into a function using the above method, </a:t>
            </a:r>
            <a:br>
              <a:rPr lang="en-CA" dirty="0"/>
            </a:br>
            <a:r>
              <a:rPr lang="en-CA" dirty="0"/>
              <a:t>their </a:t>
            </a:r>
            <a:r>
              <a:rPr lang="en-CA" b="1" i="1" dirty="0">
                <a:solidFill>
                  <a:srgbClr val="FF0000"/>
                </a:solidFill>
              </a:rPr>
              <a:t>GENUINE VALUES WILL BE MODIFIED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CA" sz="22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This parameter passing mode is called “</a:t>
            </a:r>
            <a:r>
              <a:rPr lang="en-US" sz="2200" b="1" i="1" dirty="0"/>
              <a:t>Pass by Reference</a:t>
            </a:r>
            <a:r>
              <a:rPr lang="en-US" sz="2200" dirty="0"/>
              <a:t>”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Soon we will be ready to chat about this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2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Motivation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If using Pass by Value (default mode), too many values will be copied -&gt; </a:t>
            </a:r>
            <a:r>
              <a:rPr lang="en-US" b="1" dirty="0"/>
              <a:t>Poor Performance</a:t>
            </a:r>
            <a:endParaRPr lang="en-US" sz="2200" b="1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13</a:t>
            </a:fld>
            <a:endParaRPr lang="en-CA" dirty="0"/>
          </a:p>
        </p:txBody>
      </p:sp>
      <p:sp>
        <p:nvSpPr>
          <p:cNvPr id="2" name="Speech Bubble: Rectangle 1">
            <a:extLst>
              <a:ext uri="{FF2B5EF4-FFF2-40B4-BE49-F238E27FC236}">
                <a16:creationId xmlns:a16="http://schemas.microsoft.com/office/drawing/2014/main" id="{E6CCDDAC-A9ED-291C-264C-2C5996E8AC43}"/>
              </a:ext>
            </a:extLst>
          </p:cNvPr>
          <p:cNvSpPr/>
          <p:nvPr/>
        </p:nvSpPr>
        <p:spPr>
          <a:xfrm>
            <a:off x="8279133" y="2400705"/>
            <a:ext cx="2933364" cy="1194257"/>
          </a:xfrm>
          <a:prstGeom prst="wedgeRectCallout">
            <a:avLst>
              <a:gd name="adj1" fmla="val -63891"/>
              <a:gd name="adj2" fmla="val 14489"/>
            </a:avLst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For now, just heed the differences between passing arrays and non-array variables</a:t>
            </a:r>
            <a:endParaRPr lang="en-US" sz="16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05142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8" y="585288"/>
            <a:ext cx="9597179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Passing Array into Function - Example 1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14</a:t>
            </a:fld>
            <a:endParaRPr lang="en-CA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A838DD6-AAEE-2D6B-24AE-47A45DD8BD37}"/>
              </a:ext>
            </a:extLst>
          </p:cNvPr>
          <p:cNvSpPr txBox="1"/>
          <p:nvPr/>
        </p:nvSpPr>
        <p:spPr>
          <a:xfrm>
            <a:off x="5985983" y="1630962"/>
            <a:ext cx="5149377" cy="2292935"/>
          </a:xfrm>
          <a:prstGeom prst="rect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#include &lt;</a:t>
            </a:r>
            <a:r>
              <a:rPr lang="en-US" sz="1100" b="1" dirty="0" err="1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stdio.h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endParaRPr lang="en-US" sz="1100" b="1" dirty="0">
              <a:solidFill>
                <a:schemeClr val="accent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 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reverse(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x_array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[],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n );</a:t>
            </a:r>
          </a:p>
          <a:p>
            <a:endParaRPr lang="en-US" sz="1100" b="1" dirty="0">
              <a:solidFill>
                <a:schemeClr val="accent5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main(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my_array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[6] = {1.1, 3.3, 9.7, 8.9, 4.3, 2.0};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reverse(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my_array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, 6 ); </a:t>
            </a:r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No </a:t>
            </a:r>
            <a:r>
              <a:rPr lang="en-US" sz="1100" b="1" dirty="0" err="1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rvalue</a:t>
            </a:r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returned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= 0;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&lt; 6;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++ )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	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(“a[%d] = %.1f\n”,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my_array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]);</a:t>
            </a:r>
          </a:p>
          <a:p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return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0;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4DA4425-2DD8-EDFE-7E3F-81F82D1A4E21}"/>
              </a:ext>
            </a:extLst>
          </p:cNvPr>
          <p:cNvSpPr txBox="1"/>
          <p:nvPr/>
        </p:nvSpPr>
        <p:spPr>
          <a:xfrm>
            <a:off x="832655" y="1563637"/>
            <a:ext cx="5076191" cy="4493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Function Requirement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Must accept an array and an integer size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Array must be declared, well, in array form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Invocation Requirement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Must pass the Array Name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Must supply Array Size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Outcome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Invoked function has direct access to the genuine values of the array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What’s modified in the function will 100% reflect on the invoker’s end.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sz="2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74FAD45-8310-CC1C-19F9-98B8B2392B5C}"/>
              </a:ext>
            </a:extLst>
          </p:cNvPr>
          <p:cNvSpPr txBox="1"/>
          <p:nvPr/>
        </p:nvSpPr>
        <p:spPr>
          <a:xfrm>
            <a:off x="5985984" y="4003891"/>
            <a:ext cx="5149376" cy="1954381"/>
          </a:xfrm>
          <a:prstGeom prst="rect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 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reverse(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x_array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[],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n )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double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temp;</a:t>
            </a:r>
          </a:p>
          <a:p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for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(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= 0;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&lt;= (n-1)/2;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++ )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{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	temp =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x_array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];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x_array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] =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x_array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[n-1-i];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x_array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[n-1-i] = temp;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} </a:t>
            </a:r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end of for loop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} </a:t>
            </a:r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end of reverse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D37A94A2-8683-DEFE-73FA-22E282E94AEB}"/>
              </a:ext>
            </a:extLst>
          </p:cNvPr>
          <p:cNvSpPr/>
          <p:nvPr/>
        </p:nvSpPr>
        <p:spPr>
          <a:xfrm>
            <a:off x="9088165" y="5554034"/>
            <a:ext cx="2124332" cy="404238"/>
          </a:xfrm>
          <a:prstGeom prst="roundRect">
            <a:avLst/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chemeClr val="tx1"/>
                </a:solidFill>
              </a:rPr>
              <a:t>L4Ex3_ArrayFunc.c</a:t>
            </a:r>
            <a:endParaRPr lang="en-US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79794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7" presetClass="emph" presetSubtype="0" fill="remove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4" dur="250" autoRev="1" fill="remove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45" dur="250" autoRev="1" fill="remove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6" dur="250" autoRev="1" fill="remove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7" dur="250" autoRev="1" fill="remove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7" presetClass="emph" presetSubtype="0" fill="remove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9" dur="250" autoRev="1" fill="remove"/>
                                        <p:tgtEl>
                                          <p:spTgt spid="2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90" dur="250" autoRev="1" fill="remove"/>
                                        <p:tgtEl>
                                          <p:spTgt spid="2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1" dur="250" autoRev="1" fill="remove"/>
                                        <p:tgtEl>
                                          <p:spTgt spid="2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2" dur="250" autoRev="1" fill="remove"/>
                                        <p:tgtEl>
                                          <p:spTgt spid="2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5" grpId="0" animBg="1"/>
      <p:bldP spid="29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8" y="585288"/>
            <a:ext cx="9597179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Passing Array into Function - Example 1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15</a:t>
            </a:fld>
            <a:endParaRPr lang="en-CA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4DA4425-2DD8-EDFE-7E3F-81F82D1A4E21}"/>
              </a:ext>
            </a:extLst>
          </p:cNvPr>
          <p:cNvSpPr txBox="1"/>
          <p:nvPr/>
        </p:nvSpPr>
        <p:spPr>
          <a:xfrm>
            <a:off x="832655" y="1563637"/>
            <a:ext cx="1037984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Closer Look at Reverse Algorithms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Here are some variants of the reverse algorithm.  Try implementing them yourselves!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74FAD45-8310-CC1C-19F9-98B8B2392B5C}"/>
              </a:ext>
            </a:extLst>
          </p:cNvPr>
          <p:cNvSpPr txBox="1"/>
          <p:nvPr/>
        </p:nvSpPr>
        <p:spPr>
          <a:xfrm>
            <a:off x="646914" y="2618153"/>
            <a:ext cx="3828576" cy="2492990"/>
          </a:xfrm>
          <a:prstGeom prst="rect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Original Algorithm</a:t>
            </a:r>
            <a:endParaRPr lang="en-US" sz="1200" b="1" dirty="0">
              <a:solidFill>
                <a:schemeClr val="accent5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200" b="1" dirty="0">
              <a:solidFill>
                <a:schemeClr val="accent5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reverse(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x_array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[],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n )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double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temp;</a:t>
            </a:r>
          </a:p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for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(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= 0;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&lt;= (n-1)/2;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++ )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{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	temp =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x_array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];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x_array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] =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x_array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[n-1-i];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x_array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[n-1-i] = temp;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} </a:t>
            </a:r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end of for loop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} </a:t>
            </a:r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end of reverse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C466F39-A8B0-D791-87CD-655349A2AAF9}"/>
              </a:ext>
            </a:extLst>
          </p:cNvPr>
          <p:cNvSpPr txBox="1"/>
          <p:nvPr/>
        </p:nvSpPr>
        <p:spPr>
          <a:xfrm>
            <a:off x="4385794" y="2480431"/>
            <a:ext cx="3701566" cy="3231654"/>
          </a:xfrm>
          <a:prstGeom prst="rect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Variant 1</a:t>
            </a:r>
          </a:p>
          <a:p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Using </a:t>
            </a:r>
            <a:r>
              <a:rPr lang="en-US" sz="1200" b="1" dirty="0" err="1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to scan forward, j backward</a:t>
            </a:r>
          </a:p>
          <a:p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Then, swap x[</a:t>
            </a:r>
            <a:r>
              <a:rPr lang="en-US" sz="1200" b="1" dirty="0" err="1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 and x[j] </a:t>
            </a:r>
            <a:endParaRPr lang="en-US" sz="1200" b="1" dirty="0">
              <a:solidFill>
                <a:schemeClr val="accent5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200" b="1" dirty="0">
              <a:solidFill>
                <a:schemeClr val="accent5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reverse(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x[],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n )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, j;</a:t>
            </a:r>
          </a:p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double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temp;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j = n – 1;</a:t>
            </a:r>
          </a:p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for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(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= 0; </a:t>
            </a:r>
            <a:r>
              <a:rPr lang="en-US" sz="12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2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 j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++ )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{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	temp = x[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];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	x[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] = x[j];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	x[j] = temp;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	j--;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} </a:t>
            </a:r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end of for loop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} </a:t>
            </a:r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end of reverse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A931D76-F215-B8FD-43B5-03829B7C066B}"/>
              </a:ext>
            </a:extLst>
          </p:cNvPr>
          <p:cNvSpPr txBox="1"/>
          <p:nvPr/>
        </p:nvSpPr>
        <p:spPr>
          <a:xfrm>
            <a:off x="7614912" y="2894792"/>
            <a:ext cx="3828574" cy="3046988"/>
          </a:xfrm>
          <a:prstGeom prst="rect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Variant 2</a:t>
            </a:r>
          </a:p>
          <a:p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Using </a:t>
            </a:r>
            <a:r>
              <a:rPr lang="en-US" sz="1200" b="1" dirty="0" err="1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to scan forward, j backward</a:t>
            </a:r>
          </a:p>
          <a:p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Then, swap x[</a:t>
            </a:r>
            <a:r>
              <a:rPr lang="en-US" sz="1200" b="1" dirty="0" err="1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 and x[j] </a:t>
            </a:r>
          </a:p>
          <a:p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 now with Comma Operator!</a:t>
            </a:r>
            <a:endParaRPr lang="en-US" sz="1200" b="1" dirty="0">
              <a:solidFill>
                <a:schemeClr val="accent5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200" b="1" dirty="0">
              <a:solidFill>
                <a:schemeClr val="accent5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reverse(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x[],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n )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, j;</a:t>
            </a:r>
          </a:p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double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temp;</a:t>
            </a:r>
          </a:p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for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(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=0, j=n-1; </a:t>
            </a:r>
            <a:r>
              <a:rPr lang="en-US" sz="12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2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 j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++, j-- )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{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	temp = x[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];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	x[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] = x[j];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	x[j] = temp;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} </a:t>
            </a:r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end of for loop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} </a:t>
            </a:r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end of reverse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5ECE83B-8E57-C152-5EF0-005595026DD9}"/>
              </a:ext>
            </a:extLst>
          </p:cNvPr>
          <p:cNvSpPr/>
          <p:nvPr/>
        </p:nvSpPr>
        <p:spPr>
          <a:xfrm>
            <a:off x="9192146" y="2555812"/>
            <a:ext cx="2124332" cy="404238"/>
          </a:xfrm>
          <a:prstGeom prst="roundRect">
            <a:avLst/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chemeClr val="tx1"/>
                </a:solidFill>
              </a:rPr>
              <a:t>L4Ex3v2_Var2.c</a:t>
            </a:r>
            <a:endParaRPr lang="en-US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27752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3" grpId="0" animBg="1"/>
      <p:bldP spid="8" grpId="0" animBg="1"/>
      <p:bldP spid="9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8" y="585288"/>
            <a:ext cx="903965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Arrays and Functions – const Qualifier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8" y="1563637"/>
            <a:ext cx="10166268" cy="3570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b="1" dirty="0">
                <a:solidFill>
                  <a:srgbClr val="FF0000"/>
                </a:solidFill>
                <a:latin typeface="Algerian" panose="04020705040A02060702" pitchFamily="82" charset="0"/>
              </a:rPr>
              <a:t>Many Gotchas!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sz="1100" dirty="0"/>
              <a:t>A function cannot return an array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sz="1100" dirty="0"/>
              <a:t>Arrays can only be passed into a function using both…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sz="1100" dirty="0"/>
              <a:t>Array Name (</a:t>
            </a:r>
            <a:r>
              <a:rPr lang="en-CA" sz="1100" b="1" i="1" dirty="0"/>
              <a:t>Starting Address</a:t>
            </a:r>
            <a:r>
              <a:rPr lang="en-CA" sz="1100" dirty="0"/>
              <a:t> in the memory)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sz="1100" dirty="0"/>
              <a:t>Array Size (To ensure no out-of-bound access)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For all arrays passed into a function using the above method, </a:t>
            </a:r>
            <a:br>
              <a:rPr lang="en-CA" dirty="0"/>
            </a:br>
            <a:r>
              <a:rPr lang="en-CA" dirty="0"/>
              <a:t>their </a:t>
            </a:r>
            <a:r>
              <a:rPr lang="en-CA" b="1" i="1" dirty="0">
                <a:solidFill>
                  <a:srgbClr val="FF0000"/>
                </a:solidFill>
              </a:rPr>
              <a:t>GENUINE VALUES WILL BE MODIFIED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CA" sz="22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What if we do not want to allow a function to change the array values?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This is the closest thing we can get to operate in </a:t>
            </a:r>
            <a:r>
              <a:rPr lang="en-US" b="1" i="1" dirty="0"/>
              <a:t>Pass by Value</a:t>
            </a:r>
            <a:r>
              <a:rPr lang="en-US" dirty="0"/>
              <a:t> mode for arrays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2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Solution – </a:t>
            </a:r>
            <a:r>
              <a:rPr lang="en-US" sz="2200" b="1" dirty="0">
                <a:solidFill>
                  <a:schemeClr val="accent1"/>
                </a:solidFill>
                <a:latin typeface="Courier"/>
              </a:rPr>
              <a:t>const</a:t>
            </a:r>
            <a:r>
              <a:rPr lang="en-US" sz="2200" dirty="0"/>
              <a:t> Qualifier!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i.e. </a:t>
            </a:r>
            <a:r>
              <a:rPr lang="en-US" dirty="0">
                <a:latin typeface="Courier"/>
              </a:rPr>
              <a:t> </a:t>
            </a:r>
            <a:r>
              <a:rPr lang="en-US" b="1" dirty="0">
                <a:solidFill>
                  <a:schemeClr val="accent1"/>
                </a:solidFill>
                <a:latin typeface="Courier"/>
              </a:rPr>
              <a:t>int</a:t>
            </a:r>
            <a:r>
              <a:rPr lang="en-US" dirty="0">
                <a:latin typeface="Courier"/>
              </a:rPr>
              <a:t> sum(</a:t>
            </a:r>
            <a:r>
              <a:rPr lang="en-US" b="1" dirty="0">
                <a:solidFill>
                  <a:schemeClr val="accent1"/>
                </a:solidFill>
                <a:latin typeface="Courier"/>
              </a:rPr>
              <a:t>const</a:t>
            </a:r>
            <a:r>
              <a:rPr lang="en-US" dirty="0">
                <a:latin typeface="Courier"/>
              </a:rPr>
              <a:t> </a:t>
            </a:r>
            <a:r>
              <a:rPr lang="en-US" b="1" dirty="0">
                <a:solidFill>
                  <a:schemeClr val="accent1"/>
                </a:solidFill>
                <a:latin typeface="Courier"/>
              </a:rPr>
              <a:t>int</a:t>
            </a:r>
            <a:r>
              <a:rPr lang="en-US" dirty="0">
                <a:latin typeface="Courier"/>
              </a:rPr>
              <a:t> x[], </a:t>
            </a:r>
            <a:r>
              <a:rPr lang="en-US" b="1" dirty="0">
                <a:solidFill>
                  <a:schemeClr val="accent1"/>
                </a:solidFill>
                <a:latin typeface="Courier"/>
              </a:rPr>
              <a:t>int</a:t>
            </a:r>
            <a:r>
              <a:rPr lang="en-US" dirty="0">
                <a:latin typeface="Courier"/>
              </a:rPr>
              <a:t> size);  </a:t>
            </a:r>
            <a:r>
              <a:rPr lang="en-US" b="1" dirty="0">
                <a:solidFill>
                  <a:schemeClr val="accent6"/>
                </a:solidFill>
                <a:latin typeface="Courier"/>
              </a:rPr>
              <a:t>// prototype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16</a:t>
            </a:fld>
            <a:endParaRPr lang="en-CA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43113B9-7687-548E-12EA-7940F21139B1}"/>
              </a:ext>
            </a:extLst>
          </p:cNvPr>
          <p:cNvSpPr/>
          <p:nvPr/>
        </p:nvSpPr>
        <p:spPr>
          <a:xfrm>
            <a:off x="9088165" y="5342753"/>
            <a:ext cx="2124332" cy="404238"/>
          </a:xfrm>
          <a:prstGeom prst="roundRect">
            <a:avLst/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chemeClr val="tx1"/>
                </a:solidFill>
              </a:rPr>
              <a:t>L4Ex4-const.c</a:t>
            </a:r>
            <a:endParaRPr lang="en-US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65410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8" y="585288"/>
            <a:ext cx="883851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Arrays and Functions – static vs. auto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8" y="1563637"/>
            <a:ext cx="10166268" cy="43704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Local Array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An array defined inside a function body – </a:t>
            </a:r>
            <a:r>
              <a:rPr lang="en-US" b="1" dirty="0"/>
              <a:t>just like local variable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Its name visibility is only within the function body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It has the automatic (Stack) storage duration by default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dirty="0"/>
              <a:t>Created at the beginning of the function execution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dirty="0"/>
              <a:t>Destroyed at the end of the function execution (upon return)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Static Array (available in C99 / C11, allowed in 2SH4)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We can define a local array using </a:t>
            </a:r>
            <a:r>
              <a:rPr lang="en-US" b="1" dirty="0">
                <a:solidFill>
                  <a:schemeClr val="accent1"/>
                </a:solidFill>
                <a:latin typeface="Courier"/>
              </a:rPr>
              <a:t>static</a:t>
            </a:r>
            <a:r>
              <a:rPr lang="en-US" dirty="0"/>
              <a:t> modifier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It now acquires the static storage duration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dirty="0"/>
              <a:t>Created before program startup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dirty="0"/>
              <a:t>Exists in the memory throughout the program runtime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Its name visibility </a:t>
            </a:r>
            <a:r>
              <a:rPr lang="en-US" b="1" dirty="0"/>
              <a:t>remains within the function body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The elements in static arrays are all automatically initialized to 0 upon definition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dirty="0"/>
              <a:t>Unless otherwise specified through initializer list / for-loop</a:t>
            </a:r>
            <a:r>
              <a:rPr lang="en-US" b="1" dirty="0">
                <a:solidFill>
                  <a:schemeClr val="accent6"/>
                </a:solidFill>
                <a:latin typeface="Courier"/>
              </a:rPr>
              <a:t> 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17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9038203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 descr="One solid circle, one ring, and one circle filled with diagonal lines">
            <a:extLst>
              <a:ext uri="{FF2B5EF4-FFF2-40B4-BE49-F238E27FC236}">
                <a16:creationId xmlns:a16="http://schemas.microsoft.com/office/drawing/2014/main" id="{117B1E9F-05A5-4510-8587-80B34F83DB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68254" y="747419"/>
            <a:ext cx="5363162" cy="5363162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14B5F53-76BB-4185-819B-0CE94A358F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rPr>
              <a:t>Two-Dimensional Arrays</a:t>
            </a:r>
            <a:endParaRPr lang="en-US" sz="4400" b="1" dirty="0">
              <a:solidFill>
                <a:srgbClr val="7F1F1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1699E1B-6ADB-4F72-95A0-4AA7EB020B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Aka. 2D Array, Double-Subscripted Array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11EE999-66AE-40DE-9FC3-57D08FF72800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A1EEE44-5A53-4177-97CB-790B8F12F8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6281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8" y="585288"/>
            <a:ext cx="587763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rPr>
              <a:t>Two-Dimensional Arrays</a:t>
            </a:r>
            <a:endParaRPr lang="en-CA" sz="4400" b="1" dirty="0">
              <a:solidFill>
                <a:srgbClr val="7F1F1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7" y="1366546"/>
            <a:ext cx="10166268" cy="35086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2D Array (aka. Two-Dimensional Array, Double-Subscripted Array)</a:t>
            </a:r>
            <a:endParaRPr lang="en-CA" sz="2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Typically used to represent conceptual tables of values arranged in rows and columns</a:t>
            </a:r>
            <a:br>
              <a:rPr lang="en-CA" dirty="0"/>
            </a:br>
            <a:endParaRPr lang="en-CA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2D Array Definition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CA" sz="22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CA" sz="22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Element Access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b="1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array_name</a:t>
            </a:r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b="1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][</a:t>
            </a:r>
            <a:r>
              <a:rPr lang="en-US" b="1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</a:t>
            </a:r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  <a:r>
              <a:rPr lang="en-US" dirty="0"/>
              <a:t> – Referring to the element on row </a:t>
            </a:r>
            <a:r>
              <a:rPr lang="en-US" b="1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/>
              <a:t> and column </a:t>
            </a:r>
            <a:r>
              <a:rPr lang="en-US" b="1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</a:t>
            </a:r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b="1" dirty="0">
              <a:solidFill>
                <a:schemeClr val="accent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Example – </a:t>
            </a:r>
            <a:r>
              <a:rPr lang="en-CA" sz="2200" b="1" dirty="0">
                <a:solidFill>
                  <a:schemeClr val="accent1"/>
                </a:solidFill>
                <a:latin typeface="Courier"/>
              </a:rPr>
              <a:t>int</a:t>
            </a:r>
            <a:r>
              <a:rPr lang="en-CA" sz="2200" dirty="0">
                <a:latin typeface="Courier"/>
              </a:rPr>
              <a:t> a[</a:t>
            </a:r>
            <a:r>
              <a:rPr lang="en-CA" sz="2200" b="1" dirty="0">
                <a:solidFill>
                  <a:srgbClr val="7030A0"/>
                </a:solidFill>
                <a:latin typeface="Courier"/>
              </a:rPr>
              <a:t>3</a:t>
            </a:r>
            <a:r>
              <a:rPr lang="en-CA" sz="2200" dirty="0">
                <a:latin typeface="Courier"/>
              </a:rPr>
              <a:t>][</a:t>
            </a:r>
            <a:r>
              <a:rPr lang="en-CA" sz="2200" b="1" dirty="0">
                <a:solidFill>
                  <a:srgbClr val="00B0F0"/>
                </a:solidFill>
                <a:latin typeface="Courier"/>
              </a:rPr>
              <a:t>4</a:t>
            </a:r>
            <a:r>
              <a:rPr lang="en-CA" sz="2200" dirty="0">
                <a:latin typeface="Courier"/>
              </a:rPr>
              <a:t>]; </a:t>
            </a:r>
            <a:r>
              <a:rPr lang="en-CA" sz="2200" b="1" dirty="0">
                <a:solidFill>
                  <a:schemeClr val="accent6"/>
                </a:solidFill>
                <a:latin typeface="Courier"/>
              </a:rPr>
              <a:t>//defines a 3-by-4 array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CA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19</a:t>
            </a:fld>
            <a:endParaRPr lang="en-CA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1C15745-CFE0-2BF2-0BB6-3450A5C1E8E1}"/>
              </a:ext>
            </a:extLst>
          </p:cNvPr>
          <p:cNvSpPr txBox="1"/>
          <p:nvPr/>
        </p:nvSpPr>
        <p:spPr>
          <a:xfrm>
            <a:off x="2500242" y="2795154"/>
            <a:ext cx="6467652" cy="338554"/>
          </a:xfrm>
          <a:prstGeom prst="rect">
            <a:avLst/>
          </a:prstGeom>
          <a:solidFill>
            <a:srgbClr val="FFDDDD"/>
          </a:solidFill>
          <a:ln w="28575">
            <a:solidFill>
              <a:srgbClr val="7F1F1F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data_type</a:t>
            </a:r>
            <a:r>
              <a:rPr lang="en-US" sz="16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b="1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array_name</a:t>
            </a:r>
            <a:r>
              <a:rPr lang="en-US" sz="16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[ </a:t>
            </a:r>
            <a:r>
              <a:rPr lang="en-US" sz="1600" b="1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row_num</a:t>
            </a:r>
            <a:r>
              <a:rPr lang="en-US" sz="16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] [ </a:t>
            </a:r>
            <a:r>
              <a:rPr lang="en-US" sz="1600" b="1" dirty="0" err="1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column_num</a:t>
            </a:r>
            <a:r>
              <a:rPr lang="en-US" sz="16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];</a:t>
            </a:r>
          </a:p>
        </p:txBody>
      </p:sp>
      <p:graphicFrame>
        <p:nvGraphicFramePr>
          <p:cNvPr id="5" name="Table 7">
            <a:extLst>
              <a:ext uri="{FF2B5EF4-FFF2-40B4-BE49-F238E27FC236}">
                <a16:creationId xmlns:a16="http://schemas.microsoft.com/office/drawing/2014/main" id="{18971153-286E-7BC8-4BC5-FEAFA9D19A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7798755"/>
              </p:ext>
            </p:extLst>
          </p:nvPr>
        </p:nvGraphicFramePr>
        <p:xfrm>
          <a:off x="2326640" y="4672136"/>
          <a:ext cx="5791200" cy="111252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447800">
                  <a:extLst>
                    <a:ext uri="{9D8B030D-6E8A-4147-A177-3AD203B41FA5}">
                      <a16:colId xmlns:a16="http://schemas.microsoft.com/office/drawing/2014/main" val="1857430406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2925491084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2046540477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22645179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A" b="1" dirty="0">
                          <a:solidFill>
                            <a:schemeClr val="tx1"/>
                          </a:solidFill>
                          <a:latin typeface="Courier"/>
                        </a:rPr>
                        <a:t>a[0][0]</a:t>
                      </a:r>
                    </a:p>
                  </a:txBody>
                  <a:tcPr>
                    <a:solidFill>
                      <a:srgbClr val="EBF1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b="1" dirty="0">
                          <a:solidFill>
                            <a:schemeClr val="tx1"/>
                          </a:solidFill>
                          <a:latin typeface="Courier"/>
                        </a:rPr>
                        <a:t>a[0][1]</a:t>
                      </a:r>
                      <a:endParaRPr lang="en-CA" b="0" dirty="0">
                        <a:solidFill>
                          <a:schemeClr val="tx1"/>
                        </a:solidFill>
                        <a:latin typeface="Courier"/>
                      </a:endParaRPr>
                    </a:p>
                  </a:txBody>
                  <a:tcPr>
                    <a:solidFill>
                      <a:srgbClr val="EBF1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b="1" dirty="0">
                          <a:solidFill>
                            <a:schemeClr val="tx1"/>
                          </a:solidFill>
                          <a:latin typeface="Courier"/>
                        </a:rPr>
                        <a:t>a[0][2]</a:t>
                      </a:r>
                      <a:endParaRPr lang="en-CA" b="0" dirty="0">
                        <a:solidFill>
                          <a:schemeClr val="tx1"/>
                        </a:solidFill>
                        <a:latin typeface="Courier"/>
                      </a:endParaRPr>
                    </a:p>
                  </a:txBody>
                  <a:tcPr>
                    <a:solidFill>
                      <a:srgbClr val="EBF1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b="1" dirty="0">
                          <a:solidFill>
                            <a:schemeClr val="tx1"/>
                          </a:solidFill>
                          <a:latin typeface="Courier"/>
                        </a:rPr>
                        <a:t>a[0][3]</a:t>
                      </a:r>
                      <a:endParaRPr lang="en-CA" b="0" dirty="0">
                        <a:solidFill>
                          <a:schemeClr val="tx1"/>
                        </a:solidFill>
                        <a:latin typeface="Courier"/>
                      </a:endParaRPr>
                    </a:p>
                  </a:txBody>
                  <a:tcPr>
                    <a:solidFill>
                      <a:srgbClr val="EBF1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85108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A" b="1" dirty="0">
                          <a:latin typeface="Courier"/>
                        </a:rPr>
                        <a:t>a[1][0]</a:t>
                      </a:r>
                      <a:endParaRPr lang="en-CA" b="0" dirty="0">
                        <a:latin typeface="Courier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b="1" dirty="0">
                          <a:latin typeface="Courier"/>
                        </a:rPr>
                        <a:t>a[1][1]</a:t>
                      </a:r>
                      <a:endParaRPr lang="en-CA" b="0" dirty="0">
                        <a:latin typeface="Courier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b="1" dirty="0">
                          <a:latin typeface="Courier"/>
                        </a:rPr>
                        <a:t>a[1][2]</a:t>
                      </a:r>
                      <a:endParaRPr lang="en-CA" b="0" dirty="0">
                        <a:latin typeface="Courier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b="1" dirty="0">
                          <a:latin typeface="Courier"/>
                        </a:rPr>
                        <a:t>a[1][3]</a:t>
                      </a:r>
                      <a:endParaRPr lang="en-CA" b="0" dirty="0">
                        <a:latin typeface="Courier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9367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A" b="1" dirty="0">
                          <a:latin typeface="Courier"/>
                        </a:rPr>
                        <a:t>a[2][0]</a:t>
                      </a:r>
                      <a:endParaRPr lang="en-CA" b="0" dirty="0">
                        <a:latin typeface="Courier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b="1" dirty="0">
                          <a:latin typeface="Courier"/>
                        </a:rPr>
                        <a:t>a[2][1]</a:t>
                      </a:r>
                      <a:endParaRPr lang="en-CA" b="0" dirty="0">
                        <a:latin typeface="Courier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b="1" dirty="0">
                          <a:latin typeface="Courier"/>
                        </a:rPr>
                        <a:t>a[2][2]</a:t>
                      </a:r>
                      <a:endParaRPr lang="en-CA" b="0" dirty="0">
                        <a:latin typeface="Courier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b="1" dirty="0">
                          <a:latin typeface="Courier"/>
                        </a:rPr>
                        <a:t>a[2][3]</a:t>
                      </a:r>
                      <a:endParaRPr lang="en-CA" b="0" dirty="0">
                        <a:latin typeface="Courier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44417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432892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8" y="585288"/>
            <a:ext cx="587763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rPr>
              <a:t>Two-Dimensional Arrays</a:t>
            </a:r>
            <a:endParaRPr lang="en-CA" sz="4400" b="1" dirty="0">
              <a:solidFill>
                <a:srgbClr val="7F1F1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7" y="1366546"/>
            <a:ext cx="4981403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2D Array </a:t>
            </a:r>
            <a:r>
              <a:rPr lang="en-US" altLang="zh-CN" sz="2200" dirty="0"/>
              <a:t>– </a:t>
            </a:r>
            <a:r>
              <a:rPr lang="en-CA" altLang="zh-CN" sz="2200" dirty="0"/>
              <a:t>All the details</a:t>
            </a: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b="1" dirty="0">
                <a:latin typeface="Courier"/>
              </a:rPr>
              <a:t>a[0] </a:t>
            </a:r>
            <a:r>
              <a:rPr lang="en-CA" dirty="0"/>
              <a:t>is “the name” of the first row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b="1" dirty="0">
                <a:latin typeface="Courier"/>
              </a:rPr>
              <a:t>a[</a:t>
            </a:r>
            <a:r>
              <a:rPr lang="en-CA" b="1" dirty="0" err="1">
                <a:latin typeface="Courier"/>
              </a:rPr>
              <a:t>i</a:t>
            </a:r>
            <a:r>
              <a:rPr lang="en-CA" b="1" dirty="0">
                <a:latin typeface="Courier"/>
              </a:rPr>
              <a:t>] </a:t>
            </a:r>
            <a:r>
              <a:rPr lang="en-CA" dirty="0"/>
              <a:t>is “the name” of the (i+1)</a:t>
            </a:r>
            <a:r>
              <a:rPr lang="en-CA" baseline="30000" dirty="0" err="1"/>
              <a:t>th</a:t>
            </a:r>
            <a:r>
              <a:rPr lang="en-CA" dirty="0"/>
              <a:t> row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CA" sz="2000" dirty="0"/>
              <a:t>Example – </a:t>
            </a:r>
            <a:r>
              <a:rPr lang="en-CA" sz="2000" b="1" dirty="0">
                <a:solidFill>
                  <a:schemeClr val="accent1"/>
                </a:solidFill>
                <a:latin typeface="Courier"/>
              </a:rPr>
              <a:t>int</a:t>
            </a:r>
            <a:r>
              <a:rPr lang="en-CA" sz="2000" dirty="0">
                <a:latin typeface="Courier"/>
              </a:rPr>
              <a:t> a[</a:t>
            </a:r>
            <a:r>
              <a:rPr lang="en-CA" sz="2000" b="1" dirty="0">
                <a:solidFill>
                  <a:srgbClr val="7030A0"/>
                </a:solidFill>
                <a:latin typeface="Courier"/>
              </a:rPr>
              <a:t>3</a:t>
            </a:r>
            <a:r>
              <a:rPr lang="en-CA" sz="2000" dirty="0">
                <a:latin typeface="Courier"/>
              </a:rPr>
              <a:t>][</a:t>
            </a:r>
            <a:r>
              <a:rPr lang="en-CA" sz="2000" b="1" dirty="0">
                <a:solidFill>
                  <a:srgbClr val="00B0F0"/>
                </a:solidFill>
                <a:latin typeface="Courier"/>
              </a:rPr>
              <a:t>4</a:t>
            </a:r>
            <a:r>
              <a:rPr lang="en-CA" sz="2000" dirty="0">
                <a:latin typeface="Courier"/>
              </a:rPr>
              <a:t>];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CA" sz="2000" dirty="0">
              <a:latin typeface="Courier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CA" sz="2000" dirty="0">
              <a:latin typeface="Courier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CA" sz="2000" dirty="0">
              <a:latin typeface="Courier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CA" sz="2000" dirty="0">
              <a:latin typeface="Courier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sz="1400" b="1" dirty="0">
                <a:latin typeface="Courier"/>
              </a:rPr>
              <a:t>a </a:t>
            </a:r>
            <a:r>
              <a:rPr lang="en-CA" sz="1400" dirty="0"/>
              <a:t>as </a:t>
            </a:r>
            <a:r>
              <a:rPr lang="en-CA" sz="1400" b="1" i="1" dirty="0"/>
              <a:t>array name</a:t>
            </a:r>
            <a:r>
              <a:rPr lang="en-CA" sz="1400" dirty="0"/>
              <a:t> refers to #2122 (array base address)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sz="1400" b="1" dirty="0">
                <a:latin typeface="Courier"/>
              </a:rPr>
              <a:t>a[0] </a:t>
            </a:r>
            <a:r>
              <a:rPr lang="en-CA" sz="1400" dirty="0"/>
              <a:t>as </a:t>
            </a:r>
            <a:r>
              <a:rPr lang="en-CA" sz="1400" b="1" i="1" dirty="0"/>
              <a:t>row1 name</a:t>
            </a:r>
            <a:r>
              <a:rPr lang="en-CA" sz="1400" dirty="0"/>
              <a:t> refers also to #2122 (row base)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sz="1400" b="1" dirty="0">
                <a:latin typeface="Courier"/>
              </a:rPr>
              <a:t>a[1] </a:t>
            </a:r>
            <a:r>
              <a:rPr lang="en-CA" sz="1400" dirty="0"/>
              <a:t>as </a:t>
            </a:r>
            <a:r>
              <a:rPr lang="en-CA" sz="1400" b="1" i="1" dirty="0"/>
              <a:t>row2 name</a:t>
            </a:r>
            <a:r>
              <a:rPr lang="en-CA" sz="1400" dirty="0"/>
              <a:t> refers to #2126 (row base)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sz="1400" b="1" dirty="0">
                <a:latin typeface="Courier"/>
              </a:rPr>
              <a:t>a[2] </a:t>
            </a:r>
            <a:r>
              <a:rPr lang="en-CA" sz="1400" dirty="0"/>
              <a:t>as </a:t>
            </a:r>
            <a:r>
              <a:rPr lang="en-CA" sz="1400" b="1" i="1" dirty="0"/>
              <a:t>row3 name</a:t>
            </a:r>
            <a:r>
              <a:rPr lang="en-CA" sz="1400" dirty="0"/>
              <a:t> refers to #2130 (row base)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sz="14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sz="1400" dirty="0"/>
              <a:t>You can also refer to, for example, row2 element 3 as the 6</a:t>
            </a:r>
            <a:r>
              <a:rPr lang="en-CA" sz="1400" baseline="30000" dirty="0"/>
              <a:t>th</a:t>
            </a:r>
            <a:r>
              <a:rPr lang="en-CA" sz="1400" dirty="0"/>
              <a:t> offset element from array name </a:t>
            </a:r>
            <a:r>
              <a:rPr lang="en-CA" sz="1400" b="1" dirty="0">
                <a:latin typeface="Courier"/>
              </a:rPr>
              <a:t>a</a:t>
            </a:r>
            <a:r>
              <a:rPr lang="en-CA" sz="1400" dirty="0"/>
              <a:t> (#2122).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sz="1400" i="1" dirty="0">
                <a:solidFill>
                  <a:srgbClr val="FF0000"/>
                </a:solidFill>
              </a:rPr>
              <a:t>But should avoid relying on memory continuity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CA" sz="2000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20</a:t>
            </a:fld>
            <a:endParaRPr lang="en-CA" dirty="0"/>
          </a:p>
        </p:txBody>
      </p:sp>
      <p:graphicFrame>
        <p:nvGraphicFramePr>
          <p:cNvPr id="5" name="Table 7">
            <a:extLst>
              <a:ext uri="{FF2B5EF4-FFF2-40B4-BE49-F238E27FC236}">
                <a16:creationId xmlns:a16="http://schemas.microsoft.com/office/drawing/2014/main" id="{18971153-286E-7BC8-4BC5-FEAFA9D19A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4801718"/>
              </p:ext>
            </p:extLst>
          </p:nvPr>
        </p:nvGraphicFramePr>
        <p:xfrm>
          <a:off x="1196465" y="2995824"/>
          <a:ext cx="4368680" cy="100584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092170">
                  <a:extLst>
                    <a:ext uri="{9D8B030D-6E8A-4147-A177-3AD203B41FA5}">
                      <a16:colId xmlns:a16="http://schemas.microsoft.com/office/drawing/2014/main" val="1857430406"/>
                    </a:ext>
                  </a:extLst>
                </a:gridCol>
                <a:gridCol w="1092170">
                  <a:extLst>
                    <a:ext uri="{9D8B030D-6E8A-4147-A177-3AD203B41FA5}">
                      <a16:colId xmlns:a16="http://schemas.microsoft.com/office/drawing/2014/main" val="2925491084"/>
                    </a:ext>
                  </a:extLst>
                </a:gridCol>
                <a:gridCol w="1092170">
                  <a:extLst>
                    <a:ext uri="{9D8B030D-6E8A-4147-A177-3AD203B41FA5}">
                      <a16:colId xmlns:a16="http://schemas.microsoft.com/office/drawing/2014/main" val="2046540477"/>
                    </a:ext>
                  </a:extLst>
                </a:gridCol>
                <a:gridCol w="1092170">
                  <a:extLst>
                    <a:ext uri="{9D8B030D-6E8A-4147-A177-3AD203B41FA5}">
                      <a16:colId xmlns:a16="http://schemas.microsoft.com/office/drawing/2014/main" val="2264517988"/>
                    </a:ext>
                  </a:extLst>
                </a:gridCol>
              </a:tblGrid>
              <a:tr h="308436">
                <a:tc>
                  <a:txBody>
                    <a:bodyPr/>
                    <a:lstStyle/>
                    <a:p>
                      <a:pPr algn="ctr"/>
                      <a:r>
                        <a:rPr lang="en-CA" sz="1600" b="1" dirty="0">
                          <a:solidFill>
                            <a:schemeClr val="tx1"/>
                          </a:solidFill>
                          <a:latin typeface="Courier"/>
                        </a:rPr>
                        <a:t>a[0][0]</a:t>
                      </a:r>
                    </a:p>
                  </a:txBody>
                  <a:tcPr marL="83127" marR="83127">
                    <a:solidFill>
                      <a:srgbClr val="EBF1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600" b="1" dirty="0">
                          <a:solidFill>
                            <a:schemeClr val="tx1"/>
                          </a:solidFill>
                          <a:latin typeface="Courier"/>
                        </a:rPr>
                        <a:t>a[0][1]</a:t>
                      </a:r>
                      <a:endParaRPr lang="en-CA" sz="1600" b="0" dirty="0">
                        <a:solidFill>
                          <a:schemeClr val="tx1"/>
                        </a:solidFill>
                        <a:latin typeface="Courier"/>
                      </a:endParaRPr>
                    </a:p>
                  </a:txBody>
                  <a:tcPr marL="83127" marR="83127">
                    <a:solidFill>
                      <a:srgbClr val="EBF1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600" b="1" dirty="0">
                          <a:solidFill>
                            <a:schemeClr val="tx1"/>
                          </a:solidFill>
                          <a:latin typeface="Courier"/>
                        </a:rPr>
                        <a:t>a[0][2]</a:t>
                      </a:r>
                      <a:endParaRPr lang="en-CA" sz="1600" b="0" dirty="0">
                        <a:solidFill>
                          <a:schemeClr val="tx1"/>
                        </a:solidFill>
                        <a:latin typeface="Courier"/>
                      </a:endParaRPr>
                    </a:p>
                  </a:txBody>
                  <a:tcPr marL="83127" marR="83127">
                    <a:solidFill>
                      <a:srgbClr val="EBF1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600" b="1" dirty="0">
                          <a:solidFill>
                            <a:schemeClr val="tx1"/>
                          </a:solidFill>
                          <a:latin typeface="Courier"/>
                        </a:rPr>
                        <a:t>a[0][3]</a:t>
                      </a:r>
                      <a:endParaRPr lang="en-CA" sz="1600" b="0" dirty="0">
                        <a:solidFill>
                          <a:schemeClr val="tx1"/>
                        </a:solidFill>
                        <a:latin typeface="Courier"/>
                      </a:endParaRPr>
                    </a:p>
                  </a:txBody>
                  <a:tcPr marL="83127" marR="83127">
                    <a:solidFill>
                      <a:srgbClr val="EBF1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8510802"/>
                  </a:ext>
                </a:extLst>
              </a:tr>
              <a:tr h="308436">
                <a:tc>
                  <a:txBody>
                    <a:bodyPr/>
                    <a:lstStyle/>
                    <a:p>
                      <a:pPr algn="ctr"/>
                      <a:r>
                        <a:rPr lang="en-CA" sz="1600" b="1" dirty="0">
                          <a:latin typeface="Courier"/>
                        </a:rPr>
                        <a:t>a[1][0]</a:t>
                      </a:r>
                      <a:endParaRPr lang="en-CA" sz="1600" b="0" dirty="0">
                        <a:latin typeface="Courier"/>
                      </a:endParaRPr>
                    </a:p>
                  </a:txBody>
                  <a:tcPr marL="83127" marR="831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600" b="1" dirty="0">
                          <a:latin typeface="Courier"/>
                        </a:rPr>
                        <a:t>a[1][1]</a:t>
                      </a:r>
                      <a:endParaRPr lang="en-CA" sz="1600" b="0" dirty="0">
                        <a:latin typeface="Courier"/>
                      </a:endParaRPr>
                    </a:p>
                  </a:txBody>
                  <a:tcPr marL="83127" marR="831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600" b="1" dirty="0">
                          <a:latin typeface="Courier"/>
                        </a:rPr>
                        <a:t>a[1][2]</a:t>
                      </a:r>
                      <a:endParaRPr lang="en-CA" sz="1600" b="0" dirty="0">
                        <a:latin typeface="Courier"/>
                      </a:endParaRPr>
                    </a:p>
                  </a:txBody>
                  <a:tcPr marL="83127" marR="831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600" b="1" dirty="0">
                          <a:latin typeface="Courier"/>
                        </a:rPr>
                        <a:t>a[1][3]</a:t>
                      </a:r>
                      <a:endParaRPr lang="en-CA" sz="1600" b="0" dirty="0">
                        <a:latin typeface="Courier"/>
                      </a:endParaRPr>
                    </a:p>
                  </a:txBody>
                  <a:tcPr marL="83127" marR="83127"/>
                </a:tc>
                <a:extLst>
                  <a:ext uri="{0D108BD9-81ED-4DB2-BD59-A6C34878D82A}">
                    <a16:rowId xmlns:a16="http://schemas.microsoft.com/office/drawing/2014/main" val="386936724"/>
                  </a:ext>
                </a:extLst>
              </a:tr>
              <a:tr h="308436">
                <a:tc>
                  <a:txBody>
                    <a:bodyPr/>
                    <a:lstStyle/>
                    <a:p>
                      <a:pPr algn="ctr"/>
                      <a:r>
                        <a:rPr lang="en-CA" sz="1600" b="1" dirty="0">
                          <a:latin typeface="Courier"/>
                        </a:rPr>
                        <a:t>a[2][0]</a:t>
                      </a:r>
                      <a:endParaRPr lang="en-CA" sz="1600" b="0" dirty="0">
                        <a:latin typeface="Courier"/>
                      </a:endParaRPr>
                    </a:p>
                  </a:txBody>
                  <a:tcPr marL="83127" marR="831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600" b="1" dirty="0">
                          <a:latin typeface="Courier"/>
                        </a:rPr>
                        <a:t>a[2][1]</a:t>
                      </a:r>
                      <a:endParaRPr lang="en-CA" sz="1600" b="0" dirty="0">
                        <a:latin typeface="Courier"/>
                      </a:endParaRPr>
                    </a:p>
                  </a:txBody>
                  <a:tcPr marL="83127" marR="831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600" b="1" dirty="0">
                          <a:latin typeface="Courier"/>
                        </a:rPr>
                        <a:t>a[2][2]</a:t>
                      </a:r>
                      <a:endParaRPr lang="en-CA" sz="1600" b="0" dirty="0">
                        <a:latin typeface="Courier"/>
                      </a:endParaRPr>
                    </a:p>
                  </a:txBody>
                  <a:tcPr marL="83127" marR="831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600" b="1" dirty="0">
                          <a:latin typeface="Courier"/>
                        </a:rPr>
                        <a:t>a[2][3]</a:t>
                      </a:r>
                      <a:endParaRPr lang="en-CA" sz="1600" b="0" dirty="0">
                        <a:latin typeface="Courier"/>
                      </a:endParaRPr>
                    </a:p>
                  </a:txBody>
                  <a:tcPr marL="83127" marR="83127"/>
                </a:tc>
                <a:extLst>
                  <a:ext uri="{0D108BD9-81ED-4DB2-BD59-A6C34878D82A}">
                    <a16:rowId xmlns:a16="http://schemas.microsoft.com/office/drawing/2014/main" val="534441713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621A7A49-C115-9FCC-BF35-5F911BD27118}"/>
              </a:ext>
            </a:extLst>
          </p:cNvPr>
          <p:cNvSpPr txBox="1"/>
          <p:nvPr/>
        </p:nvSpPr>
        <p:spPr>
          <a:xfrm>
            <a:off x="9640389" y="1158440"/>
            <a:ext cx="116694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2400" b="1" dirty="0">
                <a:solidFill>
                  <a:schemeClr val="tx1"/>
                </a:solidFill>
                <a:latin typeface="Courier"/>
              </a:rPr>
              <a:t>a[][]</a:t>
            </a:r>
            <a:endParaRPr lang="en-US" sz="2400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164AF5F-C980-7CB0-89E5-31A1DC587F66}"/>
              </a:ext>
            </a:extLst>
          </p:cNvPr>
          <p:cNvSpPr/>
          <p:nvPr/>
        </p:nvSpPr>
        <p:spPr>
          <a:xfrm>
            <a:off x="7868402" y="1561108"/>
            <a:ext cx="3197472" cy="1394817"/>
          </a:xfrm>
          <a:prstGeom prst="rect">
            <a:avLst/>
          </a:prstGeom>
          <a:noFill/>
          <a:ln w="28575">
            <a:solidFill>
              <a:srgbClr val="7030A0"/>
            </a:solidFill>
            <a:prstDash val="dash"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0A10E58-FA52-A055-BD7B-A8E4D1C8DE29}"/>
              </a:ext>
            </a:extLst>
          </p:cNvPr>
          <p:cNvSpPr txBox="1"/>
          <p:nvPr/>
        </p:nvSpPr>
        <p:spPr>
          <a:xfrm>
            <a:off x="7002780" y="2031280"/>
            <a:ext cx="876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>
                <a:solidFill>
                  <a:srgbClr val="7030A0"/>
                </a:solidFill>
              </a:rPr>
              <a:t>Row 3</a:t>
            </a:r>
            <a:endParaRPr lang="en-US" b="1" dirty="0">
              <a:solidFill>
                <a:srgbClr val="7030A0"/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C2F8B85-8908-587F-C77C-7A462BE62EFC}"/>
              </a:ext>
            </a:extLst>
          </p:cNvPr>
          <p:cNvSpPr/>
          <p:nvPr/>
        </p:nvSpPr>
        <p:spPr>
          <a:xfrm>
            <a:off x="7868402" y="2870784"/>
            <a:ext cx="3197472" cy="1366820"/>
          </a:xfrm>
          <a:prstGeom prst="rect">
            <a:avLst/>
          </a:prstGeom>
          <a:noFill/>
          <a:ln w="28575">
            <a:solidFill>
              <a:schemeClr val="accent6"/>
            </a:solidFill>
            <a:prstDash val="dash"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2FDF45C-0E52-BB81-017C-705A5AF22115}"/>
              </a:ext>
            </a:extLst>
          </p:cNvPr>
          <p:cNvSpPr txBox="1"/>
          <p:nvPr/>
        </p:nvSpPr>
        <p:spPr>
          <a:xfrm>
            <a:off x="7002780" y="3340956"/>
            <a:ext cx="876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>
                <a:solidFill>
                  <a:schemeClr val="accent6"/>
                </a:solidFill>
              </a:rPr>
              <a:t>Row 2</a:t>
            </a:r>
            <a:endParaRPr lang="en-US" b="1" dirty="0">
              <a:solidFill>
                <a:schemeClr val="accent6"/>
              </a:solidFill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615423A-1535-5416-1B5D-31691A2092F0}"/>
              </a:ext>
            </a:extLst>
          </p:cNvPr>
          <p:cNvSpPr/>
          <p:nvPr/>
        </p:nvSpPr>
        <p:spPr>
          <a:xfrm>
            <a:off x="7857723" y="4174608"/>
            <a:ext cx="3197472" cy="1372672"/>
          </a:xfrm>
          <a:prstGeom prst="rect">
            <a:avLst/>
          </a:prstGeom>
          <a:noFill/>
          <a:ln w="28575">
            <a:solidFill>
              <a:schemeClr val="accent2"/>
            </a:solidFill>
            <a:prstDash val="dash"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537580A-D8C4-E026-2C07-0BB5F641A82E}"/>
              </a:ext>
            </a:extLst>
          </p:cNvPr>
          <p:cNvSpPr txBox="1"/>
          <p:nvPr/>
        </p:nvSpPr>
        <p:spPr>
          <a:xfrm>
            <a:off x="6992101" y="4644780"/>
            <a:ext cx="876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>
                <a:solidFill>
                  <a:schemeClr val="accent2"/>
                </a:solidFill>
              </a:rPr>
              <a:t>Row 1</a:t>
            </a:r>
            <a:endParaRPr lang="en-US" b="1" dirty="0">
              <a:solidFill>
                <a:schemeClr val="accent2"/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9918009-D533-C6C2-EAB4-5AC5C04E0949}"/>
              </a:ext>
            </a:extLst>
          </p:cNvPr>
          <p:cNvSpPr/>
          <p:nvPr/>
        </p:nvSpPr>
        <p:spPr>
          <a:xfrm>
            <a:off x="9511095" y="1594119"/>
            <a:ext cx="1425535" cy="325693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chemeClr val="tx1"/>
                </a:solidFill>
                <a:latin typeface="Courier"/>
              </a:rPr>
              <a:t>a[2][3]</a:t>
            </a:r>
            <a:endParaRPr lang="en-US" dirty="0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41EE2AB7-8127-9CAA-162A-D1BD55B1F827}"/>
              </a:ext>
            </a:extLst>
          </p:cNvPr>
          <p:cNvSpPr/>
          <p:nvPr/>
        </p:nvSpPr>
        <p:spPr>
          <a:xfrm>
            <a:off x="9511094" y="1921798"/>
            <a:ext cx="1425535" cy="325693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chemeClr val="tx1"/>
                </a:solidFill>
                <a:latin typeface="Courier"/>
              </a:rPr>
              <a:t>a[2][2]</a:t>
            </a:r>
            <a:endParaRPr lang="en-US" dirty="0"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2A0649D2-20E0-8F35-7BC0-8B75467981F4}"/>
              </a:ext>
            </a:extLst>
          </p:cNvPr>
          <p:cNvSpPr/>
          <p:nvPr/>
        </p:nvSpPr>
        <p:spPr>
          <a:xfrm>
            <a:off x="9511093" y="2248636"/>
            <a:ext cx="1425535" cy="325693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chemeClr val="tx1"/>
                </a:solidFill>
                <a:latin typeface="Courier"/>
              </a:rPr>
              <a:t>a[2][1]</a:t>
            </a:r>
            <a:endParaRPr lang="en-US" dirty="0"/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70FD64EA-1582-386F-D675-AACBE9391450}"/>
              </a:ext>
            </a:extLst>
          </p:cNvPr>
          <p:cNvSpPr/>
          <p:nvPr/>
        </p:nvSpPr>
        <p:spPr>
          <a:xfrm>
            <a:off x="9511093" y="2578640"/>
            <a:ext cx="1425535" cy="325693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chemeClr val="tx1"/>
                </a:solidFill>
                <a:latin typeface="Courier"/>
              </a:rPr>
              <a:t>a[2][0]</a:t>
            </a:r>
            <a:endParaRPr lang="en-US" dirty="0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97655C46-D422-6F01-0066-3497244468E3}"/>
              </a:ext>
            </a:extLst>
          </p:cNvPr>
          <p:cNvSpPr/>
          <p:nvPr/>
        </p:nvSpPr>
        <p:spPr>
          <a:xfrm>
            <a:off x="9511092" y="2907515"/>
            <a:ext cx="1425535" cy="325693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chemeClr val="tx1"/>
                </a:solidFill>
                <a:latin typeface="Courier"/>
              </a:rPr>
              <a:t>a[1][3]</a:t>
            </a:r>
            <a:endParaRPr lang="en-US" dirty="0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1885BE1D-C2BF-C851-1DEE-B85AB7CC2CCB}"/>
              </a:ext>
            </a:extLst>
          </p:cNvPr>
          <p:cNvSpPr/>
          <p:nvPr/>
        </p:nvSpPr>
        <p:spPr>
          <a:xfrm>
            <a:off x="9511092" y="3227104"/>
            <a:ext cx="1425535" cy="325693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chemeClr val="tx1"/>
                </a:solidFill>
                <a:latin typeface="Courier"/>
              </a:rPr>
              <a:t>a[1][2]</a:t>
            </a:r>
            <a:endParaRPr lang="en-US" dirty="0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2FDE8B59-CF91-D1D5-EADC-441214C3C4A4}"/>
              </a:ext>
            </a:extLst>
          </p:cNvPr>
          <p:cNvSpPr/>
          <p:nvPr/>
        </p:nvSpPr>
        <p:spPr>
          <a:xfrm>
            <a:off x="9506531" y="3551806"/>
            <a:ext cx="1425535" cy="325693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chemeClr val="tx1"/>
                </a:solidFill>
                <a:latin typeface="Courier"/>
              </a:rPr>
              <a:t>a[1][1]</a:t>
            </a:r>
            <a:endParaRPr lang="en-US" dirty="0"/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B41670ED-8DE8-34F9-52BB-6CAEFE4D621A}"/>
              </a:ext>
            </a:extLst>
          </p:cNvPr>
          <p:cNvSpPr/>
          <p:nvPr/>
        </p:nvSpPr>
        <p:spPr>
          <a:xfrm>
            <a:off x="9506531" y="3871395"/>
            <a:ext cx="1425535" cy="325693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chemeClr val="tx1"/>
                </a:solidFill>
                <a:latin typeface="Courier"/>
              </a:rPr>
              <a:t>a[1][0]</a:t>
            </a:r>
            <a:endParaRPr lang="en-US" dirty="0"/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35C7234C-35A2-BB0E-F2D4-D52BC53A6A90}"/>
              </a:ext>
            </a:extLst>
          </p:cNvPr>
          <p:cNvSpPr/>
          <p:nvPr/>
        </p:nvSpPr>
        <p:spPr>
          <a:xfrm>
            <a:off x="9498890" y="4196097"/>
            <a:ext cx="1425535" cy="325693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chemeClr val="tx1"/>
                </a:solidFill>
                <a:latin typeface="Courier"/>
              </a:rPr>
              <a:t>a[0][3]</a:t>
            </a:r>
            <a:endParaRPr lang="en-US" dirty="0"/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AAC97E1A-2B92-1061-540A-A0593471533A}"/>
              </a:ext>
            </a:extLst>
          </p:cNvPr>
          <p:cNvSpPr/>
          <p:nvPr/>
        </p:nvSpPr>
        <p:spPr>
          <a:xfrm>
            <a:off x="9506531" y="4505276"/>
            <a:ext cx="1425535" cy="325693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chemeClr val="tx1"/>
                </a:solidFill>
                <a:latin typeface="Courier"/>
              </a:rPr>
              <a:t>a[0][2]</a:t>
            </a:r>
            <a:endParaRPr lang="en-US" dirty="0"/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5CA5090D-2087-0DE0-F1A9-06ECA054689F}"/>
              </a:ext>
            </a:extLst>
          </p:cNvPr>
          <p:cNvSpPr/>
          <p:nvPr/>
        </p:nvSpPr>
        <p:spPr>
          <a:xfrm>
            <a:off x="9507088" y="4837218"/>
            <a:ext cx="1425535" cy="325693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chemeClr val="tx1"/>
                </a:solidFill>
                <a:latin typeface="Courier"/>
              </a:rPr>
              <a:t>a[0][1]</a:t>
            </a:r>
            <a:endParaRPr lang="en-US" dirty="0"/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A48DC0F9-D05A-D34D-97C1-C48A50E9352A}"/>
              </a:ext>
            </a:extLst>
          </p:cNvPr>
          <p:cNvSpPr/>
          <p:nvPr/>
        </p:nvSpPr>
        <p:spPr>
          <a:xfrm>
            <a:off x="9506531" y="5164872"/>
            <a:ext cx="1425535" cy="325693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chemeClr val="tx1"/>
                </a:solidFill>
                <a:latin typeface="Courier"/>
              </a:rPr>
              <a:t>a[0][0]</a:t>
            </a:r>
            <a:endParaRPr lang="en-US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872B958-C2C1-2F9B-A429-3D1A10BDAAA7}"/>
              </a:ext>
            </a:extLst>
          </p:cNvPr>
          <p:cNvSpPr txBox="1"/>
          <p:nvPr/>
        </p:nvSpPr>
        <p:spPr>
          <a:xfrm>
            <a:off x="7882485" y="837974"/>
            <a:ext cx="7586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1200" b="1" dirty="0">
                <a:solidFill>
                  <a:srgbClr val="7030A0"/>
                </a:solidFill>
              </a:rPr>
              <a:t>(mock)</a:t>
            </a:r>
            <a:br>
              <a:rPr lang="en-CA" sz="1200" b="1" dirty="0">
                <a:solidFill>
                  <a:srgbClr val="7030A0"/>
                </a:solidFill>
              </a:rPr>
            </a:br>
            <a:r>
              <a:rPr lang="en-CA" sz="1200" b="1" dirty="0">
                <a:solidFill>
                  <a:srgbClr val="7030A0"/>
                </a:solidFill>
              </a:rPr>
              <a:t>Memory </a:t>
            </a:r>
            <a:br>
              <a:rPr lang="en-CA" sz="1200" b="1" dirty="0">
                <a:solidFill>
                  <a:srgbClr val="7030A0"/>
                </a:solidFill>
              </a:rPr>
            </a:br>
            <a:r>
              <a:rPr lang="en-CA" sz="1200" b="1" dirty="0">
                <a:solidFill>
                  <a:srgbClr val="7030A0"/>
                </a:solidFill>
              </a:rPr>
              <a:t>Address</a:t>
            </a:r>
            <a:endParaRPr lang="en-US" sz="1200" b="1" dirty="0">
              <a:solidFill>
                <a:srgbClr val="7030A0"/>
              </a:solidFill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6E7FEA5-2C73-51D6-BCAF-50BE9F107C26}"/>
              </a:ext>
            </a:extLst>
          </p:cNvPr>
          <p:cNvSpPr txBox="1"/>
          <p:nvPr/>
        </p:nvSpPr>
        <p:spPr>
          <a:xfrm>
            <a:off x="7913387" y="5191394"/>
            <a:ext cx="70104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200" b="1" dirty="0">
                <a:solidFill>
                  <a:srgbClr val="7030A0"/>
                </a:solidFill>
                <a:latin typeface="Courier"/>
              </a:rPr>
              <a:t>#2122</a:t>
            </a:r>
            <a:endParaRPr lang="en-US" sz="1200" dirty="0">
              <a:latin typeface="Courier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93B9688-0C50-301F-2A10-C83C89076B1D}"/>
              </a:ext>
            </a:extLst>
          </p:cNvPr>
          <p:cNvSpPr txBox="1"/>
          <p:nvPr/>
        </p:nvSpPr>
        <p:spPr>
          <a:xfrm>
            <a:off x="7916445" y="4870313"/>
            <a:ext cx="70104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200" b="1" dirty="0">
                <a:solidFill>
                  <a:srgbClr val="7030A0"/>
                </a:solidFill>
                <a:latin typeface="Courier"/>
              </a:rPr>
              <a:t>#2123</a:t>
            </a:r>
            <a:endParaRPr lang="en-US" sz="1200" dirty="0">
              <a:latin typeface="Courier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4BA303A-6165-C213-33B3-EC044BBE23FF}"/>
              </a:ext>
            </a:extLst>
          </p:cNvPr>
          <p:cNvSpPr txBox="1"/>
          <p:nvPr/>
        </p:nvSpPr>
        <p:spPr>
          <a:xfrm>
            <a:off x="7918334" y="4545428"/>
            <a:ext cx="70104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200" b="1" dirty="0">
                <a:solidFill>
                  <a:srgbClr val="7030A0"/>
                </a:solidFill>
                <a:latin typeface="Courier"/>
              </a:rPr>
              <a:t>#2124</a:t>
            </a:r>
            <a:endParaRPr lang="en-US" sz="1200" dirty="0">
              <a:latin typeface="Courier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011360E-E48F-B22F-AF40-FB32AABCDA31}"/>
              </a:ext>
            </a:extLst>
          </p:cNvPr>
          <p:cNvSpPr txBox="1"/>
          <p:nvPr/>
        </p:nvSpPr>
        <p:spPr>
          <a:xfrm>
            <a:off x="7916445" y="4222655"/>
            <a:ext cx="70104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200" b="1" dirty="0">
                <a:solidFill>
                  <a:srgbClr val="7030A0"/>
                </a:solidFill>
                <a:latin typeface="Courier"/>
              </a:rPr>
              <a:t>#2125</a:t>
            </a:r>
            <a:endParaRPr lang="en-US" sz="1200" dirty="0">
              <a:latin typeface="Courier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351F638-0ECD-EC9A-25AA-6B88D3E7A2B5}"/>
              </a:ext>
            </a:extLst>
          </p:cNvPr>
          <p:cNvSpPr txBox="1"/>
          <p:nvPr/>
        </p:nvSpPr>
        <p:spPr>
          <a:xfrm>
            <a:off x="7921046" y="3918792"/>
            <a:ext cx="70104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200" b="1" dirty="0">
                <a:solidFill>
                  <a:srgbClr val="7030A0"/>
                </a:solidFill>
                <a:latin typeface="Courier"/>
              </a:rPr>
              <a:t>#2126</a:t>
            </a:r>
            <a:endParaRPr lang="en-US" sz="1200" dirty="0">
              <a:latin typeface="Courier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4B70C98-B002-081D-72BD-E88C81A8F07D}"/>
              </a:ext>
            </a:extLst>
          </p:cNvPr>
          <p:cNvSpPr txBox="1"/>
          <p:nvPr/>
        </p:nvSpPr>
        <p:spPr>
          <a:xfrm>
            <a:off x="7924104" y="3597711"/>
            <a:ext cx="70104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200" b="1" dirty="0">
                <a:solidFill>
                  <a:srgbClr val="7030A0"/>
                </a:solidFill>
                <a:latin typeface="Courier"/>
              </a:rPr>
              <a:t>#2127</a:t>
            </a:r>
            <a:endParaRPr lang="en-US" sz="1200" dirty="0">
              <a:latin typeface="Courier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5E89A9E-97AB-4DC8-B14F-DF46DC1E10B8}"/>
              </a:ext>
            </a:extLst>
          </p:cNvPr>
          <p:cNvSpPr txBox="1"/>
          <p:nvPr/>
        </p:nvSpPr>
        <p:spPr>
          <a:xfrm>
            <a:off x="7925993" y="3272826"/>
            <a:ext cx="70104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200" b="1" dirty="0">
                <a:solidFill>
                  <a:srgbClr val="7030A0"/>
                </a:solidFill>
                <a:latin typeface="Courier"/>
              </a:rPr>
              <a:t>#2128</a:t>
            </a:r>
            <a:endParaRPr lang="en-US" sz="1200" dirty="0">
              <a:latin typeface="Courier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6D10C58-861A-9B1B-D8C4-1F7329F2A462}"/>
              </a:ext>
            </a:extLst>
          </p:cNvPr>
          <p:cNvSpPr txBox="1"/>
          <p:nvPr/>
        </p:nvSpPr>
        <p:spPr>
          <a:xfrm>
            <a:off x="7924104" y="2950053"/>
            <a:ext cx="70104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200" b="1" dirty="0">
                <a:solidFill>
                  <a:srgbClr val="7030A0"/>
                </a:solidFill>
                <a:latin typeface="Courier"/>
              </a:rPr>
              <a:t>#2129</a:t>
            </a:r>
            <a:endParaRPr lang="en-US" sz="1200" dirty="0">
              <a:latin typeface="Courier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4589B56-148B-743B-8D94-D739756A4E0E}"/>
              </a:ext>
            </a:extLst>
          </p:cNvPr>
          <p:cNvSpPr txBox="1"/>
          <p:nvPr/>
        </p:nvSpPr>
        <p:spPr>
          <a:xfrm>
            <a:off x="7924527" y="2587087"/>
            <a:ext cx="70104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200" b="1" dirty="0">
                <a:solidFill>
                  <a:srgbClr val="7030A0"/>
                </a:solidFill>
                <a:latin typeface="Courier"/>
              </a:rPr>
              <a:t>#2130</a:t>
            </a:r>
            <a:endParaRPr lang="en-US" sz="1200" dirty="0">
              <a:latin typeface="Courier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A0460ED-FEBF-0420-993A-FBE1DCFD9000}"/>
              </a:ext>
            </a:extLst>
          </p:cNvPr>
          <p:cNvSpPr txBox="1"/>
          <p:nvPr/>
        </p:nvSpPr>
        <p:spPr>
          <a:xfrm>
            <a:off x="7927585" y="2266006"/>
            <a:ext cx="70104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200" b="1" dirty="0">
                <a:solidFill>
                  <a:srgbClr val="7030A0"/>
                </a:solidFill>
                <a:latin typeface="Courier"/>
              </a:rPr>
              <a:t>#2131</a:t>
            </a:r>
            <a:endParaRPr lang="en-US" sz="1200" dirty="0">
              <a:latin typeface="Courier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717AB76-D491-E528-D4B2-6E3E0DA1C6CA}"/>
              </a:ext>
            </a:extLst>
          </p:cNvPr>
          <p:cNvSpPr txBox="1"/>
          <p:nvPr/>
        </p:nvSpPr>
        <p:spPr>
          <a:xfrm>
            <a:off x="7929474" y="1941121"/>
            <a:ext cx="70104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200" b="1" dirty="0">
                <a:solidFill>
                  <a:srgbClr val="7030A0"/>
                </a:solidFill>
                <a:latin typeface="Courier"/>
              </a:rPr>
              <a:t>#2132</a:t>
            </a:r>
            <a:endParaRPr lang="en-US" sz="1200" dirty="0">
              <a:latin typeface="Courier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61B7683-EAEB-B0C5-80BD-BF1174FFA691}"/>
              </a:ext>
            </a:extLst>
          </p:cNvPr>
          <p:cNvSpPr txBox="1"/>
          <p:nvPr/>
        </p:nvSpPr>
        <p:spPr>
          <a:xfrm>
            <a:off x="7927585" y="1618348"/>
            <a:ext cx="70104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200" b="1" dirty="0">
                <a:solidFill>
                  <a:srgbClr val="7030A0"/>
                </a:solidFill>
                <a:latin typeface="Courier"/>
              </a:rPr>
              <a:t>#2133</a:t>
            </a:r>
            <a:endParaRPr lang="en-US" sz="1200" dirty="0">
              <a:latin typeface="Courier"/>
            </a:endParaRPr>
          </a:p>
        </p:txBody>
      </p:sp>
      <p:sp>
        <p:nvSpPr>
          <p:cNvPr id="54" name="Speech Bubble: Rectangle 53">
            <a:extLst>
              <a:ext uri="{FF2B5EF4-FFF2-40B4-BE49-F238E27FC236}">
                <a16:creationId xmlns:a16="http://schemas.microsoft.com/office/drawing/2014/main" id="{246778F8-4758-2EC4-D8A1-03B2B1723AD0}"/>
              </a:ext>
            </a:extLst>
          </p:cNvPr>
          <p:cNvSpPr/>
          <p:nvPr/>
        </p:nvSpPr>
        <p:spPr>
          <a:xfrm>
            <a:off x="8086410" y="5610864"/>
            <a:ext cx="1523665" cy="365481"/>
          </a:xfrm>
          <a:prstGeom prst="wedgeRectCallout">
            <a:avLst>
              <a:gd name="adj1" fmla="val -33259"/>
              <a:gd name="adj2" fmla="val -100527"/>
            </a:avLst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Array Name:  </a:t>
            </a:r>
            <a:r>
              <a:rPr lang="en-US" sz="2000" b="1" dirty="0">
                <a:solidFill>
                  <a:schemeClr val="tx1"/>
                </a:solidFill>
                <a:latin typeface="Courier"/>
              </a:rPr>
              <a:t>a</a:t>
            </a:r>
            <a:endParaRPr lang="en-US" sz="1600" b="1" dirty="0">
              <a:solidFill>
                <a:srgbClr val="FF0000"/>
              </a:solidFill>
              <a:latin typeface="Courier"/>
            </a:endParaRPr>
          </a:p>
        </p:txBody>
      </p:sp>
      <p:sp>
        <p:nvSpPr>
          <p:cNvPr id="55" name="Speech Bubble: Rectangle 54">
            <a:extLst>
              <a:ext uri="{FF2B5EF4-FFF2-40B4-BE49-F238E27FC236}">
                <a16:creationId xmlns:a16="http://schemas.microsoft.com/office/drawing/2014/main" id="{635186AE-2E23-EF21-560B-D3364A13E2B6}"/>
              </a:ext>
            </a:extLst>
          </p:cNvPr>
          <p:cNvSpPr/>
          <p:nvPr/>
        </p:nvSpPr>
        <p:spPr>
          <a:xfrm>
            <a:off x="5822022" y="5468393"/>
            <a:ext cx="1930175" cy="365481"/>
          </a:xfrm>
          <a:prstGeom prst="wedgeRectCallout">
            <a:avLst>
              <a:gd name="adj1" fmla="val 59120"/>
              <a:gd name="adj2" fmla="val -100527"/>
            </a:avLst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Row Name:  </a:t>
            </a:r>
            <a:r>
              <a:rPr lang="en-US" sz="2000" b="1" dirty="0">
                <a:solidFill>
                  <a:schemeClr val="tx1"/>
                </a:solidFill>
                <a:latin typeface="Courier"/>
              </a:rPr>
              <a:t>a[0]</a:t>
            </a:r>
            <a:endParaRPr lang="en-US" sz="1600" b="1" dirty="0">
              <a:solidFill>
                <a:srgbClr val="FF0000"/>
              </a:solidFill>
              <a:latin typeface="Courier"/>
            </a:endParaRPr>
          </a:p>
        </p:txBody>
      </p:sp>
      <p:sp>
        <p:nvSpPr>
          <p:cNvPr id="56" name="Speech Bubble: Rectangle 55">
            <a:extLst>
              <a:ext uri="{FF2B5EF4-FFF2-40B4-BE49-F238E27FC236}">
                <a16:creationId xmlns:a16="http://schemas.microsoft.com/office/drawing/2014/main" id="{32303FD6-1064-B2C5-BADD-1C85C3E59702}"/>
              </a:ext>
            </a:extLst>
          </p:cNvPr>
          <p:cNvSpPr/>
          <p:nvPr/>
        </p:nvSpPr>
        <p:spPr>
          <a:xfrm>
            <a:off x="5821519" y="4218015"/>
            <a:ext cx="1930175" cy="365481"/>
          </a:xfrm>
          <a:prstGeom prst="wedgeRectCallout">
            <a:avLst>
              <a:gd name="adj1" fmla="val 59516"/>
              <a:gd name="adj2" fmla="val -96357"/>
            </a:avLst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Row Name:  </a:t>
            </a:r>
            <a:r>
              <a:rPr lang="en-US" sz="2000" b="1" dirty="0">
                <a:solidFill>
                  <a:schemeClr val="tx1"/>
                </a:solidFill>
                <a:latin typeface="Courier"/>
              </a:rPr>
              <a:t>a[1]</a:t>
            </a:r>
            <a:endParaRPr lang="en-US" sz="1600" b="1" dirty="0">
              <a:solidFill>
                <a:srgbClr val="FF0000"/>
              </a:solidFill>
              <a:latin typeface="Courier"/>
            </a:endParaRPr>
          </a:p>
        </p:txBody>
      </p:sp>
      <p:sp>
        <p:nvSpPr>
          <p:cNvPr id="58" name="Speech Bubble: Rectangle 57">
            <a:extLst>
              <a:ext uri="{FF2B5EF4-FFF2-40B4-BE49-F238E27FC236}">
                <a16:creationId xmlns:a16="http://schemas.microsoft.com/office/drawing/2014/main" id="{39BC9CA1-25DE-289E-521D-059923E1AA35}"/>
              </a:ext>
            </a:extLst>
          </p:cNvPr>
          <p:cNvSpPr/>
          <p:nvPr/>
        </p:nvSpPr>
        <p:spPr>
          <a:xfrm>
            <a:off x="5833655" y="2882477"/>
            <a:ext cx="1930175" cy="365481"/>
          </a:xfrm>
          <a:prstGeom prst="wedgeRectCallout">
            <a:avLst>
              <a:gd name="adj1" fmla="val 59516"/>
              <a:gd name="adj2" fmla="val -96357"/>
            </a:avLst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Row Name:  </a:t>
            </a:r>
            <a:r>
              <a:rPr lang="en-US" sz="2000" b="1" dirty="0">
                <a:solidFill>
                  <a:schemeClr val="tx1"/>
                </a:solidFill>
                <a:latin typeface="Courier"/>
              </a:rPr>
              <a:t>a[2]</a:t>
            </a:r>
            <a:endParaRPr lang="en-US" sz="1600" b="1" dirty="0">
              <a:solidFill>
                <a:srgbClr val="FF0000"/>
              </a:solidFill>
              <a:latin typeface="Courier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BA54233-BC21-A019-DA5A-E0FB83309365}"/>
              </a:ext>
            </a:extLst>
          </p:cNvPr>
          <p:cNvSpPr txBox="1"/>
          <p:nvPr/>
        </p:nvSpPr>
        <p:spPr>
          <a:xfrm>
            <a:off x="8703676" y="846346"/>
            <a:ext cx="8199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1200" b="1" dirty="0">
                <a:solidFill>
                  <a:srgbClr val="FF0000"/>
                </a:solidFill>
              </a:rPr>
              <a:t>Offset from </a:t>
            </a:r>
            <a:br>
              <a:rPr lang="en-CA" sz="1200" b="1" dirty="0">
                <a:solidFill>
                  <a:srgbClr val="FF0000"/>
                </a:solidFill>
              </a:rPr>
            </a:br>
            <a:r>
              <a:rPr lang="en-CA" sz="1200" b="1" i="1" u="sng" dirty="0">
                <a:solidFill>
                  <a:srgbClr val="FF0000"/>
                </a:solidFill>
              </a:rPr>
              <a:t>Row Base</a:t>
            </a:r>
            <a:endParaRPr lang="en-US" sz="1200" b="1" i="1" u="sng" dirty="0">
              <a:solidFill>
                <a:srgbClr val="FF0000"/>
              </a:solidFill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8087142C-38AA-5F9C-FDBE-AE8CCC5EE703}"/>
              </a:ext>
            </a:extLst>
          </p:cNvPr>
          <p:cNvSpPr txBox="1"/>
          <p:nvPr/>
        </p:nvSpPr>
        <p:spPr>
          <a:xfrm>
            <a:off x="8591106" y="5196702"/>
            <a:ext cx="84826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200" b="1" dirty="0">
                <a:solidFill>
                  <a:srgbClr val="7030A0"/>
                </a:solidFill>
                <a:latin typeface="Courier"/>
              </a:rPr>
              <a:t>#2122</a:t>
            </a:r>
            <a:r>
              <a:rPr lang="en-CA" sz="1200" b="1" dirty="0">
                <a:solidFill>
                  <a:srgbClr val="FF0000"/>
                </a:solidFill>
                <a:latin typeface="Courier"/>
              </a:rPr>
              <a:t>+0</a:t>
            </a:r>
            <a:endParaRPr lang="en-US" sz="1200" b="1" dirty="0">
              <a:solidFill>
                <a:srgbClr val="FF0000"/>
              </a:solidFill>
              <a:latin typeface="Courier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A4138DE-A0DF-4F63-60AC-D6EA0555E9BA}"/>
              </a:ext>
            </a:extLst>
          </p:cNvPr>
          <p:cNvSpPr txBox="1"/>
          <p:nvPr/>
        </p:nvSpPr>
        <p:spPr>
          <a:xfrm>
            <a:off x="8594164" y="4875621"/>
            <a:ext cx="84826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200" b="1" dirty="0">
                <a:solidFill>
                  <a:srgbClr val="7030A0"/>
                </a:solidFill>
                <a:latin typeface="Courier"/>
              </a:rPr>
              <a:t>#2122</a:t>
            </a:r>
            <a:r>
              <a:rPr lang="en-CA" sz="1200" b="1" dirty="0">
                <a:solidFill>
                  <a:srgbClr val="FF0000"/>
                </a:solidFill>
                <a:latin typeface="Courier"/>
              </a:rPr>
              <a:t>+1</a:t>
            </a:r>
            <a:endParaRPr lang="en-US" sz="1200" b="1" dirty="0">
              <a:solidFill>
                <a:srgbClr val="FF0000"/>
              </a:solidFill>
              <a:latin typeface="Courier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9CE3C869-318A-1239-0EED-D8A4CE73C733}"/>
              </a:ext>
            </a:extLst>
          </p:cNvPr>
          <p:cNvSpPr txBox="1"/>
          <p:nvPr/>
        </p:nvSpPr>
        <p:spPr>
          <a:xfrm>
            <a:off x="8596053" y="4550736"/>
            <a:ext cx="84826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200" b="1" dirty="0">
                <a:solidFill>
                  <a:srgbClr val="7030A0"/>
                </a:solidFill>
                <a:latin typeface="Courier"/>
              </a:rPr>
              <a:t>#2122</a:t>
            </a:r>
            <a:r>
              <a:rPr lang="en-CA" sz="1200" b="1" dirty="0">
                <a:solidFill>
                  <a:srgbClr val="FF0000"/>
                </a:solidFill>
                <a:latin typeface="Courier"/>
              </a:rPr>
              <a:t>+2</a:t>
            </a:r>
            <a:endParaRPr lang="en-US" sz="1200" b="1" dirty="0">
              <a:solidFill>
                <a:srgbClr val="FF0000"/>
              </a:solidFill>
              <a:latin typeface="Courier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8B3017D1-C19E-16A3-F5AD-625F074BCCC2}"/>
              </a:ext>
            </a:extLst>
          </p:cNvPr>
          <p:cNvSpPr txBox="1"/>
          <p:nvPr/>
        </p:nvSpPr>
        <p:spPr>
          <a:xfrm>
            <a:off x="8594164" y="4227963"/>
            <a:ext cx="84826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200" b="1" dirty="0">
                <a:solidFill>
                  <a:srgbClr val="7030A0"/>
                </a:solidFill>
                <a:latin typeface="Courier"/>
              </a:rPr>
              <a:t>#2122</a:t>
            </a:r>
            <a:r>
              <a:rPr lang="en-CA" sz="1200" b="1" dirty="0">
                <a:solidFill>
                  <a:srgbClr val="FF0000"/>
                </a:solidFill>
                <a:latin typeface="Courier"/>
              </a:rPr>
              <a:t>+3</a:t>
            </a:r>
            <a:endParaRPr lang="en-US" sz="1200" b="1" dirty="0">
              <a:solidFill>
                <a:srgbClr val="FF0000"/>
              </a:solidFill>
              <a:latin typeface="Courier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661145D3-3F35-1A4F-1A43-2AC4DC90DEDF}"/>
              </a:ext>
            </a:extLst>
          </p:cNvPr>
          <p:cNvSpPr txBox="1"/>
          <p:nvPr/>
        </p:nvSpPr>
        <p:spPr>
          <a:xfrm>
            <a:off x="8598821" y="3909714"/>
            <a:ext cx="84826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200" b="1" dirty="0">
                <a:solidFill>
                  <a:srgbClr val="7030A0"/>
                </a:solidFill>
                <a:latin typeface="Courier"/>
              </a:rPr>
              <a:t>#2126</a:t>
            </a:r>
            <a:r>
              <a:rPr lang="en-CA" sz="1200" b="1" dirty="0">
                <a:solidFill>
                  <a:srgbClr val="FF0000"/>
                </a:solidFill>
                <a:latin typeface="Courier"/>
              </a:rPr>
              <a:t>+0</a:t>
            </a:r>
            <a:endParaRPr lang="en-US" sz="1200" b="1" dirty="0">
              <a:solidFill>
                <a:srgbClr val="FF0000"/>
              </a:solidFill>
              <a:latin typeface="Courier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E4177416-B9F9-7E0F-5C27-704CBFB009E4}"/>
              </a:ext>
            </a:extLst>
          </p:cNvPr>
          <p:cNvSpPr txBox="1"/>
          <p:nvPr/>
        </p:nvSpPr>
        <p:spPr>
          <a:xfrm>
            <a:off x="8601879" y="3588633"/>
            <a:ext cx="84826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200" b="1" dirty="0">
                <a:solidFill>
                  <a:srgbClr val="7030A0"/>
                </a:solidFill>
                <a:latin typeface="Courier"/>
              </a:rPr>
              <a:t>#2126</a:t>
            </a:r>
            <a:r>
              <a:rPr lang="en-CA" sz="1200" b="1" dirty="0">
                <a:solidFill>
                  <a:srgbClr val="FF0000"/>
                </a:solidFill>
                <a:latin typeface="Courier"/>
              </a:rPr>
              <a:t>+1</a:t>
            </a:r>
            <a:endParaRPr lang="en-US" sz="1200" b="1" dirty="0">
              <a:solidFill>
                <a:srgbClr val="FF0000"/>
              </a:solidFill>
              <a:latin typeface="Courier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01C92E54-84F2-E10F-ADB4-8E4B4362004E}"/>
              </a:ext>
            </a:extLst>
          </p:cNvPr>
          <p:cNvSpPr txBox="1"/>
          <p:nvPr/>
        </p:nvSpPr>
        <p:spPr>
          <a:xfrm>
            <a:off x="8603768" y="3263748"/>
            <a:ext cx="84826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200" b="1" dirty="0">
                <a:solidFill>
                  <a:srgbClr val="7030A0"/>
                </a:solidFill>
                <a:latin typeface="Courier"/>
              </a:rPr>
              <a:t>#2126</a:t>
            </a:r>
            <a:r>
              <a:rPr lang="en-CA" sz="1200" b="1" dirty="0">
                <a:solidFill>
                  <a:srgbClr val="FF0000"/>
                </a:solidFill>
                <a:latin typeface="Courier"/>
              </a:rPr>
              <a:t>+2</a:t>
            </a:r>
            <a:endParaRPr lang="en-US" sz="1200" b="1" dirty="0">
              <a:solidFill>
                <a:srgbClr val="FF0000"/>
              </a:solidFill>
              <a:latin typeface="Courier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0FCED025-0670-43A5-EEB8-C6C65F5A0AA4}"/>
              </a:ext>
            </a:extLst>
          </p:cNvPr>
          <p:cNvSpPr txBox="1"/>
          <p:nvPr/>
        </p:nvSpPr>
        <p:spPr>
          <a:xfrm>
            <a:off x="8601879" y="2940975"/>
            <a:ext cx="84826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200" b="1" dirty="0">
                <a:solidFill>
                  <a:srgbClr val="7030A0"/>
                </a:solidFill>
                <a:latin typeface="Courier"/>
              </a:rPr>
              <a:t>#2126</a:t>
            </a:r>
            <a:r>
              <a:rPr lang="en-CA" sz="1200" b="1" dirty="0">
                <a:solidFill>
                  <a:srgbClr val="FF0000"/>
                </a:solidFill>
                <a:latin typeface="Courier"/>
              </a:rPr>
              <a:t>+3</a:t>
            </a:r>
            <a:endParaRPr lang="en-US" sz="1200" b="1" dirty="0">
              <a:solidFill>
                <a:srgbClr val="FF0000"/>
              </a:solidFill>
              <a:latin typeface="Courier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7F7E79AC-1991-A7DC-3065-C85241AC6A6B}"/>
              </a:ext>
            </a:extLst>
          </p:cNvPr>
          <p:cNvSpPr txBox="1"/>
          <p:nvPr/>
        </p:nvSpPr>
        <p:spPr>
          <a:xfrm>
            <a:off x="8599687" y="2581779"/>
            <a:ext cx="84826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200" b="1" dirty="0">
                <a:solidFill>
                  <a:srgbClr val="7030A0"/>
                </a:solidFill>
                <a:latin typeface="Courier"/>
              </a:rPr>
              <a:t>#2130</a:t>
            </a:r>
            <a:r>
              <a:rPr lang="en-CA" sz="1200" b="1" dirty="0">
                <a:solidFill>
                  <a:srgbClr val="FF0000"/>
                </a:solidFill>
                <a:latin typeface="Courier"/>
              </a:rPr>
              <a:t>+0</a:t>
            </a:r>
            <a:endParaRPr lang="en-US" sz="1200" b="1" dirty="0">
              <a:solidFill>
                <a:srgbClr val="FF0000"/>
              </a:solidFill>
              <a:latin typeface="Courier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3A1665E8-44FD-B81B-D9F4-E89727BC10D7}"/>
              </a:ext>
            </a:extLst>
          </p:cNvPr>
          <p:cNvSpPr txBox="1"/>
          <p:nvPr/>
        </p:nvSpPr>
        <p:spPr>
          <a:xfrm>
            <a:off x="8602745" y="2260698"/>
            <a:ext cx="84826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200" b="1" dirty="0">
                <a:solidFill>
                  <a:srgbClr val="7030A0"/>
                </a:solidFill>
                <a:latin typeface="Courier"/>
              </a:rPr>
              <a:t>#2130</a:t>
            </a:r>
            <a:r>
              <a:rPr lang="en-CA" sz="1200" b="1" dirty="0">
                <a:solidFill>
                  <a:srgbClr val="FF0000"/>
                </a:solidFill>
                <a:latin typeface="Courier"/>
              </a:rPr>
              <a:t>+1</a:t>
            </a:r>
            <a:endParaRPr lang="en-US" sz="1200" b="1" dirty="0">
              <a:solidFill>
                <a:srgbClr val="FF0000"/>
              </a:solidFill>
              <a:latin typeface="Courier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A944D0F5-58E6-4B90-ABA5-65F696034116}"/>
              </a:ext>
            </a:extLst>
          </p:cNvPr>
          <p:cNvSpPr txBox="1"/>
          <p:nvPr/>
        </p:nvSpPr>
        <p:spPr>
          <a:xfrm>
            <a:off x="8604634" y="1935813"/>
            <a:ext cx="84826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200" b="1" dirty="0">
                <a:solidFill>
                  <a:srgbClr val="7030A0"/>
                </a:solidFill>
                <a:latin typeface="Courier"/>
              </a:rPr>
              <a:t>#2130</a:t>
            </a:r>
            <a:r>
              <a:rPr lang="en-CA" sz="1200" b="1" dirty="0">
                <a:solidFill>
                  <a:srgbClr val="FF0000"/>
                </a:solidFill>
                <a:latin typeface="Courier"/>
              </a:rPr>
              <a:t>+2</a:t>
            </a:r>
            <a:endParaRPr lang="en-US" sz="1200" b="1" dirty="0">
              <a:solidFill>
                <a:srgbClr val="FF0000"/>
              </a:solidFill>
              <a:latin typeface="Courier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7DC7629-7DF2-1265-8F70-371018B03C5B}"/>
              </a:ext>
            </a:extLst>
          </p:cNvPr>
          <p:cNvSpPr txBox="1"/>
          <p:nvPr/>
        </p:nvSpPr>
        <p:spPr>
          <a:xfrm>
            <a:off x="8602745" y="1613040"/>
            <a:ext cx="84826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200" b="1" dirty="0">
                <a:solidFill>
                  <a:srgbClr val="7030A0"/>
                </a:solidFill>
                <a:latin typeface="Courier"/>
              </a:rPr>
              <a:t>#2130</a:t>
            </a:r>
            <a:r>
              <a:rPr lang="en-CA" sz="1200" b="1" dirty="0">
                <a:solidFill>
                  <a:srgbClr val="FF0000"/>
                </a:solidFill>
                <a:latin typeface="Courier"/>
              </a:rPr>
              <a:t>+3</a:t>
            </a:r>
            <a:endParaRPr lang="en-US" sz="1200" b="1" dirty="0">
              <a:solidFill>
                <a:srgbClr val="FF0000"/>
              </a:solidFill>
              <a:latin typeface="Courier"/>
            </a:endParaRPr>
          </a:p>
        </p:txBody>
      </p:sp>
    </p:spTree>
    <p:extLst>
      <p:ext uri="{BB962C8B-B14F-4D97-AF65-F5344CB8AC3E}">
        <p14:creationId xmlns:p14="http://schemas.microsoft.com/office/powerpoint/2010/main" val="389558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27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275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/>
      <p:bldP spid="42" grpId="0"/>
      <p:bldP spid="43" grpId="0"/>
      <p:bldP spid="44" grpId="0"/>
      <p:bldP spid="45" grpId="0"/>
      <p:bldP spid="46" grpId="0"/>
      <p:bldP spid="47" grpId="0"/>
      <p:bldP spid="48" grpId="0"/>
      <p:bldP spid="49" grpId="0"/>
      <p:bldP spid="50" grpId="0"/>
      <p:bldP spid="51" grpId="0"/>
      <p:bldP spid="52" grpId="0"/>
      <p:bldP spid="53" grpId="0"/>
      <p:bldP spid="54" grpId="0" animBg="1"/>
      <p:bldP spid="55" grpId="0" animBg="1"/>
      <p:bldP spid="56" grpId="0" animBg="1"/>
      <p:bldP spid="58" grpId="0" animBg="1"/>
      <p:bldP spid="59" grpId="0"/>
      <p:bldP spid="60" grpId="0"/>
      <p:bldP spid="61" grpId="0"/>
      <p:bldP spid="62" grpId="0"/>
      <p:bldP spid="63" grpId="0"/>
      <p:bldP spid="64" grpId="0"/>
      <p:bldP spid="65" grpId="0"/>
      <p:bldP spid="66" grpId="0"/>
      <p:bldP spid="67" grpId="0"/>
      <p:bldP spid="68" grpId="0"/>
      <p:bldP spid="69" grpId="0"/>
      <p:bldP spid="70" grpId="0"/>
      <p:bldP spid="71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8" y="585288"/>
            <a:ext cx="587763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rPr>
              <a:t>Two-Dimensional Arrays</a:t>
            </a:r>
            <a:endParaRPr lang="en-CA" sz="4400" b="1" dirty="0">
              <a:solidFill>
                <a:srgbClr val="7F1F1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7" y="1366546"/>
            <a:ext cx="10166268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Definition and Initialization</a:t>
            </a:r>
            <a:br>
              <a:rPr lang="en-CA" dirty="0"/>
            </a:br>
            <a:endParaRPr lang="en-CA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CA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21</a:t>
            </a:fld>
            <a:endParaRPr lang="en-CA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03FCD0C-16DE-064E-D77A-2393C9ED255C}"/>
              </a:ext>
            </a:extLst>
          </p:cNvPr>
          <p:cNvSpPr txBox="1"/>
          <p:nvPr/>
        </p:nvSpPr>
        <p:spPr>
          <a:xfrm>
            <a:off x="1245918" y="1842461"/>
            <a:ext cx="5970222" cy="769441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c[3][4];</a:t>
            </a:r>
          </a:p>
          <a:p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 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= 0;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&lt; 3;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++)</a:t>
            </a:r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// Standard nested for-loop initialization</a:t>
            </a:r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 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(j = 0; j &lt; 4;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j++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	c[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][j] =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+ j;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D579218-A733-34B2-61D9-C457ABD4C9B0}"/>
              </a:ext>
            </a:extLst>
          </p:cNvPr>
          <p:cNvSpPr txBox="1"/>
          <p:nvPr/>
        </p:nvSpPr>
        <p:spPr>
          <a:xfrm>
            <a:off x="1245917" y="2708927"/>
            <a:ext cx="9753008" cy="261610"/>
          </a:xfrm>
          <a:prstGeom prst="rect">
            <a:avLst/>
          </a:prstGeom>
          <a:ln w="28575">
            <a:solidFill>
              <a:schemeClr val="accent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c[3][4] = {10, 10, 10, 10, 20, 20, 20, 20, 30, 30, 30, 30};  </a:t>
            </a:r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Exploit the 2D Array Memory Continuity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9F426E2-7882-6BA2-1F9A-C4D38A15F3B4}"/>
              </a:ext>
            </a:extLst>
          </p:cNvPr>
          <p:cNvSpPr txBox="1"/>
          <p:nvPr/>
        </p:nvSpPr>
        <p:spPr>
          <a:xfrm>
            <a:off x="1245917" y="3066423"/>
            <a:ext cx="9753008" cy="261610"/>
          </a:xfrm>
          <a:prstGeom prst="rect">
            <a:avLst/>
          </a:prstGeom>
          <a:ln w="28575">
            <a:solidFill>
              <a:schemeClr val="accent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c[3][4] = {{10, 10, 10, 10}, {20, 20, 20, 20}, {30, 30, 30, 30}};  </a:t>
            </a:r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Specify Row Initializer Values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C807791-2D06-3F77-D6EF-93086B720F69}"/>
              </a:ext>
            </a:extLst>
          </p:cNvPr>
          <p:cNvSpPr txBox="1"/>
          <p:nvPr/>
        </p:nvSpPr>
        <p:spPr>
          <a:xfrm>
            <a:off x="1245917" y="3517881"/>
            <a:ext cx="9753008" cy="261610"/>
          </a:xfrm>
          <a:prstGeom prst="rect">
            <a:avLst/>
          </a:prstGeom>
          <a:ln w="28575">
            <a:solidFill>
              <a:srgbClr val="7030A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c[3][4] = {{0, 10}, {20, 20, 20, 20}, {30, 30, 30}};  </a:t>
            </a:r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Zero-Pad all the latter elements missing </a:t>
            </a:r>
            <a:r>
              <a:rPr lang="en-US" sz="1100" b="1" dirty="0" err="1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init</a:t>
            </a:r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values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81E724C-E3FA-D90A-1254-B030D3C2515E}"/>
              </a:ext>
            </a:extLst>
          </p:cNvPr>
          <p:cNvSpPr txBox="1"/>
          <p:nvPr/>
        </p:nvSpPr>
        <p:spPr>
          <a:xfrm>
            <a:off x="1245917" y="4079526"/>
            <a:ext cx="9753008" cy="261610"/>
          </a:xfrm>
          <a:prstGeom prst="rect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c[3][4] = {{10}, {20, 20}};  </a:t>
            </a:r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Will this work?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C14BB65-ED17-056B-A510-7EA9BD89F64F}"/>
              </a:ext>
            </a:extLst>
          </p:cNvPr>
          <p:cNvSpPr txBox="1"/>
          <p:nvPr/>
        </p:nvSpPr>
        <p:spPr>
          <a:xfrm>
            <a:off x="1245917" y="4445745"/>
            <a:ext cx="9753008" cy="261610"/>
          </a:xfrm>
          <a:prstGeom prst="rect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c[3][4] = {{10}, {}, {20, 20}};  </a:t>
            </a:r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Will this work?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E2C2EAE-5121-029A-A691-515FFC60A9CA}"/>
              </a:ext>
            </a:extLst>
          </p:cNvPr>
          <p:cNvSpPr txBox="1"/>
          <p:nvPr/>
        </p:nvSpPr>
        <p:spPr>
          <a:xfrm>
            <a:off x="1245917" y="5014566"/>
            <a:ext cx="9753008" cy="261610"/>
          </a:xfrm>
          <a:prstGeom prst="rect">
            <a:avLst/>
          </a:prstGeom>
          <a:ln w="28575">
            <a:solidFill>
              <a:srgbClr val="00B05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c[ ][4] = {10, 10, 10, 10, 20, 20, 20, 20, 30, 30, 30, 30};  </a:t>
            </a:r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Will this work?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B1044FA-96DA-2B3F-ED75-4AB3E2E153E8}"/>
              </a:ext>
            </a:extLst>
          </p:cNvPr>
          <p:cNvSpPr txBox="1"/>
          <p:nvPr/>
        </p:nvSpPr>
        <p:spPr>
          <a:xfrm>
            <a:off x="1245917" y="5395182"/>
            <a:ext cx="9753008" cy="261610"/>
          </a:xfrm>
          <a:prstGeom prst="rect">
            <a:avLst/>
          </a:prstGeom>
          <a:ln w="28575">
            <a:solidFill>
              <a:srgbClr val="00B05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c[ ][4] = {{0, 10}, {}, {30, 30, 30}};  </a:t>
            </a:r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Will this work?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2DC590F4-C963-52CE-1301-09FAC6FCE673}"/>
              </a:ext>
            </a:extLst>
          </p:cNvPr>
          <p:cNvSpPr/>
          <p:nvPr/>
        </p:nvSpPr>
        <p:spPr>
          <a:xfrm>
            <a:off x="8874593" y="1305112"/>
            <a:ext cx="2124332" cy="404238"/>
          </a:xfrm>
          <a:prstGeom prst="roundRect">
            <a:avLst/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chemeClr val="tx1"/>
                </a:solidFill>
              </a:rPr>
              <a:t>L4Ex5_2DInits.c</a:t>
            </a:r>
            <a:endParaRPr lang="en-US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40586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8" y="585288"/>
            <a:ext cx="587763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rPr>
              <a:t>Multidimensional Array</a:t>
            </a:r>
            <a:endParaRPr lang="en-CA" sz="4400" b="1" dirty="0">
              <a:solidFill>
                <a:srgbClr val="7F1F1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7" y="1366546"/>
            <a:ext cx="10166268" cy="29854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Multidimensional Array (aka. N-Dimensional Array, Multiple Subscripted Array)</a:t>
            </a:r>
            <a:endParaRPr lang="en-CA" sz="2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Typically used to represent conceptual n-dimensional tabulated values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Accessed the same way as 2D array, just more indices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Elements are yet again stored in consecutive memory locations</a:t>
            </a:r>
            <a:endParaRPr lang="en-CA" sz="22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b="1" dirty="0">
              <a:solidFill>
                <a:schemeClr val="accent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Example – </a:t>
            </a:r>
            <a:r>
              <a:rPr lang="en-CA" sz="2200" b="1" dirty="0">
                <a:solidFill>
                  <a:schemeClr val="accent1"/>
                </a:solidFill>
                <a:latin typeface="Courier"/>
              </a:rPr>
              <a:t>int</a:t>
            </a:r>
            <a:r>
              <a:rPr lang="en-CA" sz="2200" dirty="0">
                <a:latin typeface="Courier"/>
              </a:rPr>
              <a:t> a[</a:t>
            </a:r>
            <a:r>
              <a:rPr lang="en-CA" sz="2200" b="1" dirty="0">
                <a:solidFill>
                  <a:srgbClr val="7030A0"/>
                </a:solidFill>
                <a:latin typeface="Courier"/>
              </a:rPr>
              <a:t>2</a:t>
            </a:r>
            <a:r>
              <a:rPr lang="en-CA" sz="2200" dirty="0">
                <a:latin typeface="Courier"/>
              </a:rPr>
              <a:t>][</a:t>
            </a:r>
            <a:r>
              <a:rPr lang="en-CA" sz="2200" b="1" dirty="0">
                <a:solidFill>
                  <a:srgbClr val="00B0F0"/>
                </a:solidFill>
                <a:latin typeface="Courier"/>
              </a:rPr>
              <a:t>3</a:t>
            </a:r>
            <a:r>
              <a:rPr lang="en-CA" sz="2200" dirty="0">
                <a:latin typeface="Courier"/>
              </a:rPr>
              <a:t>][</a:t>
            </a:r>
            <a:r>
              <a:rPr lang="en-CA" sz="2200" b="1" dirty="0">
                <a:solidFill>
                  <a:srgbClr val="FF0000"/>
                </a:solidFill>
                <a:latin typeface="Courier"/>
              </a:rPr>
              <a:t>4</a:t>
            </a:r>
            <a:r>
              <a:rPr lang="en-CA" sz="2200" dirty="0">
                <a:latin typeface="Courier"/>
              </a:rPr>
              <a:t>]; </a:t>
            </a:r>
            <a:r>
              <a:rPr lang="en-CA" sz="2200" b="1" dirty="0">
                <a:solidFill>
                  <a:schemeClr val="accent6"/>
                </a:solidFill>
                <a:latin typeface="Courier"/>
              </a:rPr>
              <a:t>//defines a 2 x 3 x 4 array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CA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22</a:t>
            </a:fld>
            <a:endParaRPr lang="en-CA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1C15745-CFE0-2BF2-0BB6-3450A5C1E8E1}"/>
              </a:ext>
            </a:extLst>
          </p:cNvPr>
          <p:cNvSpPr txBox="1"/>
          <p:nvPr/>
        </p:nvSpPr>
        <p:spPr>
          <a:xfrm>
            <a:off x="1991360" y="2237859"/>
            <a:ext cx="8036560" cy="338554"/>
          </a:xfrm>
          <a:prstGeom prst="rect">
            <a:avLst/>
          </a:prstGeom>
          <a:solidFill>
            <a:srgbClr val="FFDDDD"/>
          </a:solidFill>
          <a:ln w="28575">
            <a:solidFill>
              <a:srgbClr val="7F1F1F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data_type</a:t>
            </a:r>
            <a:r>
              <a:rPr lang="en-US" sz="16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b="1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array_name</a:t>
            </a:r>
            <a:r>
              <a:rPr lang="en-US" sz="16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[ </a:t>
            </a:r>
            <a:r>
              <a:rPr lang="en-US" sz="16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dim1_num</a:t>
            </a:r>
            <a:r>
              <a:rPr lang="en-US" sz="16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] [ </a:t>
            </a:r>
            <a:r>
              <a:rPr lang="en-US" sz="1600" b="1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dim2_num</a:t>
            </a:r>
            <a:r>
              <a:rPr lang="en-US" sz="16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] … [ </a:t>
            </a:r>
            <a:r>
              <a:rPr lang="en-US" sz="16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dimN_num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];</a:t>
            </a:r>
          </a:p>
        </p:txBody>
      </p:sp>
      <p:graphicFrame>
        <p:nvGraphicFramePr>
          <p:cNvPr id="5" name="Table 7">
            <a:extLst>
              <a:ext uri="{FF2B5EF4-FFF2-40B4-BE49-F238E27FC236}">
                <a16:creationId xmlns:a16="http://schemas.microsoft.com/office/drawing/2014/main" id="{18971153-286E-7BC8-4BC5-FEAFA9D19A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0826333"/>
              </p:ext>
            </p:extLst>
          </p:nvPr>
        </p:nvGraphicFramePr>
        <p:xfrm>
          <a:off x="2765136" y="4050295"/>
          <a:ext cx="5264728" cy="919437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316182">
                  <a:extLst>
                    <a:ext uri="{9D8B030D-6E8A-4147-A177-3AD203B41FA5}">
                      <a16:colId xmlns:a16="http://schemas.microsoft.com/office/drawing/2014/main" val="1857430406"/>
                    </a:ext>
                  </a:extLst>
                </a:gridCol>
                <a:gridCol w="1316182">
                  <a:extLst>
                    <a:ext uri="{9D8B030D-6E8A-4147-A177-3AD203B41FA5}">
                      <a16:colId xmlns:a16="http://schemas.microsoft.com/office/drawing/2014/main" val="2925491084"/>
                    </a:ext>
                  </a:extLst>
                </a:gridCol>
                <a:gridCol w="1316182">
                  <a:extLst>
                    <a:ext uri="{9D8B030D-6E8A-4147-A177-3AD203B41FA5}">
                      <a16:colId xmlns:a16="http://schemas.microsoft.com/office/drawing/2014/main" val="2046540477"/>
                    </a:ext>
                  </a:extLst>
                </a:gridCol>
                <a:gridCol w="1316182">
                  <a:extLst>
                    <a:ext uri="{9D8B030D-6E8A-4147-A177-3AD203B41FA5}">
                      <a16:colId xmlns:a16="http://schemas.microsoft.com/office/drawing/2014/main" val="2264517988"/>
                    </a:ext>
                  </a:extLst>
                </a:gridCol>
              </a:tblGrid>
              <a:tr h="306479">
                <a:tc>
                  <a:txBody>
                    <a:bodyPr/>
                    <a:lstStyle/>
                    <a:p>
                      <a:pPr algn="ctr"/>
                      <a:r>
                        <a:rPr lang="en-CA" sz="1400" b="1" dirty="0">
                          <a:solidFill>
                            <a:schemeClr val="tx1"/>
                          </a:solidFill>
                          <a:latin typeface="Courier"/>
                        </a:rPr>
                        <a:t>a[</a:t>
                      </a:r>
                      <a:r>
                        <a:rPr lang="en-CA" sz="1400" b="1" dirty="0">
                          <a:solidFill>
                            <a:srgbClr val="7030A0"/>
                          </a:solidFill>
                          <a:latin typeface="Courier"/>
                        </a:rPr>
                        <a:t>0</a:t>
                      </a:r>
                      <a:r>
                        <a:rPr lang="en-CA" sz="1400" b="1" dirty="0">
                          <a:solidFill>
                            <a:schemeClr val="tx1"/>
                          </a:solidFill>
                          <a:latin typeface="Courier"/>
                        </a:rPr>
                        <a:t>][</a:t>
                      </a:r>
                      <a:r>
                        <a:rPr lang="en-CA" sz="1400" b="1" dirty="0">
                          <a:solidFill>
                            <a:srgbClr val="00B0F0"/>
                          </a:solidFill>
                          <a:latin typeface="Courier"/>
                        </a:rPr>
                        <a:t>0</a:t>
                      </a:r>
                      <a:r>
                        <a:rPr lang="en-CA" sz="1400" b="1" dirty="0">
                          <a:solidFill>
                            <a:schemeClr val="tx1"/>
                          </a:solidFill>
                          <a:latin typeface="Courier"/>
                        </a:rPr>
                        <a:t>][</a:t>
                      </a:r>
                      <a:r>
                        <a:rPr lang="en-CA" sz="1400" b="1" dirty="0">
                          <a:solidFill>
                            <a:srgbClr val="FF0000"/>
                          </a:solidFill>
                          <a:latin typeface="Courier"/>
                        </a:rPr>
                        <a:t>0</a:t>
                      </a:r>
                      <a:r>
                        <a:rPr lang="en-CA" sz="1400" b="1" dirty="0">
                          <a:solidFill>
                            <a:schemeClr val="tx1"/>
                          </a:solidFill>
                          <a:latin typeface="Courier"/>
                        </a:rPr>
                        <a:t>]</a:t>
                      </a:r>
                    </a:p>
                  </a:txBody>
                  <a:tcPr marL="83127" marR="83127" marT="37785" marB="37785">
                    <a:solidFill>
                      <a:srgbClr val="EBF1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400" b="1" dirty="0">
                          <a:solidFill>
                            <a:schemeClr val="tx1"/>
                          </a:solidFill>
                          <a:latin typeface="Courier"/>
                        </a:rPr>
                        <a:t>a[</a:t>
                      </a:r>
                      <a:r>
                        <a:rPr lang="en-CA" sz="1400" b="1" dirty="0">
                          <a:solidFill>
                            <a:srgbClr val="7030A0"/>
                          </a:solidFill>
                          <a:latin typeface="Courier"/>
                        </a:rPr>
                        <a:t>0</a:t>
                      </a:r>
                      <a:r>
                        <a:rPr lang="en-CA" sz="1400" b="1" dirty="0">
                          <a:solidFill>
                            <a:schemeClr val="tx1"/>
                          </a:solidFill>
                          <a:latin typeface="Courier"/>
                        </a:rPr>
                        <a:t>][</a:t>
                      </a:r>
                      <a:r>
                        <a:rPr lang="en-CA" sz="1400" b="1" dirty="0">
                          <a:solidFill>
                            <a:srgbClr val="00B0F0"/>
                          </a:solidFill>
                          <a:latin typeface="Courier"/>
                        </a:rPr>
                        <a:t>0</a:t>
                      </a:r>
                      <a:r>
                        <a:rPr lang="en-CA" sz="1400" b="1" dirty="0">
                          <a:solidFill>
                            <a:schemeClr val="tx1"/>
                          </a:solidFill>
                          <a:latin typeface="Courier"/>
                        </a:rPr>
                        <a:t>][</a:t>
                      </a:r>
                      <a:r>
                        <a:rPr lang="en-CA" sz="1400" b="1" dirty="0">
                          <a:solidFill>
                            <a:srgbClr val="FF0000"/>
                          </a:solidFill>
                          <a:latin typeface="Courier"/>
                        </a:rPr>
                        <a:t>1</a:t>
                      </a:r>
                      <a:r>
                        <a:rPr lang="en-CA" sz="1400" b="1" dirty="0">
                          <a:solidFill>
                            <a:schemeClr val="tx1"/>
                          </a:solidFill>
                          <a:latin typeface="Courier"/>
                        </a:rPr>
                        <a:t>]</a:t>
                      </a:r>
                    </a:p>
                  </a:txBody>
                  <a:tcPr marL="83127" marR="83127" marT="37785" marB="37785">
                    <a:solidFill>
                      <a:srgbClr val="EBF1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400" b="1" dirty="0">
                          <a:solidFill>
                            <a:schemeClr val="tx1"/>
                          </a:solidFill>
                          <a:latin typeface="Courier"/>
                        </a:rPr>
                        <a:t>a[</a:t>
                      </a:r>
                      <a:r>
                        <a:rPr lang="en-CA" sz="1400" b="1" dirty="0">
                          <a:solidFill>
                            <a:srgbClr val="7030A0"/>
                          </a:solidFill>
                          <a:latin typeface="Courier"/>
                        </a:rPr>
                        <a:t>0</a:t>
                      </a:r>
                      <a:r>
                        <a:rPr lang="en-CA" sz="1400" b="1" dirty="0">
                          <a:solidFill>
                            <a:schemeClr val="tx1"/>
                          </a:solidFill>
                          <a:latin typeface="Courier"/>
                        </a:rPr>
                        <a:t>][</a:t>
                      </a:r>
                      <a:r>
                        <a:rPr lang="en-CA" sz="1400" b="1" dirty="0">
                          <a:solidFill>
                            <a:srgbClr val="00B0F0"/>
                          </a:solidFill>
                          <a:latin typeface="Courier"/>
                        </a:rPr>
                        <a:t>0</a:t>
                      </a:r>
                      <a:r>
                        <a:rPr lang="en-CA" sz="1400" b="1" dirty="0">
                          <a:solidFill>
                            <a:schemeClr val="tx1"/>
                          </a:solidFill>
                          <a:latin typeface="Courier"/>
                        </a:rPr>
                        <a:t>][</a:t>
                      </a:r>
                      <a:r>
                        <a:rPr lang="en-CA" sz="1400" b="1" dirty="0">
                          <a:solidFill>
                            <a:srgbClr val="FF0000"/>
                          </a:solidFill>
                          <a:latin typeface="Courier"/>
                        </a:rPr>
                        <a:t>2</a:t>
                      </a:r>
                      <a:r>
                        <a:rPr lang="en-CA" sz="1400" b="1" dirty="0">
                          <a:solidFill>
                            <a:schemeClr val="tx1"/>
                          </a:solidFill>
                          <a:latin typeface="Courier"/>
                        </a:rPr>
                        <a:t>]</a:t>
                      </a:r>
                    </a:p>
                  </a:txBody>
                  <a:tcPr marL="83127" marR="83127" marT="37785" marB="37785">
                    <a:solidFill>
                      <a:srgbClr val="EBF1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400" b="1" dirty="0">
                          <a:solidFill>
                            <a:schemeClr val="tx1"/>
                          </a:solidFill>
                          <a:latin typeface="Courier"/>
                        </a:rPr>
                        <a:t>a[</a:t>
                      </a:r>
                      <a:r>
                        <a:rPr lang="en-CA" sz="1400" b="1" dirty="0">
                          <a:solidFill>
                            <a:srgbClr val="7030A0"/>
                          </a:solidFill>
                          <a:latin typeface="Courier"/>
                        </a:rPr>
                        <a:t>0</a:t>
                      </a:r>
                      <a:r>
                        <a:rPr lang="en-CA" sz="1400" b="1" dirty="0">
                          <a:solidFill>
                            <a:schemeClr val="tx1"/>
                          </a:solidFill>
                          <a:latin typeface="Courier"/>
                        </a:rPr>
                        <a:t>][</a:t>
                      </a:r>
                      <a:r>
                        <a:rPr lang="en-CA" sz="1400" b="1" dirty="0">
                          <a:solidFill>
                            <a:srgbClr val="00B0F0"/>
                          </a:solidFill>
                          <a:latin typeface="Courier"/>
                        </a:rPr>
                        <a:t>0</a:t>
                      </a:r>
                      <a:r>
                        <a:rPr lang="en-CA" sz="1400" b="1" dirty="0">
                          <a:solidFill>
                            <a:schemeClr val="tx1"/>
                          </a:solidFill>
                          <a:latin typeface="Courier"/>
                        </a:rPr>
                        <a:t>][</a:t>
                      </a:r>
                      <a:r>
                        <a:rPr lang="en-CA" sz="1400" b="1" dirty="0">
                          <a:solidFill>
                            <a:srgbClr val="FF0000"/>
                          </a:solidFill>
                          <a:latin typeface="Courier"/>
                        </a:rPr>
                        <a:t>3</a:t>
                      </a:r>
                      <a:r>
                        <a:rPr lang="en-CA" sz="1400" b="1" dirty="0">
                          <a:solidFill>
                            <a:schemeClr val="tx1"/>
                          </a:solidFill>
                          <a:latin typeface="Courier"/>
                        </a:rPr>
                        <a:t>]</a:t>
                      </a:r>
                    </a:p>
                  </a:txBody>
                  <a:tcPr marL="83127" marR="83127" marT="37785" marB="37785">
                    <a:solidFill>
                      <a:srgbClr val="EBF1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8510802"/>
                  </a:ext>
                </a:extLst>
              </a:tr>
              <a:tr h="306479">
                <a:tc>
                  <a:txBody>
                    <a:bodyPr/>
                    <a:lstStyle/>
                    <a:p>
                      <a:pPr algn="ctr"/>
                      <a:r>
                        <a:rPr lang="en-CA" sz="1400" b="1" dirty="0">
                          <a:solidFill>
                            <a:schemeClr val="tx1"/>
                          </a:solidFill>
                          <a:latin typeface="Courier"/>
                        </a:rPr>
                        <a:t>a[</a:t>
                      </a:r>
                      <a:r>
                        <a:rPr lang="en-CA" sz="1400" b="1" dirty="0">
                          <a:solidFill>
                            <a:srgbClr val="7030A0"/>
                          </a:solidFill>
                          <a:latin typeface="Courier"/>
                        </a:rPr>
                        <a:t>0</a:t>
                      </a:r>
                      <a:r>
                        <a:rPr lang="en-CA" sz="1400" b="1" dirty="0">
                          <a:solidFill>
                            <a:schemeClr val="tx1"/>
                          </a:solidFill>
                          <a:latin typeface="Courier"/>
                        </a:rPr>
                        <a:t>][</a:t>
                      </a:r>
                      <a:r>
                        <a:rPr lang="en-CA" sz="1400" b="1" dirty="0">
                          <a:solidFill>
                            <a:srgbClr val="00B0F0"/>
                          </a:solidFill>
                          <a:latin typeface="Courier"/>
                        </a:rPr>
                        <a:t>1</a:t>
                      </a:r>
                      <a:r>
                        <a:rPr lang="en-CA" sz="1400" b="1" dirty="0">
                          <a:solidFill>
                            <a:schemeClr val="tx1"/>
                          </a:solidFill>
                          <a:latin typeface="Courier"/>
                        </a:rPr>
                        <a:t>][</a:t>
                      </a:r>
                      <a:r>
                        <a:rPr lang="en-CA" sz="1400" b="1" dirty="0">
                          <a:solidFill>
                            <a:srgbClr val="FF0000"/>
                          </a:solidFill>
                          <a:latin typeface="Courier"/>
                        </a:rPr>
                        <a:t>0</a:t>
                      </a:r>
                      <a:r>
                        <a:rPr lang="en-CA" sz="1400" b="1" dirty="0">
                          <a:solidFill>
                            <a:schemeClr val="tx1"/>
                          </a:solidFill>
                          <a:latin typeface="Courier"/>
                        </a:rPr>
                        <a:t>]</a:t>
                      </a:r>
                    </a:p>
                  </a:txBody>
                  <a:tcPr marL="83127" marR="83127" marT="37785" marB="3778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400" b="1" dirty="0">
                          <a:solidFill>
                            <a:schemeClr val="tx1"/>
                          </a:solidFill>
                          <a:latin typeface="Courier"/>
                        </a:rPr>
                        <a:t>a[</a:t>
                      </a:r>
                      <a:r>
                        <a:rPr lang="en-CA" sz="1400" b="1" dirty="0">
                          <a:solidFill>
                            <a:srgbClr val="7030A0"/>
                          </a:solidFill>
                          <a:latin typeface="Courier"/>
                        </a:rPr>
                        <a:t>0</a:t>
                      </a:r>
                      <a:r>
                        <a:rPr lang="en-CA" sz="1400" b="1" dirty="0">
                          <a:solidFill>
                            <a:schemeClr val="tx1"/>
                          </a:solidFill>
                          <a:latin typeface="Courier"/>
                        </a:rPr>
                        <a:t>][</a:t>
                      </a:r>
                      <a:r>
                        <a:rPr lang="en-CA" sz="1400" b="1" dirty="0">
                          <a:solidFill>
                            <a:srgbClr val="00B0F0"/>
                          </a:solidFill>
                          <a:latin typeface="Courier"/>
                        </a:rPr>
                        <a:t>1</a:t>
                      </a:r>
                      <a:r>
                        <a:rPr lang="en-CA" sz="1400" b="1" dirty="0">
                          <a:solidFill>
                            <a:schemeClr val="tx1"/>
                          </a:solidFill>
                          <a:latin typeface="Courier"/>
                        </a:rPr>
                        <a:t>][</a:t>
                      </a:r>
                      <a:r>
                        <a:rPr lang="en-CA" sz="1400" b="1" dirty="0">
                          <a:solidFill>
                            <a:srgbClr val="FF0000"/>
                          </a:solidFill>
                          <a:latin typeface="Courier"/>
                        </a:rPr>
                        <a:t>1</a:t>
                      </a:r>
                      <a:r>
                        <a:rPr lang="en-CA" sz="1400" b="1" dirty="0">
                          <a:solidFill>
                            <a:schemeClr val="tx1"/>
                          </a:solidFill>
                          <a:latin typeface="Courier"/>
                        </a:rPr>
                        <a:t>]</a:t>
                      </a:r>
                    </a:p>
                  </a:txBody>
                  <a:tcPr marL="83127" marR="83127" marT="37785" marB="3778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400" b="1" dirty="0">
                          <a:solidFill>
                            <a:schemeClr val="tx1"/>
                          </a:solidFill>
                          <a:latin typeface="Courier"/>
                        </a:rPr>
                        <a:t>a[</a:t>
                      </a:r>
                      <a:r>
                        <a:rPr lang="en-CA" sz="1400" b="1" dirty="0">
                          <a:solidFill>
                            <a:srgbClr val="7030A0"/>
                          </a:solidFill>
                          <a:latin typeface="Courier"/>
                        </a:rPr>
                        <a:t>0</a:t>
                      </a:r>
                      <a:r>
                        <a:rPr lang="en-CA" sz="1400" b="1" dirty="0">
                          <a:solidFill>
                            <a:schemeClr val="tx1"/>
                          </a:solidFill>
                          <a:latin typeface="Courier"/>
                        </a:rPr>
                        <a:t>][</a:t>
                      </a:r>
                      <a:r>
                        <a:rPr lang="en-CA" sz="1400" b="1" dirty="0">
                          <a:solidFill>
                            <a:srgbClr val="00B0F0"/>
                          </a:solidFill>
                          <a:latin typeface="Courier"/>
                        </a:rPr>
                        <a:t>1</a:t>
                      </a:r>
                      <a:r>
                        <a:rPr lang="en-CA" sz="1400" b="1" dirty="0">
                          <a:solidFill>
                            <a:schemeClr val="tx1"/>
                          </a:solidFill>
                          <a:latin typeface="Courier"/>
                        </a:rPr>
                        <a:t>][</a:t>
                      </a:r>
                      <a:r>
                        <a:rPr lang="en-CA" sz="1400" b="1" dirty="0">
                          <a:solidFill>
                            <a:srgbClr val="FF0000"/>
                          </a:solidFill>
                          <a:latin typeface="Courier"/>
                        </a:rPr>
                        <a:t>2</a:t>
                      </a:r>
                      <a:r>
                        <a:rPr lang="en-CA" sz="1400" b="1" dirty="0">
                          <a:solidFill>
                            <a:schemeClr val="tx1"/>
                          </a:solidFill>
                          <a:latin typeface="Courier"/>
                        </a:rPr>
                        <a:t>]</a:t>
                      </a:r>
                    </a:p>
                  </a:txBody>
                  <a:tcPr marL="83127" marR="83127" marT="37785" marB="3778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400" b="1" dirty="0">
                          <a:solidFill>
                            <a:schemeClr val="tx1"/>
                          </a:solidFill>
                          <a:latin typeface="Courier"/>
                        </a:rPr>
                        <a:t>a[</a:t>
                      </a:r>
                      <a:r>
                        <a:rPr lang="en-CA" sz="1400" b="1" dirty="0">
                          <a:solidFill>
                            <a:srgbClr val="7030A0"/>
                          </a:solidFill>
                          <a:latin typeface="Courier"/>
                        </a:rPr>
                        <a:t>0</a:t>
                      </a:r>
                      <a:r>
                        <a:rPr lang="en-CA" sz="1400" b="1" dirty="0">
                          <a:solidFill>
                            <a:schemeClr val="tx1"/>
                          </a:solidFill>
                          <a:latin typeface="Courier"/>
                        </a:rPr>
                        <a:t>][</a:t>
                      </a:r>
                      <a:r>
                        <a:rPr lang="en-CA" sz="1400" b="1" dirty="0">
                          <a:solidFill>
                            <a:srgbClr val="00B0F0"/>
                          </a:solidFill>
                          <a:latin typeface="Courier"/>
                        </a:rPr>
                        <a:t>1</a:t>
                      </a:r>
                      <a:r>
                        <a:rPr lang="en-CA" sz="1400" b="1" dirty="0">
                          <a:solidFill>
                            <a:schemeClr val="tx1"/>
                          </a:solidFill>
                          <a:latin typeface="Courier"/>
                        </a:rPr>
                        <a:t>][</a:t>
                      </a:r>
                      <a:r>
                        <a:rPr lang="en-CA" sz="1400" b="1" dirty="0">
                          <a:solidFill>
                            <a:srgbClr val="FF0000"/>
                          </a:solidFill>
                          <a:latin typeface="Courier"/>
                        </a:rPr>
                        <a:t>3</a:t>
                      </a:r>
                      <a:r>
                        <a:rPr lang="en-CA" sz="1400" b="1" dirty="0">
                          <a:solidFill>
                            <a:schemeClr val="tx1"/>
                          </a:solidFill>
                          <a:latin typeface="Courier"/>
                        </a:rPr>
                        <a:t>]</a:t>
                      </a:r>
                    </a:p>
                  </a:txBody>
                  <a:tcPr marL="83127" marR="83127" marT="37785" marB="37785"/>
                </a:tc>
                <a:extLst>
                  <a:ext uri="{0D108BD9-81ED-4DB2-BD59-A6C34878D82A}">
                    <a16:rowId xmlns:a16="http://schemas.microsoft.com/office/drawing/2014/main" val="386936724"/>
                  </a:ext>
                </a:extLst>
              </a:tr>
              <a:tr h="306479">
                <a:tc>
                  <a:txBody>
                    <a:bodyPr/>
                    <a:lstStyle/>
                    <a:p>
                      <a:pPr algn="ctr"/>
                      <a:r>
                        <a:rPr lang="en-CA" sz="1400" b="1" dirty="0">
                          <a:solidFill>
                            <a:schemeClr val="tx1"/>
                          </a:solidFill>
                          <a:latin typeface="Courier"/>
                        </a:rPr>
                        <a:t>a[</a:t>
                      </a:r>
                      <a:r>
                        <a:rPr lang="en-CA" sz="1400" b="1" dirty="0">
                          <a:solidFill>
                            <a:srgbClr val="7030A0"/>
                          </a:solidFill>
                          <a:latin typeface="Courier"/>
                        </a:rPr>
                        <a:t>0</a:t>
                      </a:r>
                      <a:r>
                        <a:rPr lang="en-CA" sz="1400" b="1" dirty="0">
                          <a:solidFill>
                            <a:schemeClr val="tx1"/>
                          </a:solidFill>
                          <a:latin typeface="Courier"/>
                        </a:rPr>
                        <a:t>][</a:t>
                      </a:r>
                      <a:r>
                        <a:rPr lang="en-CA" sz="1400" b="1" dirty="0">
                          <a:solidFill>
                            <a:srgbClr val="00B0F0"/>
                          </a:solidFill>
                          <a:latin typeface="Courier"/>
                        </a:rPr>
                        <a:t>2</a:t>
                      </a:r>
                      <a:r>
                        <a:rPr lang="en-CA" sz="1400" b="1" dirty="0">
                          <a:solidFill>
                            <a:schemeClr val="tx1"/>
                          </a:solidFill>
                          <a:latin typeface="Courier"/>
                        </a:rPr>
                        <a:t>][</a:t>
                      </a:r>
                      <a:r>
                        <a:rPr lang="en-CA" sz="1400" b="1" dirty="0">
                          <a:solidFill>
                            <a:srgbClr val="FF0000"/>
                          </a:solidFill>
                          <a:latin typeface="Courier"/>
                        </a:rPr>
                        <a:t>0</a:t>
                      </a:r>
                      <a:r>
                        <a:rPr lang="en-CA" sz="1400" b="1" dirty="0">
                          <a:solidFill>
                            <a:schemeClr val="tx1"/>
                          </a:solidFill>
                          <a:latin typeface="Courier"/>
                        </a:rPr>
                        <a:t>]</a:t>
                      </a:r>
                    </a:p>
                  </a:txBody>
                  <a:tcPr marL="83127" marR="83127" marT="37785" marB="3778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400" b="1" dirty="0">
                          <a:solidFill>
                            <a:schemeClr val="tx1"/>
                          </a:solidFill>
                          <a:latin typeface="Courier"/>
                        </a:rPr>
                        <a:t>a[</a:t>
                      </a:r>
                      <a:r>
                        <a:rPr lang="en-CA" sz="1400" b="1" dirty="0">
                          <a:solidFill>
                            <a:srgbClr val="7030A0"/>
                          </a:solidFill>
                          <a:latin typeface="Courier"/>
                        </a:rPr>
                        <a:t>0</a:t>
                      </a:r>
                      <a:r>
                        <a:rPr lang="en-CA" sz="1400" b="1" dirty="0">
                          <a:solidFill>
                            <a:schemeClr val="tx1"/>
                          </a:solidFill>
                          <a:latin typeface="Courier"/>
                        </a:rPr>
                        <a:t>][</a:t>
                      </a:r>
                      <a:r>
                        <a:rPr lang="en-CA" sz="1400" b="1" dirty="0">
                          <a:solidFill>
                            <a:srgbClr val="00B0F0"/>
                          </a:solidFill>
                          <a:latin typeface="Courier"/>
                        </a:rPr>
                        <a:t>2</a:t>
                      </a:r>
                      <a:r>
                        <a:rPr lang="en-CA" sz="1400" b="1" dirty="0">
                          <a:solidFill>
                            <a:schemeClr val="tx1"/>
                          </a:solidFill>
                          <a:latin typeface="Courier"/>
                        </a:rPr>
                        <a:t>][</a:t>
                      </a:r>
                      <a:r>
                        <a:rPr lang="en-CA" sz="1400" b="1" dirty="0">
                          <a:solidFill>
                            <a:srgbClr val="FF0000"/>
                          </a:solidFill>
                          <a:latin typeface="Courier"/>
                        </a:rPr>
                        <a:t>1</a:t>
                      </a:r>
                      <a:r>
                        <a:rPr lang="en-CA" sz="1400" b="1" dirty="0">
                          <a:solidFill>
                            <a:schemeClr val="tx1"/>
                          </a:solidFill>
                          <a:latin typeface="Courier"/>
                        </a:rPr>
                        <a:t>]</a:t>
                      </a:r>
                    </a:p>
                  </a:txBody>
                  <a:tcPr marL="83127" marR="83127" marT="37785" marB="3778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400" b="1" dirty="0">
                          <a:solidFill>
                            <a:schemeClr val="tx1"/>
                          </a:solidFill>
                          <a:latin typeface="Courier"/>
                        </a:rPr>
                        <a:t>a[</a:t>
                      </a:r>
                      <a:r>
                        <a:rPr lang="en-CA" sz="1400" b="1" dirty="0">
                          <a:solidFill>
                            <a:srgbClr val="7030A0"/>
                          </a:solidFill>
                          <a:latin typeface="Courier"/>
                        </a:rPr>
                        <a:t>0</a:t>
                      </a:r>
                      <a:r>
                        <a:rPr lang="en-CA" sz="1400" b="1" dirty="0">
                          <a:solidFill>
                            <a:schemeClr val="tx1"/>
                          </a:solidFill>
                          <a:latin typeface="Courier"/>
                        </a:rPr>
                        <a:t>][</a:t>
                      </a:r>
                      <a:r>
                        <a:rPr lang="en-CA" sz="1400" b="1" dirty="0">
                          <a:solidFill>
                            <a:srgbClr val="00B0F0"/>
                          </a:solidFill>
                          <a:latin typeface="Courier"/>
                        </a:rPr>
                        <a:t>2</a:t>
                      </a:r>
                      <a:r>
                        <a:rPr lang="en-CA" sz="1400" b="1" dirty="0">
                          <a:solidFill>
                            <a:schemeClr val="tx1"/>
                          </a:solidFill>
                          <a:latin typeface="Courier"/>
                        </a:rPr>
                        <a:t>][</a:t>
                      </a:r>
                      <a:r>
                        <a:rPr lang="en-CA" sz="1400" b="1" dirty="0">
                          <a:solidFill>
                            <a:srgbClr val="FF0000"/>
                          </a:solidFill>
                          <a:latin typeface="Courier"/>
                        </a:rPr>
                        <a:t>2</a:t>
                      </a:r>
                      <a:r>
                        <a:rPr lang="en-CA" sz="1400" b="1" dirty="0">
                          <a:solidFill>
                            <a:schemeClr val="tx1"/>
                          </a:solidFill>
                          <a:latin typeface="Courier"/>
                        </a:rPr>
                        <a:t>]</a:t>
                      </a:r>
                    </a:p>
                  </a:txBody>
                  <a:tcPr marL="83127" marR="83127" marT="37785" marB="3778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400" b="1" dirty="0">
                          <a:solidFill>
                            <a:schemeClr val="tx1"/>
                          </a:solidFill>
                          <a:latin typeface="Courier"/>
                        </a:rPr>
                        <a:t>a[</a:t>
                      </a:r>
                      <a:r>
                        <a:rPr lang="en-CA" sz="1400" b="1" dirty="0">
                          <a:solidFill>
                            <a:srgbClr val="7030A0"/>
                          </a:solidFill>
                          <a:latin typeface="Courier"/>
                        </a:rPr>
                        <a:t>0</a:t>
                      </a:r>
                      <a:r>
                        <a:rPr lang="en-CA" sz="1400" b="1" dirty="0">
                          <a:solidFill>
                            <a:schemeClr val="tx1"/>
                          </a:solidFill>
                          <a:latin typeface="Courier"/>
                        </a:rPr>
                        <a:t>][</a:t>
                      </a:r>
                      <a:r>
                        <a:rPr lang="en-CA" sz="1400" b="1" dirty="0">
                          <a:solidFill>
                            <a:srgbClr val="00B0F0"/>
                          </a:solidFill>
                          <a:latin typeface="Courier"/>
                        </a:rPr>
                        <a:t>2</a:t>
                      </a:r>
                      <a:r>
                        <a:rPr lang="en-CA" sz="1400" b="1" dirty="0">
                          <a:solidFill>
                            <a:schemeClr val="tx1"/>
                          </a:solidFill>
                          <a:latin typeface="Courier"/>
                        </a:rPr>
                        <a:t>][</a:t>
                      </a:r>
                      <a:r>
                        <a:rPr lang="en-CA" sz="1400" b="1" dirty="0">
                          <a:solidFill>
                            <a:srgbClr val="FF0000"/>
                          </a:solidFill>
                          <a:latin typeface="Courier"/>
                        </a:rPr>
                        <a:t>3</a:t>
                      </a:r>
                      <a:r>
                        <a:rPr lang="en-CA" sz="1400" b="1" dirty="0">
                          <a:solidFill>
                            <a:schemeClr val="tx1"/>
                          </a:solidFill>
                          <a:latin typeface="Courier"/>
                        </a:rPr>
                        <a:t>]</a:t>
                      </a:r>
                    </a:p>
                  </a:txBody>
                  <a:tcPr marL="83127" marR="83127" marT="37785" marB="37785"/>
                </a:tc>
                <a:extLst>
                  <a:ext uri="{0D108BD9-81ED-4DB2-BD59-A6C34878D82A}">
                    <a16:rowId xmlns:a16="http://schemas.microsoft.com/office/drawing/2014/main" val="534441713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3D9A884D-48C6-49A4-1673-E3101739A791}"/>
              </a:ext>
            </a:extLst>
          </p:cNvPr>
          <p:cNvSpPr txBox="1"/>
          <p:nvPr/>
        </p:nvSpPr>
        <p:spPr>
          <a:xfrm>
            <a:off x="1985555" y="4246626"/>
            <a:ext cx="8229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2000" b="1" dirty="0">
                <a:solidFill>
                  <a:schemeClr val="tx1"/>
                </a:solidFill>
                <a:latin typeface="Courier"/>
              </a:rPr>
              <a:t>a[</a:t>
            </a:r>
            <a:r>
              <a:rPr lang="en-CA" sz="2000" b="1" dirty="0">
                <a:solidFill>
                  <a:srgbClr val="7030A0"/>
                </a:solidFill>
                <a:latin typeface="Courier"/>
              </a:rPr>
              <a:t>0</a:t>
            </a:r>
            <a:r>
              <a:rPr lang="en-CA" sz="2000" b="1" dirty="0">
                <a:solidFill>
                  <a:schemeClr val="tx1"/>
                </a:solidFill>
                <a:latin typeface="Courier"/>
              </a:rPr>
              <a:t>]</a:t>
            </a:r>
            <a:endParaRPr lang="en-US" sz="2000" dirty="0"/>
          </a:p>
        </p:txBody>
      </p:sp>
      <p:graphicFrame>
        <p:nvGraphicFramePr>
          <p:cNvPr id="10" name="Table 7">
            <a:extLst>
              <a:ext uri="{FF2B5EF4-FFF2-40B4-BE49-F238E27FC236}">
                <a16:creationId xmlns:a16="http://schemas.microsoft.com/office/drawing/2014/main" id="{A6CE0931-DFE9-C48B-630F-A240A21FD6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2409589"/>
              </p:ext>
            </p:extLst>
          </p:nvPr>
        </p:nvGraphicFramePr>
        <p:xfrm>
          <a:off x="4296756" y="5040069"/>
          <a:ext cx="5264728" cy="919437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316182">
                  <a:extLst>
                    <a:ext uri="{9D8B030D-6E8A-4147-A177-3AD203B41FA5}">
                      <a16:colId xmlns:a16="http://schemas.microsoft.com/office/drawing/2014/main" val="1857430406"/>
                    </a:ext>
                  </a:extLst>
                </a:gridCol>
                <a:gridCol w="1316182">
                  <a:extLst>
                    <a:ext uri="{9D8B030D-6E8A-4147-A177-3AD203B41FA5}">
                      <a16:colId xmlns:a16="http://schemas.microsoft.com/office/drawing/2014/main" val="2925491084"/>
                    </a:ext>
                  </a:extLst>
                </a:gridCol>
                <a:gridCol w="1316182">
                  <a:extLst>
                    <a:ext uri="{9D8B030D-6E8A-4147-A177-3AD203B41FA5}">
                      <a16:colId xmlns:a16="http://schemas.microsoft.com/office/drawing/2014/main" val="2046540477"/>
                    </a:ext>
                  </a:extLst>
                </a:gridCol>
                <a:gridCol w="1316182">
                  <a:extLst>
                    <a:ext uri="{9D8B030D-6E8A-4147-A177-3AD203B41FA5}">
                      <a16:colId xmlns:a16="http://schemas.microsoft.com/office/drawing/2014/main" val="2264517988"/>
                    </a:ext>
                  </a:extLst>
                </a:gridCol>
              </a:tblGrid>
              <a:tr h="306479">
                <a:tc>
                  <a:txBody>
                    <a:bodyPr/>
                    <a:lstStyle/>
                    <a:p>
                      <a:pPr algn="ctr"/>
                      <a:r>
                        <a:rPr lang="en-CA" sz="1400" b="1" dirty="0">
                          <a:solidFill>
                            <a:schemeClr val="tx1"/>
                          </a:solidFill>
                          <a:latin typeface="Courier"/>
                        </a:rPr>
                        <a:t>a[</a:t>
                      </a:r>
                      <a:r>
                        <a:rPr lang="en-CA" sz="1400" b="1" dirty="0">
                          <a:solidFill>
                            <a:srgbClr val="7030A0"/>
                          </a:solidFill>
                          <a:latin typeface="Courier"/>
                        </a:rPr>
                        <a:t>1</a:t>
                      </a:r>
                      <a:r>
                        <a:rPr lang="en-CA" sz="1400" b="1" dirty="0">
                          <a:solidFill>
                            <a:schemeClr val="tx1"/>
                          </a:solidFill>
                          <a:latin typeface="Courier"/>
                        </a:rPr>
                        <a:t>][</a:t>
                      </a:r>
                      <a:r>
                        <a:rPr lang="en-CA" sz="1400" b="1" dirty="0">
                          <a:solidFill>
                            <a:srgbClr val="00B0F0"/>
                          </a:solidFill>
                          <a:latin typeface="Courier"/>
                        </a:rPr>
                        <a:t>0</a:t>
                      </a:r>
                      <a:r>
                        <a:rPr lang="en-CA" sz="1400" b="1" dirty="0">
                          <a:solidFill>
                            <a:schemeClr val="tx1"/>
                          </a:solidFill>
                          <a:latin typeface="Courier"/>
                        </a:rPr>
                        <a:t>][</a:t>
                      </a:r>
                      <a:r>
                        <a:rPr lang="en-CA" sz="1400" b="1" dirty="0">
                          <a:solidFill>
                            <a:srgbClr val="FF0000"/>
                          </a:solidFill>
                          <a:latin typeface="Courier"/>
                        </a:rPr>
                        <a:t>0</a:t>
                      </a:r>
                      <a:r>
                        <a:rPr lang="en-CA" sz="1400" b="1" dirty="0">
                          <a:solidFill>
                            <a:schemeClr val="tx1"/>
                          </a:solidFill>
                          <a:latin typeface="Courier"/>
                        </a:rPr>
                        <a:t>]</a:t>
                      </a:r>
                    </a:p>
                  </a:txBody>
                  <a:tcPr marL="83127" marR="83127" marT="37785" marB="37785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400" b="1" dirty="0">
                          <a:solidFill>
                            <a:schemeClr val="tx1"/>
                          </a:solidFill>
                          <a:latin typeface="Courier"/>
                        </a:rPr>
                        <a:t>a[</a:t>
                      </a:r>
                      <a:r>
                        <a:rPr lang="en-CA" sz="1400" b="1" dirty="0">
                          <a:solidFill>
                            <a:srgbClr val="7030A0"/>
                          </a:solidFill>
                          <a:latin typeface="Courier"/>
                        </a:rPr>
                        <a:t>1</a:t>
                      </a:r>
                      <a:r>
                        <a:rPr lang="en-CA" sz="1400" b="1" dirty="0">
                          <a:solidFill>
                            <a:schemeClr val="tx1"/>
                          </a:solidFill>
                          <a:latin typeface="Courier"/>
                        </a:rPr>
                        <a:t>][</a:t>
                      </a:r>
                      <a:r>
                        <a:rPr lang="en-CA" sz="1400" b="1" dirty="0">
                          <a:solidFill>
                            <a:srgbClr val="00B0F0"/>
                          </a:solidFill>
                          <a:latin typeface="Courier"/>
                        </a:rPr>
                        <a:t>0</a:t>
                      </a:r>
                      <a:r>
                        <a:rPr lang="en-CA" sz="1400" b="1" dirty="0">
                          <a:solidFill>
                            <a:schemeClr val="tx1"/>
                          </a:solidFill>
                          <a:latin typeface="Courier"/>
                        </a:rPr>
                        <a:t>][</a:t>
                      </a:r>
                      <a:r>
                        <a:rPr lang="en-CA" sz="1400" b="1" dirty="0">
                          <a:solidFill>
                            <a:srgbClr val="FF0000"/>
                          </a:solidFill>
                          <a:latin typeface="Courier"/>
                        </a:rPr>
                        <a:t>1</a:t>
                      </a:r>
                      <a:r>
                        <a:rPr lang="en-CA" sz="1400" b="1" dirty="0">
                          <a:solidFill>
                            <a:schemeClr val="tx1"/>
                          </a:solidFill>
                          <a:latin typeface="Courier"/>
                        </a:rPr>
                        <a:t>]</a:t>
                      </a:r>
                    </a:p>
                  </a:txBody>
                  <a:tcPr marL="83127" marR="83127" marT="37785" marB="37785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400" b="1" dirty="0">
                          <a:solidFill>
                            <a:schemeClr val="tx1"/>
                          </a:solidFill>
                          <a:latin typeface="Courier"/>
                        </a:rPr>
                        <a:t>a[</a:t>
                      </a:r>
                      <a:r>
                        <a:rPr lang="en-CA" sz="1400" b="1" dirty="0">
                          <a:solidFill>
                            <a:srgbClr val="7030A0"/>
                          </a:solidFill>
                          <a:latin typeface="Courier"/>
                        </a:rPr>
                        <a:t>1</a:t>
                      </a:r>
                      <a:r>
                        <a:rPr lang="en-CA" sz="1400" b="1" dirty="0">
                          <a:solidFill>
                            <a:schemeClr val="tx1"/>
                          </a:solidFill>
                          <a:latin typeface="Courier"/>
                        </a:rPr>
                        <a:t>][</a:t>
                      </a:r>
                      <a:r>
                        <a:rPr lang="en-CA" sz="1400" b="1" dirty="0">
                          <a:solidFill>
                            <a:srgbClr val="00B0F0"/>
                          </a:solidFill>
                          <a:latin typeface="Courier"/>
                        </a:rPr>
                        <a:t>0</a:t>
                      </a:r>
                      <a:r>
                        <a:rPr lang="en-CA" sz="1400" b="1" dirty="0">
                          <a:solidFill>
                            <a:schemeClr val="tx1"/>
                          </a:solidFill>
                          <a:latin typeface="Courier"/>
                        </a:rPr>
                        <a:t>][</a:t>
                      </a:r>
                      <a:r>
                        <a:rPr lang="en-CA" sz="1400" b="1" dirty="0">
                          <a:solidFill>
                            <a:srgbClr val="FF0000"/>
                          </a:solidFill>
                          <a:latin typeface="Courier"/>
                        </a:rPr>
                        <a:t>2</a:t>
                      </a:r>
                      <a:r>
                        <a:rPr lang="en-CA" sz="1400" b="1" dirty="0">
                          <a:solidFill>
                            <a:schemeClr val="tx1"/>
                          </a:solidFill>
                          <a:latin typeface="Courier"/>
                        </a:rPr>
                        <a:t>]</a:t>
                      </a:r>
                    </a:p>
                  </a:txBody>
                  <a:tcPr marL="83127" marR="83127" marT="37785" marB="37785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400" b="1" dirty="0">
                          <a:solidFill>
                            <a:schemeClr val="tx1"/>
                          </a:solidFill>
                          <a:latin typeface="Courier"/>
                        </a:rPr>
                        <a:t>a[</a:t>
                      </a:r>
                      <a:r>
                        <a:rPr lang="en-CA" sz="1400" b="1" dirty="0">
                          <a:solidFill>
                            <a:srgbClr val="7030A0"/>
                          </a:solidFill>
                          <a:latin typeface="Courier"/>
                        </a:rPr>
                        <a:t>1</a:t>
                      </a:r>
                      <a:r>
                        <a:rPr lang="en-CA" sz="1400" b="1" dirty="0">
                          <a:solidFill>
                            <a:schemeClr val="tx1"/>
                          </a:solidFill>
                          <a:latin typeface="Courier"/>
                        </a:rPr>
                        <a:t>][</a:t>
                      </a:r>
                      <a:r>
                        <a:rPr lang="en-CA" sz="1400" b="1" dirty="0">
                          <a:solidFill>
                            <a:srgbClr val="00B0F0"/>
                          </a:solidFill>
                          <a:latin typeface="Courier"/>
                        </a:rPr>
                        <a:t>0</a:t>
                      </a:r>
                      <a:r>
                        <a:rPr lang="en-CA" sz="1400" b="1" dirty="0">
                          <a:solidFill>
                            <a:schemeClr val="tx1"/>
                          </a:solidFill>
                          <a:latin typeface="Courier"/>
                        </a:rPr>
                        <a:t>][</a:t>
                      </a:r>
                      <a:r>
                        <a:rPr lang="en-CA" sz="1400" b="1" dirty="0">
                          <a:solidFill>
                            <a:srgbClr val="FF0000"/>
                          </a:solidFill>
                          <a:latin typeface="Courier"/>
                        </a:rPr>
                        <a:t>3</a:t>
                      </a:r>
                      <a:r>
                        <a:rPr lang="en-CA" sz="1400" b="1" dirty="0">
                          <a:solidFill>
                            <a:schemeClr val="tx1"/>
                          </a:solidFill>
                          <a:latin typeface="Courier"/>
                        </a:rPr>
                        <a:t>]</a:t>
                      </a:r>
                    </a:p>
                  </a:txBody>
                  <a:tcPr marL="83127" marR="83127" marT="37785" marB="37785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8510802"/>
                  </a:ext>
                </a:extLst>
              </a:tr>
              <a:tr h="306479">
                <a:tc>
                  <a:txBody>
                    <a:bodyPr/>
                    <a:lstStyle/>
                    <a:p>
                      <a:pPr algn="ctr"/>
                      <a:r>
                        <a:rPr lang="en-CA" sz="1400" b="1" dirty="0">
                          <a:solidFill>
                            <a:schemeClr val="tx1"/>
                          </a:solidFill>
                          <a:latin typeface="Courier"/>
                        </a:rPr>
                        <a:t>a[</a:t>
                      </a:r>
                      <a:r>
                        <a:rPr lang="en-CA" sz="1400" b="1" dirty="0">
                          <a:solidFill>
                            <a:srgbClr val="7030A0"/>
                          </a:solidFill>
                          <a:latin typeface="Courier"/>
                        </a:rPr>
                        <a:t>1</a:t>
                      </a:r>
                      <a:r>
                        <a:rPr lang="en-CA" sz="1400" b="1" dirty="0">
                          <a:solidFill>
                            <a:schemeClr val="tx1"/>
                          </a:solidFill>
                          <a:latin typeface="Courier"/>
                        </a:rPr>
                        <a:t>][</a:t>
                      </a:r>
                      <a:r>
                        <a:rPr lang="en-CA" sz="1400" b="1" dirty="0">
                          <a:solidFill>
                            <a:srgbClr val="00B0F0"/>
                          </a:solidFill>
                          <a:latin typeface="Courier"/>
                        </a:rPr>
                        <a:t>1</a:t>
                      </a:r>
                      <a:r>
                        <a:rPr lang="en-CA" sz="1400" b="1" dirty="0">
                          <a:solidFill>
                            <a:schemeClr val="tx1"/>
                          </a:solidFill>
                          <a:latin typeface="Courier"/>
                        </a:rPr>
                        <a:t>][</a:t>
                      </a:r>
                      <a:r>
                        <a:rPr lang="en-CA" sz="1400" b="1" dirty="0">
                          <a:solidFill>
                            <a:srgbClr val="FF0000"/>
                          </a:solidFill>
                          <a:latin typeface="Courier"/>
                        </a:rPr>
                        <a:t>0</a:t>
                      </a:r>
                      <a:r>
                        <a:rPr lang="en-CA" sz="1400" b="1" dirty="0">
                          <a:solidFill>
                            <a:schemeClr val="tx1"/>
                          </a:solidFill>
                          <a:latin typeface="Courier"/>
                        </a:rPr>
                        <a:t>]</a:t>
                      </a:r>
                    </a:p>
                  </a:txBody>
                  <a:tcPr marL="83127" marR="83127" marT="37785" marB="37785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400" b="1" dirty="0">
                          <a:solidFill>
                            <a:schemeClr val="tx1"/>
                          </a:solidFill>
                          <a:latin typeface="Courier"/>
                        </a:rPr>
                        <a:t>a[</a:t>
                      </a:r>
                      <a:r>
                        <a:rPr lang="en-CA" sz="1400" b="1" dirty="0">
                          <a:solidFill>
                            <a:srgbClr val="7030A0"/>
                          </a:solidFill>
                          <a:latin typeface="Courier"/>
                        </a:rPr>
                        <a:t>1</a:t>
                      </a:r>
                      <a:r>
                        <a:rPr lang="en-CA" sz="1400" b="1" dirty="0">
                          <a:solidFill>
                            <a:schemeClr val="tx1"/>
                          </a:solidFill>
                          <a:latin typeface="Courier"/>
                        </a:rPr>
                        <a:t>][</a:t>
                      </a:r>
                      <a:r>
                        <a:rPr lang="en-CA" sz="1400" b="1" dirty="0">
                          <a:solidFill>
                            <a:srgbClr val="00B0F0"/>
                          </a:solidFill>
                          <a:latin typeface="Courier"/>
                        </a:rPr>
                        <a:t>1</a:t>
                      </a:r>
                      <a:r>
                        <a:rPr lang="en-CA" sz="1400" b="1" dirty="0">
                          <a:solidFill>
                            <a:schemeClr val="tx1"/>
                          </a:solidFill>
                          <a:latin typeface="Courier"/>
                        </a:rPr>
                        <a:t>][</a:t>
                      </a:r>
                      <a:r>
                        <a:rPr lang="en-CA" sz="1400" b="1" dirty="0">
                          <a:solidFill>
                            <a:srgbClr val="FF0000"/>
                          </a:solidFill>
                          <a:latin typeface="Courier"/>
                        </a:rPr>
                        <a:t>1</a:t>
                      </a:r>
                      <a:r>
                        <a:rPr lang="en-CA" sz="1400" b="1" dirty="0">
                          <a:solidFill>
                            <a:schemeClr val="tx1"/>
                          </a:solidFill>
                          <a:latin typeface="Courier"/>
                        </a:rPr>
                        <a:t>]</a:t>
                      </a:r>
                    </a:p>
                  </a:txBody>
                  <a:tcPr marL="83127" marR="83127" marT="37785" marB="37785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400" b="1" dirty="0">
                          <a:solidFill>
                            <a:schemeClr val="tx1"/>
                          </a:solidFill>
                          <a:latin typeface="Courier"/>
                        </a:rPr>
                        <a:t>a[</a:t>
                      </a:r>
                      <a:r>
                        <a:rPr lang="en-CA" sz="1400" b="1" dirty="0">
                          <a:solidFill>
                            <a:srgbClr val="7030A0"/>
                          </a:solidFill>
                          <a:latin typeface="Courier"/>
                        </a:rPr>
                        <a:t>1</a:t>
                      </a:r>
                      <a:r>
                        <a:rPr lang="en-CA" sz="1400" b="1" dirty="0">
                          <a:solidFill>
                            <a:schemeClr val="tx1"/>
                          </a:solidFill>
                          <a:latin typeface="Courier"/>
                        </a:rPr>
                        <a:t>][</a:t>
                      </a:r>
                      <a:r>
                        <a:rPr lang="en-CA" sz="1400" b="1" dirty="0">
                          <a:solidFill>
                            <a:srgbClr val="00B0F0"/>
                          </a:solidFill>
                          <a:latin typeface="Courier"/>
                        </a:rPr>
                        <a:t>1</a:t>
                      </a:r>
                      <a:r>
                        <a:rPr lang="en-CA" sz="1400" b="1" dirty="0">
                          <a:solidFill>
                            <a:schemeClr val="tx1"/>
                          </a:solidFill>
                          <a:latin typeface="Courier"/>
                        </a:rPr>
                        <a:t>][</a:t>
                      </a:r>
                      <a:r>
                        <a:rPr lang="en-CA" sz="1400" b="1" dirty="0">
                          <a:solidFill>
                            <a:srgbClr val="FF0000"/>
                          </a:solidFill>
                          <a:latin typeface="Courier"/>
                        </a:rPr>
                        <a:t>2</a:t>
                      </a:r>
                      <a:r>
                        <a:rPr lang="en-CA" sz="1400" b="1" dirty="0">
                          <a:solidFill>
                            <a:schemeClr val="tx1"/>
                          </a:solidFill>
                          <a:latin typeface="Courier"/>
                        </a:rPr>
                        <a:t>]</a:t>
                      </a:r>
                    </a:p>
                  </a:txBody>
                  <a:tcPr marL="83127" marR="83127" marT="37785" marB="37785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400" b="1" dirty="0">
                          <a:solidFill>
                            <a:schemeClr val="tx1"/>
                          </a:solidFill>
                          <a:latin typeface="Courier"/>
                        </a:rPr>
                        <a:t>a[</a:t>
                      </a:r>
                      <a:r>
                        <a:rPr lang="en-CA" sz="1400" b="1" dirty="0">
                          <a:solidFill>
                            <a:srgbClr val="7030A0"/>
                          </a:solidFill>
                          <a:latin typeface="Courier"/>
                        </a:rPr>
                        <a:t>1</a:t>
                      </a:r>
                      <a:r>
                        <a:rPr lang="en-CA" sz="1400" b="1" dirty="0">
                          <a:solidFill>
                            <a:schemeClr val="tx1"/>
                          </a:solidFill>
                          <a:latin typeface="Courier"/>
                        </a:rPr>
                        <a:t>][</a:t>
                      </a:r>
                      <a:r>
                        <a:rPr lang="en-CA" sz="1400" b="1" dirty="0">
                          <a:solidFill>
                            <a:srgbClr val="00B0F0"/>
                          </a:solidFill>
                          <a:latin typeface="Courier"/>
                        </a:rPr>
                        <a:t>1</a:t>
                      </a:r>
                      <a:r>
                        <a:rPr lang="en-CA" sz="1400" b="1" dirty="0">
                          <a:solidFill>
                            <a:schemeClr val="tx1"/>
                          </a:solidFill>
                          <a:latin typeface="Courier"/>
                        </a:rPr>
                        <a:t>][</a:t>
                      </a:r>
                      <a:r>
                        <a:rPr lang="en-CA" sz="1400" b="1" dirty="0">
                          <a:solidFill>
                            <a:srgbClr val="FF0000"/>
                          </a:solidFill>
                          <a:latin typeface="Courier"/>
                        </a:rPr>
                        <a:t>3</a:t>
                      </a:r>
                      <a:r>
                        <a:rPr lang="en-CA" sz="1400" b="1" dirty="0">
                          <a:solidFill>
                            <a:schemeClr val="tx1"/>
                          </a:solidFill>
                          <a:latin typeface="Courier"/>
                        </a:rPr>
                        <a:t>]</a:t>
                      </a:r>
                    </a:p>
                  </a:txBody>
                  <a:tcPr marL="83127" marR="83127" marT="37785" marB="37785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936724"/>
                  </a:ext>
                </a:extLst>
              </a:tr>
              <a:tr h="306479">
                <a:tc>
                  <a:txBody>
                    <a:bodyPr/>
                    <a:lstStyle/>
                    <a:p>
                      <a:pPr algn="ctr"/>
                      <a:r>
                        <a:rPr lang="en-CA" sz="1400" b="1" dirty="0">
                          <a:solidFill>
                            <a:schemeClr val="tx1"/>
                          </a:solidFill>
                          <a:latin typeface="Courier"/>
                        </a:rPr>
                        <a:t>a[</a:t>
                      </a:r>
                      <a:r>
                        <a:rPr lang="en-CA" sz="1400" b="1" dirty="0">
                          <a:solidFill>
                            <a:srgbClr val="7030A0"/>
                          </a:solidFill>
                          <a:latin typeface="Courier"/>
                        </a:rPr>
                        <a:t>1</a:t>
                      </a:r>
                      <a:r>
                        <a:rPr lang="en-CA" sz="1400" b="1" dirty="0">
                          <a:solidFill>
                            <a:schemeClr val="tx1"/>
                          </a:solidFill>
                          <a:latin typeface="Courier"/>
                        </a:rPr>
                        <a:t>][</a:t>
                      </a:r>
                      <a:r>
                        <a:rPr lang="en-CA" sz="1400" b="1" dirty="0">
                          <a:solidFill>
                            <a:srgbClr val="00B0F0"/>
                          </a:solidFill>
                          <a:latin typeface="Courier"/>
                        </a:rPr>
                        <a:t>2</a:t>
                      </a:r>
                      <a:r>
                        <a:rPr lang="en-CA" sz="1400" b="1" dirty="0">
                          <a:solidFill>
                            <a:schemeClr val="tx1"/>
                          </a:solidFill>
                          <a:latin typeface="Courier"/>
                        </a:rPr>
                        <a:t>][</a:t>
                      </a:r>
                      <a:r>
                        <a:rPr lang="en-CA" sz="1400" b="1" dirty="0">
                          <a:solidFill>
                            <a:srgbClr val="FF0000"/>
                          </a:solidFill>
                          <a:latin typeface="Courier"/>
                        </a:rPr>
                        <a:t>0</a:t>
                      </a:r>
                      <a:r>
                        <a:rPr lang="en-CA" sz="1400" b="1" dirty="0">
                          <a:solidFill>
                            <a:schemeClr val="tx1"/>
                          </a:solidFill>
                          <a:latin typeface="Courier"/>
                        </a:rPr>
                        <a:t>]</a:t>
                      </a:r>
                    </a:p>
                  </a:txBody>
                  <a:tcPr marL="83127" marR="83127" marT="37785" marB="37785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400" b="1" dirty="0">
                          <a:solidFill>
                            <a:schemeClr val="tx1"/>
                          </a:solidFill>
                          <a:latin typeface="Courier"/>
                        </a:rPr>
                        <a:t>a[</a:t>
                      </a:r>
                      <a:r>
                        <a:rPr lang="en-CA" sz="1400" b="1" dirty="0">
                          <a:solidFill>
                            <a:srgbClr val="7030A0"/>
                          </a:solidFill>
                          <a:latin typeface="Courier"/>
                        </a:rPr>
                        <a:t>1</a:t>
                      </a:r>
                      <a:r>
                        <a:rPr lang="en-CA" sz="1400" b="1" dirty="0">
                          <a:solidFill>
                            <a:schemeClr val="tx1"/>
                          </a:solidFill>
                          <a:latin typeface="Courier"/>
                        </a:rPr>
                        <a:t>][</a:t>
                      </a:r>
                      <a:r>
                        <a:rPr lang="en-CA" sz="1400" b="1" dirty="0">
                          <a:solidFill>
                            <a:srgbClr val="00B0F0"/>
                          </a:solidFill>
                          <a:latin typeface="Courier"/>
                        </a:rPr>
                        <a:t>2</a:t>
                      </a:r>
                      <a:r>
                        <a:rPr lang="en-CA" sz="1400" b="1" dirty="0">
                          <a:solidFill>
                            <a:schemeClr val="tx1"/>
                          </a:solidFill>
                          <a:latin typeface="Courier"/>
                        </a:rPr>
                        <a:t>][</a:t>
                      </a:r>
                      <a:r>
                        <a:rPr lang="en-CA" sz="1400" b="1" dirty="0">
                          <a:solidFill>
                            <a:srgbClr val="FF0000"/>
                          </a:solidFill>
                          <a:latin typeface="Courier"/>
                        </a:rPr>
                        <a:t>1</a:t>
                      </a:r>
                      <a:r>
                        <a:rPr lang="en-CA" sz="1400" b="1" dirty="0">
                          <a:solidFill>
                            <a:schemeClr val="tx1"/>
                          </a:solidFill>
                          <a:latin typeface="Courier"/>
                        </a:rPr>
                        <a:t>]</a:t>
                      </a:r>
                    </a:p>
                  </a:txBody>
                  <a:tcPr marL="83127" marR="83127" marT="37785" marB="37785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400" b="1" dirty="0">
                          <a:solidFill>
                            <a:schemeClr val="tx1"/>
                          </a:solidFill>
                          <a:latin typeface="Courier"/>
                        </a:rPr>
                        <a:t>a[</a:t>
                      </a:r>
                      <a:r>
                        <a:rPr lang="en-CA" sz="1400" b="1" dirty="0">
                          <a:solidFill>
                            <a:srgbClr val="7030A0"/>
                          </a:solidFill>
                          <a:latin typeface="Courier"/>
                        </a:rPr>
                        <a:t>1</a:t>
                      </a:r>
                      <a:r>
                        <a:rPr lang="en-CA" sz="1400" b="1" dirty="0">
                          <a:solidFill>
                            <a:schemeClr val="tx1"/>
                          </a:solidFill>
                          <a:latin typeface="Courier"/>
                        </a:rPr>
                        <a:t>][</a:t>
                      </a:r>
                      <a:r>
                        <a:rPr lang="en-CA" sz="1400" b="1" dirty="0">
                          <a:solidFill>
                            <a:srgbClr val="00B0F0"/>
                          </a:solidFill>
                          <a:latin typeface="Courier"/>
                        </a:rPr>
                        <a:t>2</a:t>
                      </a:r>
                      <a:r>
                        <a:rPr lang="en-CA" sz="1400" b="1" dirty="0">
                          <a:solidFill>
                            <a:schemeClr val="tx1"/>
                          </a:solidFill>
                          <a:latin typeface="Courier"/>
                        </a:rPr>
                        <a:t>][</a:t>
                      </a:r>
                      <a:r>
                        <a:rPr lang="en-CA" sz="1400" b="1" dirty="0">
                          <a:solidFill>
                            <a:srgbClr val="FF0000"/>
                          </a:solidFill>
                          <a:latin typeface="Courier"/>
                        </a:rPr>
                        <a:t>2</a:t>
                      </a:r>
                      <a:r>
                        <a:rPr lang="en-CA" sz="1400" b="1" dirty="0">
                          <a:solidFill>
                            <a:schemeClr val="tx1"/>
                          </a:solidFill>
                          <a:latin typeface="Courier"/>
                        </a:rPr>
                        <a:t>]</a:t>
                      </a:r>
                    </a:p>
                  </a:txBody>
                  <a:tcPr marL="83127" marR="83127" marT="37785" marB="37785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400" b="1" dirty="0">
                          <a:solidFill>
                            <a:schemeClr val="tx1"/>
                          </a:solidFill>
                          <a:latin typeface="Courier"/>
                        </a:rPr>
                        <a:t>a[</a:t>
                      </a:r>
                      <a:r>
                        <a:rPr lang="en-CA" sz="1400" b="1" dirty="0">
                          <a:solidFill>
                            <a:srgbClr val="7030A0"/>
                          </a:solidFill>
                          <a:latin typeface="Courier"/>
                        </a:rPr>
                        <a:t>1</a:t>
                      </a:r>
                      <a:r>
                        <a:rPr lang="en-CA" sz="1400" b="1" dirty="0">
                          <a:solidFill>
                            <a:schemeClr val="tx1"/>
                          </a:solidFill>
                          <a:latin typeface="Courier"/>
                        </a:rPr>
                        <a:t>][</a:t>
                      </a:r>
                      <a:r>
                        <a:rPr lang="en-CA" sz="1400" b="1" dirty="0">
                          <a:solidFill>
                            <a:srgbClr val="00B0F0"/>
                          </a:solidFill>
                          <a:latin typeface="Courier"/>
                        </a:rPr>
                        <a:t>2</a:t>
                      </a:r>
                      <a:r>
                        <a:rPr lang="en-CA" sz="1400" b="1" dirty="0">
                          <a:solidFill>
                            <a:schemeClr val="tx1"/>
                          </a:solidFill>
                          <a:latin typeface="Courier"/>
                        </a:rPr>
                        <a:t>][</a:t>
                      </a:r>
                      <a:r>
                        <a:rPr lang="en-CA" sz="1400" b="1" dirty="0">
                          <a:solidFill>
                            <a:srgbClr val="FF0000"/>
                          </a:solidFill>
                          <a:latin typeface="Courier"/>
                        </a:rPr>
                        <a:t>3</a:t>
                      </a:r>
                      <a:r>
                        <a:rPr lang="en-CA" sz="1400" b="1" dirty="0">
                          <a:solidFill>
                            <a:schemeClr val="tx1"/>
                          </a:solidFill>
                          <a:latin typeface="Courier"/>
                        </a:rPr>
                        <a:t>]</a:t>
                      </a:r>
                    </a:p>
                  </a:txBody>
                  <a:tcPr marL="83127" marR="83127" marT="37785" marB="37785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4441713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2A916946-1366-9DBE-827C-6DB85A086FEA}"/>
              </a:ext>
            </a:extLst>
          </p:cNvPr>
          <p:cNvSpPr txBox="1"/>
          <p:nvPr/>
        </p:nvSpPr>
        <p:spPr>
          <a:xfrm>
            <a:off x="3517175" y="5236400"/>
            <a:ext cx="8229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2000" b="1" dirty="0">
                <a:solidFill>
                  <a:schemeClr val="tx1"/>
                </a:solidFill>
                <a:latin typeface="Courier"/>
              </a:rPr>
              <a:t>a[</a:t>
            </a:r>
            <a:r>
              <a:rPr lang="en-CA" sz="2000" b="1" dirty="0">
                <a:solidFill>
                  <a:srgbClr val="7030A0"/>
                </a:solidFill>
                <a:latin typeface="Courier"/>
              </a:rPr>
              <a:t>1</a:t>
            </a:r>
            <a:r>
              <a:rPr lang="en-CA" sz="2000" b="1" dirty="0">
                <a:solidFill>
                  <a:schemeClr val="tx1"/>
                </a:solidFill>
                <a:latin typeface="Courier"/>
              </a:rPr>
              <a:t>]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9257358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9" grpId="0"/>
      <p:bldP spid="11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8" y="585288"/>
            <a:ext cx="587763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rPr>
              <a:t>Multidimensional Array</a:t>
            </a:r>
            <a:endParaRPr lang="en-CA" sz="4400" b="1" dirty="0">
              <a:solidFill>
                <a:srgbClr val="7F1F1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7" y="1366546"/>
            <a:ext cx="10166268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Multidimensional Array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Elements are yet again stored in consecutive memory locations</a:t>
            </a:r>
            <a:endParaRPr lang="en-CA" sz="22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b="1" dirty="0">
              <a:solidFill>
                <a:schemeClr val="accent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1600" dirty="0"/>
              <a:t>Example – </a:t>
            </a:r>
            <a:r>
              <a:rPr lang="en-CA" sz="1600" b="1" dirty="0">
                <a:solidFill>
                  <a:schemeClr val="accent1"/>
                </a:solidFill>
                <a:latin typeface="Courier"/>
              </a:rPr>
              <a:t>int</a:t>
            </a:r>
            <a:r>
              <a:rPr lang="en-CA" sz="1600" dirty="0">
                <a:latin typeface="Courier"/>
              </a:rPr>
              <a:t> a[</a:t>
            </a:r>
            <a:r>
              <a:rPr lang="en-CA" sz="1600" b="1" dirty="0">
                <a:solidFill>
                  <a:srgbClr val="7030A0"/>
                </a:solidFill>
                <a:latin typeface="Courier"/>
              </a:rPr>
              <a:t>2</a:t>
            </a:r>
            <a:r>
              <a:rPr lang="en-CA" sz="1600" dirty="0">
                <a:latin typeface="Courier"/>
              </a:rPr>
              <a:t>][</a:t>
            </a:r>
            <a:r>
              <a:rPr lang="en-CA" sz="1600" b="1" dirty="0">
                <a:solidFill>
                  <a:srgbClr val="00B0F0"/>
                </a:solidFill>
                <a:latin typeface="Courier"/>
              </a:rPr>
              <a:t>3</a:t>
            </a:r>
            <a:r>
              <a:rPr lang="en-CA" sz="1600" dirty="0">
                <a:latin typeface="Courier"/>
              </a:rPr>
              <a:t>][</a:t>
            </a:r>
            <a:r>
              <a:rPr lang="en-CA" sz="1600" b="1" dirty="0">
                <a:solidFill>
                  <a:srgbClr val="FF0000"/>
                </a:solidFill>
                <a:latin typeface="Courier"/>
              </a:rPr>
              <a:t>4</a:t>
            </a:r>
            <a:r>
              <a:rPr lang="en-CA" sz="1600" dirty="0">
                <a:latin typeface="Courier"/>
              </a:rPr>
              <a:t>]; </a:t>
            </a:r>
            <a:endParaRPr lang="en-CA" sz="1600" b="1" dirty="0">
              <a:solidFill>
                <a:schemeClr val="accent6"/>
              </a:solidFill>
              <a:latin typeface="Courier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CA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23</a:t>
            </a:fld>
            <a:endParaRPr lang="en-CA" dirty="0"/>
          </a:p>
        </p:txBody>
      </p:sp>
      <p:graphicFrame>
        <p:nvGraphicFramePr>
          <p:cNvPr id="5" name="Table 7">
            <a:extLst>
              <a:ext uri="{FF2B5EF4-FFF2-40B4-BE49-F238E27FC236}">
                <a16:creationId xmlns:a16="http://schemas.microsoft.com/office/drawing/2014/main" id="{18971153-286E-7BC8-4BC5-FEAFA9D19A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0749179"/>
              </p:ext>
            </p:extLst>
          </p:nvPr>
        </p:nvGraphicFramePr>
        <p:xfrm>
          <a:off x="1888493" y="2694740"/>
          <a:ext cx="4351016" cy="1245345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087754">
                  <a:extLst>
                    <a:ext uri="{9D8B030D-6E8A-4147-A177-3AD203B41FA5}">
                      <a16:colId xmlns:a16="http://schemas.microsoft.com/office/drawing/2014/main" val="1857430406"/>
                    </a:ext>
                  </a:extLst>
                </a:gridCol>
                <a:gridCol w="1087754">
                  <a:extLst>
                    <a:ext uri="{9D8B030D-6E8A-4147-A177-3AD203B41FA5}">
                      <a16:colId xmlns:a16="http://schemas.microsoft.com/office/drawing/2014/main" val="2925491084"/>
                    </a:ext>
                  </a:extLst>
                </a:gridCol>
                <a:gridCol w="1087754">
                  <a:extLst>
                    <a:ext uri="{9D8B030D-6E8A-4147-A177-3AD203B41FA5}">
                      <a16:colId xmlns:a16="http://schemas.microsoft.com/office/drawing/2014/main" val="2046540477"/>
                    </a:ext>
                  </a:extLst>
                </a:gridCol>
                <a:gridCol w="1087754">
                  <a:extLst>
                    <a:ext uri="{9D8B030D-6E8A-4147-A177-3AD203B41FA5}">
                      <a16:colId xmlns:a16="http://schemas.microsoft.com/office/drawing/2014/main" val="2264517988"/>
                    </a:ext>
                  </a:extLst>
                </a:gridCol>
              </a:tblGrid>
              <a:tr h="415115">
                <a:tc>
                  <a:txBody>
                    <a:bodyPr/>
                    <a:lstStyle/>
                    <a:p>
                      <a:pPr algn="ctr"/>
                      <a:r>
                        <a:rPr lang="en-CA" sz="1200" b="1" dirty="0">
                          <a:solidFill>
                            <a:schemeClr val="tx1"/>
                          </a:solidFill>
                          <a:latin typeface="Courier"/>
                        </a:rPr>
                        <a:t>a[</a:t>
                      </a:r>
                      <a:r>
                        <a:rPr lang="en-CA" sz="1200" b="1" dirty="0">
                          <a:solidFill>
                            <a:srgbClr val="7030A0"/>
                          </a:solidFill>
                          <a:latin typeface="Courier"/>
                        </a:rPr>
                        <a:t>0</a:t>
                      </a:r>
                      <a:r>
                        <a:rPr lang="en-CA" sz="1200" b="1" dirty="0">
                          <a:solidFill>
                            <a:schemeClr val="tx1"/>
                          </a:solidFill>
                          <a:latin typeface="Courier"/>
                        </a:rPr>
                        <a:t>][</a:t>
                      </a:r>
                      <a:r>
                        <a:rPr lang="en-CA" sz="1200" b="1" dirty="0">
                          <a:solidFill>
                            <a:srgbClr val="00B0F0"/>
                          </a:solidFill>
                          <a:latin typeface="Courier"/>
                        </a:rPr>
                        <a:t>0</a:t>
                      </a:r>
                      <a:r>
                        <a:rPr lang="en-CA" sz="1200" b="1" dirty="0">
                          <a:solidFill>
                            <a:schemeClr val="tx1"/>
                          </a:solidFill>
                          <a:latin typeface="Courier"/>
                        </a:rPr>
                        <a:t>][</a:t>
                      </a:r>
                      <a:r>
                        <a:rPr lang="en-CA" sz="1200" b="1" dirty="0">
                          <a:solidFill>
                            <a:srgbClr val="FF0000"/>
                          </a:solidFill>
                          <a:latin typeface="Courier"/>
                        </a:rPr>
                        <a:t>0</a:t>
                      </a:r>
                      <a:r>
                        <a:rPr lang="en-CA" sz="1200" b="1" dirty="0">
                          <a:solidFill>
                            <a:schemeClr val="tx1"/>
                          </a:solidFill>
                          <a:latin typeface="Courier"/>
                        </a:rPr>
                        <a:t>]</a:t>
                      </a:r>
                    </a:p>
                  </a:txBody>
                  <a:tcPr marL="68700" marR="68700" marT="31227" marB="31227" anchor="ctr">
                    <a:solidFill>
                      <a:srgbClr val="EBF1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200" b="1" dirty="0">
                          <a:solidFill>
                            <a:schemeClr val="tx1"/>
                          </a:solidFill>
                          <a:latin typeface="Courier"/>
                        </a:rPr>
                        <a:t>a[</a:t>
                      </a:r>
                      <a:r>
                        <a:rPr lang="en-CA" sz="1200" b="1" dirty="0">
                          <a:solidFill>
                            <a:srgbClr val="7030A0"/>
                          </a:solidFill>
                          <a:latin typeface="Courier"/>
                        </a:rPr>
                        <a:t>0</a:t>
                      </a:r>
                      <a:r>
                        <a:rPr lang="en-CA" sz="1200" b="1" dirty="0">
                          <a:solidFill>
                            <a:schemeClr val="tx1"/>
                          </a:solidFill>
                          <a:latin typeface="Courier"/>
                        </a:rPr>
                        <a:t>][</a:t>
                      </a:r>
                      <a:r>
                        <a:rPr lang="en-CA" sz="1200" b="1" dirty="0">
                          <a:solidFill>
                            <a:srgbClr val="00B0F0"/>
                          </a:solidFill>
                          <a:latin typeface="Courier"/>
                        </a:rPr>
                        <a:t>0</a:t>
                      </a:r>
                      <a:r>
                        <a:rPr lang="en-CA" sz="1200" b="1" dirty="0">
                          <a:solidFill>
                            <a:schemeClr val="tx1"/>
                          </a:solidFill>
                          <a:latin typeface="Courier"/>
                        </a:rPr>
                        <a:t>][</a:t>
                      </a:r>
                      <a:r>
                        <a:rPr lang="en-CA" sz="1200" b="1" dirty="0">
                          <a:solidFill>
                            <a:srgbClr val="FF0000"/>
                          </a:solidFill>
                          <a:latin typeface="Courier"/>
                        </a:rPr>
                        <a:t>1</a:t>
                      </a:r>
                      <a:r>
                        <a:rPr lang="en-CA" sz="1200" b="1" dirty="0">
                          <a:solidFill>
                            <a:schemeClr val="tx1"/>
                          </a:solidFill>
                          <a:latin typeface="Courier"/>
                        </a:rPr>
                        <a:t>]</a:t>
                      </a:r>
                    </a:p>
                  </a:txBody>
                  <a:tcPr marL="68700" marR="68700" marT="31227" marB="31227" anchor="ctr">
                    <a:solidFill>
                      <a:srgbClr val="EBF1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200" b="1" dirty="0">
                          <a:solidFill>
                            <a:schemeClr val="tx1"/>
                          </a:solidFill>
                          <a:latin typeface="Courier"/>
                        </a:rPr>
                        <a:t>a[</a:t>
                      </a:r>
                      <a:r>
                        <a:rPr lang="en-CA" sz="1200" b="1" dirty="0">
                          <a:solidFill>
                            <a:srgbClr val="7030A0"/>
                          </a:solidFill>
                          <a:latin typeface="Courier"/>
                        </a:rPr>
                        <a:t>0</a:t>
                      </a:r>
                      <a:r>
                        <a:rPr lang="en-CA" sz="1200" b="1" dirty="0">
                          <a:solidFill>
                            <a:schemeClr val="tx1"/>
                          </a:solidFill>
                          <a:latin typeface="Courier"/>
                        </a:rPr>
                        <a:t>][</a:t>
                      </a:r>
                      <a:r>
                        <a:rPr lang="en-CA" sz="1200" b="1" dirty="0">
                          <a:solidFill>
                            <a:srgbClr val="00B0F0"/>
                          </a:solidFill>
                          <a:latin typeface="Courier"/>
                        </a:rPr>
                        <a:t>0</a:t>
                      </a:r>
                      <a:r>
                        <a:rPr lang="en-CA" sz="1200" b="1" dirty="0">
                          <a:solidFill>
                            <a:schemeClr val="tx1"/>
                          </a:solidFill>
                          <a:latin typeface="Courier"/>
                        </a:rPr>
                        <a:t>][</a:t>
                      </a:r>
                      <a:r>
                        <a:rPr lang="en-CA" sz="1200" b="1" dirty="0">
                          <a:solidFill>
                            <a:srgbClr val="FF0000"/>
                          </a:solidFill>
                          <a:latin typeface="Courier"/>
                        </a:rPr>
                        <a:t>2</a:t>
                      </a:r>
                      <a:r>
                        <a:rPr lang="en-CA" sz="1200" b="1" dirty="0">
                          <a:solidFill>
                            <a:schemeClr val="tx1"/>
                          </a:solidFill>
                          <a:latin typeface="Courier"/>
                        </a:rPr>
                        <a:t>]</a:t>
                      </a:r>
                    </a:p>
                  </a:txBody>
                  <a:tcPr marL="68700" marR="68700" marT="31227" marB="31227" anchor="ctr">
                    <a:solidFill>
                      <a:srgbClr val="EBF1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200" b="1" dirty="0">
                          <a:solidFill>
                            <a:schemeClr val="tx1"/>
                          </a:solidFill>
                          <a:latin typeface="Courier"/>
                        </a:rPr>
                        <a:t>a[</a:t>
                      </a:r>
                      <a:r>
                        <a:rPr lang="en-CA" sz="1200" b="1" dirty="0">
                          <a:solidFill>
                            <a:srgbClr val="7030A0"/>
                          </a:solidFill>
                          <a:latin typeface="Courier"/>
                        </a:rPr>
                        <a:t>0</a:t>
                      </a:r>
                      <a:r>
                        <a:rPr lang="en-CA" sz="1200" b="1" dirty="0">
                          <a:solidFill>
                            <a:schemeClr val="tx1"/>
                          </a:solidFill>
                          <a:latin typeface="Courier"/>
                        </a:rPr>
                        <a:t>][</a:t>
                      </a:r>
                      <a:r>
                        <a:rPr lang="en-CA" sz="1200" b="1" dirty="0">
                          <a:solidFill>
                            <a:srgbClr val="00B0F0"/>
                          </a:solidFill>
                          <a:latin typeface="Courier"/>
                        </a:rPr>
                        <a:t>0</a:t>
                      </a:r>
                      <a:r>
                        <a:rPr lang="en-CA" sz="1200" b="1" dirty="0">
                          <a:solidFill>
                            <a:schemeClr val="tx1"/>
                          </a:solidFill>
                          <a:latin typeface="Courier"/>
                        </a:rPr>
                        <a:t>][</a:t>
                      </a:r>
                      <a:r>
                        <a:rPr lang="en-CA" sz="1200" b="1" dirty="0">
                          <a:solidFill>
                            <a:srgbClr val="FF0000"/>
                          </a:solidFill>
                          <a:latin typeface="Courier"/>
                        </a:rPr>
                        <a:t>3</a:t>
                      </a:r>
                      <a:r>
                        <a:rPr lang="en-CA" sz="1200" b="1" dirty="0">
                          <a:solidFill>
                            <a:schemeClr val="tx1"/>
                          </a:solidFill>
                          <a:latin typeface="Courier"/>
                        </a:rPr>
                        <a:t>]</a:t>
                      </a:r>
                    </a:p>
                  </a:txBody>
                  <a:tcPr marL="68700" marR="68700" marT="31227" marB="31227" anchor="ctr">
                    <a:solidFill>
                      <a:srgbClr val="EBF1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8510802"/>
                  </a:ext>
                </a:extLst>
              </a:tr>
              <a:tr h="415115">
                <a:tc>
                  <a:txBody>
                    <a:bodyPr/>
                    <a:lstStyle/>
                    <a:p>
                      <a:pPr algn="ctr"/>
                      <a:r>
                        <a:rPr lang="en-CA" sz="1200" b="1" dirty="0">
                          <a:solidFill>
                            <a:schemeClr val="tx1"/>
                          </a:solidFill>
                          <a:latin typeface="Courier"/>
                        </a:rPr>
                        <a:t>a[</a:t>
                      </a:r>
                      <a:r>
                        <a:rPr lang="en-CA" sz="1200" b="1" dirty="0">
                          <a:solidFill>
                            <a:srgbClr val="7030A0"/>
                          </a:solidFill>
                          <a:latin typeface="Courier"/>
                        </a:rPr>
                        <a:t>0</a:t>
                      </a:r>
                      <a:r>
                        <a:rPr lang="en-CA" sz="1200" b="1" dirty="0">
                          <a:solidFill>
                            <a:schemeClr val="tx1"/>
                          </a:solidFill>
                          <a:latin typeface="Courier"/>
                        </a:rPr>
                        <a:t>][</a:t>
                      </a:r>
                      <a:r>
                        <a:rPr lang="en-CA" sz="1200" b="1" dirty="0">
                          <a:solidFill>
                            <a:srgbClr val="00B0F0"/>
                          </a:solidFill>
                          <a:latin typeface="Courier"/>
                        </a:rPr>
                        <a:t>1</a:t>
                      </a:r>
                      <a:r>
                        <a:rPr lang="en-CA" sz="1200" b="1" dirty="0">
                          <a:solidFill>
                            <a:schemeClr val="tx1"/>
                          </a:solidFill>
                          <a:latin typeface="Courier"/>
                        </a:rPr>
                        <a:t>][</a:t>
                      </a:r>
                      <a:r>
                        <a:rPr lang="en-CA" sz="1200" b="1" dirty="0">
                          <a:solidFill>
                            <a:srgbClr val="FF0000"/>
                          </a:solidFill>
                          <a:latin typeface="Courier"/>
                        </a:rPr>
                        <a:t>0</a:t>
                      </a:r>
                      <a:r>
                        <a:rPr lang="en-CA" sz="1200" b="1" dirty="0">
                          <a:solidFill>
                            <a:schemeClr val="tx1"/>
                          </a:solidFill>
                          <a:latin typeface="Courier"/>
                        </a:rPr>
                        <a:t>]</a:t>
                      </a:r>
                    </a:p>
                  </a:txBody>
                  <a:tcPr marL="68700" marR="68700" marT="31227" marB="312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200" b="1" dirty="0">
                          <a:solidFill>
                            <a:schemeClr val="tx1"/>
                          </a:solidFill>
                          <a:latin typeface="Courier"/>
                        </a:rPr>
                        <a:t>a[</a:t>
                      </a:r>
                      <a:r>
                        <a:rPr lang="en-CA" sz="1200" b="1" dirty="0">
                          <a:solidFill>
                            <a:srgbClr val="7030A0"/>
                          </a:solidFill>
                          <a:latin typeface="Courier"/>
                        </a:rPr>
                        <a:t>0</a:t>
                      </a:r>
                      <a:r>
                        <a:rPr lang="en-CA" sz="1200" b="1" dirty="0">
                          <a:solidFill>
                            <a:schemeClr val="tx1"/>
                          </a:solidFill>
                          <a:latin typeface="Courier"/>
                        </a:rPr>
                        <a:t>][</a:t>
                      </a:r>
                      <a:r>
                        <a:rPr lang="en-CA" sz="1200" b="1" dirty="0">
                          <a:solidFill>
                            <a:srgbClr val="00B0F0"/>
                          </a:solidFill>
                          <a:latin typeface="Courier"/>
                        </a:rPr>
                        <a:t>1</a:t>
                      </a:r>
                      <a:r>
                        <a:rPr lang="en-CA" sz="1200" b="1" dirty="0">
                          <a:solidFill>
                            <a:schemeClr val="tx1"/>
                          </a:solidFill>
                          <a:latin typeface="Courier"/>
                        </a:rPr>
                        <a:t>][</a:t>
                      </a:r>
                      <a:r>
                        <a:rPr lang="en-CA" sz="1200" b="1" dirty="0">
                          <a:solidFill>
                            <a:srgbClr val="FF0000"/>
                          </a:solidFill>
                          <a:latin typeface="Courier"/>
                        </a:rPr>
                        <a:t>1</a:t>
                      </a:r>
                      <a:r>
                        <a:rPr lang="en-CA" sz="1200" b="1" dirty="0">
                          <a:solidFill>
                            <a:schemeClr val="tx1"/>
                          </a:solidFill>
                          <a:latin typeface="Courier"/>
                        </a:rPr>
                        <a:t>]</a:t>
                      </a:r>
                    </a:p>
                  </a:txBody>
                  <a:tcPr marL="68700" marR="68700" marT="31227" marB="312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200" b="1" dirty="0">
                          <a:solidFill>
                            <a:schemeClr val="tx1"/>
                          </a:solidFill>
                          <a:latin typeface="Courier"/>
                        </a:rPr>
                        <a:t>a[</a:t>
                      </a:r>
                      <a:r>
                        <a:rPr lang="en-CA" sz="1200" b="1" dirty="0">
                          <a:solidFill>
                            <a:srgbClr val="7030A0"/>
                          </a:solidFill>
                          <a:latin typeface="Courier"/>
                        </a:rPr>
                        <a:t>0</a:t>
                      </a:r>
                      <a:r>
                        <a:rPr lang="en-CA" sz="1200" b="1" dirty="0">
                          <a:solidFill>
                            <a:schemeClr val="tx1"/>
                          </a:solidFill>
                          <a:latin typeface="Courier"/>
                        </a:rPr>
                        <a:t>][</a:t>
                      </a:r>
                      <a:r>
                        <a:rPr lang="en-CA" sz="1200" b="1" dirty="0">
                          <a:solidFill>
                            <a:srgbClr val="00B0F0"/>
                          </a:solidFill>
                          <a:latin typeface="Courier"/>
                        </a:rPr>
                        <a:t>1</a:t>
                      </a:r>
                      <a:r>
                        <a:rPr lang="en-CA" sz="1200" b="1" dirty="0">
                          <a:solidFill>
                            <a:schemeClr val="tx1"/>
                          </a:solidFill>
                          <a:latin typeface="Courier"/>
                        </a:rPr>
                        <a:t>][</a:t>
                      </a:r>
                      <a:r>
                        <a:rPr lang="en-CA" sz="1200" b="1" dirty="0">
                          <a:solidFill>
                            <a:srgbClr val="FF0000"/>
                          </a:solidFill>
                          <a:latin typeface="Courier"/>
                        </a:rPr>
                        <a:t>2</a:t>
                      </a:r>
                      <a:r>
                        <a:rPr lang="en-CA" sz="1200" b="1" dirty="0">
                          <a:solidFill>
                            <a:schemeClr val="tx1"/>
                          </a:solidFill>
                          <a:latin typeface="Courier"/>
                        </a:rPr>
                        <a:t>]</a:t>
                      </a:r>
                    </a:p>
                  </a:txBody>
                  <a:tcPr marL="68700" marR="68700" marT="31227" marB="312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200" b="1" dirty="0">
                          <a:solidFill>
                            <a:schemeClr val="tx1"/>
                          </a:solidFill>
                          <a:latin typeface="Courier"/>
                        </a:rPr>
                        <a:t>a[</a:t>
                      </a:r>
                      <a:r>
                        <a:rPr lang="en-CA" sz="1200" b="1" dirty="0">
                          <a:solidFill>
                            <a:srgbClr val="7030A0"/>
                          </a:solidFill>
                          <a:latin typeface="Courier"/>
                        </a:rPr>
                        <a:t>0</a:t>
                      </a:r>
                      <a:r>
                        <a:rPr lang="en-CA" sz="1200" b="1" dirty="0">
                          <a:solidFill>
                            <a:schemeClr val="tx1"/>
                          </a:solidFill>
                          <a:latin typeface="Courier"/>
                        </a:rPr>
                        <a:t>][</a:t>
                      </a:r>
                      <a:r>
                        <a:rPr lang="en-CA" sz="1200" b="1" dirty="0">
                          <a:solidFill>
                            <a:srgbClr val="00B0F0"/>
                          </a:solidFill>
                          <a:latin typeface="Courier"/>
                        </a:rPr>
                        <a:t>1</a:t>
                      </a:r>
                      <a:r>
                        <a:rPr lang="en-CA" sz="1200" b="1" dirty="0">
                          <a:solidFill>
                            <a:schemeClr val="tx1"/>
                          </a:solidFill>
                          <a:latin typeface="Courier"/>
                        </a:rPr>
                        <a:t>][</a:t>
                      </a:r>
                      <a:r>
                        <a:rPr lang="en-CA" sz="1200" b="1" dirty="0">
                          <a:solidFill>
                            <a:srgbClr val="FF0000"/>
                          </a:solidFill>
                          <a:latin typeface="Courier"/>
                        </a:rPr>
                        <a:t>3</a:t>
                      </a:r>
                      <a:r>
                        <a:rPr lang="en-CA" sz="1200" b="1" dirty="0">
                          <a:solidFill>
                            <a:schemeClr val="tx1"/>
                          </a:solidFill>
                          <a:latin typeface="Courier"/>
                        </a:rPr>
                        <a:t>]</a:t>
                      </a:r>
                    </a:p>
                  </a:txBody>
                  <a:tcPr marL="68700" marR="68700" marT="31227" marB="31227" anchor="ctr"/>
                </a:tc>
                <a:extLst>
                  <a:ext uri="{0D108BD9-81ED-4DB2-BD59-A6C34878D82A}">
                    <a16:rowId xmlns:a16="http://schemas.microsoft.com/office/drawing/2014/main" val="386936724"/>
                  </a:ext>
                </a:extLst>
              </a:tr>
              <a:tr h="415115">
                <a:tc>
                  <a:txBody>
                    <a:bodyPr/>
                    <a:lstStyle/>
                    <a:p>
                      <a:pPr algn="ctr"/>
                      <a:r>
                        <a:rPr lang="en-CA" sz="1200" b="1" dirty="0">
                          <a:solidFill>
                            <a:schemeClr val="tx1"/>
                          </a:solidFill>
                          <a:latin typeface="Courier"/>
                        </a:rPr>
                        <a:t>a[</a:t>
                      </a:r>
                      <a:r>
                        <a:rPr lang="en-CA" sz="1200" b="1" dirty="0">
                          <a:solidFill>
                            <a:srgbClr val="7030A0"/>
                          </a:solidFill>
                          <a:latin typeface="Courier"/>
                        </a:rPr>
                        <a:t>0</a:t>
                      </a:r>
                      <a:r>
                        <a:rPr lang="en-CA" sz="1200" b="1" dirty="0">
                          <a:solidFill>
                            <a:schemeClr val="tx1"/>
                          </a:solidFill>
                          <a:latin typeface="Courier"/>
                        </a:rPr>
                        <a:t>][</a:t>
                      </a:r>
                      <a:r>
                        <a:rPr lang="en-CA" sz="1200" b="1" dirty="0">
                          <a:solidFill>
                            <a:srgbClr val="00B0F0"/>
                          </a:solidFill>
                          <a:latin typeface="Courier"/>
                        </a:rPr>
                        <a:t>2</a:t>
                      </a:r>
                      <a:r>
                        <a:rPr lang="en-CA" sz="1200" b="1" dirty="0">
                          <a:solidFill>
                            <a:schemeClr val="tx1"/>
                          </a:solidFill>
                          <a:latin typeface="Courier"/>
                        </a:rPr>
                        <a:t>][</a:t>
                      </a:r>
                      <a:r>
                        <a:rPr lang="en-CA" sz="1200" b="1" dirty="0">
                          <a:solidFill>
                            <a:srgbClr val="FF0000"/>
                          </a:solidFill>
                          <a:latin typeface="Courier"/>
                        </a:rPr>
                        <a:t>0</a:t>
                      </a:r>
                      <a:r>
                        <a:rPr lang="en-CA" sz="1200" b="1" dirty="0">
                          <a:solidFill>
                            <a:schemeClr val="tx1"/>
                          </a:solidFill>
                          <a:latin typeface="Courier"/>
                        </a:rPr>
                        <a:t>]</a:t>
                      </a:r>
                    </a:p>
                  </a:txBody>
                  <a:tcPr marL="68700" marR="68700" marT="31227" marB="312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200" b="1" dirty="0">
                          <a:solidFill>
                            <a:schemeClr val="tx1"/>
                          </a:solidFill>
                          <a:latin typeface="Courier"/>
                        </a:rPr>
                        <a:t>a[</a:t>
                      </a:r>
                      <a:r>
                        <a:rPr lang="en-CA" sz="1200" b="1" dirty="0">
                          <a:solidFill>
                            <a:srgbClr val="7030A0"/>
                          </a:solidFill>
                          <a:latin typeface="Courier"/>
                        </a:rPr>
                        <a:t>0</a:t>
                      </a:r>
                      <a:r>
                        <a:rPr lang="en-CA" sz="1200" b="1" dirty="0">
                          <a:solidFill>
                            <a:schemeClr val="tx1"/>
                          </a:solidFill>
                          <a:latin typeface="Courier"/>
                        </a:rPr>
                        <a:t>][</a:t>
                      </a:r>
                      <a:r>
                        <a:rPr lang="en-CA" sz="1200" b="1" dirty="0">
                          <a:solidFill>
                            <a:srgbClr val="00B0F0"/>
                          </a:solidFill>
                          <a:latin typeface="Courier"/>
                        </a:rPr>
                        <a:t>2</a:t>
                      </a:r>
                      <a:r>
                        <a:rPr lang="en-CA" sz="1200" b="1" dirty="0">
                          <a:solidFill>
                            <a:schemeClr val="tx1"/>
                          </a:solidFill>
                          <a:latin typeface="Courier"/>
                        </a:rPr>
                        <a:t>][</a:t>
                      </a:r>
                      <a:r>
                        <a:rPr lang="en-CA" sz="1200" b="1" dirty="0">
                          <a:solidFill>
                            <a:srgbClr val="FF0000"/>
                          </a:solidFill>
                          <a:latin typeface="Courier"/>
                        </a:rPr>
                        <a:t>1</a:t>
                      </a:r>
                      <a:r>
                        <a:rPr lang="en-CA" sz="1200" b="1" dirty="0">
                          <a:solidFill>
                            <a:schemeClr val="tx1"/>
                          </a:solidFill>
                          <a:latin typeface="Courier"/>
                        </a:rPr>
                        <a:t>]</a:t>
                      </a:r>
                    </a:p>
                  </a:txBody>
                  <a:tcPr marL="68700" marR="68700" marT="31227" marB="312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200" b="1" dirty="0">
                          <a:solidFill>
                            <a:schemeClr val="tx1"/>
                          </a:solidFill>
                          <a:latin typeface="Courier"/>
                        </a:rPr>
                        <a:t>a[</a:t>
                      </a:r>
                      <a:r>
                        <a:rPr lang="en-CA" sz="1200" b="1" dirty="0">
                          <a:solidFill>
                            <a:srgbClr val="7030A0"/>
                          </a:solidFill>
                          <a:latin typeface="Courier"/>
                        </a:rPr>
                        <a:t>0</a:t>
                      </a:r>
                      <a:r>
                        <a:rPr lang="en-CA" sz="1200" b="1" dirty="0">
                          <a:solidFill>
                            <a:schemeClr val="tx1"/>
                          </a:solidFill>
                          <a:latin typeface="Courier"/>
                        </a:rPr>
                        <a:t>][</a:t>
                      </a:r>
                      <a:r>
                        <a:rPr lang="en-CA" sz="1200" b="1" dirty="0">
                          <a:solidFill>
                            <a:srgbClr val="00B0F0"/>
                          </a:solidFill>
                          <a:latin typeface="Courier"/>
                        </a:rPr>
                        <a:t>2</a:t>
                      </a:r>
                      <a:r>
                        <a:rPr lang="en-CA" sz="1200" b="1" dirty="0">
                          <a:solidFill>
                            <a:schemeClr val="tx1"/>
                          </a:solidFill>
                          <a:latin typeface="Courier"/>
                        </a:rPr>
                        <a:t>][</a:t>
                      </a:r>
                      <a:r>
                        <a:rPr lang="en-CA" sz="1200" b="1" dirty="0">
                          <a:solidFill>
                            <a:srgbClr val="FF0000"/>
                          </a:solidFill>
                          <a:latin typeface="Courier"/>
                        </a:rPr>
                        <a:t>2</a:t>
                      </a:r>
                      <a:r>
                        <a:rPr lang="en-CA" sz="1200" b="1" dirty="0">
                          <a:solidFill>
                            <a:schemeClr val="tx1"/>
                          </a:solidFill>
                          <a:latin typeface="Courier"/>
                        </a:rPr>
                        <a:t>]</a:t>
                      </a:r>
                    </a:p>
                  </a:txBody>
                  <a:tcPr marL="68700" marR="68700" marT="31227" marB="312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200" b="1" dirty="0">
                          <a:solidFill>
                            <a:schemeClr val="tx1"/>
                          </a:solidFill>
                          <a:latin typeface="Courier"/>
                        </a:rPr>
                        <a:t>a[</a:t>
                      </a:r>
                      <a:r>
                        <a:rPr lang="en-CA" sz="1200" b="1" dirty="0">
                          <a:solidFill>
                            <a:srgbClr val="7030A0"/>
                          </a:solidFill>
                          <a:latin typeface="Courier"/>
                        </a:rPr>
                        <a:t>0</a:t>
                      </a:r>
                      <a:r>
                        <a:rPr lang="en-CA" sz="1200" b="1" dirty="0">
                          <a:solidFill>
                            <a:schemeClr val="tx1"/>
                          </a:solidFill>
                          <a:latin typeface="Courier"/>
                        </a:rPr>
                        <a:t>][</a:t>
                      </a:r>
                      <a:r>
                        <a:rPr lang="en-CA" sz="1200" b="1" dirty="0">
                          <a:solidFill>
                            <a:srgbClr val="00B0F0"/>
                          </a:solidFill>
                          <a:latin typeface="Courier"/>
                        </a:rPr>
                        <a:t>2</a:t>
                      </a:r>
                      <a:r>
                        <a:rPr lang="en-CA" sz="1200" b="1" dirty="0">
                          <a:solidFill>
                            <a:schemeClr val="tx1"/>
                          </a:solidFill>
                          <a:latin typeface="Courier"/>
                        </a:rPr>
                        <a:t>][</a:t>
                      </a:r>
                      <a:r>
                        <a:rPr lang="en-CA" sz="1200" b="1" dirty="0">
                          <a:solidFill>
                            <a:srgbClr val="FF0000"/>
                          </a:solidFill>
                          <a:latin typeface="Courier"/>
                        </a:rPr>
                        <a:t>3</a:t>
                      </a:r>
                      <a:r>
                        <a:rPr lang="en-CA" sz="1200" b="1" dirty="0">
                          <a:solidFill>
                            <a:schemeClr val="tx1"/>
                          </a:solidFill>
                          <a:latin typeface="Courier"/>
                        </a:rPr>
                        <a:t>]</a:t>
                      </a:r>
                    </a:p>
                  </a:txBody>
                  <a:tcPr marL="68700" marR="68700" marT="31227" marB="31227" anchor="ctr"/>
                </a:tc>
                <a:extLst>
                  <a:ext uri="{0D108BD9-81ED-4DB2-BD59-A6C34878D82A}">
                    <a16:rowId xmlns:a16="http://schemas.microsoft.com/office/drawing/2014/main" val="534441713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3D9A884D-48C6-49A4-1673-E3101739A791}"/>
              </a:ext>
            </a:extLst>
          </p:cNvPr>
          <p:cNvSpPr txBox="1"/>
          <p:nvPr/>
        </p:nvSpPr>
        <p:spPr>
          <a:xfrm>
            <a:off x="1147355" y="3097470"/>
            <a:ext cx="8229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2000" b="1" dirty="0">
                <a:solidFill>
                  <a:schemeClr val="tx1"/>
                </a:solidFill>
                <a:latin typeface="Courier"/>
              </a:rPr>
              <a:t>a[</a:t>
            </a:r>
            <a:r>
              <a:rPr lang="en-CA" sz="2000" b="1" dirty="0">
                <a:solidFill>
                  <a:srgbClr val="7030A0"/>
                </a:solidFill>
                <a:latin typeface="Courier"/>
              </a:rPr>
              <a:t>0</a:t>
            </a:r>
            <a:r>
              <a:rPr lang="en-CA" sz="2000" b="1" dirty="0">
                <a:solidFill>
                  <a:schemeClr val="tx1"/>
                </a:solidFill>
                <a:latin typeface="Courier"/>
              </a:rPr>
              <a:t>]</a:t>
            </a:r>
            <a:endParaRPr lang="en-US" sz="2000" dirty="0"/>
          </a:p>
        </p:txBody>
      </p:sp>
      <p:graphicFrame>
        <p:nvGraphicFramePr>
          <p:cNvPr id="10" name="Table 7">
            <a:extLst>
              <a:ext uri="{FF2B5EF4-FFF2-40B4-BE49-F238E27FC236}">
                <a16:creationId xmlns:a16="http://schemas.microsoft.com/office/drawing/2014/main" id="{A6CE0931-DFE9-C48B-630F-A240A21FD6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9893878"/>
              </p:ext>
            </p:extLst>
          </p:nvPr>
        </p:nvGraphicFramePr>
        <p:xfrm>
          <a:off x="1888493" y="4067026"/>
          <a:ext cx="4351016" cy="1245345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087754">
                  <a:extLst>
                    <a:ext uri="{9D8B030D-6E8A-4147-A177-3AD203B41FA5}">
                      <a16:colId xmlns:a16="http://schemas.microsoft.com/office/drawing/2014/main" val="1857430406"/>
                    </a:ext>
                  </a:extLst>
                </a:gridCol>
                <a:gridCol w="1087754">
                  <a:extLst>
                    <a:ext uri="{9D8B030D-6E8A-4147-A177-3AD203B41FA5}">
                      <a16:colId xmlns:a16="http://schemas.microsoft.com/office/drawing/2014/main" val="2925491084"/>
                    </a:ext>
                  </a:extLst>
                </a:gridCol>
                <a:gridCol w="1087754">
                  <a:extLst>
                    <a:ext uri="{9D8B030D-6E8A-4147-A177-3AD203B41FA5}">
                      <a16:colId xmlns:a16="http://schemas.microsoft.com/office/drawing/2014/main" val="2046540477"/>
                    </a:ext>
                  </a:extLst>
                </a:gridCol>
                <a:gridCol w="1087754">
                  <a:extLst>
                    <a:ext uri="{9D8B030D-6E8A-4147-A177-3AD203B41FA5}">
                      <a16:colId xmlns:a16="http://schemas.microsoft.com/office/drawing/2014/main" val="2264517988"/>
                    </a:ext>
                  </a:extLst>
                </a:gridCol>
              </a:tblGrid>
              <a:tr h="415115">
                <a:tc>
                  <a:txBody>
                    <a:bodyPr/>
                    <a:lstStyle/>
                    <a:p>
                      <a:pPr algn="ctr"/>
                      <a:r>
                        <a:rPr lang="en-CA" sz="1200" b="1" dirty="0">
                          <a:solidFill>
                            <a:schemeClr val="tx1"/>
                          </a:solidFill>
                          <a:latin typeface="Courier"/>
                        </a:rPr>
                        <a:t>a[</a:t>
                      </a:r>
                      <a:r>
                        <a:rPr lang="en-CA" sz="1200" b="1" dirty="0">
                          <a:solidFill>
                            <a:srgbClr val="7030A0"/>
                          </a:solidFill>
                          <a:latin typeface="Courier"/>
                        </a:rPr>
                        <a:t>1</a:t>
                      </a:r>
                      <a:r>
                        <a:rPr lang="en-CA" sz="1200" b="1" dirty="0">
                          <a:solidFill>
                            <a:schemeClr val="tx1"/>
                          </a:solidFill>
                          <a:latin typeface="Courier"/>
                        </a:rPr>
                        <a:t>][</a:t>
                      </a:r>
                      <a:r>
                        <a:rPr lang="en-CA" sz="1200" b="1" dirty="0">
                          <a:solidFill>
                            <a:srgbClr val="00B0F0"/>
                          </a:solidFill>
                          <a:latin typeface="Courier"/>
                        </a:rPr>
                        <a:t>0</a:t>
                      </a:r>
                      <a:r>
                        <a:rPr lang="en-CA" sz="1200" b="1" dirty="0">
                          <a:solidFill>
                            <a:schemeClr val="tx1"/>
                          </a:solidFill>
                          <a:latin typeface="Courier"/>
                        </a:rPr>
                        <a:t>][</a:t>
                      </a:r>
                      <a:r>
                        <a:rPr lang="en-CA" sz="1200" b="1" dirty="0">
                          <a:solidFill>
                            <a:srgbClr val="FF0000"/>
                          </a:solidFill>
                          <a:latin typeface="Courier"/>
                        </a:rPr>
                        <a:t>0</a:t>
                      </a:r>
                      <a:r>
                        <a:rPr lang="en-CA" sz="1200" b="1" dirty="0">
                          <a:solidFill>
                            <a:schemeClr val="tx1"/>
                          </a:solidFill>
                          <a:latin typeface="Courier"/>
                        </a:rPr>
                        <a:t>]</a:t>
                      </a:r>
                    </a:p>
                  </a:txBody>
                  <a:tcPr marL="68700" marR="68700" marT="31227" marB="31227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200" b="1" dirty="0">
                          <a:solidFill>
                            <a:schemeClr val="tx1"/>
                          </a:solidFill>
                          <a:latin typeface="Courier"/>
                        </a:rPr>
                        <a:t>a[</a:t>
                      </a:r>
                      <a:r>
                        <a:rPr lang="en-CA" sz="1200" b="1" dirty="0">
                          <a:solidFill>
                            <a:srgbClr val="7030A0"/>
                          </a:solidFill>
                          <a:latin typeface="Courier"/>
                        </a:rPr>
                        <a:t>1</a:t>
                      </a:r>
                      <a:r>
                        <a:rPr lang="en-CA" sz="1200" b="1" dirty="0">
                          <a:solidFill>
                            <a:schemeClr val="tx1"/>
                          </a:solidFill>
                          <a:latin typeface="Courier"/>
                        </a:rPr>
                        <a:t>][</a:t>
                      </a:r>
                      <a:r>
                        <a:rPr lang="en-CA" sz="1200" b="1" dirty="0">
                          <a:solidFill>
                            <a:srgbClr val="00B0F0"/>
                          </a:solidFill>
                          <a:latin typeface="Courier"/>
                        </a:rPr>
                        <a:t>0</a:t>
                      </a:r>
                      <a:r>
                        <a:rPr lang="en-CA" sz="1200" b="1" dirty="0">
                          <a:solidFill>
                            <a:schemeClr val="tx1"/>
                          </a:solidFill>
                          <a:latin typeface="Courier"/>
                        </a:rPr>
                        <a:t>][</a:t>
                      </a:r>
                      <a:r>
                        <a:rPr lang="en-CA" sz="1200" b="1" dirty="0">
                          <a:solidFill>
                            <a:srgbClr val="FF0000"/>
                          </a:solidFill>
                          <a:latin typeface="Courier"/>
                        </a:rPr>
                        <a:t>1</a:t>
                      </a:r>
                      <a:r>
                        <a:rPr lang="en-CA" sz="1200" b="1" dirty="0">
                          <a:solidFill>
                            <a:schemeClr val="tx1"/>
                          </a:solidFill>
                          <a:latin typeface="Courier"/>
                        </a:rPr>
                        <a:t>]</a:t>
                      </a:r>
                    </a:p>
                  </a:txBody>
                  <a:tcPr marL="68700" marR="68700" marT="31227" marB="31227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200" b="1" dirty="0">
                          <a:solidFill>
                            <a:schemeClr val="tx1"/>
                          </a:solidFill>
                          <a:latin typeface="Courier"/>
                        </a:rPr>
                        <a:t>a[</a:t>
                      </a:r>
                      <a:r>
                        <a:rPr lang="en-CA" sz="1200" b="1" dirty="0">
                          <a:solidFill>
                            <a:srgbClr val="7030A0"/>
                          </a:solidFill>
                          <a:latin typeface="Courier"/>
                        </a:rPr>
                        <a:t>1</a:t>
                      </a:r>
                      <a:r>
                        <a:rPr lang="en-CA" sz="1200" b="1" dirty="0">
                          <a:solidFill>
                            <a:schemeClr val="tx1"/>
                          </a:solidFill>
                          <a:latin typeface="Courier"/>
                        </a:rPr>
                        <a:t>][</a:t>
                      </a:r>
                      <a:r>
                        <a:rPr lang="en-CA" sz="1200" b="1" dirty="0">
                          <a:solidFill>
                            <a:srgbClr val="00B0F0"/>
                          </a:solidFill>
                          <a:latin typeface="Courier"/>
                        </a:rPr>
                        <a:t>0</a:t>
                      </a:r>
                      <a:r>
                        <a:rPr lang="en-CA" sz="1200" b="1" dirty="0">
                          <a:solidFill>
                            <a:schemeClr val="tx1"/>
                          </a:solidFill>
                          <a:latin typeface="Courier"/>
                        </a:rPr>
                        <a:t>][</a:t>
                      </a:r>
                      <a:r>
                        <a:rPr lang="en-CA" sz="1200" b="1" dirty="0">
                          <a:solidFill>
                            <a:srgbClr val="FF0000"/>
                          </a:solidFill>
                          <a:latin typeface="Courier"/>
                        </a:rPr>
                        <a:t>2</a:t>
                      </a:r>
                      <a:r>
                        <a:rPr lang="en-CA" sz="1200" b="1" dirty="0">
                          <a:solidFill>
                            <a:schemeClr val="tx1"/>
                          </a:solidFill>
                          <a:latin typeface="Courier"/>
                        </a:rPr>
                        <a:t>]</a:t>
                      </a:r>
                    </a:p>
                  </a:txBody>
                  <a:tcPr marL="68700" marR="68700" marT="31227" marB="31227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200" b="1" dirty="0">
                          <a:solidFill>
                            <a:schemeClr val="tx1"/>
                          </a:solidFill>
                          <a:latin typeface="Courier"/>
                        </a:rPr>
                        <a:t>a[</a:t>
                      </a:r>
                      <a:r>
                        <a:rPr lang="en-CA" sz="1200" b="1" dirty="0">
                          <a:solidFill>
                            <a:srgbClr val="7030A0"/>
                          </a:solidFill>
                          <a:latin typeface="Courier"/>
                        </a:rPr>
                        <a:t>1</a:t>
                      </a:r>
                      <a:r>
                        <a:rPr lang="en-CA" sz="1200" b="1" dirty="0">
                          <a:solidFill>
                            <a:schemeClr val="tx1"/>
                          </a:solidFill>
                          <a:latin typeface="Courier"/>
                        </a:rPr>
                        <a:t>][</a:t>
                      </a:r>
                      <a:r>
                        <a:rPr lang="en-CA" sz="1200" b="1" dirty="0">
                          <a:solidFill>
                            <a:srgbClr val="00B0F0"/>
                          </a:solidFill>
                          <a:latin typeface="Courier"/>
                        </a:rPr>
                        <a:t>0</a:t>
                      </a:r>
                      <a:r>
                        <a:rPr lang="en-CA" sz="1200" b="1" dirty="0">
                          <a:solidFill>
                            <a:schemeClr val="tx1"/>
                          </a:solidFill>
                          <a:latin typeface="Courier"/>
                        </a:rPr>
                        <a:t>][</a:t>
                      </a:r>
                      <a:r>
                        <a:rPr lang="en-CA" sz="1200" b="1" dirty="0">
                          <a:solidFill>
                            <a:srgbClr val="FF0000"/>
                          </a:solidFill>
                          <a:latin typeface="Courier"/>
                        </a:rPr>
                        <a:t>3</a:t>
                      </a:r>
                      <a:r>
                        <a:rPr lang="en-CA" sz="1200" b="1" dirty="0">
                          <a:solidFill>
                            <a:schemeClr val="tx1"/>
                          </a:solidFill>
                          <a:latin typeface="Courier"/>
                        </a:rPr>
                        <a:t>]</a:t>
                      </a:r>
                    </a:p>
                  </a:txBody>
                  <a:tcPr marL="68700" marR="68700" marT="31227" marB="31227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8510802"/>
                  </a:ext>
                </a:extLst>
              </a:tr>
              <a:tr h="415115">
                <a:tc>
                  <a:txBody>
                    <a:bodyPr/>
                    <a:lstStyle/>
                    <a:p>
                      <a:pPr algn="ctr"/>
                      <a:r>
                        <a:rPr lang="en-CA" sz="1200" b="1" dirty="0">
                          <a:solidFill>
                            <a:schemeClr val="tx1"/>
                          </a:solidFill>
                          <a:latin typeface="Courier"/>
                        </a:rPr>
                        <a:t>a[</a:t>
                      </a:r>
                      <a:r>
                        <a:rPr lang="en-CA" sz="1200" b="1" dirty="0">
                          <a:solidFill>
                            <a:srgbClr val="7030A0"/>
                          </a:solidFill>
                          <a:latin typeface="Courier"/>
                        </a:rPr>
                        <a:t>1</a:t>
                      </a:r>
                      <a:r>
                        <a:rPr lang="en-CA" sz="1200" b="1" dirty="0">
                          <a:solidFill>
                            <a:schemeClr val="tx1"/>
                          </a:solidFill>
                          <a:latin typeface="Courier"/>
                        </a:rPr>
                        <a:t>][</a:t>
                      </a:r>
                      <a:r>
                        <a:rPr lang="en-CA" sz="1200" b="1" dirty="0">
                          <a:solidFill>
                            <a:srgbClr val="00B0F0"/>
                          </a:solidFill>
                          <a:latin typeface="Courier"/>
                        </a:rPr>
                        <a:t>1</a:t>
                      </a:r>
                      <a:r>
                        <a:rPr lang="en-CA" sz="1200" b="1" dirty="0">
                          <a:solidFill>
                            <a:schemeClr val="tx1"/>
                          </a:solidFill>
                          <a:latin typeface="Courier"/>
                        </a:rPr>
                        <a:t>][</a:t>
                      </a:r>
                      <a:r>
                        <a:rPr lang="en-CA" sz="1200" b="1" dirty="0">
                          <a:solidFill>
                            <a:srgbClr val="FF0000"/>
                          </a:solidFill>
                          <a:latin typeface="Courier"/>
                        </a:rPr>
                        <a:t>0</a:t>
                      </a:r>
                      <a:r>
                        <a:rPr lang="en-CA" sz="1200" b="1" dirty="0">
                          <a:solidFill>
                            <a:schemeClr val="tx1"/>
                          </a:solidFill>
                          <a:latin typeface="Courier"/>
                        </a:rPr>
                        <a:t>]</a:t>
                      </a:r>
                    </a:p>
                  </a:txBody>
                  <a:tcPr marL="68700" marR="68700" marT="31227" marB="31227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200" b="1" dirty="0">
                          <a:solidFill>
                            <a:schemeClr val="tx1"/>
                          </a:solidFill>
                          <a:latin typeface="Courier"/>
                        </a:rPr>
                        <a:t>a[</a:t>
                      </a:r>
                      <a:r>
                        <a:rPr lang="en-CA" sz="1200" b="1" dirty="0">
                          <a:solidFill>
                            <a:srgbClr val="7030A0"/>
                          </a:solidFill>
                          <a:latin typeface="Courier"/>
                        </a:rPr>
                        <a:t>1</a:t>
                      </a:r>
                      <a:r>
                        <a:rPr lang="en-CA" sz="1200" b="1" dirty="0">
                          <a:solidFill>
                            <a:schemeClr val="tx1"/>
                          </a:solidFill>
                          <a:latin typeface="Courier"/>
                        </a:rPr>
                        <a:t>][</a:t>
                      </a:r>
                      <a:r>
                        <a:rPr lang="en-CA" sz="1200" b="1" dirty="0">
                          <a:solidFill>
                            <a:srgbClr val="00B0F0"/>
                          </a:solidFill>
                          <a:latin typeface="Courier"/>
                        </a:rPr>
                        <a:t>1</a:t>
                      </a:r>
                      <a:r>
                        <a:rPr lang="en-CA" sz="1200" b="1" dirty="0">
                          <a:solidFill>
                            <a:schemeClr val="tx1"/>
                          </a:solidFill>
                          <a:latin typeface="Courier"/>
                        </a:rPr>
                        <a:t>][</a:t>
                      </a:r>
                      <a:r>
                        <a:rPr lang="en-CA" sz="1200" b="1" dirty="0">
                          <a:solidFill>
                            <a:srgbClr val="FF0000"/>
                          </a:solidFill>
                          <a:latin typeface="Courier"/>
                        </a:rPr>
                        <a:t>1</a:t>
                      </a:r>
                      <a:r>
                        <a:rPr lang="en-CA" sz="1200" b="1" dirty="0">
                          <a:solidFill>
                            <a:schemeClr val="tx1"/>
                          </a:solidFill>
                          <a:latin typeface="Courier"/>
                        </a:rPr>
                        <a:t>]</a:t>
                      </a:r>
                    </a:p>
                  </a:txBody>
                  <a:tcPr marL="68700" marR="68700" marT="31227" marB="31227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200" b="1" dirty="0">
                          <a:solidFill>
                            <a:schemeClr val="tx1"/>
                          </a:solidFill>
                          <a:latin typeface="Courier"/>
                        </a:rPr>
                        <a:t>a[</a:t>
                      </a:r>
                      <a:r>
                        <a:rPr lang="en-CA" sz="1200" b="1" dirty="0">
                          <a:solidFill>
                            <a:srgbClr val="7030A0"/>
                          </a:solidFill>
                          <a:latin typeface="Courier"/>
                        </a:rPr>
                        <a:t>1</a:t>
                      </a:r>
                      <a:r>
                        <a:rPr lang="en-CA" sz="1200" b="1" dirty="0">
                          <a:solidFill>
                            <a:schemeClr val="tx1"/>
                          </a:solidFill>
                          <a:latin typeface="Courier"/>
                        </a:rPr>
                        <a:t>][</a:t>
                      </a:r>
                      <a:r>
                        <a:rPr lang="en-CA" sz="1200" b="1" dirty="0">
                          <a:solidFill>
                            <a:srgbClr val="00B0F0"/>
                          </a:solidFill>
                          <a:latin typeface="Courier"/>
                        </a:rPr>
                        <a:t>1</a:t>
                      </a:r>
                      <a:r>
                        <a:rPr lang="en-CA" sz="1200" b="1" dirty="0">
                          <a:solidFill>
                            <a:schemeClr val="tx1"/>
                          </a:solidFill>
                          <a:latin typeface="Courier"/>
                        </a:rPr>
                        <a:t>][</a:t>
                      </a:r>
                      <a:r>
                        <a:rPr lang="en-CA" sz="1200" b="1" dirty="0">
                          <a:solidFill>
                            <a:srgbClr val="FF0000"/>
                          </a:solidFill>
                          <a:latin typeface="Courier"/>
                        </a:rPr>
                        <a:t>2</a:t>
                      </a:r>
                      <a:r>
                        <a:rPr lang="en-CA" sz="1200" b="1" dirty="0">
                          <a:solidFill>
                            <a:schemeClr val="tx1"/>
                          </a:solidFill>
                          <a:latin typeface="Courier"/>
                        </a:rPr>
                        <a:t>]</a:t>
                      </a:r>
                    </a:p>
                  </a:txBody>
                  <a:tcPr marL="68700" marR="68700" marT="31227" marB="31227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200" b="1" dirty="0">
                          <a:solidFill>
                            <a:schemeClr val="tx1"/>
                          </a:solidFill>
                          <a:latin typeface="Courier"/>
                        </a:rPr>
                        <a:t>a[</a:t>
                      </a:r>
                      <a:r>
                        <a:rPr lang="en-CA" sz="1200" b="1" dirty="0">
                          <a:solidFill>
                            <a:srgbClr val="7030A0"/>
                          </a:solidFill>
                          <a:latin typeface="Courier"/>
                        </a:rPr>
                        <a:t>1</a:t>
                      </a:r>
                      <a:r>
                        <a:rPr lang="en-CA" sz="1200" b="1" dirty="0">
                          <a:solidFill>
                            <a:schemeClr val="tx1"/>
                          </a:solidFill>
                          <a:latin typeface="Courier"/>
                        </a:rPr>
                        <a:t>][</a:t>
                      </a:r>
                      <a:r>
                        <a:rPr lang="en-CA" sz="1200" b="1" dirty="0">
                          <a:solidFill>
                            <a:srgbClr val="00B0F0"/>
                          </a:solidFill>
                          <a:latin typeface="Courier"/>
                        </a:rPr>
                        <a:t>1</a:t>
                      </a:r>
                      <a:r>
                        <a:rPr lang="en-CA" sz="1200" b="1" dirty="0">
                          <a:solidFill>
                            <a:schemeClr val="tx1"/>
                          </a:solidFill>
                          <a:latin typeface="Courier"/>
                        </a:rPr>
                        <a:t>][</a:t>
                      </a:r>
                      <a:r>
                        <a:rPr lang="en-CA" sz="1200" b="1" dirty="0">
                          <a:solidFill>
                            <a:srgbClr val="FF0000"/>
                          </a:solidFill>
                          <a:latin typeface="Courier"/>
                        </a:rPr>
                        <a:t>3</a:t>
                      </a:r>
                      <a:r>
                        <a:rPr lang="en-CA" sz="1200" b="1" dirty="0">
                          <a:solidFill>
                            <a:schemeClr val="tx1"/>
                          </a:solidFill>
                          <a:latin typeface="Courier"/>
                        </a:rPr>
                        <a:t>]</a:t>
                      </a:r>
                    </a:p>
                  </a:txBody>
                  <a:tcPr marL="68700" marR="68700" marT="31227" marB="31227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936724"/>
                  </a:ext>
                </a:extLst>
              </a:tr>
              <a:tr h="415115">
                <a:tc>
                  <a:txBody>
                    <a:bodyPr/>
                    <a:lstStyle/>
                    <a:p>
                      <a:pPr algn="ctr"/>
                      <a:r>
                        <a:rPr lang="en-CA" sz="1200" b="1" dirty="0">
                          <a:solidFill>
                            <a:schemeClr val="tx1"/>
                          </a:solidFill>
                          <a:latin typeface="Courier"/>
                        </a:rPr>
                        <a:t>a[</a:t>
                      </a:r>
                      <a:r>
                        <a:rPr lang="en-CA" sz="1200" b="1" dirty="0">
                          <a:solidFill>
                            <a:srgbClr val="7030A0"/>
                          </a:solidFill>
                          <a:latin typeface="Courier"/>
                        </a:rPr>
                        <a:t>1</a:t>
                      </a:r>
                      <a:r>
                        <a:rPr lang="en-CA" sz="1200" b="1" dirty="0">
                          <a:solidFill>
                            <a:schemeClr val="tx1"/>
                          </a:solidFill>
                          <a:latin typeface="Courier"/>
                        </a:rPr>
                        <a:t>][</a:t>
                      </a:r>
                      <a:r>
                        <a:rPr lang="en-CA" sz="1200" b="1" dirty="0">
                          <a:solidFill>
                            <a:srgbClr val="00B0F0"/>
                          </a:solidFill>
                          <a:latin typeface="Courier"/>
                        </a:rPr>
                        <a:t>2</a:t>
                      </a:r>
                      <a:r>
                        <a:rPr lang="en-CA" sz="1200" b="1" dirty="0">
                          <a:solidFill>
                            <a:schemeClr val="tx1"/>
                          </a:solidFill>
                          <a:latin typeface="Courier"/>
                        </a:rPr>
                        <a:t>][</a:t>
                      </a:r>
                      <a:r>
                        <a:rPr lang="en-CA" sz="1200" b="1" dirty="0">
                          <a:solidFill>
                            <a:srgbClr val="FF0000"/>
                          </a:solidFill>
                          <a:latin typeface="Courier"/>
                        </a:rPr>
                        <a:t>0</a:t>
                      </a:r>
                      <a:r>
                        <a:rPr lang="en-CA" sz="1200" b="1" dirty="0">
                          <a:solidFill>
                            <a:schemeClr val="tx1"/>
                          </a:solidFill>
                          <a:latin typeface="Courier"/>
                        </a:rPr>
                        <a:t>]</a:t>
                      </a:r>
                    </a:p>
                  </a:txBody>
                  <a:tcPr marL="68700" marR="68700" marT="31227" marB="31227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200" b="1" dirty="0">
                          <a:solidFill>
                            <a:schemeClr val="tx1"/>
                          </a:solidFill>
                          <a:latin typeface="Courier"/>
                        </a:rPr>
                        <a:t>a[</a:t>
                      </a:r>
                      <a:r>
                        <a:rPr lang="en-CA" sz="1200" b="1" dirty="0">
                          <a:solidFill>
                            <a:srgbClr val="7030A0"/>
                          </a:solidFill>
                          <a:latin typeface="Courier"/>
                        </a:rPr>
                        <a:t>1</a:t>
                      </a:r>
                      <a:r>
                        <a:rPr lang="en-CA" sz="1200" b="1" dirty="0">
                          <a:solidFill>
                            <a:schemeClr val="tx1"/>
                          </a:solidFill>
                          <a:latin typeface="Courier"/>
                        </a:rPr>
                        <a:t>][</a:t>
                      </a:r>
                      <a:r>
                        <a:rPr lang="en-CA" sz="1200" b="1" dirty="0">
                          <a:solidFill>
                            <a:srgbClr val="00B0F0"/>
                          </a:solidFill>
                          <a:latin typeface="Courier"/>
                        </a:rPr>
                        <a:t>2</a:t>
                      </a:r>
                      <a:r>
                        <a:rPr lang="en-CA" sz="1200" b="1" dirty="0">
                          <a:solidFill>
                            <a:schemeClr val="tx1"/>
                          </a:solidFill>
                          <a:latin typeface="Courier"/>
                        </a:rPr>
                        <a:t>][</a:t>
                      </a:r>
                      <a:r>
                        <a:rPr lang="en-CA" sz="1200" b="1" dirty="0">
                          <a:solidFill>
                            <a:srgbClr val="FF0000"/>
                          </a:solidFill>
                          <a:latin typeface="Courier"/>
                        </a:rPr>
                        <a:t>1</a:t>
                      </a:r>
                      <a:r>
                        <a:rPr lang="en-CA" sz="1200" b="1" dirty="0">
                          <a:solidFill>
                            <a:schemeClr val="tx1"/>
                          </a:solidFill>
                          <a:latin typeface="Courier"/>
                        </a:rPr>
                        <a:t>]</a:t>
                      </a:r>
                    </a:p>
                  </a:txBody>
                  <a:tcPr marL="68700" marR="68700" marT="31227" marB="31227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200" b="1" dirty="0">
                          <a:solidFill>
                            <a:schemeClr val="tx1"/>
                          </a:solidFill>
                          <a:latin typeface="Courier"/>
                        </a:rPr>
                        <a:t>a[</a:t>
                      </a:r>
                      <a:r>
                        <a:rPr lang="en-CA" sz="1200" b="1" dirty="0">
                          <a:solidFill>
                            <a:srgbClr val="7030A0"/>
                          </a:solidFill>
                          <a:latin typeface="Courier"/>
                        </a:rPr>
                        <a:t>1</a:t>
                      </a:r>
                      <a:r>
                        <a:rPr lang="en-CA" sz="1200" b="1" dirty="0">
                          <a:solidFill>
                            <a:schemeClr val="tx1"/>
                          </a:solidFill>
                          <a:latin typeface="Courier"/>
                        </a:rPr>
                        <a:t>][</a:t>
                      </a:r>
                      <a:r>
                        <a:rPr lang="en-CA" sz="1200" b="1" dirty="0">
                          <a:solidFill>
                            <a:srgbClr val="00B0F0"/>
                          </a:solidFill>
                          <a:latin typeface="Courier"/>
                        </a:rPr>
                        <a:t>2</a:t>
                      </a:r>
                      <a:r>
                        <a:rPr lang="en-CA" sz="1200" b="1" dirty="0">
                          <a:solidFill>
                            <a:schemeClr val="tx1"/>
                          </a:solidFill>
                          <a:latin typeface="Courier"/>
                        </a:rPr>
                        <a:t>][</a:t>
                      </a:r>
                      <a:r>
                        <a:rPr lang="en-CA" sz="1200" b="1" dirty="0">
                          <a:solidFill>
                            <a:srgbClr val="FF0000"/>
                          </a:solidFill>
                          <a:latin typeface="Courier"/>
                        </a:rPr>
                        <a:t>2</a:t>
                      </a:r>
                      <a:r>
                        <a:rPr lang="en-CA" sz="1200" b="1" dirty="0">
                          <a:solidFill>
                            <a:schemeClr val="tx1"/>
                          </a:solidFill>
                          <a:latin typeface="Courier"/>
                        </a:rPr>
                        <a:t>]</a:t>
                      </a:r>
                    </a:p>
                  </a:txBody>
                  <a:tcPr marL="68700" marR="68700" marT="31227" marB="31227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200" b="1" dirty="0">
                          <a:solidFill>
                            <a:schemeClr val="tx1"/>
                          </a:solidFill>
                          <a:latin typeface="Courier"/>
                        </a:rPr>
                        <a:t>a[</a:t>
                      </a:r>
                      <a:r>
                        <a:rPr lang="en-CA" sz="1200" b="1" dirty="0">
                          <a:solidFill>
                            <a:srgbClr val="7030A0"/>
                          </a:solidFill>
                          <a:latin typeface="Courier"/>
                        </a:rPr>
                        <a:t>1</a:t>
                      </a:r>
                      <a:r>
                        <a:rPr lang="en-CA" sz="1200" b="1" dirty="0">
                          <a:solidFill>
                            <a:schemeClr val="tx1"/>
                          </a:solidFill>
                          <a:latin typeface="Courier"/>
                        </a:rPr>
                        <a:t>][</a:t>
                      </a:r>
                      <a:r>
                        <a:rPr lang="en-CA" sz="1200" b="1" dirty="0">
                          <a:solidFill>
                            <a:srgbClr val="00B0F0"/>
                          </a:solidFill>
                          <a:latin typeface="Courier"/>
                        </a:rPr>
                        <a:t>2</a:t>
                      </a:r>
                      <a:r>
                        <a:rPr lang="en-CA" sz="1200" b="1" dirty="0">
                          <a:solidFill>
                            <a:schemeClr val="tx1"/>
                          </a:solidFill>
                          <a:latin typeface="Courier"/>
                        </a:rPr>
                        <a:t>][</a:t>
                      </a:r>
                      <a:r>
                        <a:rPr lang="en-CA" sz="1200" b="1" dirty="0">
                          <a:solidFill>
                            <a:srgbClr val="FF0000"/>
                          </a:solidFill>
                          <a:latin typeface="Courier"/>
                        </a:rPr>
                        <a:t>3</a:t>
                      </a:r>
                      <a:r>
                        <a:rPr lang="en-CA" sz="1200" b="1" dirty="0">
                          <a:solidFill>
                            <a:schemeClr val="tx1"/>
                          </a:solidFill>
                          <a:latin typeface="Courier"/>
                        </a:rPr>
                        <a:t>]</a:t>
                      </a:r>
                    </a:p>
                  </a:txBody>
                  <a:tcPr marL="68700" marR="68700" marT="31227" marB="31227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4441713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2A916946-1366-9DBE-827C-6DB85A086FEA}"/>
              </a:ext>
            </a:extLst>
          </p:cNvPr>
          <p:cNvSpPr txBox="1"/>
          <p:nvPr/>
        </p:nvSpPr>
        <p:spPr>
          <a:xfrm>
            <a:off x="1147355" y="4495001"/>
            <a:ext cx="8229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2000" b="1" dirty="0">
                <a:solidFill>
                  <a:schemeClr val="tx1"/>
                </a:solidFill>
                <a:latin typeface="Courier"/>
              </a:rPr>
              <a:t>a[</a:t>
            </a:r>
            <a:r>
              <a:rPr lang="en-CA" sz="2000" b="1" dirty="0">
                <a:solidFill>
                  <a:srgbClr val="7030A0"/>
                </a:solidFill>
                <a:latin typeface="Courier"/>
              </a:rPr>
              <a:t>1</a:t>
            </a:r>
            <a:r>
              <a:rPr lang="en-CA" sz="2000" b="1" dirty="0">
                <a:solidFill>
                  <a:schemeClr val="tx1"/>
                </a:solidFill>
                <a:latin typeface="Courier"/>
              </a:rPr>
              <a:t>]</a:t>
            </a:r>
            <a:endParaRPr lang="en-US" sz="2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322B665-91C6-FC81-EFB9-7DA86FB627CB}"/>
              </a:ext>
            </a:extLst>
          </p:cNvPr>
          <p:cNvSpPr txBox="1"/>
          <p:nvPr/>
        </p:nvSpPr>
        <p:spPr>
          <a:xfrm>
            <a:off x="9240914" y="725720"/>
            <a:ext cx="126056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2000" b="1" dirty="0">
                <a:solidFill>
                  <a:schemeClr val="tx1"/>
                </a:solidFill>
                <a:latin typeface="Courier"/>
              </a:rPr>
              <a:t>a[][][]</a:t>
            </a:r>
            <a:endParaRPr lang="en-US" sz="2000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6826980B-36B9-9F65-E2B3-F47D0184D778}"/>
              </a:ext>
            </a:extLst>
          </p:cNvPr>
          <p:cNvSpPr/>
          <p:nvPr/>
        </p:nvSpPr>
        <p:spPr>
          <a:xfrm>
            <a:off x="9343255" y="5380381"/>
            <a:ext cx="1055881" cy="185405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100" b="1" dirty="0">
                <a:solidFill>
                  <a:schemeClr val="tx1"/>
                </a:solidFill>
                <a:latin typeface="Courier"/>
              </a:rPr>
              <a:t>a[0][0][0]</a:t>
            </a:r>
            <a:endParaRPr lang="en-US" sz="1100" dirty="0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A8FD8786-725F-69DF-C8B0-B1DDDFF172C1}"/>
              </a:ext>
            </a:extLst>
          </p:cNvPr>
          <p:cNvSpPr/>
          <p:nvPr/>
        </p:nvSpPr>
        <p:spPr>
          <a:xfrm>
            <a:off x="9343254" y="5197471"/>
            <a:ext cx="1055881" cy="185405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100" b="1" dirty="0">
                <a:solidFill>
                  <a:schemeClr val="tx1"/>
                </a:solidFill>
                <a:latin typeface="Courier"/>
              </a:rPr>
              <a:t>a[0][0][1]</a:t>
            </a:r>
            <a:endParaRPr lang="en-US" sz="1100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BE1C4818-57E0-AABC-FE4E-A2FD8608488C}"/>
              </a:ext>
            </a:extLst>
          </p:cNvPr>
          <p:cNvSpPr/>
          <p:nvPr/>
        </p:nvSpPr>
        <p:spPr>
          <a:xfrm>
            <a:off x="9343253" y="5014561"/>
            <a:ext cx="1055881" cy="185405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100" b="1" dirty="0">
                <a:solidFill>
                  <a:schemeClr val="tx1"/>
                </a:solidFill>
                <a:latin typeface="Courier"/>
              </a:rPr>
              <a:t>a[0][0][2]</a:t>
            </a:r>
            <a:endParaRPr lang="en-US" sz="1100" dirty="0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33B0A898-45B6-DC59-C6F8-77E85EBFDE15}"/>
              </a:ext>
            </a:extLst>
          </p:cNvPr>
          <p:cNvSpPr/>
          <p:nvPr/>
        </p:nvSpPr>
        <p:spPr>
          <a:xfrm>
            <a:off x="9343252" y="4831701"/>
            <a:ext cx="1055881" cy="185405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100" b="1" dirty="0">
                <a:solidFill>
                  <a:schemeClr val="tx1"/>
                </a:solidFill>
                <a:latin typeface="Courier"/>
              </a:rPr>
              <a:t>a[0][0][3]</a:t>
            </a:r>
            <a:endParaRPr lang="en-US" sz="1100" dirty="0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F58A03D6-50B0-0EE2-BB15-382C097C61AE}"/>
              </a:ext>
            </a:extLst>
          </p:cNvPr>
          <p:cNvSpPr/>
          <p:nvPr/>
        </p:nvSpPr>
        <p:spPr>
          <a:xfrm>
            <a:off x="9343255" y="4646733"/>
            <a:ext cx="1055881" cy="185405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100" b="1" dirty="0">
                <a:solidFill>
                  <a:schemeClr val="tx1"/>
                </a:solidFill>
                <a:latin typeface="Courier"/>
              </a:rPr>
              <a:t>a[0][1][0]</a:t>
            </a:r>
            <a:endParaRPr lang="en-US" sz="1100" dirty="0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1C767021-C28E-6326-9512-DFAED57F183F}"/>
              </a:ext>
            </a:extLst>
          </p:cNvPr>
          <p:cNvSpPr/>
          <p:nvPr/>
        </p:nvSpPr>
        <p:spPr>
          <a:xfrm>
            <a:off x="9343254" y="4463823"/>
            <a:ext cx="1055881" cy="185405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100" b="1" dirty="0">
                <a:solidFill>
                  <a:schemeClr val="tx1"/>
                </a:solidFill>
                <a:latin typeface="Courier"/>
              </a:rPr>
              <a:t>a[0][1][1]</a:t>
            </a:r>
            <a:endParaRPr lang="en-US" sz="1100" dirty="0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9ED55248-8565-B0D2-DE0C-044C7849D928}"/>
              </a:ext>
            </a:extLst>
          </p:cNvPr>
          <p:cNvSpPr/>
          <p:nvPr/>
        </p:nvSpPr>
        <p:spPr>
          <a:xfrm>
            <a:off x="9343253" y="4280913"/>
            <a:ext cx="1055881" cy="185405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100" b="1" dirty="0">
                <a:solidFill>
                  <a:schemeClr val="tx1"/>
                </a:solidFill>
                <a:latin typeface="Courier"/>
              </a:rPr>
              <a:t>a[0][1][2]</a:t>
            </a:r>
            <a:endParaRPr lang="en-US" sz="1100" dirty="0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07E8FAE3-175C-A302-178B-1D2659126E3E}"/>
              </a:ext>
            </a:extLst>
          </p:cNvPr>
          <p:cNvSpPr/>
          <p:nvPr/>
        </p:nvSpPr>
        <p:spPr>
          <a:xfrm>
            <a:off x="9343252" y="4098053"/>
            <a:ext cx="1055881" cy="185405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100" b="1" dirty="0">
                <a:solidFill>
                  <a:schemeClr val="tx1"/>
                </a:solidFill>
                <a:latin typeface="Courier"/>
              </a:rPr>
              <a:t>a[0][1][3]</a:t>
            </a:r>
            <a:endParaRPr lang="en-US" sz="1100" dirty="0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B6666966-D167-695E-FE03-C1F826A3869E}"/>
              </a:ext>
            </a:extLst>
          </p:cNvPr>
          <p:cNvSpPr/>
          <p:nvPr/>
        </p:nvSpPr>
        <p:spPr>
          <a:xfrm>
            <a:off x="9343255" y="3918008"/>
            <a:ext cx="1055881" cy="185405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100" b="1" dirty="0">
                <a:solidFill>
                  <a:schemeClr val="tx1"/>
                </a:solidFill>
                <a:latin typeface="Courier"/>
              </a:rPr>
              <a:t>a[0][2][0]</a:t>
            </a:r>
            <a:endParaRPr lang="en-US" sz="1100" dirty="0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017B4B93-E3A4-6553-D766-6317A6DDF7E2}"/>
              </a:ext>
            </a:extLst>
          </p:cNvPr>
          <p:cNvSpPr/>
          <p:nvPr/>
        </p:nvSpPr>
        <p:spPr>
          <a:xfrm>
            <a:off x="9343254" y="3735098"/>
            <a:ext cx="1055881" cy="185405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100" b="1" dirty="0">
                <a:solidFill>
                  <a:schemeClr val="tx1"/>
                </a:solidFill>
                <a:latin typeface="Courier"/>
              </a:rPr>
              <a:t>a[0][2][1]</a:t>
            </a:r>
            <a:endParaRPr lang="en-US" sz="1100" dirty="0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4BCF2554-B059-45C6-DB7B-D0CD42353B7F}"/>
              </a:ext>
            </a:extLst>
          </p:cNvPr>
          <p:cNvSpPr/>
          <p:nvPr/>
        </p:nvSpPr>
        <p:spPr>
          <a:xfrm>
            <a:off x="9343253" y="3552188"/>
            <a:ext cx="1055881" cy="185405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100" b="1" dirty="0">
                <a:solidFill>
                  <a:schemeClr val="tx1"/>
                </a:solidFill>
                <a:latin typeface="Courier"/>
              </a:rPr>
              <a:t>a[0][2][2]</a:t>
            </a:r>
            <a:endParaRPr lang="en-US" sz="1100" dirty="0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F7E636DE-FCFD-607D-B14E-5E67FB6623A5}"/>
              </a:ext>
            </a:extLst>
          </p:cNvPr>
          <p:cNvSpPr/>
          <p:nvPr/>
        </p:nvSpPr>
        <p:spPr>
          <a:xfrm>
            <a:off x="9343252" y="3369328"/>
            <a:ext cx="1055881" cy="185405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100" b="1" dirty="0">
                <a:solidFill>
                  <a:schemeClr val="tx1"/>
                </a:solidFill>
                <a:latin typeface="Courier"/>
              </a:rPr>
              <a:t>a[0][2][3]</a:t>
            </a:r>
            <a:endParaRPr lang="en-US" sz="1100" dirty="0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A30A8927-DA68-0B13-B033-B978ED89B03E}"/>
              </a:ext>
            </a:extLst>
          </p:cNvPr>
          <p:cNvSpPr/>
          <p:nvPr/>
        </p:nvSpPr>
        <p:spPr>
          <a:xfrm>
            <a:off x="9343255" y="3186102"/>
            <a:ext cx="1055881" cy="185405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100" b="1" dirty="0">
                <a:solidFill>
                  <a:schemeClr val="tx1"/>
                </a:solidFill>
                <a:latin typeface="Courier"/>
              </a:rPr>
              <a:t>a[1][0][0]</a:t>
            </a:r>
            <a:endParaRPr lang="en-US" sz="1100" dirty="0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22B77982-6231-25FC-19F7-31B1D17F0F1E}"/>
              </a:ext>
            </a:extLst>
          </p:cNvPr>
          <p:cNvSpPr/>
          <p:nvPr/>
        </p:nvSpPr>
        <p:spPr>
          <a:xfrm>
            <a:off x="9343254" y="3003192"/>
            <a:ext cx="1055881" cy="185405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100" b="1" dirty="0">
                <a:solidFill>
                  <a:schemeClr val="tx1"/>
                </a:solidFill>
                <a:latin typeface="Courier"/>
              </a:rPr>
              <a:t>a[1][0][1]</a:t>
            </a:r>
            <a:endParaRPr lang="en-US" sz="1100" dirty="0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57BD6FF4-DC70-56F1-9973-B8D1892FA9DF}"/>
              </a:ext>
            </a:extLst>
          </p:cNvPr>
          <p:cNvSpPr/>
          <p:nvPr/>
        </p:nvSpPr>
        <p:spPr>
          <a:xfrm>
            <a:off x="9343253" y="2820282"/>
            <a:ext cx="1055881" cy="185405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100" b="1" dirty="0">
                <a:solidFill>
                  <a:schemeClr val="tx1"/>
                </a:solidFill>
                <a:latin typeface="Courier"/>
              </a:rPr>
              <a:t>a[1][0][2]</a:t>
            </a:r>
            <a:endParaRPr lang="en-US" sz="1100" dirty="0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CE132068-6C0B-D757-3043-D5E50EE35FE3}"/>
              </a:ext>
            </a:extLst>
          </p:cNvPr>
          <p:cNvSpPr/>
          <p:nvPr/>
        </p:nvSpPr>
        <p:spPr>
          <a:xfrm>
            <a:off x="9343252" y="2637422"/>
            <a:ext cx="1055881" cy="185405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100" b="1" dirty="0">
                <a:solidFill>
                  <a:schemeClr val="tx1"/>
                </a:solidFill>
                <a:latin typeface="Courier"/>
              </a:rPr>
              <a:t>a[1][0][3]</a:t>
            </a:r>
            <a:endParaRPr lang="en-US" sz="1100" dirty="0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21EEED8B-35CA-3C14-23E4-83D25FFE6151}"/>
              </a:ext>
            </a:extLst>
          </p:cNvPr>
          <p:cNvSpPr/>
          <p:nvPr/>
        </p:nvSpPr>
        <p:spPr>
          <a:xfrm>
            <a:off x="9343255" y="2452454"/>
            <a:ext cx="1055881" cy="185405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100" b="1" dirty="0">
                <a:solidFill>
                  <a:schemeClr val="tx1"/>
                </a:solidFill>
                <a:latin typeface="Courier"/>
              </a:rPr>
              <a:t>a[1][1][0]</a:t>
            </a:r>
            <a:endParaRPr lang="en-US" sz="1100" dirty="0"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F5141EB9-941C-2617-D922-14A9CB51419C}"/>
              </a:ext>
            </a:extLst>
          </p:cNvPr>
          <p:cNvSpPr/>
          <p:nvPr/>
        </p:nvSpPr>
        <p:spPr>
          <a:xfrm>
            <a:off x="9343254" y="2269544"/>
            <a:ext cx="1055881" cy="185405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100" b="1" dirty="0">
                <a:solidFill>
                  <a:schemeClr val="tx1"/>
                </a:solidFill>
                <a:latin typeface="Courier"/>
              </a:rPr>
              <a:t>a[1][1][1]</a:t>
            </a:r>
            <a:endParaRPr lang="en-US" sz="1100" dirty="0"/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6BDD6A12-A58A-FCE4-7DFF-3A9900A80371}"/>
              </a:ext>
            </a:extLst>
          </p:cNvPr>
          <p:cNvSpPr/>
          <p:nvPr/>
        </p:nvSpPr>
        <p:spPr>
          <a:xfrm>
            <a:off x="9343253" y="2086634"/>
            <a:ext cx="1055881" cy="185405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100" b="1" dirty="0">
                <a:solidFill>
                  <a:schemeClr val="tx1"/>
                </a:solidFill>
                <a:latin typeface="Courier"/>
              </a:rPr>
              <a:t>a[1][1][2]</a:t>
            </a:r>
            <a:endParaRPr lang="en-US" sz="1100" dirty="0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32A91638-A07B-E160-9125-262B006E9BA5}"/>
              </a:ext>
            </a:extLst>
          </p:cNvPr>
          <p:cNvSpPr/>
          <p:nvPr/>
        </p:nvSpPr>
        <p:spPr>
          <a:xfrm>
            <a:off x="9343252" y="1903774"/>
            <a:ext cx="1055881" cy="185405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100" b="1" dirty="0">
                <a:solidFill>
                  <a:schemeClr val="tx1"/>
                </a:solidFill>
                <a:latin typeface="Courier"/>
              </a:rPr>
              <a:t>a[1][1][3]</a:t>
            </a:r>
            <a:endParaRPr lang="en-US" sz="1100" dirty="0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90334A72-393F-1B7A-6765-654B8D8229DA}"/>
              </a:ext>
            </a:extLst>
          </p:cNvPr>
          <p:cNvSpPr/>
          <p:nvPr/>
        </p:nvSpPr>
        <p:spPr>
          <a:xfrm>
            <a:off x="9343255" y="1723729"/>
            <a:ext cx="1055881" cy="185405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100" b="1" dirty="0">
                <a:solidFill>
                  <a:schemeClr val="tx1"/>
                </a:solidFill>
                <a:latin typeface="Courier"/>
              </a:rPr>
              <a:t>a[1][2][0]</a:t>
            </a:r>
            <a:endParaRPr lang="en-US" sz="1100" dirty="0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7CBCA93B-21EC-2E0C-A628-EFCABE16AAAA}"/>
              </a:ext>
            </a:extLst>
          </p:cNvPr>
          <p:cNvSpPr/>
          <p:nvPr/>
        </p:nvSpPr>
        <p:spPr>
          <a:xfrm>
            <a:off x="9343254" y="1540819"/>
            <a:ext cx="1055881" cy="185405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100" b="1" dirty="0">
                <a:solidFill>
                  <a:schemeClr val="tx1"/>
                </a:solidFill>
                <a:latin typeface="Courier"/>
              </a:rPr>
              <a:t>a[1][2][1]</a:t>
            </a:r>
            <a:endParaRPr lang="en-US" sz="1100" dirty="0"/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5582F5A7-BD7E-6EA9-2590-BE191E7B12C9}"/>
              </a:ext>
            </a:extLst>
          </p:cNvPr>
          <p:cNvSpPr/>
          <p:nvPr/>
        </p:nvSpPr>
        <p:spPr>
          <a:xfrm>
            <a:off x="9343253" y="1357909"/>
            <a:ext cx="1055881" cy="185405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100" b="1" dirty="0">
                <a:solidFill>
                  <a:schemeClr val="tx1"/>
                </a:solidFill>
                <a:latin typeface="Courier"/>
              </a:rPr>
              <a:t>a[1][2][2]</a:t>
            </a:r>
            <a:endParaRPr lang="en-US" sz="1100" dirty="0"/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FD0182D8-A2BD-9B02-50A4-CBC29B0948F3}"/>
              </a:ext>
            </a:extLst>
          </p:cNvPr>
          <p:cNvSpPr/>
          <p:nvPr/>
        </p:nvSpPr>
        <p:spPr>
          <a:xfrm>
            <a:off x="9343252" y="1175049"/>
            <a:ext cx="1055881" cy="185405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100" b="1" dirty="0">
                <a:solidFill>
                  <a:schemeClr val="tx1"/>
                </a:solidFill>
                <a:latin typeface="Courier"/>
              </a:rPr>
              <a:t>a[1][2][3]</a:t>
            </a:r>
            <a:endParaRPr lang="en-US" sz="1100" dirty="0"/>
          </a:p>
        </p:txBody>
      </p:sp>
      <p:sp>
        <p:nvSpPr>
          <p:cNvPr id="37" name="Speech Bubble: Rectangle 36">
            <a:extLst>
              <a:ext uri="{FF2B5EF4-FFF2-40B4-BE49-F238E27FC236}">
                <a16:creationId xmlns:a16="http://schemas.microsoft.com/office/drawing/2014/main" id="{F5F5CB1F-BD22-4639-9D23-64D13B29E652}"/>
              </a:ext>
            </a:extLst>
          </p:cNvPr>
          <p:cNvSpPr/>
          <p:nvPr/>
        </p:nvSpPr>
        <p:spPr>
          <a:xfrm>
            <a:off x="9844421" y="5648857"/>
            <a:ext cx="1154504" cy="318197"/>
          </a:xfrm>
          <a:prstGeom prst="wedgeRectCallout">
            <a:avLst>
              <a:gd name="adj1" fmla="val -30619"/>
              <a:gd name="adj2" fmla="val -83764"/>
            </a:avLst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Array Name:  </a:t>
            </a:r>
            <a:r>
              <a:rPr lang="en-US" sz="1600" b="1" dirty="0">
                <a:solidFill>
                  <a:schemeClr val="tx1"/>
                </a:solidFill>
                <a:latin typeface="Courier"/>
              </a:rPr>
              <a:t>a</a:t>
            </a:r>
            <a:endParaRPr lang="en-US" sz="1200" b="1" dirty="0">
              <a:solidFill>
                <a:srgbClr val="FF0000"/>
              </a:solidFill>
              <a:latin typeface="Courier"/>
            </a:endParaRPr>
          </a:p>
        </p:txBody>
      </p:sp>
      <p:sp>
        <p:nvSpPr>
          <p:cNvPr id="38" name="Speech Bubble: Rectangle 37">
            <a:extLst>
              <a:ext uri="{FF2B5EF4-FFF2-40B4-BE49-F238E27FC236}">
                <a16:creationId xmlns:a16="http://schemas.microsoft.com/office/drawing/2014/main" id="{FA3875AA-E0B6-430F-43BA-F7C3EE9180E3}"/>
              </a:ext>
            </a:extLst>
          </p:cNvPr>
          <p:cNvSpPr/>
          <p:nvPr/>
        </p:nvSpPr>
        <p:spPr>
          <a:xfrm>
            <a:off x="7768057" y="5627882"/>
            <a:ext cx="1575195" cy="318197"/>
          </a:xfrm>
          <a:prstGeom prst="wedgeRectCallout">
            <a:avLst>
              <a:gd name="adj1" fmla="val 46354"/>
              <a:gd name="adj2" fmla="val -83764"/>
            </a:avLst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Page Name:  </a:t>
            </a:r>
            <a:r>
              <a:rPr lang="en-US" sz="1600" b="1" dirty="0">
                <a:solidFill>
                  <a:schemeClr val="tx1"/>
                </a:solidFill>
                <a:latin typeface="Courier"/>
              </a:rPr>
              <a:t>a[0]</a:t>
            </a:r>
            <a:endParaRPr lang="en-US" sz="1200" b="1" dirty="0">
              <a:solidFill>
                <a:srgbClr val="FF0000"/>
              </a:solidFill>
              <a:latin typeface="Courier"/>
            </a:endParaRPr>
          </a:p>
        </p:txBody>
      </p:sp>
      <p:sp>
        <p:nvSpPr>
          <p:cNvPr id="40" name="Speech Bubble: Rectangle 39">
            <a:extLst>
              <a:ext uri="{FF2B5EF4-FFF2-40B4-BE49-F238E27FC236}">
                <a16:creationId xmlns:a16="http://schemas.microsoft.com/office/drawing/2014/main" id="{A7CFBE79-C143-961C-CA11-0A74883A4B6D}"/>
              </a:ext>
            </a:extLst>
          </p:cNvPr>
          <p:cNvSpPr/>
          <p:nvPr/>
        </p:nvSpPr>
        <p:spPr>
          <a:xfrm>
            <a:off x="7628751" y="3384425"/>
            <a:ext cx="1575195" cy="318197"/>
          </a:xfrm>
          <a:prstGeom prst="wedgeRectCallout">
            <a:avLst>
              <a:gd name="adj1" fmla="val 55061"/>
              <a:gd name="adj2" fmla="val -83764"/>
            </a:avLst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Page Name:  </a:t>
            </a:r>
            <a:r>
              <a:rPr lang="en-US" sz="1600" b="1" dirty="0">
                <a:solidFill>
                  <a:schemeClr val="tx1"/>
                </a:solidFill>
                <a:latin typeface="Courier"/>
              </a:rPr>
              <a:t>a[1]</a:t>
            </a:r>
            <a:endParaRPr lang="en-US" sz="1200" b="1" dirty="0">
              <a:solidFill>
                <a:srgbClr val="FF0000"/>
              </a:solidFill>
              <a:latin typeface="Courier"/>
            </a:endParaRPr>
          </a:p>
        </p:txBody>
      </p:sp>
      <p:sp>
        <p:nvSpPr>
          <p:cNvPr id="41" name="Speech Bubble: Rectangle 40">
            <a:extLst>
              <a:ext uri="{FF2B5EF4-FFF2-40B4-BE49-F238E27FC236}">
                <a16:creationId xmlns:a16="http://schemas.microsoft.com/office/drawing/2014/main" id="{4F19ECBA-A5AD-2687-2AC9-280D61D131D2}"/>
              </a:ext>
            </a:extLst>
          </p:cNvPr>
          <p:cNvSpPr/>
          <p:nvPr/>
        </p:nvSpPr>
        <p:spPr>
          <a:xfrm>
            <a:off x="6835140" y="5078609"/>
            <a:ext cx="1999514" cy="318197"/>
          </a:xfrm>
          <a:prstGeom prst="wedgeRectCallout">
            <a:avLst>
              <a:gd name="adj1" fmla="val 77122"/>
              <a:gd name="adj2" fmla="val 55131"/>
            </a:avLst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Row Name:  </a:t>
            </a:r>
            <a:r>
              <a:rPr lang="en-US" sz="1600" b="1" dirty="0">
                <a:solidFill>
                  <a:schemeClr val="tx1"/>
                </a:solidFill>
                <a:latin typeface="Courier"/>
              </a:rPr>
              <a:t>a[0][0]</a:t>
            </a:r>
            <a:endParaRPr lang="en-US" sz="1200" b="1" dirty="0">
              <a:solidFill>
                <a:srgbClr val="FF0000"/>
              </a:solidFill>
              <a:latin typeface="Courier"/>
            </a:endParaRPr>
          </a:p>
        </p:txBody>
      </p:sp>
      <p:sp>
        <p:nvSpPr>
          <p:cNvPr id="42" name="Speech Bubble: Rectangle 41">
            <a:extLst>
              <a:ext uri="{FF2B5EF4-FFF2-40B4-BE49-F238E27FC236}">
                <a16:creationId xmlns:a16="http://schemas.microsoft.com/office/drawing/2014/main" id="{76F5B18E-73BA-0429-2383-AFEFB8B91953}"/>
              </a:ext>
            </a:extLst>
          </p:cNvPr>
          <p:cNvSpPr/>
          <p:nvPr/>
        </p:nvSpPr>
        <p:spPr>
          <a:xfrm>
            <a:off x="6835140" y="4395027"/>
            <a:ext cx="1999514" cy="318197"/>
          </a:xfrm>
          <a:prstGeom prst="wedgeRectCallout">
            <a:avLst>
              <a:gd name="adj1" fmla="val 77122"/>
              <a:gd name="adj2" fmla="val 55131"/>
            </a:avLst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Row Name:  </a:t>
            </a:r>
            <a:r>
              <a:rPr lang="en-US" sz="1600" b="1" dirty="0">
                <a:solidFill>
                  <a:schemeClr val="tx1"/>
                </a:solidFill>
                <a:latin typeface="Courier"/>
              </a:rPr>
              <a:t>a[0][1]</a:t>
            </a:r>
            <a:endParaRPr lang="en-US" sz="1200" b="1" dirty="0">
              <a:solidFill>
                <a:srgbClr val="FF0000"/>
              </a:solidFill>
              <a:latin typeface="Courier"/>
            </a:endParaRPr>
          </a:p>
        </p:txBody>
      </p:sp>
      <p:sp>
        <p:nvSpPr>
          <p:cNvPr id="43" name="Speech Bubble: Rectangle 42">
            <a:extLst>
              <a:ext uri="{FF2B5EF4-FFF2-40B4-BE49-F238E27FC236}">
                <a16:creationId xmlns:a16="http://schemas.microsoft.com/office/drawing/2014/main" id="{51CB4D6D-2DC9-57D8-9BB2-43E881521EE2}"/>
              </a:ext>
            </a:extLst>
          </p:cNvPr>
          <p:cNvSpPr/>
          <p:nvPr/>
        </p:nvSpPr>
        <p:spPr>
          <a:xfrm>
            <a:off x="6835140" y="3943267"/>
            <a:ext cx="1999514" cy="318197"/>
          </a:xfrm>
          <a:prstGeom prst="wedgeRectCallout">
            <a:avLst>
              <a:gd name="adj1" fmla="val 78646"/>
              <a:gd name="adj2" fmla="val -28685"/>
            </a:avLst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Row Name:  </a:t>
            </a:r>
            <a:r>
              <a:rPr lang="en-US" sz="1600" b="1" dirty="0">
                <a:solidFill>
                  <a:schemeClr val="tx1"/>
                </a:solidFill>
                <a:latin typeface="Courier"/>
              </a:rPr>
              <a:t>a[0][2]</a:t>
            </a:r>
            <a:endParaRPr lang="en-US" sz="1200" b="1" dirty="0">
              <a:solidFill>
                <a:srgbClr val="FF0000"/>
              </a:solidFill>
              <a:latin typeface="Courier"/>
            </a:endParaRPr>
          </a:p>
        </p:txBody>
      </p:sp>
      <p:sp>
        <p:nvSpPr>
          <p:cNvPr id="44" name="Speech Bubble: Rectangle 43">
            <a:extLst>
              <a:ext uri="{FF2B5EF4-FFF2-40B4-BE49-F238E27FC236}">
                <a16:creationId xmlns:a16="http://schemas.microsoft.com/office/drawing/2014/main" id="{2BDA45C4-2024-5642-2B99-18BC407A3453}"/>
              </a:ext>
            </a:extLst>
          </p:cNvPr>
          <p:cNvSpPr/>
          <p:nvPr/>
        </p:nvSpPr>
        <p:spPr>
          <a:xfrm>
            <a:off x="6743948" y="2944853"/>
            <a:ext cx="1999514" cy="318197"/>
          </a:xfrm>
          <a:prstGeom prst="wedgeRectCallout">
            <a:avLst>
              <a:gd name="adj1" fmla="val 77122"/>
              <a:gd name="adj2" fmla="val 55131"/>
            </a:avLst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Row Name:  </a:t>
            </a:r>
            <a:r>
              <a:rPr lang="en-US" sz="1600" b="1" dirty="0">
                <a:solidFill>
                  <a:schemeClr val="tx1"/>
                </a:solidFill>
                <a:latin typeface="Courier"/>
              </a:rPr>
              <a:t>a[1][0]</a:t>
            </a:r>
            <a:endParaRPr lang="en-US" sz="1200" b="1" dirty="0">
              <a:solidFill>
                <a:srgbClr val="FF0000"/>
              </a:solidFill>
              <a:latin typeface="Courier"/>
            </a:endParaRPr>
          </a:p>
        </p:txBody>
      </p:sp>
      <p:sp>
        <p:nvSpPr>
          <p:cNvPr id="45" name="Speech Bubble: Rectangle 44">
            <a:extLst>
              <a:ext uri="{FF2B5EF4-FFF2-40B4-BE49-F238E27FC236}">
                <a16:creationId xmlns:a16="http://schemas.microsoft.com/office/drawing/2014/main" id="{053540FE-8CE6-8537-1F5E-267CEB061A5C}"/>
              </a:ext>
            </a:extLst>
          </p:cNvPr>
          <p:cNvSpPr/>
          <p:nvPr/>
        </p:nvSpPr>
        <p:spPr>
          <a:xfrm>
            <a:off x="6734938" y="2487758"/>
            <a:ext cx="1999514" cy="318197"/>
          </a:xfrm>
          <a:prstGeom prst="wedgeRectCallout">
            <a:avLst>
              <a:gd name="adj1" fmla="val 80171"/>
              <a:gd name="adj2" fmla="val -33474"/>
            </a:avLst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Row Name:  </a:t>
            </a:r>
            <a:r>
              <a:rPr lang="en-US" sz="1600" b="1" dirty="0">
                <a:solidFill>
                  <a:schemeClr val="tx1"/>
                </a:solidFill>
                <a:latin typeface="Courier"/>
              </a:rPr>
              <a:t>a[1][1]</a:t>
            </a:r>
            <a:endParaRPr lang="en-US" sz="1200" b="1" dirty="0">
              <a:solidFill>
                <a:srgbClr val="FF0000"/>
              </a:solidFill>
              <a:latin typeface="Courier"/>
            </a:endParaRPr>
          </a:p>
        </p:txBody>
      </p:sp>
      <p:sp>
        <p:nvSpPr>
          <p:cNvPr id="46" name="Speech Bubble: Rectangle 45">
            <a:extLst>
              <a:ext uri="{FF2B5EF4-FFF2-40B4-BE49-F238E27FC236}">
                <a16:creationId xmlns:a16="http://schemas.microsoft.com/office/drawing/2014/main" id="{79A2C26A-4EAA-F397-F5BD-A232B674686D}"/>
              </a:ext>
            </a:extLst>
          </p:cNvPr>
          <p:cNvSpPr/>
          <p:nvPr/>
        </p:nvSpPr>
        <p:spPr>
          <a:xfrm>
            <a:off x="7628751" y="879241"/>
            <a:ext cx="1298473" cy="512460"/>
          </a:xfrm>
          <a:prstGeom prst="wedgeRectCallout">
            <a:avLst>
              <a:gd name="adj1" fmla="val 81230"/>
              <a:gd name="adj2" fmla="val 133939"/>
            </a:avLst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Row Name:  </a:t>
            </a:r>
            <a:r>
              <a:rPr lang="en-US" sz="1600" b="1" dirty="0">
                <a:solidFill>
                  <a:schemeClr val="tx1"/>
                </a:solidFill>
                <a:latin typeface="Courier"/>
              </a:rPr>
              <a:t>a[1][2]</a:t>
            </a:r>
            <a:endParaRPr lang="en-US" sz="1200" b="1" dirty="0">
              <a:solidFill>
                <a:srgbClr val="FF0000"/>
              </a:solidFill>
              <a:latin typeface="Courier"/>
            </a:endParaRPr>
          </a:p>
        </p:txBody>
      </p:sp>
    </p:spTree>
    <p:extLst>
      <p:ext uri="{BB962C8B-B14F-4D97-AF65-F5344CB8AC3E}">
        <p14:creationId xmlns:p14="http://schemas.microsoft.com/office/powerpoint/2010/main" val="35440612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275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27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2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8" y="585288"/>
            <a:ext cx="922387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rPr>
              <a:t>Working with Multidimensional Arrays</a:t>
            </a:r>
            <a:endParaRPr lang="en-CA" sz="4400" b="1" dirty="0">
              <a:solidFill>
                <a:srgbClr val="7F1F1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7" y="1366546"/>
            <a:ext cx="10166268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Passing Multidimensional Array into Functions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Same as before – function can modify the genuine values in the invoker’s array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Adding </a:t>
            </a:r>
            <a:r>
              <a:rPr lang="en-CA" b="1" dirty="0">
                <a:solidFill>
                  <a:schemeClr val="accent1"/>
                </a:solidFill>
                <a:latin typeface="Courier"/>
              </a:rPr>
              <a:t>const</a:t>
            </a:r>
            <a:r>
              <a:rPr lang="en-CA" dirty="0"/>
              <a:t> qualifier makes the input array read-only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b="1" dirty="0">
                <a:solidFill>
                  <a:srgbClr val="FF0000"/>
                </a:solidFill>
              </a:rPr>
              <a:t>Something New: 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dirty="0"/>
              <a:t>In the parameter list, the size of the </a:t>
            </a:r>
            <a:r>
              <a:rPr lang="en-CA" i="1" dirty="0"/>
              <a:t>first dimension is not required.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dirty="0"/>
              <a:t>However, </a:t>
            </a:r>
            <a:r>
              <a:rPr lang="en-CA" b="1" u="sng" dirty="0"/>
              <a:t>other dimensions are ALL MANDATORY.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dirty="0"/>
              <a:t>C89 further requires dimensions in the input parameter list to be </a:t>
            </a:r>
            <a:r>
              <a:rPr lang="en-CA" i="1" dirty="0"/>
              <a:t>Constant Expressions</a:t>
            </a:r>
            <a:r>
              <a:rPr lang="en-CA" dirty="0"/>
              <a:t>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b="1" dirty="0">
              <a:solidFill>
                <a:schemeClr val="accent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CA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24</a:t>
            </a:fld>
            <a:endParaRPr lang="en-CA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C50DBBB-7BCE-1BDF-E3EF-2E1229532B9F}"/>
              </a:ext>
            </a:extLst>
          </p:cNvPr>
          <p:cNvSpPr txBox="1"/>
          <p:nvPr/>
        </p:nvSpPr>
        <p:spPr>
          <a:xfrm>
            <a:off x="2977762" y="3512820"/>
            <a:ext cx="5149377" cy="2292935"/>
          </a:xfrm>
          <a:prstGeom prst="rect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Multiplication Function of two </a:t>
            </a:r>
            <a:r>
              <a:rPr lang="en-US" sz="1100" b="1" dirty="0" err="1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NxN</a:t>
            </a:r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Matrices</a:t>
            </a:r>
          </a:p>
          <a:p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#define 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N 10</a:t>
            </a:r>
          </a:p>
          <a:p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product(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 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a[][N],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 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b[][N],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double 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c[][N])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i, j, k;</a:t>
            </a:r>
          </a:p>
          <a:p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for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= 0;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&lt; N;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++ )</a:t>
            </a:r>
          </a:p>
          <a:p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for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 j = 0; j &lt; N;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j++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)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{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	 c[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][j] = 0;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 k = 0; k &lt; N; k++ )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	     c[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][j] += a[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][k] * b[</a:t>
            </a:r>
            <a:r>
              <a:rPr lang="en-US" sz="1100">
                <a:latin typeface="Courier New" panose="02070309020205020404" pitchFamily="49" charset="0"/>
                <a:cs typeface="Courier New" panose="02070309020205020404" pitchFamily="49" charset="0"/>
              </a:rPr>
              <a:t>k][j];</a:t>
            </a:r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}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// End of Function</a:t>
            </a:r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C9FCEFE6-A7AE-D0B6-638A-528FFDDB22B3}"/>
              </a:ext>
            </a:extLst>
          </p:cNvPr>
          <p:cNvSpPr/>
          <p:nvPr/>
        </p:nvSpPr>
        <p:spPr>
          <a:xfrm>
            <a:off x="3909060" y="5074920"/>
            <a:ext cx="3086100" cy="342900"/>
          </a:xfrm>
          <a:prstGeom prst="rect">
            <a:avLst/>
          </a:prstGeom>
          <a:noFill/>
          <a:ln w="28575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7" name="Speech Bubble: Rectangle 46">
            <a:extLst>
              <a:ext uri="{FF2B5EF4-FFF2-40B4-BE49-F238E27FC236}">
                <a16:creationId xmlns:a16="http://schemas.microsoft.com/office/drawing/2014/main" id="{DEA8A5E9-CFEB-034C-7475-1499897D1EE4}"/>
              </a:ext>
            </a:extLst>
          </p:cNvPr>
          <p:cNvSpPr/>
          <p:nvPr/>
        </p:nvSpPr>
        <p:spPr>
          <a:xfrm>
            <a:off x="2187271" y="4653359"/>
            <a:ext cx="1298473" cy="512460"/>
          </a:xfrm>
          <a:prstGeom prst="wedgeRectCallout">
            <a:avLst>
              <a:gd name="adj1" fmla="val 74188"/>
              <a:gd name="adj2" fmla="val 47696"/>
            </a:avLst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Check against your math!</a:t>
            </a:r>
            <a:endParaRPr lang="en-US" sz="1200" b="1" dirty="0">
              <a:solidFill>
                <a:srgbClr val="FF0000"/>
              </a:solidFill>
              <a:latin typeface="Courier"/>
            </a:endParaRPr>
          </a:p>
        </p:txBody>
      </p:sp>
      <p:sp>
        <p:nvSpPr>
          <p:cNvPr id="48" name="Speech Bubble: Rectangle 47">
            <a:extLst>
              <a:ext uri="{FF2B5EF4-FFF2-40B4-BE49-F238E27FC236}">
                <a16:creationId xmlns:a16="http://schemas.microsoft.com/office/drawing/2014/main" id="{5ACF977F-F22F-90E1-8E64-D06A6A71E1EE}"/>
              </a:ext>
            </a:extLst>
          </p:cNvPr>
          <p:cNvSpPr/>
          <p:nvPr/>
        </p:nvSpPr>
        <p:spPr>
          <a:xfrm>
            <a:off x="8278002" y="3809243"/>
            <a:ext cx="1728267" cy="844116"/>
          </a:xfrm>
          <a:prstGeom prst="wedgeRectCallout">
            <a:avLst>
              <a:gd name="adj1" fmla="val -55438"/>
              <a:gd name="adj2" fmla="val 97346"/>
            </a:avLst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400" b="1" dirty="0">
                <a:solidFill>
                  <a:srgbClr val="7F1F1F"/>
                </a:solidFill>
              </a:rPr>
              <a:t>Build your own test program to test this function!</a:t>
            </a:r>
            <a:endParaRPr lang="en-US" sz="1400" b="1" dirty="0">
              <a:solidFill>
                <a:srgbClr val="7F1F1F"/>
              </a:solidFill>
              <a:latin typeface="Courier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8523653-CE8D-EF31-46AD-1724EF96D618}"/>
              </a:ext>
            </a:extLst>
          </p:cNvPr>
          <p:cNvSpPr/>
          <p:nvPr/>
        </p:nvSpPr>
        <p:spPr>
          <a:xfrm>
            <a:off x="7808824" y="5538378"/>
            <a:ext cx="2666621" cy="404238"/>
          </a:xfrm>
          <a:prstGeom prst="roundRect">
            <a:avLst/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chemeClr val="tx1"/>
                </a:solidFill>
              </a:rPr>
              <a:t>L4Ex6-Matrix_Product.c</a:t>
            </a:r>
            <a:endParaRPr lang="en-US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77881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9" grpId="0" animBg="1"/>
      <p:bldP spid="47" grpId="0" animBg="1"/>
      <p:bldP spid="48" grpId="0" animBg="1"/>
      <p:bldP spid="5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8" y="585288"/>
            <a:ext cx="268464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Takeaways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8" y="1563637"/>
            <a:ext cx="6589222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400" b="1" dirty="0"/>
              <a:t>Array as Effective Tabulated Storage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C offers multidimensional array for conceptual convenience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In memory, arrays are organized always in 1D</a:t>
            </a:r>
          </a:p>
          <a:p>
            <a:pPr lvl="1"/>
            <a:endParaRPr lang="en-CA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400" b="1" dirty="0"/>
              <a:t>Passing Arrays into Functions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Default – always </a:t>
            </a:r>
            <a:r>
              <a:rPr lang="en-CA" i="1" dirty="0"/>
              <a:t>pass-by-reference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Function can modify the genuine values of the array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Use </a:t>
            </a:r>
            <a:r>
              <a:rPr lang="en-CA" b="1" dirty="0">
                <a:solidFill>
                  <a:schemeClr val="accent1"/>
                </a:solidFill>
                <a:latin typeface="Courier"/>
              </a:rPr>
              <a:t>const</a:t>
            </a:r>
            <a:r>
              <a:rPr lang="en-CA" dirty="0"/>
              <a:t> qualifier to make input arrays read-only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400" b="1" dirty="0"/>
              <a:t>Working with Arrays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Array Initializer List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Nested for-loops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Rules for Specifying Dimensions</a:t>
            </a:r>
          </a:p>
          <a:p>
            <a:pPr lvl="1"/>
            <a:endParaRPr lang="en-CA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CA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25</a:t>
            </a:fld>
            <a:endParaRPr lang="en-CA" dirty="0"/>
          </a:p>
        </p:txBody>
      </p:sp>
      <p:pic>
        <p:nvPicPr>
          <p:cNvPr id="9" name="Graphic 8" descr="Three circles each containing concentric circles.">
            <a:extLst>
              <a:ext uri="{FF2B5EF4-FFF2-40B4-BE49-F238E27FC236}">
                <a16:creationId xmlns:a16="http://schemas.microsoft.com/office/drawing/2014/main" id="{AD0038CC-0843-437C-BFCF-0646F453B2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88020" y="776106"/>
            <a:ext cx="5305788" cy="5305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3344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8" y="585288"/>
            <a:ext cx="255916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Upcoming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7" y="1563637"/>
            <a:ext cx="6900553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400" b="1" dirty="0"/>
              <a:t>C Character Arrays and Strings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ASCII Characters Revisited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Character Arrays vs. Strings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Working with Strings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Passing Strings into Functions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Strings in Console IO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C Character-Handling Library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C String-Handling Library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Other String-Related Standard IO Functions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26</a:t>
            </a:fld>
            <a:endParaRPr lang="en-CA" dirty="0"/>
          </a:p>
        </p:txBody>
      </p:sp>
      <p:pic>
        <p:nvPicPr>
          <p:cNvPr id="9" name="Graphic 8" descr="Three circles each containing concentric circles.">
            <a:extLst>
              <a:ext uri="{FF2B5EF4-FFF2-40B4-BE49-F238E27FC236}">
                <a16:creationId xmlns:a16="http://schemas.microsoft.com/office/drawing/2014/main" id="{AD0038CC-0843-437C-BFCF-0646F453B2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88020" y="776106"/>
            <a:ext cx="5305788" cy="5305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60510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20740</TotalTime>
  <Words>4044</Words>
  <Application>Microsoft Office PowerPoint</Application>
  <PresentationFormat>Widescreen</PresentationFormat>
  <Paragraphs>606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3" baseType="lpstr">
      <vt:lpstr>Algerian</vt:lpstr>
      <vt:lpstr>Arial</vt:lpstr>
      <vt:lpstr>Calibri</vt:lpstr>
      <vt:lpstr>Calibri Light</vt:lpstr>
      <vt:lpstr>Courier</vt:lpstr>
      <vt:lpstr>Courier New</vt:lpstr>
      <vt:lpstr>Office Theme</vt:lpstr>
      <vt:lpstr>PowerPoint Presentation</vt:lpstr>
      <vt:lpstr>PowerPoint Presentation</vt:lpstr>
      <vt:lpstr>C Primitive Array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Arrays and Functions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Two-Dimensional Arrays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 4 - C Arrays</dc:title>
  <dc:creator>Shahrukh Athar</dc:creator>
  <cp:lastModifiedBy>Shahrukh Athar</cp:lastModifiedBy>
  <cp:revision>372</cp:revision>
  <dcterms:created xsi:type="dcterms:W3CDTF">2018-10-02T00:35:18Z</dcterms:created>
  <dcterms:modified xsi:type="dcterms:W3CDTF">2024-09-24T21:53:24Z</dcterms:modified>
</cp:coreProperties>
</file>