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70" r:id="rId4"/>
    <p:sldId id="297" r:id="rId5"/>
    <p:sldId id="663" r:id="rId6"/>
    <p:sldId id="664" r:id="rId7"/>
    <p:sldId id="646" r:id="rId8"/>
    <p:sldId id="665" r:id="rId9"/>
    <p:sldId id="666" r:id="rId10"/>
    <p:sldId id="667" r:id="rId11"/>
    <p:sldId id="668" r:id="rId12"/>
    <p:sldId id="669" r:id="rId13"/>
    <p:sldId id="670" r:id="rId14"/>
    <p:sldId id="671" r:id="rId15"/>
    <p:sldId id="672" r:id="rId16"/>
    <p:sldId id="673" r:id="rId17"/>
    <p:sldId id="675" r:id="rId18"/>
    <p:sldId id="674" r:id="rId19"/>
    <p:sldId id="31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F1F1F"/>
    <a:srgbClr val="FFDDDD"/>
    <a:srgbClr val="FF7D7D"/>
    <a:srgbClr val="FFE699"/>
    <a:srgbClr val="D1B3E7"/>
    <a:srgbClr val="E8D9F3"/>
    <a:srgbClr val="AF7CD6"/>
    <a:srgbClr val="A870D2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513445" y="2611819"/>
            <a:ext cx="31652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32F699-FD6F-BB96-FDCC-A4B168031CC6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BA72E-8653-BC6F-3759-801B4D27DDA3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What is a List?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Array List (Integer Example)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C++ Implementations of Basic List Operations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Create / Delete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Print the Entire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Insert to / Delete from List Head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Insert to / Delete from List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Insert to / Delete from Arbitrary Index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 Element from </a:t>
            </a:r>
            <a:r>
              <a:rPr lang="en-CA"/>
              <a:t>Arbitrary index</a:t>
            </a: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What is a List?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267CE7-9CAB-DCC4-1A0C-5533D1321648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13-1] Introduction to List and Array List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a List?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59299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Same as Array, a List is intended to keep a collection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How does a List differ from an Array?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“Array is like a row of resting benches in the park, where people can sit anywhere”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“List is like a lineup queue at the theatre, where people have to line up one after another”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List is </a:t>
            </a:r>
            <a:r>
              <a:rPr lang="en-CA" b="1" u="sng" dirty="0"/>
              <a:t>Continuous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All indices in a list must map to a meaningful piece of data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Discarded data should be removed from the list and NOT occupy an index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List is </a:t>
            </a:r>
            <a:r>
              <a:rPr lang="en-CA" b="1" u="sng" dirty="0"/>
              <a:t>Orderly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Every meaningful element has exactly one index assigned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Every element must have at least one neighbouring element that holds a piece of meaningful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7236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 – Continuous, Orderly Data Collection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3798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Basic List Operations for the Array List in the </a:t>
            </a:r>
            <a:r>
              <a:rPr lang="en-CA" sz="2200" b="1" dirty="0">
                <a:solidFill>
                  <a:srgbClr val="0000FF"/>
                </a:solidFill>
              </a:rPr>
              <a:t>CE2SH4 Project</a:t>
            </a:r>
            <a:endParaRPr lang="en-CA" b="1" dirty="0">
              <a:solidFill>
                <a:srgbClr val="0000FF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following operations are the minimum set required to complete the project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Create a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Delete a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Insert an element to head and to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Remove an element from head and from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 the element at the head and at the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 an element at any specified index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(Perhaps also print the list)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You are provided with a </a:t>
            </a:r>
            <a:r>
              <a:rPr lang="en-CA" b="1" dirty="0">
                <a:solidFill>
                  <a:srgbClr val="0000FF"/>
                </a:solidFill>
              </a:rPr>
              <a:t>test suite sub-project</a:t>
            </a:r>
            <a:r>
              <a:rPr lang="en-CA" dirty="0">
                <a:solidFill>
                  <a:srgbClr val="0000FF"/>
                </a:solidFill>
              </a:rPr>
              <a:t> </a:t>
            </a:r>
            <a:r>
              <a:rPr lang="en-CA" dirty="0"/>
              <a:t>to help you develop the array list using the test-driven development approach as in the course labs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3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Quick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67263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chemeClr val="accent6"/>
                </a:solidFill>
              </a:rPr>
              <a:t>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Primitive array is easy to implement using </a:t>
            </a:r>
            <a:r>
              <a:rPr lang="en-CA" b="1" dirty="0"/>
              <a:t>new</a:t>
            </a:r>
            <a:r>
              <a:rPr lang="en-CA" dirty="0"/>
              <a:t> and </a:t>
            </a:r>
            <a:r>
              <a:rPr lang="en-CA" b="1" dirty="0"/>
              <a:t>delete[]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For-loop iteration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Intuitive index-access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</a:rPr>
              <a:t>Disadvantages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Expansion of the list can be computationally heavy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Depending on the expansion unit size, we can suffer memory deadweight (a.k.a. Internal memory fragmentation)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Always in need of contiguous memory blocks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(not covered) Insertion and deletion of elements is very often computationally heavy – CE2SI3 topic</a:t>
            </a:r>
          </a:p>
          <a:p>
            <a:pPr lvl="1"/>
            <a:r>
              <a:rPr lang="en-CA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FD6609-2DDA-8726-C0DB-BE27EA6EF477}"/>
              </a:ext>
            </a:extLst>
          </p:cNvPr>
          <p:cNvSpPr txBox="1"/>
          <p:nvPr/>
        </p:nvSpPr>
        <p:spPr>
          <a:xfrm>
            <a:off x="7744824" y="2789580"/>
            <a:ext cx="730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*</a:t>
            </a:r>
            <a:r>
              <a:rPr lang="en-CA" sz="1600" b="1" dirty="0" err="1"/>
              <a:t>aList</a:t>
            </a:r>
            <a:endParaRPr lang="en-CA" sz="1600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4308C3B-D693-4060-C784-08C83AA4403B}"/>
              </a:ext>
            </a:extLst>
          </p:cNvPr>
          <p:cNvSpPr/>
          <p:nvPr/>
        </p:nvSpPr>
        <p:spPr>
          <a:xfrm>
            <a:off x="8525692" y="3215640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375E9A7-762A-D2E9-5B9D-63AE3A7C0E8B}"/>
              </a:ext>
            </a:extLst>
          </p:cNvPr>
          <p:cNvSpPr/>
          <p:nvPr/>
        </p:nvSpPr>
        <p:spPr>
          <a:xfrm>
            <a:off x="9004663" y="3215640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b="1" dirty="0">
                <a:solidFill>
                  <a:srgbClr val="00B0F0"/>
                </a:solidFill>
              </a:rPr>
              <a:t>-2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BB6D31A-F86F-977D-1D3A-ABC265BDFD96}"/>
              </a:ext>
            </a:extLst>
          </p:cNvPr>
          <p:cNvSpPr/>
          <p:nvPr/>
        </p:nvSpPr>
        <p:spPr>
          <a:xfrm>
            <a:off x="9487989" y="3215640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b="1" dirty="0">
                <a:solidFill>
                  <a:srgbClr val="00B0F0"/>
                </a:solidFill>
              </a:rPr>
              <a:t>21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68B50CF-18D2-A785-6632-3A97034AC1F3}"/>
              </a:ext>
            </a:extLst>
          </p:cNvPr>
          <p:cNvSpPr/>
          <p:nvPr/>
        </p:nvSpPr>
        <p:spPr>
          <a:xfrm>
            <a:off x="9966960" y="3215640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E9004E2-5F77-7B95-F211-42D221809268}"/>
              </a:ext>
            </a:extLst>
          </p:cNvPr>
          <p:cNvSpPr/>
          <p:nvPr/>
        </p:nvSpPr>
        <p:spPr>
          <a:xfrm>
            <a:off x="10450286" y="3215640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7A40413-1C07-BAAD-E990-E53DEBDD79D3}"/>
              </a:ext>
            </a:extLst>
          </p:cNvPr>
          <p:cNvSpPr/>
          <p:nvPr/>
        </p:nvSpPr>
        <p:spPr>
          <a:xfrm>
            <a:off x="8534400" y="2736788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2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BCDE7-C465-B95E-5CEB-E99B15BDFE5F}"/>
              </a:ext>
            </a:extLst>
          </p:cNvPr>
          <p:cNvSpPr/>
          <p:nvPr/>
        </p:nvSpPr>
        <p:spPr>
          <a:xfrm>
            <a:off x="9009018" y="2745911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17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069427E-0337-CAEB-7784-E80F9941CCFA}"/>
              </a:ext>
            </a:extLst>
          </p:cNvPr>
          <p:cNvSpPr/>
          <p:nvPr/>
        </p:nvSpPr>
        <p:spPr>
          <a:xfrm>
            <a:off x="9483634" y="2745911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-9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8A9FB10-5A1E-4286-51D9-B287695906F7}"/>
              </a:ext>
            </a:extLst>
          </p:cNvPr>
          <p:cNvSpPr/>
          <p:nvPr/>
        </p:nvSpPr>
        <p:spPr>
          <a:xfrm>
            <a:off x="9961881" y="2745497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51C5C4B-12C3-266B-CCBD-05C1BC6A18ED}"/>
              </a:ext>
            </a:extLst>
          </p:cNvPr>
          <p:cNvSpPr/>
          <p:nvPr/>
        </p:nvSpPr>
        <p:spPr>
          <a:xfrm>
            <a:off x="10450286" y="2745497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7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F800B7-D7BB-D140-EF76-CB19F63CABE5}"/>
              </a:ext>
            </a:extLst>
          </p:cNvPr>
          <p:cNvSpPr txBox="1"/>
          <p:nvPr/>
        </p:nvSpPr>
        <p:spPr>
          <a:xfrm>
            <a:off x="8438312" y="2106548"/>
            <a:ext cx="1754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int </a:t>
            </a:r>
            <a:r>
              <a:rPr lang="en-CA" sz="1600" b="1" dirty="0" err="1">
                <a:solidFill>
                  <a:schemeClr val="accent1">
                    <a:lumMod val="75000"/>
                  </a:schemeClr>
                </a:solidFill>
              </a:rPr>
              <a:t>sizeArray</a:t>
            </a:r>
            <a:r>
              <a:rPr lang="en-CA" sz="1600" b="1" dirty="0"/>
              <a:t> = 10</a:t>
            </a:r>
            <a:br>
              <a:rPr lang="en-CA" sz="1600" b="1" dirty="0"/>
            </a:br>
            <a:r>
              <a:rPr lang="en-CA" sz="1600" b="1" dirty="0"/>
              <a:t>int </a:t>
            </a:r>
            <a:r>
              <a:rPr lang="en-CA" sz="1600" b="1" dirty="0" err="1">
                <a:solidFill>
                  <a:srgbClr val="00B0F0"/>
                </a:solidFill>
              </a:rPr>
              <a:t>sizeList</a:t>
            </a:r>
            <a:r>
              <a:rPr lang="en-CA" sz="1600" b="1" dirty="0"/>
              <a:t> = </a:t>
            </a:r>
            <a:r>
              <a:rPr lang="en-CA" sz="1600" b="1" dirty="0">
                <a:solidFill>
                  <a:srgbClr val="FF0000"/>
                </a:solidFill>
              </a:rPr>
              <a:t>8</a:t>
            </a:r>
            <a:endParaRPr lang="en-CA" sz="1600" dirty="0">
              <a:solidFill>
                <a:srgbClr val="FF0000"/>
              </a:solidFill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187F8527-9F2E-3AAD-9E8B-BB9525DDD183}"/>
              </a:ext>
            </a:extLst>
          </p:cNvPr>
          <p:cNvSpPr/>
          <p:nvPr/>
        </p:nvSpPr>
        <p:spPr>
          <a:xfrm rot="5400000">
            <a:off x="10310225" y="3467604"/>
            <a:ext cx="209006" cy="66685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55449-7FB2-F26E-ADAF-FFCC92312001}"/>
              </a:ext>
            </a:extLst>
          </p:cNvPr>
          <p:cNvSpPr txBox="1"/>
          <p:nvPr/>
        </p:nvSpPr>
        <p:spPr>
          <a:xfrm>
            <a:off x="9824721" y="3905535"/>
            <a:ext cx="11800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rgbClr val="FF0000"/>
                </a:solidFill>
              </a:rPr>
              <a:t>deadweight</a:t>
            </a:r>
            <a:endParaRPr lang="en-CA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9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Array List</a:t>
            </a:r>
            <a:b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(Integer Example)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Basic Operations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3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145351"/>
            <a:ext cx="1059299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Many possible implementations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support any data type – if using Template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will focus on the simplest implementation – </a:t>
            </a:r>
            <a:r>
              <a:rPr lang="en-CA" sz="2200" dirty="0">
                <a:solidFill>
                  <a:srgbClr val="0000FF"/>
                </a:solidFill>
              </a:rPr>
              <a:t>Integer</a:t>
            </a:r>
            <a:r>
              <a:rPr lang="en-CA" sz="2200" dirty="0"/>
              <a:t> Array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After this practice, you can easily implement the </a:t>
            </a:r>
            <a:r>
              <a:rPr lang="en-CA" sz="1600" dirty="0" err="1"/>
              <a:t>ObjPos</a:t>
            </a:r>
            <a:r>
              <a:rPr lang="en-CA" sz="1600" dirty="0"/>
              <a:t> Array List in your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5" y="238192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3552D-8931-417E-E470-A2C1963E3529}"/>
              </a:ext>
            </a:extLst>
          </p:cNvPr>
          <p:cNvSpPr/>
          <p:nvPr/>
        </p:nvSpPr>
        <p:spPr>
          <a:xfrm>
            <a:off x="2779834" y="2500256"/>
            <a:ext cx="4246180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E4262-D576-6351-3594-1ABC9BD74B1B}"/>
              </a:ext>
            </a:extLst>
          </p:cNvPr>
          <p:cNvSpPr/>
          <p:nvPr/>
        </p:nvSpPr>
        <p:spPr>
          <a:xfrm>
            <a:off x="2779833" y="2818891"/>
            <a:ext cx="4246180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F718B-00C2-98AF-8A70-D6BC34017DF0}"/>
              </a:ext>
            </a:extLst>
          </p:cNvPr>
          <p:cNvSpPr/>
          <p:nvPr/>
        </p:nvSpPr>
        <p:spPr>
          <a:xfrm>
            <a:off x="2779833" y="3388988"/>
            <a:ext cx="4246180" cy="2502088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~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getHeadElement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getTailElement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81F9841-7291-DC8D-52C3-940805CA279E}"/>
              </a:ext>
            </a:extLst>
          </p:cNvPr>
          <p:cNvSpPr/>
          <p:nvPr/>
        </p:nvSpPr>
        <p:spPr>
          <a:xfrm>
            <a:off x="7410572" y="2452918"/>
            <a:ext cx="2617151" cy="513806"/>
          </a:xfrm>
          <a:prstGeom prst="wedgeRectCallout">
            <a:avLst>
              <a:gd name="adj1" fmla="val -63425"/>
              <a:gd name="adj2" fmla="val 87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Array Size = 50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4AD6795-EE36-88C3-BBC5-106FBB45BA8F}"/>
              </a:ext>
            </a:extLst>
          </p:cNvPr>
          <p:cNvSpPr/>
          <p:nvPr/>
        </p:nvSpPr>
        <p:spPr>
          <a:xfrm>
            <a:off x="7410572" y="4069112"/>
            <a:ext cx="3483428" cy="513806"/>
          </a:xfrm>
          <a:prstGeom prst="wedgeRectCallout">
            <a:avLst>
              <a:gd name="adj1" fmla="val -59904"/>
              <a:gd name="adj2" fmla="val 9155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Will not support array expansion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7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105929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Recall the purpose of these data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Turn this portion of the class diagram into class declaration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Pay attention to the scope of the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Data Members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3552D-8931-417E-E470-A2C1963E3529}"/>
              </a:ext>
            </a:extLst>
          </p:cNvPr>
          <p:cNvSpPr/>
          <p:nvPr/>
        </p:nvSpPr>
        <p:spPr>
          <a:xfrm>
            <a:off x="5209528" y="3680760"/>
            <a:ext cx="1922794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E4262-D576-6351-3594-1ABC9BD74B1B}"/>
              </a:ext>
            </a:extLst>
          </p:cNvPr>
          <p:cNvSpPr/>
          <p:nvPr/>
        </p:nvSpPr>
        <p:spPr>
          <a:xfrm>
            <a:off x="5209527" y="3999395"/>
            <a:ext cx="1922794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F718B-00C2-98AF-8A70-D6BC34017DF0}"/>
              </a:ext>
            </a:extLst>
          </p:cNvPr>
          <p:cNvSpPr/>
          <p:nvPr/>
        </p:nvSpPr>
        <p:spPr>
          <a:xfrm>
            <a:off x="5209527" y="4569492"/>
            <a:ext cx="1922794" cy="32412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24C46-07C0-E97F-3D8C-621FD1F329DD}"/>
              </a:ext>
            </a:extLst>
          </p:cNvPr>
          <p:cNvSpPr txBox="1"/>
          <p:nvPr/>
        </p:nvSpPr>
        <p:spPr>
          <a:xfrm>
            <a:off x="986973" y="4040834"/>
            <a:ext cx="730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*</a:t>
            </a:r>
            <a:r>
              <a:rPr lang="en-CA" sz="1600" b="1" dirty="0" err="1"/>
              <a:t>aList</a:t>
            </a:r>
            <a:endParaRPr lang="en-CA" sz="16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B05F7D-943B-F788-AEC7-75551DF09D1B}"/>
              </a:ext>
            </a:extLst>
          </p:cNvPr>
          <p:cNvSpPr/>
          <p:nvPr/>
        </p:nvSpPr>
        <p:spPr>
          <a:xfrm>
            <a:off x="1767841" y="4466894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BA7005-EC33-B45D-CC28-C6470D6AC6F6}"/>
              </a:ext>
            </a:extLst>
          </p:cNvPr>
          <p:cNvSpPr/>
          <p:nvPr/>
        </p:nvSpPr>
        <p:spPr>
          <a:xfrm>
            <a:off x="2246812" y="4466894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b="1" dirty="0">
                <a:solidFill>
                  <a:srgbClr val="00B0F0"/>
                </a:solidFill>
              </a:rPr>
              <a:t>-2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93E650-1994-0661-EAAA-D73C7D58738E}"/>
              </a:ext>
            </a:extLst>
          </p:cNvPr>
          <p:cNvSpPr/>
          <p:nvPr/>
        </p:nvSpPr>
        <p:spPr>
          <a:xfrm>
            <a:off x="2730138" y="4466894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CA" b="1" dirty="0">
                <a:solidFill>
                  <a:srgbClr val="00B0F0"/>
                </a:solidFill>
              </a:rPr>
              <a:t>21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42902C-8279-F32F-3C1E-83C8E92837C6}"/>
              </a:ext>
            </a:extLst>
          </p:cNvPr>
          <p:cNvSpPr/>
          <p:nvPr/>
        </p:nvSpPr>
        <p:spPr>
          <a:xfrm>
            <a:off x="3209109" y="4466894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3A94A7-38FE-9966-F4D6-08CEC250FF6E}"/>
              </a:ext>
            </a:extLst>
          </p:cNvPr>
          <p:cNvSpPr/>
          <p:nvPr/>
        </p:nvSpPr>
        <p:spPr>
          <a:xfrm>
            <a:off x="3692435" y="4466894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BBAA43C-4122-78DF-26CC-5ABA155B9280}"/>
              </a:ext>
            </a:extLst>
          </p:cNvPr>
          <p:cNvSpPr/>
          <p:nvPr/>
        </p:nvSpPr>
        <p:spPr>
          <a:xfrm>
            <a:off x="1776549" y="3988042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2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83DD39-A27C-4980-A111-B5946A963EA6}"/>
              </a:ext>
            </a:extLst>
          </p:cNvPr>
          <p:cNvSpPr/>
          <p:nvPr/>
        </p:nvSpPr>
        <p:spPr>
          <a:xfrm>
            <a:off x="2251167" y="3997165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17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C7AE6F-BFFC-33A6-B67E-1A6CB0FE8E17}"/>
              </a:ext>
            </a:extLst>
          </p:cNvPr>
          <p:cNvSpPr/>
          <p:nvPr/>
        </p:nvSpPr>
        <p:spPr>
          <a:xfrm>
            <a:off x="2725783" y="3997165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-9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D17A8C-7860-7195-90A8-934B536C49C2}"/>
              </a:ext>
            </a:extLst>
          </p:cNvPr>
          <p:cNvSpPr/>
          <p:nvPr/>
        </p:nvSpPr>
        <p:spPr>
          <a:xfrm>
            <a:off x="3204030" y="3996751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412AB4-1990-056F-8261-B5A54FC02A8D}"/>
              </a:ext>
            </a:extLst>
          </p:cNvPr>
          <p:cNvSpPr/>
          <p:nvPr/>
        </p:nvSpPr>
        <p:spPr>
          <a:xfrm>
            <a:off x="3692435" y="3996751"/>
            <a:ext cx="426720" cy="42672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7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EA3FC-4312-7754-3932-A0771D0E9E33}"/>
              </a:ext>
            </a:extLst>
          </p:cNvPr>
          <p:cNvSpPr txBox="1"/>
          <p:nvPr/>
        </p:nvSpPr>
        <p:spPr>
          <a:xfrm>
            <a:off x="1680461" y="3357802"/>
            <a:ext cx="1754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/>
              <a:t>int </a:t>
            </a:r>
            <a:r>
              <a:rPr lang="en-CA" sz="1600" b="1" dirty="0" err="1">
                <a:solidFill>
                  <a:schemeClr val="accent1">
                    <a:lumMod val="75000"/>
                  </a:schemeClr>
                </a:solidFill>
              </a:rPr>
              <a:t>sizeArray</a:t>
            </a:r>
            <a:r>
              <a:rPr lang="en-CA" sz="1600" b="1" dirty="0"/>
              <a:t> = 10</a:t>
            </a:r>
            <a:br>
              <a:rPr lang="en-CA" sz="1600" b="1" dirty="0"/>
            </a:br>
            <a:r>
              <a:rPr lang="en-CA" sz="1600" b="1" dirty="0"/>
              <a:t>int </a:t>
            </a:r>
            <a:r>
              <a:rPr lang="en-CA" sz="1600" b="1" dirty="0" err="1">
                <a:solidFill>
                  <a:srgbClr val="00B0F0"/>
                </a:solidFill>
              </a:rPr>
              <a:t>sizeList</a:t>
            </a:r>
            <a:r>
              <a:rPr lang="en-CA" sz="1600" b="1" dirty="0"/>
              <a:t> = </a:t>
            </a:r>
            <a:r>
              <a:rPr lang="en-CA" sz="1600" b="1" dirty="0">
                <a:solidFill>
                  <a:srgbClr val="FF0000"/>
                </a:solidFill>
              </a:rPr>
              <a:t>8</a:t>
            </a:r>
            <a:endParaRPr lang="en-CA" sz="16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693E0-4F26-FF53-42F4-6C20FBD3F20C}"/>
              </a:ext>
            </a:extLst>
          </p:cNvPr>
          <p:cNvSpPr txBox="1"/>
          <p:nvPr/>
        </p:nvSpPr>
        <p:spPr>
          <a:xfrm>
            <a:off x="8195011" y="3301141"/>
            <a:ext cx="2229148" cy="161582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endParaRPr lang="en-US" sz="11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…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953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6313" y="1276991"/>
            <a:ext cx="105929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Basic operations to support array list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Add the member function portion of the class diagram into class declaration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5" y="385203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Member Functions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F693E0-4F26-FF53-42F4-6C20FBD3F20C}"/>
              </a:ext>
            </a:extLst>
          </p:cNvPr>
          <p:cNvSpPr txBox="1"/>
          <p:nvPr/>
        </p:nvSpPr>
        <p:spPr>
          <a:xfrm>
            <a:off x="5939658" y="2052131"/>
            <a:ext cx="4979089" cy="3808735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A870D2"/>
                </a:solidFill>
                <a:latin typeface="Courier"/>
              </a:rPr>
              <a:t>intArrayList</a:t>
            </a:r>
            <a:endParaRPr lang="en-US" sz="105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int*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~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05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Why do we need it?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b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printList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getHeadElement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getTailElement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index);</a:t>
            </a:r>
            <a:b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7F108-87EE-42E5-5F18-0D61D913FED8}"/>
              </a:ext>
            </a:extLst>
          </p:cNvPr>
          <p:cNvSpPr/>
          <p:nvPr/>
        </p:nvSpPr>
        <p:spPr>
          <a:xfrm>
            <a:off x="1273253" y="2465698"/>
            <a:ext cx="4246180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8BDBC0-F4CD-AC14-F0E1-B73D26E6B366}"/>
              </a:ext>
            </a:extLst>
          </p:cNvPr>
          <p:cNvSpPr/>
          <p:nvPr/>
        </p:nvSpPr>
        <p:spPr>
          <a:xfrm>
            <a:off x="1273252" y="2784333"/>
            <a:ext cx="4246180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4C2252-88B5-74D5-5A19-2D591ED6AB4F}"/>
              </a:ext>
            </a:extLst>
          </p:cNvPr>
          <p:cNvSpPr/>
          <p:nvPr/>
        </p:nvSpPr>
        <p:spPr>
          <a:xfrm>
            <a:off x="1273252" y="3354429"/>
            <a:ext cx="4246180" cy="2506437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~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getHeadElement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getTailElement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367933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5" y="283837"/>
            <a:ext cx="934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Create/Delete List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495509" y="1435326"/>
            <a:ext cx="581198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List Creation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Create an integer array of 50 elements on the 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Pointer to the heap array stored in </a:t>
            </a:r>
            <a:r>
              <a:rPr lang="en-CA" sz="1600" dirty="0" err="1"/>
              <a:t>aList</a:t>
            </a:r>
            <a:r>
              <a:rPr lang="en-CA" sz="1600" dirty="0"/>
              <a:t> (heap member)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List Deletion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Remove the heap member from the heap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 main(), instantiate a list, then delete it.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Run the program under memory profiler to ensure there is no memory leakage – indicating the list is allocated and deallocated correctly.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E4DC0-0E7B-E3CE-A1AD-A2154C3C4F33}"/>
              </a:ext>
            </a:extLst>
          </p:cNvPr>
          <p:cNvSpPr txBox="1"/>
          <p:nvPr/>
        </p:nvSpPr>
        <p:spPr>
          <a:xfrm>
            <a:off x="7252132" y="3251208"/>
            <a:ext cx="3598748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List Creation: Default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75BD8-0361-0015-6FE5-E22DD0A152D6}"/>
              </a:ext>
            </a:extLst>
          </p:cNvPr>
          <p:cNvSpPr txBox="1"/>
          <p:nvPr/>
        </p:nvSpPr>
        <p:spPr>
          <a:xfrm>
            <a:off x="7252132" y="5200256"/>
            <a:ext cx="3598748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::~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List Deletion: Destructor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8A2DE8-6B2D-B0D0-201D-43679B0E83DC}"/>
              </a:ext>
            </a:extLst>
          </p:cNvPr>
          <p:cNvSpPr/>
          <p:nvPr/>
        </p:nvSpPr>
        <p:spPr>
          <a:xfrm>
            <a:off x="6890516" y="1327341"/>
            <a:ext cx="3960364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4CCF8F-C09C-193A-2485-EFA6EAF50486}"/>
              </a:ext>
            </a:extLst>
          </p:cNvPr>
          <p:cNvSpPr/>
          <p:nvPr/>
        </p:nvSpPr>
        <p:spPr>
          <a:xfrm>
            <a:off x="6890515" y="1645976"/>
            <a:ext cx="3960365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2D6AE-4F6B-9B9E-ABA1-887BECD7FC05}"/>
              </a:ext>
            </a:extLst>
          </p:cNvPr>
          <p:cNvSpPr/>
          <p:nvPr/>
        </p:nvSpPr>
        <p:spPr>
          <a:xfrm>
            <a:off x="6890515" y="2216073"/>
            <a:ext cx="3960365" cy="898274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~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DFB9169-A54E-290D-9266-0BBBABBD6B73}"/>
              </a:ext>
            </a:extLst>
          </p:cNvPr>
          <p:cNvSpPr/>
          <p:nvPr/>
        </p:nvSpPr>
        <p:spPr>
          <a:xfrm>
            <a:off x="10075527" y="827325"/>
            <a:ext cx="1865924" cy="315864"/>
          </a:xfrm>
          <a:prstGeom prst="wedgeRectCallout">
            <a:avLst>
              <a:gd name="adj1" fmla="val -47557"/>
              <a:gd name="adj2" fmla="val 1017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Initial Array Size = 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B5BC7-5DD2-257C-3FD9-FB11892110FA}"/>
              </a:ext>
            </a:extLst>
          </p:cNvPr>
          <p:cNvSpPr txBox="1"/>
          <p:nvPr/>
        </p:nvSpPr>
        <p:spPr>
          <a:xfrm>
            <a:off x="6176865" y="4225732"/>
            <a:ext cx="4674015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const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List Creation: Copy Constructor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00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0704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Head Insert and Delete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7" y="1354729"/>
            <a:ext cx="581198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Head Insertion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Shift all elements towards the tail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Insert the new value to the head element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Don’t forget to update </a:t>
            </a:r>
            <a:r>
              <a:rPr lang="en-CA" sz="1600" dirty="0" err="1"/>
              <a:t>sizeList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Head Deletion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Shift all elements towards the 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Overwrite the head element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Don’t forget to update </a:t>
            </a:r>
            <a:r>
              <a:rPr lang="en-CA" sz="1600" dirty="0" err="1"/>
              <a:t>sizeList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 main(), insert between list instantiation and deletion: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Insert values to Head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Delete values from Head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Test all edge cases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May need to add a </a:t>
            </a:r>
            <a:r>
              <a:rPr lang="en-CA" sz="1600" dirty="0" err="1"/>
              <a:t>printList</a:t>
            </a:r>
            <a:r>
              <a:rPr lang="en-CA" sz="1600" dirty="0"/>
              <a:t>() member function for quick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592F5F89-A95B-A0E4-F08B-7DA32E3B110E}"/>
              </a:ext>
            </a:extLst>
          </p:cNvPr>
          <p:cNvSpPr/>
          <p:nvPr/>
        </p:nvSpPr>
        <p:spPr>
          <a:xfrm>
            <a:off x="4888718" y="1445425"/>
            <a:ext cx="1755922" cy="315864"/>
          </a:xfrm>
          <a:prstGeom prst="wedgeRectCallout">
            <a:avLst>
              <a:gd name="adj1" fmla="val -47557"/>
              <a:gd name="adj2" fmla="val 101710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What if list is full?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06119D1-DDC3-3A85-66EE-1D690E70C143}"/>
              </a:ext>
            </a:extLst>
          </p:cNvPr>
          <p:cNvSpPr/>
          <p:nvPr/>
        </p:nvSpPr>
        <p:spPr>
          <a:xfrm>
            <a:off x="4888718" y="2751018"/>
            <a:ext cx="1755922" cy="315864"/>
          </a:xfrm>
          <a:prstGeom prst="wedgeRectCallout">
            <a:avLst>
              <a:gd name="adj1" fmla="val -47557"/>
              <a:gd name="adj2" fmla="val 101710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What if list is empty?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3A01-BEEF-2553-AB76-A714DAE7DFCC}"/>
              </a:ext>
            </a:extLst>
          </p:cNvPr>
          <p:cNvSpPr/>
          <p:nvPr/>
        </p:nvSpPr>
        <p:spPr>
          <a:xfrm>
            <a:off x="6921199" y="1761289"/>
            <a:ext cx="2913265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EB854-5387-FF35-C7E7-7A22FB1374AB}"/>
              </a:ext>
            </a:extLst>
          </p:cNvPr>
          <p:cNvSpPr/>
          <p:nvPr/>
        </p:nvSpPr>
        <p:spPr>
          <a:xfrm>
            <a:off x="6921200" y="2099043"/>
            <a:ext cx="2913265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0FBC5-FDDC-371D-31E3-B3D4ED93A508}"/>
              </a:ext>
            </a:extLst>
          </p:cNvPr>
          <p:cNvSpPr/>
          <p:nvPr/>
        </p:nvSpPr>
        <p:spPr>
          <a:xfrm>
            <a:off x="6921200" y="2669140"/>
            <a:ext cx="2913265" cy="814898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ED0F8-C56B-F50A-3C3C-FA3612D9DBA0}"/>
              </a:ext>
            </a:extLst>
          </p:cNvPr>
          <p:cNvSpPr txBox="1"/>
          <p:nvPr/>
        </p:nvSpPr>
        <p:spPr>
          <a:xfrm>
            <a:off x="6921199" y="3704275"/>
            <a:ext cx="3960365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Insert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list head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4FD8F-6969-4A7D-40EE-B86913CB432A}"/>
              </a:ext>
            </a:extLst>
          </p:cNvPr>
          <p:cNvSpPr txBox="1"/>
          <p:nvPr/>
        </p:nvSpPr>
        <p:spPr>
          <a:xfrm>
            <a:off x="6921200" y="4653538"/>
            <a:ext cx="3960364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the head element from the list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7C7F52F9-4D60-7A84-04A7-AAF09888A788}"/>
              </a:ext>
            </a:extLst>
          </p:cNvPr>
          <p:cNvSpPr/>
          <p:nvPr/>
        </p:nvSpPr>
        <p:spPr>
          <a:xfrm>
            <a:off x="8818548" y="3170502"/>
            <a:ext cx="3003338" cy="35395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4703"/>
            </a:avLst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printList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void</a:t>
            </a:r>
            <a:endParaRPr lang="en-US" sz="14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4308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6" grpId="0" animBg="1"/>
      <p:bldP spid="17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0704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Tail Insert and Delete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5" y="1563637"/>
            <a:ext cx="58119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Tail Insertion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Insert element at the tail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Pay attention to updating </a:t>
            </a:r>
            <a:r>
              <a:rPr lang="en-CA" sz="1600" dirty="0" err="1"/>
              <a:t>sizeList</a:t>
            </a: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Tail Deletion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Do we need to delete the tail element?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we make use of </a:t>
            </a:r>
            <a:r>
              <a:rPr lang="en-CA" sz="1600" dirty="0" err="1"/>
              <a:t>sizeList</a:t>
            </a:r>
            <a:r>
              <a:rPr lang="en-CA" sz="1600" dirty="0"/>
              <a:t> to simplify this task?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 main(), insert after head insertion test cases: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Insert values to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Delete values from Tail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Test all edge cases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592F5F89-A95B-A0E4-F08B-7DA32E3B110E}"/>
              </a:ext>
            </a:extLst>
          </p:cNvPr>
          <p:cNvSpPr/>
          <p:nvPr/>
        </p:nvSpPr>
        <p:spPr>
          <a:xfrm>
            <a:off x="4888718" y="1538897"/>
            <a:ext cx="1755922" cy="315864"/>
          </a:xfrm>
          <a:prstGeom prst="wedgeRectCallout">
            <a:avLst>
              <a:gd name="adj1" fmla="val -47557"/>
              <a:gd name="adj2" fmla="val 101710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What if list is full?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06119D1-DDC3-3A85-66EE-1D690E70C143}"/>
              </a:ext>
            </a:extLst>
          </p:cNvPr>
          <p:cNvSpPr/>
          <p:nvPr/>
        </p:nvSpPr>
        <p:spPr>
          <a:xfrm>
            <a:off x="4993223" y="2669140"/>
            <a:ext cx="1755922" cy="315864"/>
          </a:xfrm>
          <a:prstGeom prst="wedgeRectCallout">
            <a:avLst>
              <a:gd name="adj1" fmla="val -47557"/>
              <a:gd name="adj2" fmla="val 101710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What if list is empty?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3A01-BEEF-2553-AB76-A714DAE7DFCC}"/>
              </a:ext>
            </a:extLst>
          </p:cNvPr>
          <p:cNvSpPr/>
          <p:nvPr/>
        </p:nvSpPr>
        <p:spPr>
          <a:xfrm>
            <a:off x="6921201" y="1780408"/>
            <a:ext cx="2894603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EB854-5387-FF35-C7E7-7A22FB1374AB}"/>
              </a:ext>
            </a:extLst>
          </p:cNvPr>
          <p:cNvSpPr/>
          <p:nvPr/>
        </p:nvSpPr>
        <p:spPr>
          <a:xfrm>
            <a:off x="6921200" y="2099043"/>
            <a:ext cx="2894604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0FBC5-FDDC-371D-31E3-B3D4ED93A508}"/>
              </a:ext>
            </a:extLst>
          </p:cNvPr>
          <p:cNvSpPr/>
          <p:nvPr/>
        </p:nvSpPr>
        <p:spPr>
          <a:xfrm>
            <a:off x="6921200" y="2669140"/>
            <a:ext cx="2894604" cy="814898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ED0F8-C56B-F50A-3C3C-FA3612D9DBA0}"/>
              </a:ext>
            </a:extLst>
          </p:cNvPr>
          <p:cNvSpPr txBox="1"/>
          <p:nvPr/>
        </p:nvSpPr>
        <p:spPr>
          <a:xfrm>
            <a:off x="6921199" y="3704275"/>
            <a:ext cx="3960365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Insert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list tail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4FD8F-6969-4A7D-40EE-B86913CB432A}"/>
              </a:ext>
            </a:extLst>
          </p:cNvPr>
          <p:cNvSpPr txBox="1"/>
          <p:nvPr/>
        </p:nvSpPr>
        <p:spPr>
          <a:xfrm>
            <a:off x="6921200" y="4653538"/>
            <a:ext cx="3960364" cy="93871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the tail element from the list</a:t>
            </a:r>
            <a:b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Can we use ”Lazy Delete”?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7C7F52F9-4D60-7A84-04A7-AAF09888A788}"/>
              </a:ext>
            </a:extLst>
          </p:cNvPr>
          <p:cNvSpPr/>
          <p:nvPr/>
        </p:nvSpPr>
        <p:spPr>
          <a:xfrm>
            <a:off x="8818548" y="3170502"/>
            <a:ext cx="2984676" cy="35395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4703"/>
            </a:avLst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printList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void</a:t>
            </a:r>
            <a:endParaRPr lang="en-US" sz="14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7605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6" grpId="0" animBg="1"/>
      <p:bldP spid="17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0704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Get Size and Elements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5" y="1563637"/>
            <a:ext cx="581198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Get Size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Self Explanatory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Get Elements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Get element at the target index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Head: index = 0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Tail: index = </a:t>
            </a:r>
            <a:r>
              <a:rPr lang="en-CA" sz="1600" dirty="0" err="1"/>
              <a:t>sizeList</a:t>
            </a:r>
            <a:r>
              <a:rPr lang="en-CA" sz="1600" dirty="0"/>
              <a:t> – 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Anywhere else – just use the input 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We are using Pass-by-Reference to return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Be creative here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insert test cases in the main()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Can also change </a:t>
            </a:r>
            <a:r>
              <a:rPr lang="en-CA" sz="1600" dirty="0" err="1"/>
              <a:t>printList</a:t>
            </a:r>
            <a:r>
              <a:rPr lang="en-CA" sz="1600" dirty="0"/>
              <a:t>() to print out more debugging information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3A01-BEEF-2553-AB76-A714DAE7DFCC}"/>
              </a:ext>
            </a:extLst>
          </p:cNvPr>
          <p:cNvSpPr/>
          <p:nvPr/>
        </p:nvSpPr>
        <p:spPr>
          <a:xfrm>
            <a:off x="6921201" y="1510439"/>
            <a:ext cx="2812623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EB854-5387-FF35-C7E7-7A22FB1374AB}"/>
              </a:ext>
            </a:extLst>
          </p:cNvPr>
          <p:cNvSpPr/>
          <p:nvPr/>
        </p:nvSpPr>
        <p:spPr>
          <a:xfrm>
            <a:off x="6921200" y="1829074"/>
            <a:ext cx="2812623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0FBC5-FDDC-371D-31E3-B3D4ED93A508}"/>
              </a:ext>
            </a:extLst>
          </p:cNvPr>
          <p:cNvSpPr/>
          <p:nvPr/>
        </p:nvSpPr>
        <p:spPr>
          <a:xfrm>
            <a:off x="6921201" y="2407879"/>
            <a:ext cx="4154236" cy="1168243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getHeadElement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getTailElement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ED0F8-C56B-F50A-3C3C-FA3612D9DBA0}"/>
              </a:ext>
            </a:extLst>
          </p:cNvPr>
          <p:cNvSpPr txBox="1"/>
          <p:nvPr/>
        </p:nvSpPr>
        <p:spPr>
          <a:xfrm>
            <a:off x="6921199" y="3704275"/>
            <a:ext cx="3960365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the size of the list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4FD8F-6969-4A7D-40EE-B86913CB432A}"/>
              </a:ext>
            </a:extLst>
          </p:cNvPr>
          <p:cNvSpPr txBox="1"/>
          <p:nvPr/>
        </p:nvSpPr>
        <p:spPr>
          <a:xfrm>
            <a:off x="6921200" y="4653538"/>
            <a:ext cx="5062914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index)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the Element at given index</a:t>
            </a:r>
            <a:b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Callout: Left Arrow 1">
            <a:extLst>
              <a:ext uri="{FF2B5EF4-FFF2-40B4-BE49-F238E27FC236}">
                <a16:creationId xmlns:a16="http://schemas.microsoft.com/office/drawing/2014/main" id="{C0DB5D8C-CF35-F24D-99B3-EA69367A28B4}"/>
              </a:ext>
            </a:extLst>
          </p:cNvPr>
          <p:cNvSpPr/>
          <p:nvPr/>
        </p:nvSpPr>
        <p:spPr>
          <a:xfrm>
            <a:off x="8818548" y="2473207"/>
            <a:ext cx="2975346" cy="353951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4703"/>
            </a:avLst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printList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(): void</a:t>
            </a:r>
            <a:endParaRPr lang="en-US" sz="14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B014EFA-06A4-452D-55FE-A79C88C05B47}"/>
              </a:ext>
            </a:extLst>
          </p:cNvPr>
          <p:cNvSpPr/>
          <p:nvPr/>
        </p:nvSpPr>
        <p:spPr>
          <a:xfrm>
            <a:off x="4149037" y="4111684"/>
            <a:ext cx="2382392" cy="315864"/>
          </a:xfrm>
          <a:prstGeom prst="wedgeRectCallout">
            <a:avLst>
              <a:gd name="adj1" fmla="val -40612"/>
              <a:gd name="adj2" fmla="val -74742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Why not using Return Value?</a:t>
            </a:r>
          </a:p>
        </p:txBody>
      </p:sp>
    </p:spTree>
    <p:extLst>
      <p:ext uri="{BB962C8B-B14F-4D97-AF65-F5344CB8AC3E}">
        <p14:creationId xmlns:p14="http://schemas.microsoft.com/office/powerpoint/2010/main" val="267519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Array List</a:t>
            </a:r>
            <a:b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</a:br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(Integer Example)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Advanced Operations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0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11514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Insert and Delete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5" y="1563637"/>
            <a:ext cx="581198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Your Turn to Brainstorm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Insertion to Arbitrary Index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How to correctly shift the elements?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What are possible edge cases to take care of?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Index out-of-range?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Index = head / tail?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Deletion at Arbitrary Index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How to correctly shift the elements?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What are possible edge cases to take care of?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Your turn to think about how.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3A01-BEEF-2553-AB76-A714DAE7DFCC}"/>
              </a:ext>
            </a:extLst>
          </p:cNvPr>
          <p:cNvSpPr/>
          <p:nvPr/>
        </p:nvSpPr>
        <p:spPr>
          <a:xfrm>
            <a:off x="6627384" y="1782141"/>
            <a:ext cx="2812623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EB854-5387-FF35-C7E7-7A22FB1374AB}"/>
              </a:ext>
            </a:extLst>
          </p:cNvPr>
          <p:cNvSpPr/>
          <p:nvPr/>
        </p:nvSpPr>
        <p:spPr>
          <a:xfrm>
            <a:off x="6627383" y="2100776"/>
            <a:ext cx="2812623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0FBC5-FDDC-371D-31E3-B3D4ED93A508}"/>
              </a:ext>
            </a:extLst>
          </p:cNvPr>
          <p:cNvSpPr/>
          <p:nvPr/>
        </p:nvSpPr>
        <p:spPr>
          <a:xfrm>
            <a:off x="6627383" y="2670873"/>
            <a:ext cx="2812623" cy="814898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ED0F8-C56B-F50A-3C3C-FA3612D9DBA0}"/>
              </a:ext>
            </a:extLst>
          </p:cNvPr>
          <p:cNvSpPr txBox="1"/>
          <p:nvPr/>
        </p:nvSpPr>
        <p:spPr>
          <a:xfrm>
            <a:off x="6627384" y="3704275"/>
            <a:ext cx="4356402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insert(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index)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Insert </a:t>
            </a:r>
            <a:r>
              <a:rPr lang="en-US" sz="11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anywhere in the list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4FD8F-6969-4A7D-40EE-B86913CB432A}"/>
              </a:ext>
            </a:extLst>
          </p:cNvPr>
          <p:cNvSpPr txBox="1"/>
          <p:nvPr/>
        </p:nvSpPr>
        <p:spPr>
          <a:xfrm>
            <a:off x="6627386" y="4653538"/>
            <a:ext cx="4356400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remove(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index)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the arbitrary element from the list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7C7F52F9-4D60-7A84-04A7-AAF09888A788}"/>
              </a:ext>
            </a:extLst>
          </p:cNvPr>
          <p:cNvSpPr/>
          <p:nvPr/>
        </p:nvSpPr>
        <p:spPr>
          <a:xfrm>
            <a:off x="6966312" y="2869966"/>
            <a:ext cx="3894521" cy="54430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92137"/>
            </a:avLst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insert(</a:t>
            </a:r>
            <a:r>
              <a:rPr lang="en-CA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remove(index: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360979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11514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Value-Related Operations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5" y="1563637"/>
            <a:ext cx="58119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Your Turn to Brainstorm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Get the Index of a Given Value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Return the index if value exists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Return…something… if it does not exist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What is this “something”?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Remove Element by a Given Value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Remove the element with matching value(s)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Do nothing if the value is not found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Test Method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Your turn to think about how.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3A01-BEEF-2553-AB76-A714DAE7DFCC}"/>
              </a:ext>
            </a:extLst>
          </p:cNvPr>
          <p:cNvSpPr/>
          <p:nvPr/>
        </p:nvSpPr>
        <p:spPr>
          <a:xfrm>
            <a:off x="6627384" y="1801755"/>
            <a:ext cx="2812623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EB854-5387-FF35-C7E7-7A22FB1374AB}"/>
              </a:ext>
            </a:extLst>
          </p:cNvPr>
          <p:cNvSpPr/>
          <p:nvPr/>
        </p:nvSpPr>
        <p:spPr>
          <a:xfrm>
            <a:off x="6627383" y="2120390"/>
            <a:ext cx="2812623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0FBC5-FDDC-371D-31E3-B3D4ED93A508}"/>
              </a:ext>
            </a:extLst>
          </p:cNvPr>
          <p:cNvSpPr/>
          <p:nvPr/>
        </p:nvSpPr>
        <p:spPr>
          <a:xfrm>
            <a:off x="6627383" y="2690487"/>
            <a:ext cx="2812623" cy="814898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ED0F8-C56B-F50A-3C3C-FA3612D9DBA0}"/>
              </a:ext>
            </a:extLst>
          </p:cNvPr>
          <p:cNvSpPr txBox="1"/>
          <p:nvPr/>
        </p:nvSpPr>
        <p:spPr>
          <a:xfrm>
            <a:off x="6627384" y="3704275"/>
            <a:ext cx="4356402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getIndex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Return index of the designated value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34FD8F-6969-4A7D-40EE-B86913CB432A}"/>
              </a:ext>
            </a:extLst>
          </p:cNvPr>
          <p:cNvSpPr txBox="1"/>
          <p:nvPr/>
        </p:nvSpPr>
        <p:spPr>
          <a:xfrm>
            <a:off x="6627386" y="4653538"/>
            <a:ext cx="4356400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"/>
              </a:rPr>
              <a:t>void </a:t>
            </a:r>
            <a:r>
              <a:rPr lang="en-US" sz="1100" b="1" dirty="0" err="1">
                <a:solidFill>
                  <a:srgbClr val="A870D2"/>
                </a:solidFill>
                <a:latin typeface="Courier"/>
              </a:rPr>
              <a:t>intArrayList</a:t>
            </a:r>
            <a:r>
              <a:rPr lang="en-US" sz="1100" b="1" dirty="0">
                <a:solidFill>
                  <a:srgbClr val="A870D2"/>
                </a:solidFill>
                <a:latin typeface="Courier"/>
              </a:rPr>
              <a:t>::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removeByVal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Remove the designated value from list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Callout: Left Arrow 10">
            <a:extLst>
              <a:ext uri="{FF2B5EF4-FFF2-40B4-BE49-F238E27FC236}">
                <a16:creationId xmlns:a16="http://schemas.microsoft.com/office/drawing/2014/main" id="{7C7F52F9-4D60-7A84-04A7-AAF09888A788}"/>
              </a:ext>
            </a:extLst>
          </p:cNvPr>
          <p:cNvSpPr/>
          <p:nvPr/>
        </p:nvSpPr>
        <p:spPr>
          <a:xfrm>
            <a:off x="6966312" y="2889580"/>
            <a:ext cx="3797397" cy="54430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92137"/>
            </a:avLst>
          </a:prstGeom>
          <a:solidFill>
            <a:schemeClr val="bg1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getIndex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lvl="0"/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removeByVal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253491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11514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 Array List – Packaging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53BC-A3B9-69F0-2792-4FD5FE9AAF9C}"/>
              </a:ext>
            </a:extLst>
          </p:cNvPr>
          <p:cNvSpPr txBox="1"/>
          <p:nvPr/>
        </p:nvSpPr>
        <p:spPr>
          <a:xfrm>
            <a:off x="832654" y="1563637"/>
            <a:ext cx="59973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Let’s Package </a:t>
            </a:r>
            <a:r>
              <a:rPr lang="en-CA" sz="2200" dirty="0" err="1"/>
              <a:t>intArrayList</a:t>
            </a:r>
            <a:r>
              <a:rPr lang="en-CA" sz="2200" dirty="0"/>
              <a:t> into a Module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Header File with header guard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Source File with required #include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Header Guard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Detailed mechanism out of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Put this down so that the compiler won’t get confused in case your module is #included more than once.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We are Ready!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This is our first C++ class that can be put into use and also expanded into different variations for different application purposes.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0000FF"/>
                </a:solidFill>
              </a:rPr>
              <a:t>Note: Finalized Code provided in the Sample Codes section.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1600" dirty="0"/>
              <a:t>In the next topic, we will create a specialized class from our </a:t>
            </a:r>
            <a:r>
              <a:rPr lang="en-CA" sz="1600" dirty="0" err="1"/>
              <a:t>intArrayList</a:t>
            </a:r>
            <a:r>
              <a:rPr lang="en-CA" sz="1600" dirty="0"/>
              <a:t>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2986B4-741C-9D4A-F9B7-9FD925517A52}"/>
              </a:ext>
            </a:extLst>
          </p:cNvPr>
          <p:cNvSpPr/>
          <p:nvPr/>
        </p:nvSpPr>
        <p:spPr>
          <a:xfrm>
            <a:off x="6966317" y="1737849"/>
            <a:ext cx="4246180" cy="315864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b="1" dirty="0" err="1">
                <a:solidFill>
                  <a:schemeClr val="bg1"/>
                </a:solidFill>
              </a:rPr>
              <a:t>intArrayList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419F5-865A-CBBD-1328-9581D471EC60}"/>
              </a:ext>
            </a:extLst>
          </p:cNvPr>
          <p:cNvSpPr/>
          <p:nvPr/>
        </p:nvSpPr>
        <p:spPr>
          <a:xfrm>
            <a:off x="6966316" y="2056484"/>
            <a:ext cx="4246180" cy="573292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int*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sizeArray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FA174-DF8B-F1C4-5302-8B33913324AC}"/>
              </a:ext>
            </a:extLst>
          </p:cNvPr>
          <p:cNvSpPr/>
          <p:nvPr/>
        </p:nvSpPr>
        <p:spPr>
          <a:xfrm>
            <a:off x="6966316" y="2626580"/>
            <a:ext cx="4246180" cy="3264496"/>
          </a:xfrm>
          <a:prstGeom prst="rect">
            <a:avLst/>
          </a:prstGeom>
          <a:noFill/>
          <a:ln w="28575">
            <a:solidFill>
              <a:srgbClr val="7F1F1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~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intArrayList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removeHead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removeTail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insert(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remove(index: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removeByVal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printList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getSize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getIndex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getHeadElement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getTailElement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getElement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returnVal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int&amp;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index: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3132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OOD - Class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What’s Inheritance?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Class Hierarchy and Inheritance Scope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Inheritance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Parent-Child Class Relationships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 Inheritance to Build a Set from Array List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64298</TotalTime>
  <Words>2114</Words>
  <Application>Microsoft Office PowerPoint</Application>
  <PresentationFormat>Widescreen</PresentationFormat>
  <Paragraphs>409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What is a List?</vt:lpstr>
      <vt:lpstr>PowerPoint Presentation</vt:lpstr>
      <vt:lpstr>PowerPoint Presentation</vt:lpstr>
      <vt:lpstr>PowerPoint Presentation</vt:lpstr>
      <vt:lpstr>Array List (Integer Example)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List (Integer Example)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13 - Array List</dc:title>
  <dc:creator>Shahrukh Athar</dc:creator>
  <cp:lastModifiedBy>Shahrukh Athar</cp:lastModifiedBy>
  <cp:revision>876</cp:revision>
  <dcterms:created xsi:type="dcterms:W3CDTF">2018-10-02T00:35:18Z</dcterms:created>
  <dcterms:modified xsi:type="dcterms:W3CDTF">2024-11-17T17:04:47Z</dcterms:modified>
</cp:coreProperties>
</file>