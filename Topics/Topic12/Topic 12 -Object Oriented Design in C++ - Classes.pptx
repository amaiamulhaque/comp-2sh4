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2"/>
    <p:sldId id="264" r:id="rId3"/>
    <p:sldId id="508" r:id="rId4"/>
    <p:sldId id="470" r:id="rId5"/>
    <p:sldId id="510" r:id="rId6"/>
    <p:sldId id="509" r:id="rId7"/>
    <p:sldId id="511" r:id="rId8"/>
    <p:sldId id="512" r:id="rId9"/>
    <p:sldId id="519" r:id="rId10"/>
    <p:sldId id="513" r:id="rId11"/>
    <p:sldId id="514" r:id="rId12"/>
    <p:sldId id="520" r:id="rId13"/>
    <p:sldId id="521" r:id="rId14"/>
    <p:sldId id="522" r:id="rId15"/>
    <p:sldId id="523" r:id="rId16"/>
    <p:sldId id="515" r:id="rId17"/>
    <p:sldId id="471" r:id="rId18"/>
    <p:sldId id="524" r:id="rId19"/>
    <p:sldId id="527" r:id="rId20"/>
    <p:sldId id="525" r:id="rId21"/>
    <p:sldId id="565" r:id="rId22"/>
    <p:sldId id="528" r:id="rId23"/>
    <p:sldId id="530" r:id="rId24"/>
    <p:sldId id="529" r:id="rId25"/>
    <p:sldId id="531" r:id="rId26"/>
    <p:sldId id="532" r:id="rId27"/>
    <p:sldId id="561" r:id="rId28"/>
    <p:sldId id="533" r:id="rId29"/>
    <p:sldId id="547" r:id="rId30"/>
    <p:sldId id="544" r:id="rId31"/>
    <p:sldId id="545" r:id="rId32"/>
    <p:sldId id="566" r:id="rId33"/>
    <p:sldId id="548" r:id="rId34"/>
    <p:sldId id="549" r:id="rId35"/>
    <p:sldId id="550" r:id="rId36"/>
    <p:sldId id="562" r:id="rId37"/>
    <p:sldId id="551" r:id="rId38"/>
    <p:sldId id="554" r:id="rId39"/>
    <p:sldId id="553" r:id="rId40"/>
    <p:sldId id="555" r:id="rId41"/>
    <p:sldId id="563" r:id="rId42"/>
    <p:sldId id="567" r:id="rId43"/>
    <p:sldId id="568" r:id="rId44"/>
    <p:sldId id="569" r:id="rId45"/>
    <p:sldId id="570" r:id="rId46"/>
    <p:sldId id="572" r:id="rId47"/>
    <p:sldId id="573" r:id="rId48"/>
    <p:sldId id="574" r:id="rId49"/>
    <p:sldId id="575" r:id="rId50"/>
    <p:sldId id="576" r:id="rId51"/>
    <p:sldId id="581" r:id="rId52"/>
    <p:sldId id="578" r:id="rId53"/>
    <p:sldId id="556" r:id="rId54"/>
    <p:sldId id="557" r:id="rId55"/>
    <p:sldId id="558" r:id="rId56"/>
    <p:sldId id="579" r:id="rId57"/>
    <p:sldId id="580" r:id="rId58"/>
    <p:sldId id="564" r:id="rId59"/>
    <p:sldId id="560" r:id="rId60"/>
    <p:sldId id="377" r:id="rId61"/>
    <p:sldId id="313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AF7CD6"/>
    <a:srgbClr val="7F1F1F"/>
    <a:srgbClr val="A870D2"/>
    <a:srgbClr val="FF7D7D"/>
    <a:srgbClr val="E9EBF5"/>
    <a:srgbClr val="FFDDDD"/>
    <a:srgbClr val="EBF1E9"/>
    <a:srgbClr val="FFC000"/>
    <a:srgbClr val="E8D9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49FD1-C801-49A5-8B3B-7E4466140B0B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8C59-6400-4A47-9B68-202DC97D1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0B6A-6EA8-48B1-890E-DBE9F55C9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41BC4-FC72-4C99-A6E3-D36F48E00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7F54-454F-4230-BCD0-7E298954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1BE9-5CD9-4798-8B28-41A7B3B2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3F6D-6949-4755-9EB3-0B4CF368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53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6A-6FB6-43A1-923B-948DA70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D120-9635-40F5-BD6A-8B18A091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D18D-D540-45BC-92C8-5C043E6B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A943-3396-4512-9E17-E9C48D40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FB98-9712-4920-84AA-67299297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84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C0B3-F2E8-4150-9C9F-249EA1EE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9AC4-4CCA-41C9-8CD3-FDA4F8BF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7CB5-DCF0-4F91-A3A4-AC18FA8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0D37-7F5D-4DA2-928A-A46FC161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5497-1021-4F40-B052-5FDB6EA0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7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113F-9A27-4454-9066-1D4816C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B618-A31F-4B60-9C62-B8612EFF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96AB5-6DB6-442F-A300-81550E203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FC75A-6003-426C-9DB2-9B39A4B0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4B50-F363-4912-A26C-0359D566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16A83-7103-44F3-87B3-CEE5D96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26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1195-ACB2-4934-8F4E-F2958669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58A89-F5A9-4F9B-A223-97C13BC2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6795C-363C-48DB-AD3D-2F9C61E1E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36750-9C96-4B01-9805-33AC9646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DC454-D419-49C4-8D63-67A4795D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3FABF-0142-467C-AE89-DE5CD45B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B3F96-5224-4C13-AD6F-1105B1AD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5A20E-F42A-4D9D-B91C-6088C1DC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1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7978-81C5-4AE1-8616-9BD6D82E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CD8A4-8B49-41C6-B266-DDCE9828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EAF09-62CD-4D41-A12D-7A187B15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16380-B9B6-4A57-92A4-92928B66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8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50F4B-56DD-47FF-8723-5B8E812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A2383-5FD6-4CA9-B869-66F36C29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4989-A74B-47B9-BBF3-7E03ED0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8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9DE-5FE6-448D-8017-76CEB79B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5170-09A8-4802-948A-2FC13424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3ADFF-B73A-409D-B75B-F2CD7B6D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10021-EAD0-4B81-B79C-468DFF64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38279-373B-4DD6-9B4D-8391BC7B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FDA3-5AFE-4A11-A0BE-334D33D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9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9788-A568-4DD7-ADA9-9ABF1663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9A0F-20B9-4F4D-8494-51CC0F0F1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D0EFE-BCFC-4795-81FA-C1868FB99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51377-1691-4253-8517-5C1042A9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94FC9-DA1F-4922-BE56-216E722B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F70E-C891-4B2C-90E2-48DF1E69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9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1662-B2C5-4D3D-A91F-576556E3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83262-9C38-48C2-92DD-DFF488E7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5AE-11FE-461F-86AA-DD7226E1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4B16A-019A-4707-B5FE-6A7A4FAA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DE2A-7C3E-4387-BD36-F66C7D0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3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4312D-85D8-4F4E-9225-EE35F6777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A2784-F633-44EE-8524-4C659B6A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275D-A9E9-4573-A113-62A0D463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5AB9-9C02-4C46-A2F5-EA99128A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DAC47-ACD1-475E-929F-BEA3913C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22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61F7F-5C44-431A-8DF8-3CE3DE3D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1CD12-5D97-4A00-9D87-C774CAFD4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DE7A-C95D-4242-B510-AF0B31262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FC9D-8A37-4207-9EED-DA2ABD1734E0}" type="datetimeFigureOut">
              <a:rPr lang="en-CA" smtClean="0"/>
              <a:t>2024-11-15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0F37-BB84-4C94-94FA-DF3238032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9D4C-3C3D-49C6-9E5A-9FEE72A28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0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39D983-FBB4-420A-9D1B-9D486DEE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0"/>
            <a:ext cx="3158763" cy="1870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BEA56-DD51-434A-8A58-1499DABCDB67}"/>
              </a:ext>
            </a:extLst>
          </p:cNvPr>
          <p:cNvSpPr txBox="1"/>
          <p:nvPr/>
        </p:nvSpPr>
        <p:spPr>
          <a:xfrm>
            <a:off x="1215096" y="2611819"/>
            <a:ext cx="976190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Oriented Design in C++</a:t>
            </a:r>
          </a:p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I - Class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2D380-33B6-48EC-8744-F89F20911832}"/>
              </a:ext>
            </a:extLst>
          </p:cNvPr>
          <p:cNvSpPr txBox="1"/>
          <p:nvPr/>
        </p:nvSpPr>
        <p:spPr>
          <a:xfrm>
            <a:off x="3871506" y="1867574"/>
            <a:ext cx="44342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COMPENG 2SH4 Topic 12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4195CB-8759-D432-BAA9-ADEFD3CC5C9D}"/>
              </a:ext>
            </a:extLst>
          </p:cNvPr>
          <p:cNvSpPr txBox="1"/>
          <p:nvPr/>
        </p:nvSpPr>
        <p:spPr>
          <a:xfrm>
            <a:off x="4185188" y="5068547"/>
            <a:ext cx="3821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/>
              <a:t>Dr. Shahrukh Athar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EEF10-8CC3-F107-9C9A-E1D50B1C3E85}"/>
              </a:ext>
            </a:extLst>
          </p:cNvPr>
          <p:cNvSpPr txBox="1"/>
          <p:nvPr/>
        </p:nvSpPr>
        <p:spPr>
          <a:xfrm>
            <a:off x="1388853" y="6596390"/>
            <a:ext cx="10803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Credit: The current version of these slides has been developed by Dr. Scott Chen (2SH4 F23 C02). I am using these slides with his permission and have made only slight modifications.</a:t>
            </a:r>
          </a:p>
        </p:txBody>
      </p:sp>
    </p:spTree>
    <p:extLst>
      <p:ext uri="{BB962C8B-B14F-4D97-AF65-F5344CB8AC3E}">
        <p14:creationId xmlns:p14="http://schemas.microsoft.com/office/powerpoint/2010/main" val="195778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9563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4350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Object Oriented Design Overview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OOD Principles, Terminology, Graphical Representations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Benefits of OOD (Part I)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CA" sz="2200" b="1" dirty="0"/>
              <a:t>OOD Basics -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Class (Object Template)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Object Instantiation, Initialization, and Destruction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Grand Example – String Container Class</a:t>
            </a:r>
          </a:p>
        </p:txBody>
      </p:sp>
      <p:pic>
        <p:nvPicPr>
          <p:cNvPr id="12" name="Graphic 11" descr="Three circles each containing concentric circles.">
            <a:extLst>
              <a:ext uri="{FF2B5EF4-FFF2-40B4-BE49-F238E27FC236}">
                <a16:creationId xmlns:a16="http://schemas.microsoft.com/office/drawing/2014/main" id="{A4D28325-1E70-41A7-BF16-E0919AFAD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89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Object Oriented Design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Object-Level Conceptual Introduction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ED1FCD-2536-F877-99C5-24DF60C3B651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12-1] C Library to C++ Class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17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9" y="585288"/>
            <a:ext cx="20633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1657125" y="1551563"/>
            <a:ext cx="691790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Classes (Object Template)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self-contained definition : member data and functions that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Defines a new compound data type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Encapsulates non-intuitive internal behaviours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Exposing only intuitive external interactions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Serving a specific application purpose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Effect of Object Encapsulation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Objects are </a:t>
            </a:r>
            <a:r>
              <a:rPr lang="en-CA" i="1" dirty="0"/>
              <a:t>black boxes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Codes and data are hidden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Objects interact with each other through </a:t>
            </a:r>
            <a:r>
              <a:rPr lang="en-CA" b="1" i="1" dirty="0"/>
              <a:t>messages</a:t>
            </a:r>
            <a:br>
              <a:rPr lang="en-CA" dirty="0"/>
            </a:br>
            <a:r>
              <a:rPr lang="en-CA" dirty="0"/>
              <a:t>between </a:t>
            </a:r>
            <a:r>
              <a:rPr lang="en-CA" b="1" dirty="0"/>
              <a:t>external operations </a:t>
            </a:r>
            <a:r>
              <a:rPr lang="en-CA" dirty="0"/>
              <a:t>without knowledge of </a:t>
            </a:r>
            <a:br>
              <a:rPr lang="en-CA" dirty="0"/>
            </a:br>
            <a:r>
              <a:rPr lang="en-CA" dirty="0"/>
              <a:t>the internals of each other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2678A7-A5F4-A5BC-C172-08B756608EA8}"/>
              </a:ext>
            </a:extLst>
          </p:cNvPr>
          <p:cNvSpPr/>
          <p:nvPr/>
        </p:nvSpPr>
        <p:spPr>
          <a:xfrm>
            <a:off x="9149225" y="1366111"/>
            <a:ext cx="1715589" cy="1180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b="1" u="sng" dirty="0" err="1"/>
              <a:t>ObjectA</a:t>
            </a:r>
            <a:endParaRPr lang="en-CA" sz="2800" b="1" u="sng" dirty="0"/>
          </a:p>
          <a:p>
            <a:pPr algn="ctr"/>
            <a:r>
              <a:rPr lang="en-US" sz="1400" dirty="0"/>
              <a:t>Internal Parameters</a:t>
            </a:r>
          </a:p>
          <a:p>
            <a:pPr algn="ctr"/>
            <a:r>
              <a:rPr lang="en-US" sz="1400" dirty="0"/>
              <a:t>Internal Operations</a:t>
            </a:r>
          </a:p>
          <a:p>
            <a:pPr algn="ctr"/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0BDC26-3AA9-FD05-788C-89A256848FD4}"/>
              </a:ext>
            </a:extLst>
          </p:cNvPr>
          <p:cNvSpPr/>
          <p:nvPr/>
        </p:nvSpPr>
        <p:spPr>
          <a:xfrm>
            <a:off x="9386921" y="2347360"/>
            <a:ext cx="1246509" cy="5068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External Operations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D08ECC-44C5-EF61-C611-8C75BAA6D628}"/>
              </a:ext>
            </a:extLst>
          </p:cNvPr>
          <p:cNvSpPr/>
          <p:nvPr/>
        </p:nvSpPr>
        <p:spPr>
          <a:xfrm>
            <a:off x="9149225" y="3854912"/>
            <a:ext cx="1715589" cy="1180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b="1" u="sng" dirty="0" err="1"/>
              <a:t>ObjectB</a:t>
            </a:r>
            <a:endParaRPr lang="en-CA" sz="2800" b="1" u="sng" dirty="0"/>
          </a:p>
          <a:p>
            <a:pPr algn="ctr"/>
            <a:r>
              <a:rPr lang="en-US" sz="1400" dirty="0"/>
              <a:t>Internal Parameters</a:t>
            </a:r>
          </a:p>
          <a:p>
            <a:pPr algn="ctr"/>
            <a:r>
              <a:rPr lang="en-US" sz="1400" dirty="0"/>
              <a:t>Internal Operations</a:t>
            </a:r>
          </a:p>
          <a:p>
            <a:pPr algn="ctr"/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5F056-CFCD-9991-D1DE-ECA61D36B55C}"/>
              </a:ext>
            </a:extLst>
          </p:cNvPr>
          <p:cNvSpPr/>
          <p:nvPr/>
        </p:nvSpPr>
        <p:spPr>
          <a:xfrm>
            <a:off x="9386921" y="4836161"/>
            <a:ext cx="1246509" cy="5068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External Operations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Arrow: U-Turn 9">
            <a:extLst>
              <a:ext uri="{FF2B5EF4-FFF2-40B4-BE49-F238E27FC236}">
                <a16:creationId xmlns:a16="http://schemas.microsoft.com/office/drawing/2014/main" id="{DCE00DE2-4F6E-1E01-EEC1-9B00DA3FD5C7}"/>
              </a:ext>
            </a:extLst>
          </p:cNvPr>
          <p:cNvSpPr/>
          <p:nvPr/>
        </p:nvSpPr>
        <p:spPr>
          <a:xfrm rot="5400000">
            <a:off x="9557266" y="3759997"/>
            <a:ext cx="2659132" cy="506804"/>
          </a:xfrm>
          <a:prstGeom prst="uturnArrow">
            <a:avLst>
              <a:gd name="adj1" fmla="val 16156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U-Turn 10">
            <a:extLst>
              <a:ext uri="{FF2B5EF4-FFF2-40B4-BE49-F238E27FC236}">
                <a16:creationId xmlns:a16="http://schemas.microsoft.com/office/drawing/2014/main" id="{179F8BC1-8C95-F161-5294-71A633A1812D}"/>
              </a:ext>
            </a:extLst>
          </p:cNvPr>
          <p:cNvSpPr/>
          <p:nvPr/>
        </p:nvSpPr>
        <p:spPr>
          <a:xfrm rot="16200000">
            <a:off x="7788678" y="3676926"/>
            <a:ext cx="2659132" cy="506804"/>
          </a:xfrm>
          <a:prstGeom prst="uturnArrow">
            <a:avLst>
              <a:gd name="adj1" fmla="val 16156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BC289B7F-82D6-6BEB-2975-B3A0C4CB7275}"/>
              </a:ext>
            </a:extLst>
          </p:cNvPr>
          <p:cNvSpPr/>
          <p:nvPr/>
        </p:nvSpPr>
        <p:spPr>
          <a:xfrm>
            <a:off x="10476846" y="3196804"/>
            <a:ext cx="1326776" cy="397236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Messages</a:t>
            </a:r>
            <a:endParaRPr lang="en-US" dirty="0"/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F3C62C11-8B5C-D62D-47BC-F44DED0965DC}"/>
              </a:ext>
            </a:extLst>
          </p:cNvPr>
          <p:cNvSpPr/>
          <p:nvPr/>
        </p:nvSpPr>
        <p:spPr>
          <a:xfrm>
            <a:off x="8257369" y="3196804"/>
            <a:ext cx="1326776" cy="397236"/>
          </a:xfrm>
          <a:prstGeom prst="foldedCorner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Messages</a:t>
            </a:r>
            <a:endParaRPr lang="en-US" dirty="0"/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15E1ADCD-6A6A-F46E-A0A8-DD26AC6780D3}"/>
              </a:ext>
            </a:extLst>
          </p:cNvPr>
          <p:cNvSpPr/>
          <p:nvPr/>
        </p:nvSpPr>
        <p:spPr>
          <a:xfrm>
            <a:off x="126232" y="2103426"/>
            <a:ext cx="1432338" cy="1049671"/>
          </a:xfrm>
          <a:prstGeom prst="wedgeRectCallout">
            <a:avLst>
              <a:gd name="adj1" fmla="val 90058"/>
              <a:gd name="adj2" fmla="val -62803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Class </a:t>
            </a:r>
            <a:r>
              <a:rPr lang="en-CA" sz="1600" dirty="0">
                <a:solidFill>
                  <a:schemeClr val="tx1"/>
                </a:solidFill>
              </a:rPr>
              <a:t>is a template </a:t>
            </a:r>
          </a:p>
          <a:p>
            <a:pPr algn="ctr"/>
            <a:r>
              <a:rPr lang="en-CA" sz="1600" dirty="0">
                <a:solidFill>
                  <a:schemeClr val="tx1"/>
                </a:solidFill>
              </a:rPr>
              <a:t>(i.e. compound data type)</a:t>
            </a: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578A8F21-6B0C-1F3B-87E7-393426543AD9}"/>
              </a:ext>
            </a:extLst>
          </p:cNvPr>
          <p:cNvSpPr/>
          <p:nvPr/>
        </p:nvSpPr>
        <p:spPr>
          <a:xfrm>
            <a:off x="4627361" y="268360"/>
            <a:ext cx="2734235" cy="899182"/>
          </a:xfrm>
          <a:prstGeom prst="wedgeRectCallout">
            <a:avLst>
              <a:gd name="adj1" fmla="val -114488"/>
              <a:gd name="adj2" fmla="val 3032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Variables declared under this compound type are </a:t>
            </a:r>
          </a:p>
          <a:p>
            <a:pPr algn="ctr"/>
            <a:r>
              <a:rPr lang="en-CA" sz="1600" dirty="0">
                <a:solidFill>
                  <a:schemeClr val="tx1"/>
                </a:solidFill>
              </a:rPr>
              <a:t>“</a:t>
            </a:r>
            <a:r>
              <a:rPr lang="en-CA" sz="1600" b="1" dirty="0">
                <a:solidFill>
                  <a:schemeClr val="tx1"/>
                </a:solidFill>
              </a:rPr>
              <a:t>Objects / Instances of Class</a:t>
            </a:r>
            <a:r>
              <a:rPr lang="en-CA" sz="1600" dirty="0">
                <a:solidFill>
                  <a:schemeClr val="tx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07234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7597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Classes (Object Template)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self-contained definition : member data and functions that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Defines a new compound data type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Encapsulates non-intuitive internal behaviours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Exposing only intuitive external interactions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Serving a specific application purpose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Effect of Object Encapsulation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Objects are </a:t>
            </a:r>
            <a:r>
              <a:rPr lang="en-CA" i="1" dirty="0"/>
              <a:t>building blocks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Objects are by nature compound data types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Therefore, objects can be members of other objects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/>
              <a:t>OOD Underlying Fundamental – Bottom-Up Construction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Complex software systems are built from simple building blocks : Objects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2678A7-A5F4-A5BC-C172-08B756608EA8}"/>
              </a:ext>
            </a:extLst>
          </p:cNvPr>
          <p:cNvSpPr/>
          <p:nvPr/>
        </p:nvSpPr>
        <p:spPr>
          <a:xfrm>
            <a:off x="8648995" y="989409"/>
            <a:ext cx="1715589" cy="1180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b="1" u="sng" dirty="0" err="1"/>
              <a:t>SmallObj</a:t>
            </a:r>
            <a:endParaRPr lang="en-CA" sz="2800" b="1" u="sng" dirty="0"/>
          </a:p>
          <a:p>
            <a:pPr algn="ctr"/>
            <a:r>
              <a:rPr lang="en-US" sz="1400" dirty="0"/>
              <a:t>Internal Parameters</a:t>
            </a:r>
          </a:p>
          <a:p>
            <a:pPr algn="ctr"/>
            <a:r>
              <a:rPr lang="en-US" sz="1400" dirty="0"/>
              <a:t>Internal Operations</a:t>
            </a:r>
          </a:p>
          <a:p>
            <a:pPr algn="ctr"/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0BDC26-3AA9-FD05-788C-89A256848FD4}"/>
              </a:ext>
            </a:extLst>
          </p:cNvPr>
          <p:cNvSpPr/>
          <p:nvPr/>
        </p:nvSpPr>
        <p:spPr>
          <a:xfrm>
            <a:off x="8886691" y="1970658"/>
            <a:ext cx="1246509" cy="5068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External Operations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D08ECC-44C5-EF61-C611-8C75BAA6D628}"/>
              </a:ext>
            </a:extLst>
          </p:cNvPr>
          <p:cNvSpPr/>
          <p:nvPr/>
        </p:nvSpPr>
        <p:spPr>
          <a:xfrm>
            <a:off x="8109578" y="2833045"/>
            <a:ext cx="2746680" cy="18375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b="1" u="sng" dirty="0" err="1"/>
              <a:t>BigObj</a:t>
            </a:r>
            <a:endParaRPr lang="en-CA" sz="2800" b="1" u="sng" dirty="0"/>
          </a:p>
          <a:p>
            <a:pPr algn="ctr"/>
            <a:r>
              <a:rPr lang="en-US" sz="1400" dirty="0"/>
              <a:t>Internal Parameters</a:t>
            </a:r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Internal Operations</a:t>
            </a:r>
          </a:p>
          <a:p>
            <a:pPr algn="ctr"/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5F056-CFCD-9991-D1DE-ECA61D36B55C}"/>
              </a:ext>
            </a:extLst>
          </p:cNvPr>
          <p:cNvSpPr/>
          <p:nvPr/>
        </p:nvSpPr>
        <p:spPr>
          <a:xfrm>
            <a:off x="8859663" y="4485638"/>
            <a:ext cx="1246509" cy="5068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External Operations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05A3F0-58DC-3405-D8BE-B13A568EA795}"/>
              </a:ext>
            </a:extLst>
          </p:cNvPr>
          <p:cNvSpPr/>
          <p:nvPr/>
        </p:nvSpPr>
        <p:spPr>
          <a:xfrm>
            <a:off x="8253706" y="3568820"/>
            <a:ext cx="1427334" cy="400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u="sng" dirty="0"/>
              <a:t>SmallObj1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2051E6-D6A2-28D8-6838-2FF6616491EE}"/>
              </a:ext>
            </a:extLst>
          </p:cNvPr>
          <p:cNvSpPr/>
          <p:nvPr/>
        </p:nvSpPr>
        <p:spPr>
          <a:xfrm>
            <a:off x="9321596" y="3751827"/>
            <a:ext cx="1427334" cy="400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u="sng" dirty="0"/>
              <a:t>SmallObj2</a:t>
            </a:r>
          </a:p>
        </p:txBody>
      </p:sp>
    </p:spTree>
    <p:extLst>
      <p:ext uri="{BB962C8B-B14F-4D97-AF65-F5344CB8AC3E}">
        <p14:creationId xmlns:p14="http://schemas.microsoft.com/office/powerpoint/2010/main" val="66695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379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Object-Oriented Design – 4 Principles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Encapsulation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Codes and data pertaining to the implementation </a:t>
            </a:r>
            <a:br>
              <a:rPr lang="en-CA" dirty="0"/>
            </a:br>
            <a:r>
              <a:rPr lang="en-CA" dirty="0"/>
              <a:t>should be hidden away from external objects</a:t>
            </a:r>
            <a:endParaRPr lang="en-CA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Inheritance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Existing definition of a class should be easily and safely</a:t>
            </a:r>
            <a:br>
              <a:rPr lang="en-CA" dirty="0"/>
            </a:br>
            <a:r>
              <a:rPr lang="en-CA" dirty="0"/>
              <a:t>reused to derive the definition of another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Polymorphism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base class can be used to </a:t>
            </a:r>
            <a:r>
              <a:rPr lang="en-US" altLang="zh-CN" dirty="0"/>
              <a:t>ma</a:t>
            </a:r>
            <a:r>
              <a:rPr lang="en-CA" altLang="zh-CN" dirty="0" err="1"/>
              <a:t>ndate</a:t>
            </a:r>
            <a:r>
              <a:rPr lang="en-CA" dirty="0"/>
              <a:t> many </a:t>
            </a:r>
            <a:r>
              <a:rPr lang="en-CA" i="1" u="sng" dirty="0"/>
              <a:t>related</a:t>
            </a:r>
            <a:r>
              <a:rPr lang="en-CA" dirty="0"/>
              <a:t> derived </a:t>
            </a:r>
            <a:br>
              <a:rPr lang="en-CA" dirty="0"/>
            </a:br>
            <a:r>
              <a:rPr lang="en-CA" dirty="0"/>
              <a:t>classes to share certain identical behaviours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Abstraction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Classes should be designed such that external programmers</a:t>
            </a:r>
            <a:br>
              <a:rPr lang="en-CA" dirty="0"/>
            </a:br>
            <a:r>
              <a:rPr lang="en-CA" dirty="0"/>
              <a:t>can focus on how to interact with the objects rather than</a:t>
            </a:r>
            <a:br>
              <a:rPr lang="en-CA" dirty="0"/>
            </a:br>
            <a:r>
              <a:rPr lang="en-CA" dirty="0"/>
              <a:t>how their classes are implemented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</a:t>
            </a:fld>
            <a:endParaRPr lang="en-CA" dirty="0"/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69D174B6-5B8A-0390-A64E-20F4D06E4D14}"/>
              </a:ext>
            </a:extLst>
          </p:cNvPr>
          <p:cNvSpPr/>
          <p:nvPr/>
        </p:nvSpPr>
        <p:spPr>
          <a:xfrm>
            <a:off x="7748419" y="2668041"/>
            <a:ext cx="2984989" cy="1753634"/>
          </a:xfrm>
          <a:prstGeom prst="wedgeRectCallout">
            <a:avLst>
              <a:gd name="adj1" fmla="val -65235"/>
              <a:gd name="adj2" fmla="val -757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Class </a:t>
            </a:r>
            <a:r>
              <a:rPr lang="en-CA" sz="1600" dirty="0">
                <a:solidFill>
                  <a:schemeClr val="tx1"/>
                </a:solidFill>
              </a:rPr>
              <a:t>as a template can be easily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tx1"/>
                </a:solidFill>
              </a:rPr>
              <a:t>Reused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tx1"/>
                </a:solidFill>
              </a:rPr>
              <a:t>Expanded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tx1"/>
                </a:solidFill>
              </a:rPr>
              <a:t>Diversified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tx1"/>
                </a:solidFill>
              </a:rPr>
              <a:t>Hierarchized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7F470E11-C4EF-F734-8DCB-7D4A6CD1791C}"/>
              </a:ext>
            </a:extLst>
          </p:cNvPr>
          <p:cNvSpPr/>
          <p:nvPr/>
        </p:nvSpPr>
        <p:spPr>
          <a:xfrm>
            <a:off x="7748419" y="1663905"/>
            <a:ext cx="2984989" cy="782021"/>
          </a:xfrm>
          <a:prstGeom prst="wedgeRectCallout">
            <a:avLst>
              <a:gd name="adj1" fmla="val -64935"/>
              <a:gd name="adj2" fmla="val -55693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>
                <a:solidFill>
                  <a:schemeClr val="tx1"/>
                </a:solidFill>
              </a:rPr>
              <a:t>Complex software systems are built from </a:t>
            </a:r>
            <a:r>
              <a:rPr lang="en-CA" b="1" dirty="0">
                <a:solidFill>
                  <a:schemeClr val="tx1"/>
                </a:solidFill>
              </a:rPr>
              <a:t>Objects</a:t>
            </a: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1374EA8C-37C7-3887-884B-FC67F22F3863}"/>
              </a:ext>
            </a:extLst>
          </p:cNvPr>
          <p:cNvSpPr/>
          <p:nvPr/>
        </p:nvSpPr>
        <p:spPr>
          <a:xfrm>
            <a:off x="7748418" y="4643790"/>
            <a:ext cx="2984989" cy="1175239"/>
          </a:xfrm>
          <a:prstGeom prst="wedgeRectCallout">
            <a:avLst>
              <a:gd name="adj1" fmla="val -63433"/>
              <a:gd name="adj2" fmla="val -5410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rgbClr val="FF0000"/>
                </a:solidFill>
              </a:rPr>
              <a:t>All principles are realized through syntax support of the C++ compiler</a:t>
            </a:r>
          </a:p>
          <a:p>
            <a:pPr algn="ctr"/>
            <a:r>
              <a:rPr lang="en-CA" sz="1600" b="1" dirty="0">
                <a:solidFill>
                  <a:srgbClr val="FF0000"/>
                </a:solidFill>
              </a:rPr>
              <a:t>(NOT by different hardware)</a:t>
            </a:r>
          </a:p>
        </p:txBody>
      </p:sp>
    </p:spTree>
    <p:extLst>
      <p:ext uri="{BB962C8B-B14F-4D97-AF65-F5344CB8AC3E}">
        <p14:creationId xmlns:p14="http://schemas.microsoft.com/office/powerpoint/2010/main" val="3228870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379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Object-Oriented Design – Terminologies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7</a:t>
            </a:fld>
            <a:endParaRPr lang="en-CA" dirty="0"/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C5E148ED-6245-7575-DB6F-309655359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825616"/>
              </p:ext>
            </p:extLst>
          </p:nvPr>
        </p:nvGraphicFramePr>
        <p:xfrm>
          <a:off x="832657" y="1500883"/>
          <a:ext cx="10379840" cy="418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6812">
                  <a:extLst>
                    <a:ext uri="{9D8B030D-6E8A-4147-A177-3AD203B41FA5}">
                      <a16:colId xmlns:a16="http://schemas.microsoft.com/office/drawing/2014/main" val="3795929284"/>
                    </a:ext>
                  </a:extLst>
                </a:gridCol>
                <a:gridCol w="2488366">
                  <a:extLst>
                    <a:ext uri="{9D8B030D-6E8A-4147-A177-3AD203B41FA5}">
                      <a16:colId xmlns:a16="http://schemas.microsoft.com/office/drawing/2014/main" val="622474902"/>
                    </a:ext>
                  </a:extLst>
                </a:gridCol>
                <a:gridCol w="6344662">
                  <a:extLst>
                    <a:ext uri="{9D8B030D-6E8A-4147-A177-3AD203B41FA5}">
                      <a16:colId xmlns:a16="http://schemas.microsoft.com/office/drawing/2014/main" val="4215250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Terminology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Synonyms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Definition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827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/>
                        <a:t>Class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Compound Data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Source code for defining object template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765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/>
                        <a:t>Object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/>
                        <a:t>Instance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Variables of the compound type defined by a class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595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/>
                        <a:t>Field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/>
                        <a:t>Member Variable</a:t>
                      </a:r>
                      <a:br>
                        <a:rPr lang="en-CA" b="1" dirty="0"/>
                      </a:b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Variables included within the definition of a class for tracking object </a:t>
                      </a:r>
                      <a:r>
                        <a:rPr lang="en-CA" sz="1600" b="1" dirty="0"/>
                        <a:t>States </a:t>
                      </a:r>
                      <a:r>
                        <a:rPr lang="en-CA" sz="1600" b="0" dirty="0"/>
                        <a:t>and </a:t>
                      </a:r>
                      <a:r>
                        <a:rPr lang="en-CA" sz="1600" b="1" dirty="0"/>
                        <a:t>Attributes</a:t>
                      </a:r>
                      <a:endParaRPr 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843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/>
                        <a:t>Method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/>
                        <a:t>Member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Functions included within the definition of a class for implementing object </a:t>
                      </a:r>
                      <a:r>
                        <a:rPr lang="en-CA" sz="1600" b="1" dirty="0"/>
                        <a:t>Behaviours</a:t>
                      </a:r>
                      <a:r>
                        <a:rPr lang="en-CA" sz="1600" dirty="0"/>
                        <a:t> and operations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248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/>
                        <a:t>Encapsulation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Information Hiding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Hiding internal implementation from the external interactions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127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/>
                        <a:t>Message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Method Invocation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Exchange of information between the external interfaces of objects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734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/>
                        <a:t>Interface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N/A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The external-facing methods and fields for facilitating interactions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46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/>
                        <a:t>Subclass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Child 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The new class derived from an existing class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916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/>
                        <a:t>Superclass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Parent Class, Base 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The existing class from which new classes are derived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585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81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379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Object-Oriented Design – Terminologies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8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B2E9F-B809-A59C-09C8-9D193A1E7BC5}"/>
              </a:ext>
            </a:extLst>
          </p:cNvPr>
          <p:cNvSpPr txBox="1"/>
          <p:nvPr/>
        </p:nvSpPr>
        <p:spPr>
          <a:xfrm>
            <a:off x="3756349" y="1397538"/>
            <a:ext cx="4679302" cy="4493538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  </a:t>
            </a:r>
            <a:r>
              <a:rPr lang="en-US" sz="1100" b="1" dirty="0">
                <a:solidFill>
                  <a:schemeClr val="accent6"/>
                </a:solidFill>
                <a:latin typeface="Courier"/>
              </a:rPr>
              <a:t>// like struct on steroids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Syntax Protected for Internal Use Only!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SetPower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pow 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Syntax Protected for External AND Internal Use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Object Initializers (Overloaded)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pow);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Getters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GetPower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Other External Interactions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Product(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Quotient(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  <a:endParaRPr lang="en-US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void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print();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9FED92-63DA-9CE7-AD94-499E14161504}"/>
              </a:ext>
            </a:extLst>
          </p:cNvPr>
          <p:cNvSpPr/>
          <p:nvPr/>
        </p:nvSpPr>
        <p:spPr>
          <a:xfrm>
            <a:off x="4078942" y="1945342"/>
            <a:ext cx="1559859" cy="531206"/>
          </a:xfrm>
          <a:prstGeom prst="rect">
            <a:avLst/>
          </a:prstGeom>
          <a:noFill/>
          <a:ln w="28575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861C18B0-CFD3-5B20-3AFD-B326A7328B99}"/>
              </a:ext>
            </a:extLst>
          </p:cNvPr>
          <p:cNvSpPr/>
          <p:nvPr/>
        </p:nvSpPr>
        <p:spPr>
          <a:xfrm>
            <a:off x="1085724" y="1595585"/>
            <a:ext cx="2417557" cy="985146"/>
          </a:xfrm>
          <a:prstGeom prst="wedgeRectCallout">
            <a:avLst>
              <a:gd name="adj1" fmla="val 70413"/>
              <a:gd name="adj2" fmla="val 1046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>
                <a:solidFill>
                  <a:schemeClr val="tx1"/>
                </a:solidFill>
              </a:rPr>
              <a:t>private </a:t>
            </a:r>
            <a:r>
              <a:rPr lang="en-CA" b="1" dirty="0">
                <a:solidFill>
                  <a:schemeClr val="tx1"/>
                </a:solidFill>
              </a:rPr>
              <a:t>Fields / Member Variables</a:t>
            </a:r>
          </a:p>
          <a:p>
            <a:r>
              <a:rPr lang="en-CA" dirty="0">
                <a:solidFill>
                  <a:schemeClr val="tx1"/>
                </a:solidFill>
              </a:rPr>
              <a:t>tracking</a:t>
            </a:r>
            <a:r>
              <a:rPr lang="en-CA" b="1" dirty="0">
                <a:solidFill>
                  <a:schemeClr val="tx1"/>
                </a:solidFill>
              </a:rPr>
              <a:t> Status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BF28C7-5525-1789-6A23-053E91C26076}"/>
              </a:ext>
            </a:extLst>
          </p:cNvPr>
          <p:cNvSpPr/>
          <p:nvPr/>
        </p:nvSpPr>
        <p:spPr>
          <a:xfrm>
            <a:off x="4357462" y="2530787"/>
            <a:ext cx="2482609" cy="531206"/>
          </a:xfrm>
          <a:prstGeom prst="rect">
            <a:avLst/>
          </a:prstGeom>
          <a:noFill/>
          <a:ln w="28575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59835D13-E977-1D75-3887-5F6D365E8851}"/>
              </a:ext>
            </a:extLst>
          </p:cNvPr>
          <p:cNvSpPr/>
          <p:nvPr/>
        </p:nvSpPr>
        <p:spPr>
          <a:xfrm>
            <a:off x="7827985" y="1994756"/>
            <a:ext cx="2893803" cy="963597"/>
          </a:xfrm>
          <a:prstGeom prst="wedgeRectCallout">
            <a:avLst>
              <a:gd name="adj1" fmla="val -79989"/>
              <a:gd name="adj2" fmla="val 39886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>
                <a:solidFill>
                  <a:schemeClr val="tx1"/>
                </a:solidFill>
              </a:rPr>
              <a:t>private </a:t>
            </a:r>
            <a:r>
              <a:rPr lang="en-CA" b="1" dirty="0">
                <a:solidFill>
                  <a:schemeClr val="tx1"/>
                </a:solidFill>
              </a:rPr>
              <a:t>Methods / Member Functions </a:t>
            </a:r>
            <a:r>
              <a:rPr lang="en-CA" dirty="0">
                <a:solidFill>
                  <a:schemeClr val="tx1"/>
                </a:solidFill>
              </a:rPr>
              <a:t>implementing</a:t>
            </a:r>
            <a:r>
              <a:rPr lang="en-CA" b="1" dirty="0">
                <a:solidFill>
                  <a:schemeClr val="tx1"/>
                </a:solidFill>
              </a:rPr>
              <a:t> Behaviours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6929BD-D03F-BCAA-564B-8A156EEC9855}"/>
              </a:ext>
            </a:extLst>
          </p:cNvPr>
          <p:cNvSpPr/>
          <p:nvPr/>
        </p:nvSpPr>
        <p:spPr>
          <a:xfrm>
            <a:off x="4078942" y="3264801"/>
            <a:ext cx="3558987" cy="2227103"/>
          </a:xfrm>
          <a:prstGeom prst="rect">
            <a:avLst/>
          </a:prstGeom>
          <a:noFill/>
          <a:ln w="28575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9D11B146-93A9-C03C-FE92-0C4A0FB26AC8}"/>
              </a:ext>
            </a:extLst>
          </p:cNvPr>
          <p:cNvSpPr/>
          <p:nvPr/>
        </p:nvSpPr>
        <p:spPr>
          <a:xfrm>
            <a:off x="8465217" y="3420749"/>
            <a:ext cx="2732761" cy="1721171"/>
          </a:xfrm>
          <a:prstGeom prst="wedgeRectCallout">
            <a:avLst>
              <a:gd name="adj1" fmla="val -78242"/>
              <a:gd name="adj2" fmla="val 4174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>
                <a:solidFill>
                  <a:schemeClr val="tx1"/>
                </a:solidFill>
              </a:rPr>
              <a:t>public </a:t>
            </a:r>
            <a:r>
              <a:rPr lang="en-CA" b="1" dirty="0">
                <a:solidFill>
                  <a:schemeClr val="tx1"/>
                </a:solidFill>
              </a:rPr>
              <a:t>Methods / Member Functions </a:t>
            </a:r>
            <a:r>
              <a:rPr lang="en-CA" dirty="0">
                <a:solidFill>
                  <a:schemeClr val="tx1"/>
                </a:solidFill>
              </a:rPr>
              <a:t>implementing</a:t>
            </a:r>
            <a:r>
              <a:rPr lang="en-CA" b="1" dirty="0">
                <a:solidFill>
                  <a:schemeClr val="tx1"/>
                </a:solidFill>
              </a:rPr>
              <a:t> Behaviours</a:t>
            </a:r>
          </a:p>
          <a:p>
            <a:endParaRPr lang="en-CA" b="1" dirty="0">
              <a:solidFill>
                <a:schemeClr val="tx1"/>
              </a:solidFill>
            </a:endParaRPr>
          </a:p>
          <a:p>
            <a:r>
              <a:rPr lang="en-CA" dirty="0">
                <a:solidFill>
                  <a:schemeClr val="tx1"/>
                </a:solidFill>
              </a:rPr>
              <a:t>Collectively: </a:t>
            </a:r>
            <a:r>
              <a:rPr lang="en-CA" b="1" dirty="0">
                <a:solidFill>
                  <a:schemeClr val="tx1"/>
                </a:solidFill>
              </a:rPr>
              <a:t>Interface</a:t>
            </a: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78CB7775-872F-3844-E191-F163688929A5}"/>
              </a:ext>
            </a:extLst>
          </p:cNvPr>
          <p:cNvSpPr/>
          <p:nvPr/>
        </p:nvSpPr>
        <p:spPr>
          <a:xfrm>
            <a:off x="2017059" y="3643880"/>
            <a:ext cx="1410742" cy="345881"/>
          </a:xfrm>
          <a:prstGeom prst="wedgeRectCallout">
            <a:avLst>
              <a:gd name="adj1" fmla="val 116904"/>
              <a:gd name="adj2" fmla="val -11107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dirty="0">
                <a:solidFill>
                  <a:schemeClr val="tx1"/>
                </a:solidFill>
              </a:rPr>
              <a:t>Constructors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FE78E348-818B-8CEC-FE1E-6E0423D357D3}"/>
              </a:ext>
            </a:extLst>
          </p:cNvPr>
          <p:cNvSpPr/>
          <p:nvPr/>
        </p:nvSpPr>
        <p:spPr>
          <a:xfrm>
            <a:off x="2092539" y="2958353"/>
            <a:ext cx="1410742" cy="345881"/>
          </a:xfrm>
          <a:prstGeom prst="wedgeRectCallout">
            <a:avLst>
              <a:gd name="adj1" fmla="val 115633"/>
              <a:gd name="adj2" fmla="val -91454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dirty="0">
                <a:solidFill>
                  <a:schemeClr val="tx1"/>
                </a:solidFill>
              </a:rPr>
              <a:t>Setters</a:t>
            </a: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22A9F1E7-0220-FCED-BFA0-9A5828D58463}"/>
              </a:ext>
            </a:extLst>
          </p:cNvPr>
          <p:cNvSpPr/>
          <p:nvPr/>
        </p:nvSpPr>
        <p:spPr>
          <a:xfrm>
            <a:off x="2017059" y="4293668"/>
            <a:ext cx="1410742" cy="345881"/>
          </a:xfrm>
          <a:prstGeom prst="wedgeRectCallout">
            <a:avLst>
              <a:gd name="adj1" fmla="val 116904"/>
              <a:gd name="adj2" fmla="val -11107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dirty="0">
                <a:solidFill>
                  <a:schemeClr val="tx1"/>
                </a:solidFill>
              </a:rPr>
              <a:t>Getters</a:t>
            </a:r>
          </a:p>
        </p:txBody>
      </p:sp>
    </p:spTree>
    <p:extLst>
      <p:ext uri="{BB962C8B-B14F-4D97-AF65-F5344CB8AC3E}">
        <p14:creationId xmlns:p14="http://schemas.microsoft.com/office/powerpoint/2010/main" val="281597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379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Object-Oriented Design – Terminologies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9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B2E9F-B809-A59C-09C8-9D193A1E7BC5}"/>
              </a:ext>
            </a:extLst>
          </p:cNvPr>
          <p:cNvSpPr txBox="1"/>
          <p:nvPr/>
        </p:nvSpPr>
        <p:spPr>
          <a:xfrm>
            <a:off x="2044090" y="1352713"/>
            <a:ext cx="4679302" cy="4493538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  </a:t>
            </a:r>
            <a:r>
              <a:rPr lang="en-US" sz="1100" b="1" dirty="0">
                <a:solidFill>
                  <a:schemeClr val="accent6"/>
                </a:solidFill>
                <a:latin typeface="Courier"/>
              </a:rPr>
              <a:t>// like struct on steroids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Syntax Protected for Internal Use Only!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SetPower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pow 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Syntax Protected for External AND Internal Use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Object Initializers (Overloaded)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pow);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Getters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GetPower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Other External Interactions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Product(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Quotient(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  <a:endParaRPr lang="en-US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void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print();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B7A022-DB93-C1D8-7F0A-46E524E8FCA3}"/>
              </a:ext>
            </a:extLst>
          </p:cNvPr>
          <p:cNvSpPr txBox="1"/>
          <p:nvPr/>
        </p:nvSpPr>
        <p:spPr>
          <a:xfrm>
            <a:off x="6419719" y="3497293"/>
            <a:ext cx="3244233" cy="2462213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Monom.h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endParaRPr lang="en-US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accessing private members</a:t>
            </a:r>
          </a:p>
          <a:p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NOT ALLOWED in C++!!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mono3.coeff = 62.1;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mono3.power = 12;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951DFD-BBD3-49A1-2F14-EBF0C1CAC0F3}"/>
              </a:ext>
            </a:extLst>
          </p:cNvPr>
          <p:cNvSpPr/>
          <p:nvPr/>
        </p:nvSpPr>
        <p:spPr>
          <a:xfrm>
            <a:off x="2303930" y="1901888"/>
            <a:ext cx="1559859" cy="531206"/>
          </a:xfrm>
          <a:prstGeom prst="rect">
            <a:avLst/>
          </a:prstGeom>
          <a:noFill/>
          <a:ln w="28575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C503E5B1-7102-A866-4F2D-24E98EBBDE92}"/>
              </a:ext>
            </a:extLst>
          </p:cNvPr>
          <p:cNvSpPr/>
          <p:nvPr/>
        </p:nvSpPr>
        <p:spPr>
          <a:xfrm>
            <a:off x="6227939" y="1536415"/>
            <a:ext cx="3627791" cy="985146"/>
          </a:xfrm>
          <a:prstGeom prst="wedgeRectCallout">
            <a:avLst>
              <a:gd name="adj1" fmla="val -114014"/>
              <a:gd name="adj2" fmla="val 1956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u="sng" dirty="0">
                <a:solidFill>
                  <a:schemeClr val="tx1"/>
                </a:solidFill>
              </a:rPr>
              <a:t>Class Member Variables / Fields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Fields defined in the object template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E2B2A5-EC38-43F8-77F3-CB960296A60E}"/>
              </a:ext>
            </a:extLst>
          </p:cNvPr>
          <p:cNvSpPr/>
          <p:nvPr/>
        </p:nvSpPr>
        <p:spPr>
          <a:xfrm>
            <a:off x="7252449" y="4815075"/>
            <a:ext cx="591670" cy="531206"/>
          </a:xfrm>
          <a:prstGeom prst="rect">
            <a:avLst/>
          </a:prstGeom>
          <a:noFill/>
          <a:ln w="28575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436C1B30-8287-10C4-C49E-7F1D3784B4BE}"/>
              </a:ext>
            </a:extLst>
          </p:cNvPr>
          <p:cNvSpPr/>
          <p:nvPr/>
        </p:nvSpPr>
        <p:spPr>
          <a:xfrm>
            <a:off x="7934824" y="2937438"/>
            <a:ext cx="3746188" cy="985146"/>
          </a:xfrm>
          <a:prstGeom prst="wedgeRectCallout">
            <a:avLst>
              <a:gd name="adj1" fmla="val -51556"/>
              <a:gd name="adj2" fmla="val 13786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u="sng" dirty="0">
                <a:solidFill>
                  <a:schemeClr val="tx1"/>
                </a:solidFill>
              </a:rPr>
              <a:t>Instance Member Variables / Fields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Fields of a specific instance</a:t>
            </a:r>
            <a:br>
              <a:rPr lang="en-CA" dirty="0">
                <a:solidFill>
                  <a:schemeClr val="tx1"/>
                </a:solidFill>
              </a:rPr>
            </a:br>
            <a:r>
              <a:rPr lang="en-CA" dirty="0">
                <a:solidFill>
                  <a:schemeClr val="tx1"/>
                </a:solidFill>
              </a:rPr>
              <a:t>(e.g. mono3’s coefficient and power)</a:t>
            </a:r>
          </a:p>
        </p:txBody>
      </p:sp>
    </p:spTree>
    <p:extLst>
      <p:ext uri="{BB962C8B-B14F-4D97-AF65-F5344CB8AC3E}">
        <p14:creationId xmlns:p14="http://schemas.microsoft.com/office/powerpoint/2010/main" val="275487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379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Object-Oriented Design – Graphical Rep.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10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B2E9F-B809-A59C-09C8-9D193A1E7BC5}"/>
              </a:ext>
            </a:extLst>
          </p:cNvPr>
          <p:cNvSpPr txBox="1"/>
          <p:nvPr/>
        </p:nvSpPr>
        <p:spPr>
          <a:xfrm>
            <a:off x="1390309" y="1337858"/>
            <a:ext cx="4679302" cy="4493538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  </a:t>
            </a:r>
            <a:r>
              <a:rPr lang="en-US" sz="1100" b="1" dirty="0">
                <a:solidFill>
                  <a:schemeClr val="accent6"/>
                </a:solidFill>
                <a:latin typeface="Courier"/>
              </a:rPr>
              <a:t>// like struct on steroids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Syntax Protected for Internal Use Only!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SetPower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pow 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Syntax Protected for External AND Internal Use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Object Initializers (Overloaded)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pow);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Getters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GetPower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Other External Interactions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Product(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Quotient(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  <a:endParaRPr lang="en-US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void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print();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28DCA8-05F2-02B2-7A65-C445DF10C28A}"/>
              </a:ext>
            </a:extLst>
          </p:cNvPr>
          <p:cNvSpPr/>
          <p:nvPr/>
        </p:nvSpPr>
        <p:spPr>
          <a:xfrm>
            <a:off x="8493684" y="2828378"/>
            <a:ext cx="1876331" cy="25669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Interface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81EADA-7F81-8843-4C35-561F5D443AE2}"/>
              </a:ext>
            </a:extLst>
          </p:cNvPr>
          <p:cNvSpPr/>
          <p:nvPr/>
        </p:nvSpPr>
        <p:spPr>
          <a:xfrm>
            <a:off x="6778095" y="2664451"/>
            <a:ext cx="1715589" cy="2760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b="1" u="sng" dirty="0" err="1"/>
              <a:t>Monom</a:t>
            </a:r>
            <a:endParaRPr lang="en-CA" sz="2800" b="1" u="sng" dirty="0"/>
          </a:p>
          <a:p>
            <a:pPr algn="ctr"/>
            <a:r>
              <a:rPr lang="en-US" sz="1400" dirty="0"/>
              <a:t>Private Fields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pPr marL="285750" indent="-285750">
              <a:buFontTx/>
              <a:buChar char="-"/>
            </a:pPr>
            <a:endParaRPr lang="en-US" sz="1400" dirty="0"/>
          </a:p>
          <a:p>
            <a:pPr marL="285750" indent="-285750">
              <a:buFontTx/>
              <a:buChar char="-"/>
            </a:pPr>
            <a:endParaRPr lang="en-US" sz="1400" dirty="0"/>
          </a:p>
          <a:p>
            <a:pPr marL="285750" indent="-285750">
              <a:buFontTx/>
              <a:buChar char="-"/>
            </a:pPr>
            <a:endParaRPr lang="en-US" sz="1400" dirty="0"/>
          </a:p>
          <a:p>
            <a:pPr marL="285750" indent="-285750">
              <a:buFontTx/>
              <a:buChar char="-"/>
            </a:pPr>
            <a:endParaRPr lang="en-US" sz="1400" dirty="0"/>
          </a:p>
          <a:p>
            <a:pPr algn="ctr"/>
            <a:r>
              <a:rPr lang="en-US" sz="1400" dirty="0"/>
              <a:t>Private Methods</a:t>
            </a:r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5CDD53-2E81-EDAB-C9CA-A5BC79F8E5E4}"/>
              </a:ext>
            </a:extLst>
          </p:cNvPr>
          <p:cNvSpPr/>
          <p:nvPr/>
        </p:nvSpPr>
        <p:spPr>
          <a:xfrm>
            <a:off x="6861941" y="3445724"/>
            <a:ext cx="705394" cy="55399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A" dirty="0"/>
              <a:t>coeff</a:t>
            </a:r>
            <a:endParaRPr lang="en-US" sz="12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9AD4392-844A-B7AD-3A81-84A77C631F0C}"/>
              </a:ext>
            </a:extLst>
          </p:cNvPr>
          <p:cNvSpPr/>
          <p:nvPr/>
        </p:nvSpPr>
        <p:spPr>
          <a:xfrm>
            <a:off x="7635889" y="3660275"/>
            <a:ext cx="705394" cy="55399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A" dirty="0"/>
              <a:t>power</a:t>
            </a:r>
            <a:endParaRPr lang="en-US" sz="1200" dirty="0"/>
          </a:p>
        </p:txBody>
      </p:sp>
      <p:sp>
        <p:nvSpPr>
          <p:cNvPr id="21" name="Arrow: U-Turn 20">
            <a:extLst>
              <a:ext uri="{FF2B5EF4-FFF2-40B4-BE49-F238E27FC236}">
                <a16:creationId xmlns:a16="http://schemas.microsoft.com/office/drawing/2014/main" id="{98EB1F90-2B28-CDEC-E40D-8BF7C0D69ADA}"/>
              </a:ext>
            </a:extLst>
          </p:cNvPr>
          <p:cNvSpPr/>
          <p:nvPr/>
        </p:nvSpPr>
        <p:spPr>
          <a:xfrm rot="16200000">
            <a:off x="6144440" y="4114602"/>
            <a:ext cx="1214470" cy="307023"/>
          </a:xfrm>
          <a:prstGeom prst="utur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U-Turn 21">
            <a:extLst>
              <a:ext uri="{FF2B5EF4-FFF2-40B4-BE49-F238E27FC236}">
                <a16:creationId xmlns:a16="http://schemas.microsoft.com/office/drawing/2014/main" id="{19752A82-294D-7C9D-1867-C92248E22453}"/>
              </a:ext>
            </a:extLst>
          </p:cNvPr>
          <p:cNvSpPr/>
          <p:nvPr/>
        </p:nvSpPr>
        <p:spPr>
          <a:xfrm rot="16200000" flipV="1">
            <a:off x="7842207" y="4374690"/>
            <a:ext cx="1338808" cy="272203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: Diagonal Corners Snipped 22">
            <a:extLst>
              <a:ext uri="{FF2B5EF4-FFF2-40B4-BE49-F238E27FC236}">
                <a16:creationId xmlns:a16="http://schemas.microsoft.com/office/drawing/2014/main" id="{8AADF423-0103-4C66-2E34-5C50BBA40A8D}"/>
              </a:ext>
            </a:extLst>
          </p:cNvPr>
          <p:cNvSpPr/>
          <p:nvPr/>
        </p:nvSpPr>
        <p:spPr>
          <a:xfrm>
            <a:off x="8899803" y="3167209"/>
            <a:ext cx="1613648" cy="288090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Initialize</a:t>
            </a:r>
            <a:endParaRPr lang="en-US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EBB9469-E159-3557-F28C-A2F741D138D1}"/>
              </a:ext>
            </a:extLst>
          </p:cNvPr>
          <p:cNvSpPr/>
          <p:nvPr/>
        </p:nvSpPr>
        <p:spPr>
          <a:xfrm>
            <a:off x="6897882" y="4740724"/>
            <a:ext cx="1479342" cy="29167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Set Coeff</a:t>
            </a:r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387153D-2D53-7427-8A3F-E62D38C2514B}"/>
              </a:ext>
            </a:extLst>
          </p:cNvPr>
          <p:cNvSpPr/>
          <p:nvPr/>
        </p:nvSpPr>
        <p:spPr>
          <a:xfrm>
            <a:off x="6905183" y="5058850"/>
            <a:ext cx="1479342" cy="2916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Set Power</a:t>
            </a:r>
            <a:endParaRPr lang="en-US" dirty="0"/>
          </a:p>
        </p:txBody>
      </p:sp>
      <p:sp>
        <p:nvSpPr>
          <p:cNvPr id="26" name="Rectangle: Diagonal Corners Snipped 25">
            <a:extLst>
              <a:ext uri="{FF2B5EF4-FFF2-40B4-BE49-F238E27FC236}">
                <a16:creationId xmlns:a16="http://schemas.microsoft.com/office/drawing/2014/main" id="{86733A98-C32B-EDAF-A714-55DAEC3C8565}"/>
              </a:ext>
            </a:extLst>
          </p:cNvPr>
          <p:cNvSpPr/>
          <p:nvPr/>
        </p:nvSpPr>
        <p:spPr>
          <a:xfrm>
            <a:off x="8892325" y="3516224"/>
            <a:ext cx="1613648" cy="288090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Get Coeff</a:t>
            </a:r>
            <a:endParaRPr lang="en-US" dirty="0"/>
          </a:p>
        </p:txBody>
      </p:sp>
      <p:sp>
        <p:nvSpPr>
          <p:cNvPr id="27" name="Rectangle: Diagonal Corners Snipped 26">
            <a:extLst>
              <a:ext uri="{FF2B5EF4-FFF2-40B4-BE49-F238E27FC236}">
                <a16:creationId xmlns:a16="http://schemas.microsoft.com/office/drawing/2014/main" id="{202B85AB-32A9-8442-F70E-D45197E152B6}"/>
              </a:ext>
            </a:extLst>
          </p:cNvPr>
          <p:cNvSpPr/>
          <p:nvPr/>
        </p:nvSpPr>
        <p:spPr>
          <a:xfrm>
            <a:off x="8889198" y="3856585"/>
            <a:ext cx="1613648" cy="288090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Get Power</a:t>
            </a:r>
            <a:endParaRPr lang="en-US" dirty="0"/>
          </a:p>
        </p:txBody>
      </p:sp>
      <p:sp>
        <p:nvSpPr>
          <p:cNvPr id="28" name="Rectangle: Diagonal Corners Snipped 27">
            <a:extLst>
              <a:ext uri="{FF2B5EF4-FFF2-40B4-BE49-F238E27FC236}">
                <a16:creationId xmlns:a16="http://schemas.microsoft.com/office/drawing/2014/main" id="{0A074965-AB85-5869-98DA-77E260DFDAC4}"/>
              </a:ext>
            </a:extLst>
          </p:cNvPr>
          <p:cNvSpPr/>
          <p:nvPr/>
        </p:nvSpPr>
        <p:spPr>
          <a:xfrm>
            <a:off x="8899803" y="4281268"/>
            <a:ext cx="1613648" cy="288090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Product</a:t>
            </a:r>
            <a:endParaRPr lang="en-US" dirty="0"/>
          </a:p>
        </p:txBody>
      </p:sp>
      <p:sp>
        <p:nvSpPr>
          <p:cNvPr id="29" name="Rectangle: Diagonal Corners Snipped 28">
            <a:extLst>
              <a:ext uri="{FF2B5EF4-FFF2-40B4-BE49-F238E27FC236}">
                <a16:creationId xmlns:a16="http://schemas.microsoft.com/office/drawing/2014/main" id="{B394F7F1-DDC6-0636-19B2-9595C0B7CB27}"/>
              </a:ext>
            </a:extLst>
          </p:cNvPr>
          <p:cNvSpPr/>
          <p:nvPr/>
        </p:nvSpPr>
        <p:spPr>
          <a:xfrm>
            <a:off x="8902055" y="4639248"/>
            <a:ext cx="1613648" cy="288090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Quotient</a:t>
            </a:r>
            <a:endParaRPr lang="en-US" dirty="0"/>
          </a:p>
        </p:txBody>
      </p:sp>
      <p:sp>
        <p:nvSpPr>
          <p:cNvPr id="30" name="Rectangle: Diagonal Corners Snipped 29">
            <a:extLst>
              <a:ext uri="{FF2B5EF4-FFF2-40B4-BE49-F238E27FC236}">
                <a16:creationId xmlns:a16="http://schemas.microsoft.com/office/drawing/2014/main" id="{73D9FAEE-BC89-0DF7-CF91-A8D076D16792}"/>
              </a:ext>
            </a:extLst>
          </p:cNvPr>
          <p:cNvSpPr/>
          <p:nvPr/>
        </p:nvSpPr>
        <p:spPr>
          <a:xfrm>
            <a:off x="8901384" y="5008334"/>
            <a:ext cx="1613648" cy="288090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Print</a:t>
            </a:r>
            <a:endParaRPr lang="en-US" dirty="0"/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30512FE6-D7D2-138C-D7BE-C72D8805F663}"/>
              </a:ext>
            </a:extLst>
          </p:cNvPr>
          <p:cNvSpPr/>
          <p:nvPr/>
        </p:nvSpPr>
        <p:spPr>
          <a:xfrm>
            <a:off x="7438934" y="1663961"/>
            <a:ext cx="2417557" cy="782021"/>
          </a:xfrm>
          <a:prstGeom prst="wedgeRectCallout">
            <a:avLst>
              <a:gd name="adj1" fmla="val 33331"/>
              <a:gd name="adj2" fmla="val 6925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dirty="0">
                <a:solidFill>
                  <a:schemeClr val="tx1"/>
                </a:solidFill>
              </a:rPr>
              <a:t>Class Interface Diagram</a:t>
            </a:r>
            <a:br>
              <a:rPr lang="en-CA" dirty="0">
                <a:solidFill>
                  <a:schemeClr val="tx1"/>
                </a:solidFill>
              </a:rPr>
            </a:br>
            <a:r>
              <a:rPr lang="en-CA" dirty="0">
                <a:solidFill>
                  <a:schemeClr val="tx1"/>
                </a:solidFill>
              </a:rPr>
              <a:t>(sort of..)</a:t>
            </a:r>
            <a:endParaRPr lang="en-CA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18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379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Object-Oriented Design – Graphical Rep.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11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B2E9F-B809-A59C-09C8-9D193A1E7BC5}"/>
              </a:ext>
            </a:extLst>
          </p:cNvPr>
          <p:cNvSpPr txBox="1"/>
          <p:nvPr/>
        </p:nvSpPr>
        <p:spPr>
          <a:xfrm>
            <a:off x="1390309" y="1337858"/>
            <a:ext cx="4679302" cy="4493538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  </a:t>
            </a:r>
            <a:r>
              <a:rPr lang="en-US" sz="1100" b="1" dirty="0">
                <a:solidFill>
                  <a:schemeClr val="accent6"/>
                </a:solidFill>
                <a:latin typeface="Courier"/>
              </a:rPr>
              <a:t>// like struct on steroids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Syntax Protected for Internal Use Only!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SetPower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pow 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Syntax Protected for External AND Internal Use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Object Initializers (Overloaded)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pow);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Getters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GetPower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Other External Interactions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Product(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Quotient(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  <a:endParaRPr lang="en-US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void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print();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30512FE6-D7D2-138C-D7BE-C72D8805F663}"/>
              </a:ext>
            </a:extLst>
          </p:cNvPr>
          <p:cNvSpPr/>
          <p:nvPr/>
        </p:nvSpPr>
        <p:spPr>
          <a:xfrm>
            <a:off x="6643426" y="1426776"/>
            <a:ext cx="4158265" cy="403108"/>
          </a:xfrm>
          <a:prstGeom prst="wedgeRectCallout">
            <a:avLst>
              <a:gd name="adj1" fmla="val 26863"/>
              <a:gd name="adj2" fmla="val 10039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dirty="0">
                <a:solidFill>
                  <a:schemeClr val="tx1"/>
                </a:solidFill>
              </a:rPr>
              <a:t>UML Class Diagram </a:t>
            </a:r>
            <a:r>
              <a:rPr lang="en-CA" dirty="0">
                <a:solidFill>
                  <a:schemeClr val="tx1"/>
                </a:solidFill>
              </a:rPr>
              <a:t>(More Widely Used)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01583D-CF65-E13A-31E7-8E0AEEADE335}"/>
              </a:ext>
            </a:extLst>
          </p:cNvPr>
          <p:cNvSpPr/>
          <p:nvPr/>
        </p:nvSpPr>
        <p:spPr>
          <a:xfrm>
            <a:off x="7548285" y="2162021"/>
            <a:ext cx="3352800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Monom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642B30-5297-399F-E25A-6465B61AF3E6}"/>
              </a:ext>
            </a:extLst>
          </p:cNvPr>
          <p:cNvSpPr/>
          <p:nvPr/>
        </p:nvSpPr>
        <p:spPr>
          <a:xfrm>
            <a:off x="7557698" y="2503112"/>
            <a:ext cx="3342939" cy="50903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- coeff: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float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- power: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7AF68B-CDBC-9542-1EE2-95832B13EFCD}"/>
              </a:ext>
            </a:extLst>
          </p:cNvPr>
          <p:cNvSpPr/>
          <p:nvPr/>
        </p:nvSpPr>
        <p:spPr>
          <a:xfrm>
            <a:off x="7557698" y="3026529"/>
            <a:ext cx="3342939" cy="222956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-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SetCoeff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coe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float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-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SetPower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(pow: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endParaRPr lang="en-CA" sz="1400" b="1" dirty="0">
              <a:solidFill>
                <a:schemeClr val="tx1"/>
              </a:solidFill>
              <a:latin typeface="Courier"/>
            </a:endParaRP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Monom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()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Monom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coe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float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, pow: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)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GetCoeff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float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GetPower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Product(op: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Monom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): </a:t>
            </a:r>
            <a:r>
              <a:rPr lang="en-CA" sz="1400" b="1" dirty="0" err="1">
                <a:solidFill>
                  <a:schemeClr val="accent1"/>
                </a:solidFill>
                <a:latin typeface="Courier"/>
              </a:rPr>
              <a:t>Monom</a:t>
            </a:r>
            <a:endParaRPr lang="en-CA" sz="140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Quotient(op: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Monom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): </a:t>
            </a:r>
            <a:r>
              <a:rPr lang="en-CA" sz="1400" b="1" dirty="0" err="1">
                <a:solidFill>
                  <a:schemeClr val="accent1"/>
                </a:solidFill>
                <a:latin typeface="Courier"/>
              </a:rPr>
              <a:t>Monom</a:t>
            </a:r>
            <a:endParaRPr lang="en-CA" sz="140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print():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void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BD958181-2D98-A4D9-5FE5-EF892010BCC9}"/>
              </a:ext>
            </a:extLst>
          </p:cNvPr>
          <p:cNvSpPr/>
          <p:nvPr/>
        </p:nvSpPr>
        <p:spPr>
          <a:xfrm>
            <a:off x="6217567" y="2854636"/>
            <a:ext cx="1182762" cy="295418"/>
          </a:xfrm>
          <a:prstGeom prst="wedgeRectCallout">
            <a:avLst>
              <a:gd name="adj1" fmla="val 61729"/>
              <a:gd name="adj2" fmla="val -60439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- : private</a:t>
            </a:r>
            <a:endParaRPr lang="en-CA" sz="1600" dirty="0">
              <a:solidFill>
                <a:schemeClr val="tx1"/>
              </a:solidFill>
            </a:endParaRP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65F9EED8-CE51-56C6-F3E2-5E8BD82DEE15}"/>
              </a:ext>
            </a:extLst>
          </p:cNvPr>
          <p:cNvSpPr/>
          <p:nvPr/>
        </p:nvSpPr>
        <p:spPr>
          <a:xfrm>
            <a:off x="6226980" y="4145868"/>
            <a:ext cx="1182762" cy="295418"/>
          </a:xfrm>
          <a:prstGeom prst="wedgeRectCallout">
            <a:avLst>
              <a:gd name="adj1" fmla="val 61729"/>
              <a:gd name="adj2" fmla="val -60439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600" b="1" dirty="0">
                <a:solidFill>
                  <a:schemeClr val="tx1"/>
                </a:solidFill>
              </a:rPr>
              <a:t>+ : public</a:t>
            </a:r>
            <a:endParaRPr lang="en-CA" sz="16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6E6F70-7FA8-C166-0087-BC528F951C14}"/>
              </a:ext>
            </a:extLst>
          </p:cNvPr>
          <p:cNvSpPr/>
          <p:nvPr/>
        </p:nvSpPr>
        <p:spPr>
          <a:xfrm>
            <a:off x="7611936" y="3657601"/>
            <a:ext cx="3189755" cy="1553368"/>
          </a:xfrm>
          <a:prstGeom prst="rect">
            <a:avLst/>
          </a:prstGeom>
          <a:noFill/>
          <a:ln w="28575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6B807DA2-6098-A935-D27F-205E472D9458}"/>
              </a:ext>
            </a:extLst>
          </p:cNvPr>
          <p:cNvSpPr/>
          <p:nvPr/>
        </p:nvSpPr>
        <p:spPr>
          <a:xfrm>
            <a:off x="8258787" y="5452637"/>
            <a:ext cx="2743200" cy="391777"/>
          </a:xfrm>
          <a:prstGeom prst="wedgeRectCallout">
            <a:avLst>
              <a:gd name="adj1" fmla="val -32195"/>
              <a:gd name="adj2" fmla="val -10510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>
                <a:solidFill>
                  <a:schemeClr val="tx1"/>
                </a:solidFill>
              </a:rPr>
              <a:t>public methods = Interface</a:t>
            </a:r>
            <a:endParaRPr lang="en-CA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42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 tmFilter="0, 0; .2, .5; .8, .5; 1, 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250" autoRev="1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379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– Benefits of Objects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5774332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Modularity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Source code for an object can be independent from that of other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dirty="0"/>
              <a:t>Incremental</a:t>
            </a:r>
            <a:r>
              <a:rPr lang="en-CA" altLang="ja-JP" dirty="0"/>
              <a:t>, bottom-up design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Information Hiding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Private information kept hidden from public interface to prevent uncontrolled access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altLang="ja-JP" dirty="0"/>
              <a:t>Friendly for large-scale software collaboration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12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AA1ECB-5552-E821-DFED-2754548187EE}"/>
              </a:ext>
            </a:extLst>
          </p:cNvPr>
          <p:cNvSpPr/>
          <p:nvPr/>
        </p:nvSpPr>
        <p:spPr>
          <a:xfrm>
            <a:off x="7190141" y="477708"/>
            <a:ext cx="2554490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Monom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7714F0-87DD-BA16-A6C0-6240E70901CD}"/>
              </a:ext>
            </a:extLst>
          </p:cNvPr>
          <p:cNvSpPr/>
          <p:nvPr/>
        </p:nvSpPr>
        <p:spPr>
          <a:xfrm>
            <a:off x="7190141" y="819339"/>
            <a:ext cx="2554490" cy="38244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- coeff: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float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- power: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FAA5B9-A177-4619-4514-480465D48B7D}"/>
              </a:ext>
            </a:extLst>
          </p:cNvPr>
          <p:cNvSpPr/>
          <p:nvPr/>
        </p:nvSpPr>
        <p:spPr>
          <a:xfrm>
            <a:off x="7190141" y="1198673"/>
            <a:ext cx="2554490" cy="8462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Product(op: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Monom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): </a:t>
            </a:r>
            <a:r>
              <a:rPr lang="en-CA" sz="1100" b="1" dirty="0" err="1">
                <a:solidFill>
                  <a:schemeClr val="accent1"/>
                </a:solidFill>
                <a:latin typeface="Courier"/>
              </a:rPr>
              <a:t>Monom</a:t>
            </a:r>
            <a:endParaRPr lang="en-CA" sz="110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Quotient(op: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Monom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): </a:t>
            </a:r>
            <a:r>
              <a:rPr lang="en-CA" sz="1100" b="1" dirty="0" err="1">
                <a:solidFill>
                  <a:schemeClr val="accent1"/>
                </a:solidFill>
                <a:latin typeface="Courier"/>
              </a:rPr>
              <a:t>Monom</a:t>
            </a:r>
            <a:endParaRPr lang="en-CA" sz="110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print():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accent1"/>
                </a:solidFill>
                <a:latin typeface="Courier"/>
              </a:rPr>
              <a:t>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644437-2F2C-EA3A-E6C1-7015397A197C}"/>
              </a:ext>
            </a:extLst>
          </p:cNvPr>
          <p:cNvSpPr/>
          <p:nvPr/>
        </p:nvSpPr>
        <p:spPr>
          <a:xfrm>
            <a:off x="8050650" y="2228426"/>
            <a:ext cx="3047546" cy="33212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PolyN</a:t>
            </a:r>
            <a:endParaRPr lang="en-US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4E1D99-8661-96E1-E73F-BF8496F37FD9}"/>
              </a:ext>
            </a:extLst>
          </p:cNvPr>
          <p:cNvSpPr/>
          <p:nvPr/>
        </p:nvSpPr>
        <p:spPr>
          <a:xfrm>
            <a:off x="8050650" y="2570057"/>
            <a:ext cx="3047546" cy="6572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- terms[]: </a:t>
            </a:r>
            <a:r>
              <a:rPr lang="en-CA" sz="1100" b="1" dirty="0" err="1">
                <a:solidFill>
                  <a:schemeClr val="accent1"/>
                </a:solidFill>
                <a:latin typeface="Courier"/>
              </a:rPr>
              <a:t>Monom</a:t>
            </a:r>
            <a:br>
              <a:rPr lang="en-CA" sz="1100" b="1" dirty="0">
                <a:solidFill>
                  <a:schemeClr val="accent1"/>
                </a:solidFill>
                <a:latin typeface="Courier"/>
              </a:rPr>
            </a:br>
            <a:br>
              <a:rPr lang="en-CA" sz="1100" b="1" dirty="0">
                <a:solidFill>
                  <a:schemeClr val="accent1"/>
                </a:solidFill>
                <a:latin typeface="Courier"/>
              </a:rPr>
            </a:br>
            <a:endParaRPr lang="en-CA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BBC016-1899-DC4C-93C7-2BEC01CDE253}"/>
              </a:ext>
            </a:extLst>
          </p:cNvPr>
          <p:cNvSpPr/>
          <p:nvPr/>
        </p:nvSpPr>
        <p:spPr>
          <a:xfrm>
            <a:off x="8050649" y="3227297"/>
            <a:ext cx="3047547" cy="6212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AddTerm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(term: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Monom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RemoveTerm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(index: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…</a:t>
            </a:r>
            <a:endParaRPr lang="en-CA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E9E07C-C663-4F0A-9E67-1E4440F12525}"/>
              </a:ext>
            </a:extLst>
          </p:cNvPr>
          <p:cNvSpPr/>
          <p:nvPr/>
        </p:nvSpPr>
        <p:spPr>
          <a:xfrm>
            <a:off x="9102875" y="2815899"/>
            <a:ext cx="611525" cy="170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900" b="1" dirty="0" err="1"/>
              <a:t>Monom</a:t>
            </a:r>
            <a:endParaRPr lang="en-US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4E7895-655D-83F5-E656-6557B3875FB0}"/>
              </a:ext>
            </a:extLst>
          </p:cNvPr>
          <p:cNvSpPr/>
          <p:nvPr/>
        </p:nvSpPr>
        <p:spPr>
          <a:xfrm>
            <a:off x="9102875" y="2977122"/>
            <a:ext cx="611525" cy="19625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accent1"/>
                </a:solidFill>
                <a:latin typeface="Courier"/>
              </a:rPr>
              <a:t>…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A9373D-5E39-5C14-400C-829085266850}"/>
              </a:ext>
            </a:extLst>
          </p:cNvPr>
          <p:cNvSpPr/>
          <p:nvPr/>
        </p:nvSpPr>
        <p:spPr>
          <a:xfrm>
            <a:off x="8330604" y="2814333"/>
            <a:ext cx="611525" cy="170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900" b="1" dirty="0" err="1"/>
              <a:t>Monom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D64021-1458-5747-555F-CD3B0621FF12}"/>
              </a:ext>
            </a:extLst>
          </p:cNvPr>
          <p:cNvSpPr/>
          <p:nvPr/>
        </p:nvSpPr>
        <p:spPr>
          <a:xfrm>
            <a:off x="8330604" y="2975556"/>
            <a:ext cx="611525" cy="19625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accent1"/>
                </a:solidFill>
                <a:latin typeface="Courier"/>
              </a:rPr>
              <a:t>…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EBD83E-7836-F75E-9F05-050CC75D33F6}"/>
              </a:ext>
            </a:extLst>
          </p:cNvPr>
          <p:cNvSpPr/>
          <p:nvPr/>
        </p:nvSpPr>
        <p:spPr>
          <a:xfrm>
            <a:off x="9877074" y="2815182"/>
            <a:ext cx="611525" cy="170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900" b="1" dirty="0" err="1"/>
              <a:t>Monom</a:t>
            </a:r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49FDAE-701B-E990-1B45-465F39E9D701}"/>
              </a:ext>
            </a:extLst>
          </p:cNvPr>
          <p:cNvSpPr/>
          <p:nvPr/>
        </p:nvSpPr>
        <p:spPr>
          <a:xfrm>
            <a:off x="9877074" y="2976405"/>
            <a:ext cx="611525" cy="19625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accent1"/>
                </a:solidFill>
                <a:latin typeface="Courier"/>
              </a:rPr>
              <a:t>…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5498D3-0EDA-86D7-89BD-525C51C2C38E}"/>
              </a:ext>
            </a:extLst>
          </p:cNvPr>
          <p:cNvSpPr txBox="1"/>
          <p:nvPr/>
        </p:nvSpPr>
        <p:spPr>
          <a:xfrm>
            <a:off x="10596295" y="2812597"/>
            <a:ext cx="340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1" dirty="0">
                <a:solidFill>
                  <a:schemeClr val="accent1"/>
                </a:solidFill>
                <a:latin typeface="Courier"/>
              </a:rPr>
              <a:t>…</a:t>
            </a:r>
            <a:endParaRPr lang="en-US" sz="18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59282A-B0BB-8F75-3BAC-4430721558C6}"/>
              </a:ext>
            </a:extLst>
          </p:cNvPr>
          <p:cNvSpPr/>
          <p:nvPr/>
        </p:nvSpPr>
        <p:spPr>
          <a:xfrm>
            <a:off x="6948098" y="4030465"/>
            <a:ext cx="3047546" cy="33212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SystemOfEquations</a:t>
            </a:r>
            <a:endParaRPr lang="en-US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913ACF-8959-FCFA-38B1-231FE899C647}"/>
              </a:ext>
            </a:extLst>
          </p:cNvPr>
          <p:cNvSpPr/>
          <p:nvPr/>
        </p:nvSpPr>
        <p:spPr>
          <a:xfrm>
            <a:off x="6948098" y="4372096"/>
            <a:ext cx="3047546" cy="6572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n-CA" sz="1100" b="1" dirty="0">
                <a:solidFill>
                  <a:schemeClr val="tx1"/>
                </a:solidFill>
                <a:latin typeface="Courier"/>
              </a:rPr>
              <a:t>equations[]: </a:t>
            </a:r>
            <a:r>
              <a:rPr lang="en-CA" sz="1100" b="1" dirty="0" err="1">
                <a:solidFill>
                  <a:schemeClr val="accent1"/>
                </a:solidFill>
                <a:latin typeface="Courier"/>
              </a:rPr>
              <a:t>PolyN</a:t>
            </a:r>
            <a:br>
              <a:rPr lang="en-CA" sz="1100" b="1" dirty="0">
                <a:solidFill>
                  <a:schemeClr val="accent1"/>
                </a:solidFill>
                <a:latin typeface="Courier"/>
              </a:rPr>
            </a:br>
            <a:br>
              <a:rPr lang="en-CA" sz="1100" b="1" dirty="0">
                <a:solidFill>
                  <a:schemeClr val="accent1"/>
                </a:solidFill>
                <a:latin typeface="Courier"/>
              </a:rPr>
            </a:br>
            <a:endParaRPr lang="en-CA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2B478F-89AB-1DC9-7565-ED9E758A52E9}"/>
              </a:ext>
            </a:extLst>
          </p:cNvPr>
          <p:cNvSpPr/>
          <p:nvPr/>
        </p:nvSpPr>
        <p:spPr>
          <a:xfrm>
            <a:off x="6948097" y="5029336"/>
            <a:ext cx="3047547" cy="6212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AddEqn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(term: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PolyN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RemoveEqn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(index: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…</a:t>
            </a:r>
            <a:endParaRPr lang="en-CA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AD0A60-DA36-E320-7ACA-DD0679E323CF}"/>
              </a:ext>
            </a:extLst>
          </p:cNvPr>
          <p:cNvSpPr/>
          <p:nvPr/>
        </p:nvSpPr>
        <p:spPr>
          <a:xfrm>
            <a:off x="8000323" y="4617938"/>
            <a:ext cx="611525" cy="17043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900" b="1" dirty="0" err="1"/>
              <a:t>PolyN</a:t>
            </a:r>
            <a:endParaRPr lang="en-US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FF7CAF-783C-30D2-A4B3-A254B0EB335E}"/>
              </a:ext>
            </a:extLst>
          </p:cNvPr>
          <p:cNvSpPr/>
          <p:nvPr/>
        </p:nvSpPr>
        <p:spPr>
          <a:xfrm>
            <a:off x="8000323" y="4779161"/>
            <a:ext cx="611525" cy="1962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accent1"/>
                </a:solidFill>
                <a:latin typeface="Courier"/>
              </a:rPr>
              <a:t>…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10CB6F-8FC6-8D93-E42A-EE84341DC3EB}"/>
              </a:ext>
            </a:extLst>
          </p:cNvPr>
          <p:cNvSpPr/>
          <p:nvPr/>
        </p:nvSpPr>
        <p:spPr>
          <a:xfrm>
            <a:off x="7228052" y="4616372"/>
            <a:ext cx="611525" cy="17043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900" b="1" dirty="0" err="1"/>
              <a:t>PolyN</a:t>
            </a:r>
            <a:endParaRPr lang="en-US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9F7B62-EDFB-B0C1-5386-55FFFC1B8127}"/>
              </a:ext>
            </a:extLst>
          </p:cNvPr>
          <p:cNvSpPr/>
          <p:nvPr/>
        </p:nvSpPr>
        <p:spPr>
          <a:xfrm>
            <a:off x="7228052" y="4777595"/>
            <a:ext cx="611525" cy="1962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accent1"/>
                </a:solidFill>
                <a:latin typeface="Courier"/>
              </a:rPr>
              <a:t>…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3135DA7-BCB1-565A-BB8A-F7237365F4FB}"/>
              </a:ext>
            </a:extLst>
          </p:cNvPr>
          <p:cNvSpPr/>
          <p:nvPr/>
        </p:nvSpPr>
        <p:spPr>
          <a:xfrm>
            <a:off x="8774522" y="4617221"/>
            <a:ext cx="611525" cy="17043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900" b="1" dirty="0" err="1"/>
              <a:t>PolyN</a:t>
            </a:r>
            <a:endParaRPr lang="en-US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D47119-BF7F-B730-AF71-6BE9B4C41FFE}"/>
              </a:ext>
            </a:extLst>
          </p:cNvPr>
          <p:cNvSpPr/>
          <p:nvPr/>
        </p:nvSpPr>
        <p:spPr>
          <a:xfrm>
            <a:off x="8774522" y="4778444"/>
            <a:ext cx="611525" cy="1962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accent1"/>
                </a:solidFill>
                <a:latin typeface="Courier"/>
              </a:rPr>
              <a:t>…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5158EC-660F-43EB-5341-B7A7905AB797}"/>
              </a:ext>
            </a:extLst>
          </p:cNvPr>
          <p:cNvSpPr txBox="1"/>
          <p:nvPr/>
        </p:nvSpPr>
        <p:spPr>
          <a:xfrm>
            <a:off x="9493743" y="4614636"/>
            <a:ext cx="340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1" dirty="0">
                <a:solidFill>
                  <a:schemeClr val="accent6">
                    <a:lumMod val="50000"/>
                  </a:schemeClr>
                </a:solidFill>
                <a:latin typeface="Courier"/>
              </a:rPr>
              <a:t>…</a:t>
            </a:r>
            <a:endParaRPr lang="en-US" sz="1800" b="1" dirty="0">
              <a:solidFill>
                <a:schemeClr val="accent6">
                  <a:lumMod val="50000"/>
                </a:schemeClr>
              </a:solidFill>
              <a:latin typeface="Courier"/>
            </a:endParaRPr>
          </a:p>
        </p:txBody>
      </p:sp>
      <p:sp>
        <p:nvSpPr>
          <p:cNvPr id="34" name="Arrow: Bent 33">
            <a:extLst>
              <a:ext uri="{FF2B5EF4-FFF2-40B4-BE49-F238E27FC236}">
                <a16:creationId xmlns:a16="http://schemas.microsoft.com/office/drawing/2014/main" id="{18942882-6A0D-D0C1-506E-B9D3127C14F2}"/>
              </a:ext>
            </a:extLst>
          </p:cNvPr>
          <p:cNvSpPr/>
          <p:nvPr/>
        </p:nvSpPr>
        <p:spPr>
          <a:xfrm rot="5400000">
            <a:off x="9859881" y="1564110"/>
            <a:ext cx="645909" cy="534171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Arrow: Bent 34">
            <a:extLst>
              <a:ext uri="{FF2B5EF4-FFF2-40B4-BE49-F238E27FC236}">
                <a16:creationId xmlns:a16="http://schemas.microsoft.com/office/drawing/2014/main" id="{14552ED3-7B16-5C8C-76FE-27DA741438E9}"/>
              </a:ext>
            </a:extLst>
          </p:cNvPr>
          <p:cNvSpPr/>
          <p:nvPr/>
        </p:nvSpPr>
        <p:spPr>
          <a:xfrm rot="5400000" flipV="1">
            <a:off x="7184739" y="3291008"/>
            <a:ext cx="645909" cy="559283"/>
          </a:xfrm>
          <a:prstGeom prst="ben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7" name="Graphic 36" descr="Group with solid fill">
            <a:extLst>
              <a:ext uri="{FF2B5EF4-FFF2-40B4-BE49-F238E27FC236}">
                <a16:creationId xmlns:a16="http://schemas.microsoft.com/office/drawing/2014/main" id="{B24A8054-F6E5-934B-A9EA-3C075E016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34285" y="288207"/>
            <a:ext cx="831273" cy="83127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BED5447-FCC4-55DF-52FC-FBF536139EC9}"/>
              </a:ext>
            </a:extLst>
          </p:cNvPr>
          <p:cNvSpPr txBox="1"/>
          <p:nvPr/>
        </p:nvSpPr>
        <p:spPr>
          <a:xfrm>
            <a:off x="10067256" y="1002048"/>
            <a:ext cx="84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Team1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39" name="Graphic 38" descr="Group with solid fill">
            <a:extLst>
              <a:ext uri="{FF2B5EF4-FFF2-40B4-BE49-F238E27FC236}">
                <a16:creationId xmlns:a16="http://schemas.microsoft.com/office/drawing/2014/main" id="{CD2D7A93-49CD-71EE-899E-7524F23CA5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3739" y="2098987"/>
            <a:ext cx="831273" cy="83127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CB183FD-F1FC-36A1-3068-263CFCE8A2B9}"/>
              </a:ext>
            </a:extLst>
          </p:cNvPr>
          <p:cNvSpPr txBox="1"/>
          <p:nvPr/>
        </p:nvSpPr>
        <p:spPr>
          <a:xfrm>
            <a:off x="7086710" y="2812828"/>
            <a:ext cx="84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6">
                    <a:lumMod val="50000"/>
                  </a:schemeClr>
                </a:solidFill>
              </a:rPr>
              <a:t>Team2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41" name="Graphic 40" descr="Group with solid fill">
            <a:extLst>
              <a:ext uri="{FF2B5EF4-FFF2-40B4-BE49-F238E27FC236}">
                <a16:creationId xmlns:a16="http://schemas.microsoft.com/office/drawing/2014/main" id="{9FBA8582-E879-94D3-C68B-2404269091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35467" y="4319739"/>
            <a:ext cx="831273" cy="83127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BC66D20E-4577-6058-3F73-627409F215F3}"/>
              </a:ext>
            </a:extLst>
          </p:cNvPr>
          <p:cNvSpPr txBox="1"/>
          <p:nvPr/>
        </p:nvSpPr>
        <p:spPr>
          <a:xfrm>
            <a:off x="10168438" y="5033580"/>
            <a:ext cx="84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2">
                    <a:lumMod val="50000"/>
                  </a:schemeClr>
                </a:solidFill>
              </a:rPr>
              <a:t>Team3</a:t>
            </a: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81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1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1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4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7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0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3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9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2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5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5" grpId="1" animBg="1"/>
      <p:bldP spid="8" grpId="0" animBg="1"/>
      <p:bldP spid="10" grpId="0" animBg="1"/>
      <p:bldP spid="11" grpId="0" animBg="1"/>
      <p:bldP spid="11" grpId="1" animBg="1"/>
      <p:bldP spid="12" grpId="0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20" grpId="0" animBg="1"/>
      <p:bldP spid="20" grpId="1" animBg="1"/>
      <p:bldP spid="21" grpId="0" animBg="1"/>
      <p:bldP spid="21" grpId="1" animBg="1"/>
      <p:bldP spid="23" grpId="0"/>
      <p:bldP spid="23" grpId="1"/>
      <p:bldP spid="24" grpId="0" animBg="1"/>
      <p:bldP spid="25" grpId="0" animBg="1"/>
      <p:bldP spid="25" grpId="1" animBg="1"/>
      <p:bldP spid="26" grpId="0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/>
      <p:bldP spid="33" grpId="1"/>
      <p:bldP spid="34" grpId="0" animBg="1"/>
      <p:bldP spid="35" grpId="0" animBg="1"/>
      <p:bldP spid="38" grpId="0"/>
      <p:bldP spid="40" grpId="0"/>
      <p:bldP spid="4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379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– Messages (Object Interaction)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31047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Intuitive Object Interaction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public interface of an object should reflect its intuitive interactive actions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interactions between objects should be a self-explanatory method invocation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We refer to these intuitive method invocations as </a:t>
            </a:r>
            <a:r>
              <a:rPr lang="en-CA" b="1" i="1" dirty="0"/>
              <a:t>Messages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13</a:t>
            </a:fld>
            <a:endParaRPr lang="en-C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AC198C-01A2-FCA0-A132-30408FCDD58E}"/>
              </a:ext>
            </a:extLst>
          </p:cNvPr>
          <p:cNvSpPr/>
          <p:nvPr/>
        </p:nvSpPr>
        <p:spPr>
          <a:xfrm>
            <a:off x="7280595" y="3118950"/>
            <a:ext cx="2322264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Car</a:t>
            </a:r>
            <a:endParaRPr lang="en-US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B3470E-150D-7EAD-1450-B66AB894BB82}"/>
              </a:ext>
            </a:extLst>
          </p:cNvPr>
          <p:cNvSpPr/>
          <p:nvPr/>
        </p:nvSpPr>
        <p:spPr>
          <a:xfrm>
            <a:off x="7280595" y="3460581"/>
            <a:ext cx="2322264" cy="38244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- horsepower: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- torque: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07A1C1-0179-9926-6E02-4F3EDCF6DD29}"/>
              </a:ext>
            </a:extLst>
          </p:cNvPr>
          <p:cNvSpPr/>
          <p:nvPr/>
        </p:nvSpPr>
        <p:spPr>
          <a:xfrm>
            <a:off x="7280595" y="3839915"/>
            <a:ext cx="2322264" cy="8462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drive(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spd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turn(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dir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stop():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accent1"/>
                </a:solidFill>
                <a:latin typeface="Courier"/>
              </a:rPr>
              <a:t>…</a:t>
            </a:r>
          </a:p>
        </p:txBody>
      </p:sp>
      <p:pic>
        <p:nvPicPr>
          <p:cNvPr id="36" name="Graphic 35" descr="Convertible with solid fill">
            <a:extLst>
              <a:ext uri="{FF2B5EF4-FFF2-40B4-BE49-F238E27FC236}">
                <a16:creationId xmlns:a16="http://schemas.microsoft.com/office/drawing/2014/main" id="{F59F557D-E9C0-D008-CF2C-EDB747ECE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3604" y="4310924"/>
            <a:ext cx="1781907" cy="1781907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5CB3F319-46BD-966E-361C-F2206C6C2F3C}"/>
              </a:ext>
            </a:extLst>
          </p:cNvPr>
          <p:cNvSpPr/>
          <p:nvPr/>
        </p:nvSpPr>
        <p:spPr>
          <a:xfrm>
            <a:off x="1758335" y="3113570"/>
            <a:ext cx="2322264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Driver</a:t>
            </a:r>
            <a:endParaRPr lang="en-US" b="1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600986D-9519-DFE6-31DA-CAFCC3AB0CC2}"/>
              </a:ext>
            </a:extLst>
          </p:cNvPr>
          <p:cNvSpPr/>
          <p:nvPr/>
        </p:nvSpPr>
        <p:spPr>
          <a:xfrm>
            <a:off x="1758335" y="3455201"/>
            <a:ext cx="2322264" cy="382442"/>
          </a:xfrm>
          <a:prstGeom prst="rect">
            <a:avLst/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- age: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-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yearsOfExp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FB24F5E-C89B-39F3-A2BA-CB23F4D76FC2}"/>
              </a:ext>
            </a:extLst>
          </p:cNvPr>
          <p:cNvSpPr/>
          <p:nvPr/>
        </p:nvSpPr>
        <p:spPr>
          <a:xfrm>
            <a:off x="1758335" y="3834535"/>
            <a:ext cx="2322264" cy="846224"/>
          </a:xfrm>
          <a:prstGeom prst="rect">
            <a:avLst/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observeTraffic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alert(type):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roadRage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accent1"/>
                </a:solidFill>
                <a:latin typeface="Courier"/>
              </a:rPr>
              <a:t>…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5A4FB5-3A72-0817-BDF1-2713565E8BE8}"/>
              </a:ext>
            </a:extLst>
          </p:cNvPr>
          <p:cNvSpPr txBox="1"/>
          <p:nvPr/>
        </p:nvSpPr>
        <p:spPr>
          <a:xfrm>
            <a:off x="8847527" y="5122959"/>
            <a:ext cx="191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>
                <a:solidFill>
                  <a:schemeClr val="accent1"/>
                </a:solidFill>
              </a:rPr>
              <a:t>mySportsCar</a:t>
            </a:r>
            <a:r>
              <a:rPr lang="en-CA" b="1" dirty="0">
                <a:solidFill>
                  <a:schemeClr val="accent1"/>
                </a:solidFill>
              </a:rPr>
              <a:t> : Car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48" name="Graphic 47" descr="Man with solid fill">
            <a:extLst>
              <a:ext uri="{FF2B5EF4-FFF2-40B4-BE49-F238E27FC236}">
                <a16:creationId xmlns:a16="http://schemas.microsoft.com/office/drawing/2014/main" id="{4DCC89F5-2403-631C-60A1-3273F9CAD1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05250" y="4887398"/>
            <a:ext cx="687003" cy="687003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CEBABDC-BA95-B94D-605D-2034A7EF8D2C}"/>
              </a:ext>
            </a:extLst>
          </p:cNvPr>
          <p:cNvSpPr txBox="1"/>
          <p:nvPr/>
        </p:nvSpPr>
        <p:spPr>
          <a:xfrm>
            <a:off x="2562575" y="5014869"/>
            <a:ext cx="191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2">
                    <a:lumMod val="50000"/>
                  </a:schemeClr>
                </a:solidFill>
              </a:rPr>
              <a:t>me : Driver</a:t>
            </a: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77D9B1A-FEAB-8F7A-E57B-6E0D56A54CF3}"/>
              </a:ext>
            </a:extLst>
          </p:cNvPr>
          <p:cNvCxnSpPr>
            <a:cxnSpLocks/>
          </p:cNvCxnSpPr>
          <p:nvPr/>
        </p:nvCxnSpPr>
        <p:spPr>
          <a:xfrm>
            <a:off x="4080599" y="3583669"/>
            <a:ext cx="3199996" cy="0"/>
          </a:xfrm>
          <a:prstGeom prst="straightConnector1">
            <a:avLst/>
          </a:prstGeom>
          <a:ln w="38100">
            <a:solidFill>
              <a:srgbClr val="7F1F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65460B7-0BB5-A0C1-C261-6C13701F5C6A}"/>
              </a:ext>
            </a:extLst>
          </p:cNvPr>
          <p:cNvSpPr txBox="1"/>
          <p:nvPr/>
        </p:nvSpPr>
        <p:spPr>
          <a:xfrm>
            <a:off x="4530825" y="3219438"/>
            <a:ext cx="2318707" cy="364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>
                <a:solidFill>
                  <a:schemeClr val="accent2">
                    <a:lumMod val="50000"/>
                  </a:schemeClr>
                </a:solidFill>
              </a:rPr>
              <a:t>mySportsCar.drive</a:t>
            </a:r>
            <a:r>
              <a:rPr lang="en-CA" b="1" dirty="0">
                <a:solidFill>
                  <a:schemeClr val="accent2">
                    <a:lumMod val="50000"/>
                  </a:schemeClr>
                </a:solidFill>
              </a:rPr>
              <a:t>(60)</a:t>
            </a: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3E497AD-64CA-52C3-46E9-C5A667DE62A8}"/>
              </a:ext>
            </a:extLst>
          </p:cNvPr>
          <p:cNvCxnSpPr>
            <a:cxnSpLocks/>
          </p:cNvCxnSpPr>
          <p:nvPr/>
        </p:nvCxnSpPr>
        <p:spPr>
          <a:xfrm flipH="1">
            <a:off x="4080599" y="4094295"/>
            <a:ext cx="319999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1474DA6-7885-1FB1-FF54-2F9B8CB9F6BB}"/>
              </a:ext>
            </a:extLst>
          </p:cNvPr>
          <p:cNvSpPr txBox="1"/>
          <p:nvPr/>
        </p:nvSpPr>
        <p:spPr>
          <a:xfrm>
            <a:off x="4439010" y="3724963"/>
            <a:ext cx="252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>
                <a:solidFill>
                  <a:schemeClr val="accent1"/>
                </a:solidFill>
              </a:rPr>
              <a:t>me.alert</a:t>
            </a:r>
            <a:r>
              <a:rPr lang="en-CA" b="1" dirty="0">
                <a:solidFill>
                  <a:schemeClr val="accent1"/>
                </a:solidFill>
              </a:rPr>
              <a:t>(EMERG_STOP)</a:t>
            </a:r>
            <a:endParaRPr lang="en-US" b="1" dirty="0">
              <a:solidFill>
                <a:schemeClr val="accent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E951A02-2836-FE49-4F6F-324E9CA35F99}"/>
              </a:ext>
            </a:extLst>
          </p:cNvPr>
          <p:cNvCxnSpPr/>
          <p:nvPr/>
        </p:nvCxnSpPr>
        <p:spPr>
          <a:xfrm>
            <a:off x="4071017" y="4600715"/>
            <a:ext cx="3199996" cy="0"/>
          </a:xfrm>
          <a:prstGeom prst="straightConnector1">
            <a:avLst/>
          </a:prstGeom>
          <a:ln w="38100">
            <a:solidFill>
              <a:srgbClr val="7F1F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15B1291-22CD-B998-87E3-4576DEC2E24C}"/>
              </a:ext>
            </a:extLst>
          </p:cNvPr>
          <p:cNvSpPr txBox="1"/>
          <p:nvPr/>
        </p:nvSpPr>
        <p:spPr>
          <a:xfrm>
            <a:off x="4628820" y="4236484"/>
            <a:ext cx="2318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>
                <a:solidFill>
                  <a:schemeClr val="accent2">
                    <a:lumMod val="50000"/>
                  </a:schemeClr>
                </a:solidFill>
              </a:rPr>
              <a:t>mySportsCar.stop</a:t>
            </a:r>
            <a:r>
              <a:rPr lang="en-CA" b="1" dirty="0">
                <a:solidFill>
                  <a:schemeClr val="accent2">
                    <a:lumMod val="50000"/>
                  </a:schemeClr>
                </a:solidFill>
              </a:rPr>
              <a:t>()</a:t>
            </a: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3" name="Speech Bubble: Rectangle 62">
            <a:extLst>
              <a:ext uri="{FF2B5EF4-FFF2-40B4-BE49-F238E27FC236}">
                <a16:creationId xmlns:a16="http://schemas.microsoft.com/office/drawing/2014/main" id="{21F4465F-C531-AABB-23E6-71D9730D6C31}"/>
              </a:ext>
            </a:extLst>
          </p:cNvPr>
          <p:cNvSpPr/>
          <p:nvPr/>
        </p:nvSpPr>
        <p:spPr>
          <a:xfrm>
            <a:off x="4377431" y="5054604"/>
            <a:ext cx="1410742" cy="345881"/>
          </a:xfrm>
          <a:prstGeom prst="wedgeRectCallout">
            <a:avLst>
              <a:gd name="adj1" fmla="val 38742"/>
              <a:gd name="adj2" fmla="val -127740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Messages</a:t>
            </a:r>
          </a:p>
        </p:txBody>
      </p:sp>
    </p:spTree>
    <p:extLst>
      <p:ext uri="{BB962C8B-B14F-4D97-AF65-F5344CB8AC3E}">
        <p14:creationId xmlns:p14="http://schemas.microsoft.com/office/powerpoint/2010/main" val="1926328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 animBg="1"/>
      <p:bldP spid="19" grpId="0" animBg="1"/>
      <p:bldP spid="43" grpId="0" animBg="1"/>
      <p:bldP spid="44" grpId="0" animBg="1"/>
      <p:bldP spid="45" grpId="0" animBg="1"/>
      <p:bldP spid="46" grpId="0"/>
      <p:bldP spid="49" grpId="0"/>
      <p:bldP spid="52" grpId="0"/>
      <p:bldP spid="54" grpId="0"/>
      <p:bldP spid="62" grpId="0"/>
      <p:bldP spid="6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379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– Benefits of Messages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31047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Intuitive Object Interaction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Clear identification of recipient, method to perform, and the required parameters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Self-documentary interactions – message itself explains the expected outcomes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Expandability and portability – messages can be passed between objects, programs, or even machines across internet.  The means of message delivery can also be </a:t>
            </a:r>
            <a:r>
              <a:rPr lang="en-CA" b="1" i="1" dirty="0"/>
              <a:t>encapsulated</a:t>
            </a:r>
            <a:r>
              <a:rPr lang="en-CA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14</a:t>
            </a:fld>
            <a:endParaRPr lang="en-C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AC198C-01A2-FCA0-A132-30408FCDD58E}"/>
              </a:ext>
            </a:extLst>
          </p:cNvPr>
          <p:cNvSpPr/>
          <p:nvPr/>
        </p:nvSpPr>
        <p:spPr>
          <a:xfrm>
            <a:off x="7280595" y="3396853"/>
            <a:ext cx="2322264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Car</a:t>
            </a:r>
            <a:endParaRPr lang="en-US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B3470E-150D-7EAD-1450-B66AB894BB82}"/>
              </a:ext>
            </a:extLst>
          </p:cNvPr>
          <p:cNvSpPr/>
          <p:nvPr/>
        </p:nvSpPr>
        <p:spPr>
          <a:xfrm>
            <a:off x="7280595" y="3738484"/>
            <a:ext cx="2322264" cy="38244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- horsepower: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- torque: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07A1C1-0179-9926-6E02-4F3EDCF6DD29}"/>
              </a:ext>
            </a:extLst>
          </p:cNvPr>
          <p:cNvSpPr/>
          <p:nvPr/>
        </p:nvSpPr>
        <p:spPr>
          <a:xfrm>
            <a:off x="7280595" y="4117818"/>
            <a:ext cx="2322264" cy="84622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drive(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spd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turn(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dir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stop():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accent1"/>
                </a:solidFill>
                <a:latin typeface="Courier"/>
              </a:rPr>
              <a:t>…</a:t>
            </a:r>
          </a:p>
        </p:txBody>
      </p:sp>
      <p:pic>
        <p:nvPicPr>
          <p:cNvPr id="36" name="Graphic 35" descr="Convertible with solid fill">
            <a:extLst>
              <a:ext uri="{FF2B5EF4-FFF2-40B4-BE49-F238E27FC236}">
                <a16:creationId xmlns:a16="http://schemas.microsoft.com/office/drawing/2014/main" id="{F59F557D-E9C0-D008-CF2C-EDB747ECE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3604" y="4588827"/>
            <a:ext cx="1781907" cy="1781907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5CB3F319-46BD-966E-361C-F2206C6C2F3C}"/>
              </a:ext>
            </a:extLst>
          </p:cNvPr>
          <p:cNvSpPr/>
          <p:nvPr/>
        </p:nvSpPr>
        <p:spPr>
          <a:xfrm>
            <a:off x="1758335" y="3391473"/>
            <a:ext cx="2322264" cy="332126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Driver</a:t>
            </a:r>
            <a:endParaRPr lang="en-US" b="1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600986D-9519-DFE6-31DA-CAFCC3AB0CC2}"/>
              </a:ext>
            </a:extLst>
          </p:cNvPr>
          <p:cNvSpPr/>
          <p:nvPr/>
        </p:nvSpPr>
        <p:spPr>
          <a:xfrm>
            <a:off x="1758335" y="3733104"/>
            <a:ext cx="2322264" cy="382442"/>
          </a:xfrm>
          <a:prstGeom prst="rect">
            <a:avLst/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- age: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-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yearsOfExp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FB24F5E-C89B-39F3-A2BA-CB23F4D76FC2}"/>
              </a:ext>
            </a:extLst>
          </p:cNvPr>
          <p:cNvSpPr/>
          <p:nvPr/>
        </p:nvSpPr>
        <p:spPr>
          <a:xfrm>
            <a:off x="1758335" y="4112438"/>
            <a:ext cx="2322264" cy="846224"/>
          </a:xfrm>
          <a:prstGeom prst="rect">
            <a:avLst/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observeTraffic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alert(type):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roadRage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accent1"/>
                </a:solidFill>
                <a:latin typeface="Courier"/>
              </a:rPr>
              <a:t>…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5A4FB5-3A72-0817-BDF1-2713565E8BE8}"/>
              </a:ext>
            </a:extLst>
          </p:cNvPr>
          <p:cNvSpPr txBox="1"/>
          <p:nvPr/>
        </p:nvSpPr>
        <p:spPr>
          <a:xfrm>
            <a:off x="8847527" y="5400862"/>
            <a:ext cx="191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>
                <a:solidFill>
                  <a:schemeClr val="accent1"/>
                </a:solidFill>
              </a:rPr>
              <a:t>mySportsCar</a:t>
            </a:r>
            <a:r>
              <a:rPr lang="en-CA" b="1" dirty="0">
                <a:solidFill>
                  <a:schemeClr val="accent1"/>
                </a:solidFill>
              </a:rPr>
              <a:t> : Car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48" name="Graphic 47" descr="Man with solid fill">
            <a:extLst>
              <a:ext uri="{FF2B5EF4-FFF2-40B4-BE49-F238E27FC236}">
                <a16:creationId xmlns:a16="http://schemas.microsoft.com/office/drawing/2014/main" id="{4DCC89F5-2403-631C-60A1-3273F9CAD1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05250" y="5165301"/>
            <a:ext cx="687003" cy="687003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CEBABDC-BA95-B94D-605D-2034A7EF8D2C}"/>
              </a:ext>
            </a:extLst>
          </p:cNvPr>
          <p:cNvSpPr txBox="1"/>
          <p:nvPr/>
        </p:nvSpPr>
        <p:spPr>
          <a:xfrm>
            <a:off x="2562575" y="5292772"/>
            <a:ext cx="191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2">
                    <a:lumMod val="50000"/>
                  </a:schemeClr>
                </a:solidFill>
              </a:rPr>
              <a:t>me : Driver</a:t>
            </a: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77D9B1A-FEAB-8F7A-E57B-6E0D56A54CF3}"/>
              </a:ext>
            </a:extLst>
          </p:cNvPr>
          <p:cNvCxnSpPr>
            <a:cxnSpLocks/>
          </p:cNvCxnSpPr>
          <p:nvPr/>
        </p:nvCxnSpPr>
        <p:spPr>
          <a:xfrm>
            <a:off x="4080599" y="3861572"/>
            <a:ext cx="3199996" cy="0"/>
          </a:xfrm>
          <a:prstGeom prst="straightConnector1">
            <a:avLst/>
          </a:prstGeom>
          <a:ln w="38100">
            <a:solidFill>
              <a:srgbClr val="7F1F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65460B7-0BB5-A0C1-C261-6C13701F5C6A}"/>
              </a:ext>
            </a:extLst>
          </p:cNvPr>
          <p:cNvSpPr txBox="1"/>
          <p:nvPr/>
        </p:nvSpPr>
        <p:spPr>
          <a:xfrm>
            <a:off x="4530825" y="3497341"/>
            <a:ext cx="2318707" cy="364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>
                <a:solidFill>
                  <a:schemeClr val="accent2">
                    <a:lumMod val="50000"/>
                  </a:schemeClr>
                </a:solidFill>
              </a:rPr>
              <a:t>mySportsCar.drive</a:t>
            </a:r>
            <a:r>
              <a:rPr lang="en-CA" b="1" dirty="0">
                <a:solidFill>
                  <a:schemeClr val="accent2">
                    <a:lumMod val="50000"/>
                  </a:schemeClr>
                </a:solidFill>
              </a:rPr>
              <a:t>(60)</a:t>
            </a: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3E497AD-64CA-52C3-46E9-C5A667DE62A8}"/>
              </a:ext>
            </a:extLst>
          </p:cNvPr>
          <p:cNvCxnSpPr>
            <a:cxnSpLocks/>
          </p:cNvCxnSpPr>
          <p:nvPr/>
        </p:nvCxnSpPr>
        <p:spPr>
          <a:xfrm flipH="1">
            <a:off x="4080599" y="4372198"/>
            <a:ext cx="319999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1474DA6-7885-1FB1-FF54-2F9B8CB9F6BB}"/>
              </a:ext>
            </a:extLst>
          </p:cNvPr>
          <p:cNvSpPr txBox="1"/>
          <p:nvPr/>
        </p:nvSpPr>
        <p:spPr>
          <a:xfrm>
            <a:off x="4439010" y="4002866"/>
            <a:ext cx="252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>
                <a:solidFill>
                  <a:schemeClr val="accent1"/>
                </a:solidFill>
              </a:rPr>
              <a:t>me.alert</a:t>
            </a:r>
            <a:r>
              <a:rPr lang="en-CA" b="1" dirty="0">
                <a:solidFill>
                  <a:schemeClr val="accent1"/>
                </a:solidFill>
              </a:rPr>
              <a:t>(EMERG_STOP)</a:t>
            </a:r>
            <a:endParaRPr lang="en-US" b="1" dirty="0">
              <a:solidFill>
                <a:schemeClr val="accent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E951A02-2836-FE49-4F6F-324E9CA35F99}"/>
              </a:ext>
            </a:extLst>
          </p:cNvPr>
          <p:cNvCxnSpPr/>
          <p:nvPr/>
        </p:nvCxnSpPr>
        <p:spPr>
          <a:xfrm>
            <a:off x="4071017" y="4878618"/>
            <a:ext cx="3199996" cy="0"/>
          </a:xfrm>
          <a:prstGeom prst="straightConnector1">
            <a:avLst/>
          </a:prstGeom>
          <a:ln w="38100">
            <a:solidFill>
              <a:srgbClr val="7F1F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15B1291-22CD-B998-87E3-4576DEC2E24C}"/>
              </a:ext>
            </a:extLst>
          </p:cNvPr>
          <p:cNvSpPr txBox="1"/>
          <p:nvPr/>
        </p:nvSpPr>
        <p:spPr>
          <a:xfrm>
            <a:off x="4628820" y="4514387"/>
            <a:ext cx="2318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>
                <a:solidFill>
                  <a:schemeClr val="accent2">
                    <a:lumMod val="50000"/>
                  </a:schemeClr>
                </a:solidFill>
              </a:rPr>
              <a:t>mySportsCar.stop</a:t>
            </a:r>
            <a:r>
              <a:rPr lang="en-CA" b="1" dirty="0">
                <a:solidFill>
                  <a:schemeClr val="accent2">
                    <a:lumMod val="50000"/>
                  </a:schemeClr>
                </a:solidFill>
              </a:rPr>
              <a:t>()</a:t>
            </a: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3" name="Speech Bubble: Rectangle 62">
            <a:extLst>
              <a:ext uri="{FF2B5EF4-FFF2-40B4-BE49-F238E27FC236}">
                <a16:creationId xmlns:a16="http://schemas.microsoft.com/office/drawing/2014/main" id="{21F4465F-C531-AABB-23E6-71D9730D6C31}"/>
              </a:ext>
            </a:extLst>
          </p:cNvPr>
          <p:cNvSpPr/>
          <p:nvPr/>
        </p:nvSpPr>
        <p:spPr>
          <a:xfrm>
            <a:off x="4377431" y="5332507"/>
            <a:ext cx="1410742" cy="345881"/>
          </a:xfrm>
          <a:prstGeom prst="wedgeRectCallout">
            <a:avLst>
              <a:gd name="adj1" fmla="val 38742"/>
              <a:gd name="adj2" fmla="val -127740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Messages</a:t>
            </a:r>
          </a:p>
        </p:txBody>
      </p:sp>
    </p:spTree>
    <p:extLst>
      <p:ext uri="{BB962C8B-B14F-4D97-AF65-F5344CB8AC3E}">
        <p14:creationId xmlns:p14="http://schemas.microsoft.com/office/powerpoint/2010/main" val="1133581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OOD Basics - Class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21E5FB-B321-E72C-049B-E118AB8BC925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12-2] C++ Class and UML Class Diagram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953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379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Principles – Encapsulation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Encapsulation (Information Hiding)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Codes and data pertaining to the implementation should be hidden away from external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4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Protecting </a:t>
            </a:r>
            <a:r>
              <a:rPr lang="en-CA" b="1" dirty="0">
                <a:solidFill>
                  <a:schemeClr val="accent1"/>
                </a:solidFill>
              </a:rPr>
              <a:t>private</a:t>
            </a:r>
            <a:r>
              <a:rPr lang="en-CA" dirty="0"/>
              <a:t> data from direct and uncontrolled access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Remember double-underscore prefix in C?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Protecting </a:t>
            </a:r>
            <a:r>
              <a:rPr lang="en-CA" b="1" dirty="0">
                <a:solidFill>
                  <a:schemeClr val="accent1"/>
                </a:solidFill>
              </a:rPr>
              <a:t>private</a:t>
            </a:r>
            <a:r>
              <a:rPr lang="en-CA" dirty="0"/>
              <a:t> member functions from being accidentally invoked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Hide details that are unimportant to the system-level implementation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As a rule of thumb, all data in classes should be declared </a:t>
            </a:r>
            <a:r>
              <a:rPr lang="en-CA" b="1" dirty="0">
                <a:solidFill>
                  <a:schemeClr val="accent1"/>
                </a:solidFill>
              </a:rPr>
              <a:t>private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Only be accessed through getter / setter methods to ensure controlled and secure access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4543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6456665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Object Template / Software Blueprint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most important feature of OOD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Embodies all features of a set of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Used to create multiple objects with similar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A870D2"/>
                </a:solidFill>
              </a:rPr>
              <a:t>Private Members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Hidden implementation of the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Feature encapsulation, information hiding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Private member functions aka. </a:t>
            </a:r>
            <a:r>
              <a:rPr lang="en-CA" b="1" i="1" dirty="0"/>
              <a:t>Helper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2"/>
                </a:solidFill>
              </a:rPr>
              <a:t>Public Members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aka. Class Interface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Define the behaviour of the class and the interaction</a:t>
            </a:r>
            <a:br>
              <a:rPr lang="en-CA" dirty="0"/>
            </a:br>
            <a:r>
              <a:rPr lang="en-CA" dirty="0"/>
              <a:t>model with other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7F1F1F"/>
                </a:solidFill>
              </a:rPr>
              <a:t>Special Member Functions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Constructors – Object Initializers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Destructors, Operator Overloads (more to come)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17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80896E-DE28-6B0D-57A0-F5878793B864}"/>
              </a:ext>
            </a:extLst>
          </p:cNvPr>
          <p:cNvSpPr txBox="1"/>
          <p:nvPr/>
        </p:nvSpPr>
        <p:spPr>
          <a:xfrm>
            <a:off x="1945464" y="1348330"/>
            <a:ext cx="1016933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77795-3472-02A6-430F-7A0257F34CE1}"/>
              </a:ext>
            </a:extLst>
          </p:cNvPr>
          <p:cNvSpPr txBox="1"/>
          <p:nvPr/>
        </p:nvSpPr>
        <p:spPr>
          <a:xfrm>
            <a:off x="7289321" y="1465273"/>
            <a:ext cx="3455334" cy="432426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SetPower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pow 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more to come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Constructor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pow);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Getters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GetPower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Other External Interactions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Product(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Quotient(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  <a:endParaRPr lang="en-US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void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print();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28571E-657B-B06A-6DE6-9B66AE36FDEC}"/>
              </a:ext>
            </a:extLst>
          </p:cNvPr>
          <p:cNvSpPr/>
          <p:nvPr/>
        </p:nvSpPr>
        <p:spPr>
          <a:xfrm>
            <a:off x="7573992" y="1762042"/>
            <a:ext cx="2820838" cy="1207581"/>
          </a:xfrm>
          <a:prstGeom prst="rect">
            <a:avLst/>
          </a:prstGeom>
          <a:noFill/>
          <a:ln w="28575">
            <a:solidFill>
              <a:srgbClr val="AF7CD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DF68AF-8B36-9216-1D5A-940D5AAEC21E}"/>
              </a:ext>
            </a:extLst>
          </p:cNvPr>
          <p:cNvSpPr/>
          <p:nvPr/>
        </p:nvSpPr>
        <p:spPr>
          <a:xfrm>
            <a:off x="7573991" y="3360984"/>
            <a:ext cx="3088257" cy="2194647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B12873-30DF-2C4F-201A-90FDBF910822}"/>
              </a:ext>
            </a:extLst>
          </p:cNvPr>
          <p:cNvSpPr/>
          <p:nvPr/>
        </p:nvSpPr>
        <p:spPr>
          <a:xfrm>
            <a:off x="7965021" y="3520831"/>
            <a:ext cx="2309039" cy="576713"/>
          </a:xfrm>
          <a:prstGeom prst="rect">
            <a:avLst/>
          </a:prstGeom>
          <a:noFill/>
          <a:ln w="28575">
            <a:solidFill>
              <a:srgbClr val="7F1F1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48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Members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53477"/>
            <a:ext cx="645666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Object Status Tracking Fields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Should always be private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Should deploy getter / setter member functions</a:t>
            </a:r>
            <a:br>
              <a:rPr lang="en-CA" dirty="0"/>
            </a:br>
            <a:r>
              <a:rPr lang="en-CA" dirty="0"/>
              <a:t>as needed in the interface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Non-static Data 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For each object instantiated, it gets a brand new</a:t>
            </a:r>
            <a:br>
              <a:rPr lang="en-CA" dirty="0"/>
            </a:br>
            <a:r>
              <a:rPr lang="en-CA" dirty="0"/>
              <a:t>copy of these non-static 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Static Data 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Acting as a class-level global variable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One single copy for all the objects instantiated from</a:t>
            </a:r>
            <a:br>
              <a:rPr lang="en-CA" dirty="0"/>
            </a:br>
            <a:r>
              <a:rPr lang="en-CA" dirty="0"/>
              <a:t>the same class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18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77795-3472-02A6-430F-7A0257F34CE1}"/>
              </a:ext>
            </a:extLst>
          </p:cNvPr>
          <p:cNvSpPr txBox="1"/>
          <p:nvPr/>
        </p:nvSpPr>
        <p:spPr>
          <a:xfrm>
            <a:off x="7289321" y="1465273"/>
            <a:ext cx="3455334" cy="432426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SetPower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pow 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more to come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Constructor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pow);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Getters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GetPower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Other External Interactions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Product(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Quotient(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  <a:endParaRPr lang="en-US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void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print();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28571E-657B-B06A-6DE6-9B66AE36FDEC}"/>
              </a:ext>
            </a:extLst>
          </p:cNvPr>
          <p:cNvSpPr/>
          <p:nvPr/>
        </p:nvSpPr>
        <p:spPr>
          <a:xfrm>
            <a:off x="7573992" y="1762042"/>
            <a:ext cx="2820838" cy="1541872"/>
          </a:xfrm>
          <a:prstGeom prst="rect">
            <a:avLst/>
          </a:prstGeom>
          <a:noFill/>
          <a:ln w="28575">
            <a:solidFill>
              <a:srgbClr val="AF7CD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288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53477"/>
            <a:ext cx="6456665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Accessor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Access the values of the data 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Getters, print methods, derived getters,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Implementor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Perform operations on data 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Setters, constructors / destructors,</a:t>
            </a:r>
            <a:br>
              <a:rPr lang="en-CA" dirty="0"/>
            </a:br>
            <a:r>
              <a:rPr lang="en-CA" dirty="0"/>
              <a:t>mutators (data-altering functions), etc.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Definition of Member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u="sng" dirty="0"/>
              <a:t>MUST BE</a:t>
            </a:r>
            <a:r>
              <a:rPr lang="en-CA" dirty="0"/>
              <a:t> declared inside the class body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 be defined inside or outside the class body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 access both the </a:t>
            </a:r>
            <a:r>
              <a:rPr lang="en-CA" b="1" dirty="0">
                <a:solidFill>
                  <a:schemeClr val="accent1"/>
                </a:solidFill>
              </a:rPr>
              <a:t>private</a:t>
            </a:r>
            <a:r>
              <a:rPr lang="en-CA" dirty="0"/>
              <a:t> and the </a:t>
            </a:r>
            <a:r>
              <a:rPr lang="en-CA" b="1" dirty="0">
                <a:solidFill>
                  <a:schemeClr val="accent1"/>
                </a:solidFill>
              </a:rPr>
              <a:t>public</a:t>
            </a:r>
            <a:r>
              <a:rPr lang="en-CA" dirty="0"/>
              <a:t> members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 be referred to using dot or arrow member access operators (just like accessing data members in struct)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19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77795-3472-02A6-430F-7A0257F34CE1}"/>
              </a:ext>
            </a:extLst>
          </p:cNvPr>
          <p:cNvSpPr txBox="1"/>
          <p:nvPr/>
        </p:nvSpPr>
        <p:spPr>
          <a:xfrm>
            <a:off x="7289321" y="1465273"/>
            <a:ext cx="3455334" cy="432426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SetPower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pow 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more to come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Constructor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pow);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Getters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GetPower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Other External Interactions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Product(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Quotient(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  <a:endParaRPr lang="en-US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void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print();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28571E-657B-B06A-6DE6-9B66AE36FDEC}"/>
              </a:ext>
            </a:extLst>
          </p:cNvPr>
          <p:cNvSpPr/>
          <p:nvPr/>
        </p:nvSpPr>
        <p:spPr>
          <a:xfrm>
            <a:off x="7841708" y="3535679"/>
            <a:ext cx="2820838" cy="2041663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6DAFC7-EDBA-2D68-33B2-2A45CE9FE3AB}"/>
              </a:ext>
            </a:extLst>
          </p:cNvPr>
          <p:cNvSpPr/>
          <p:nvPr/>
        </p:nvSpPr>
        <p:spPr>
          <a:xfrm>
            <a:off x="7841708" y="2459576"/>
            <a:ext cx="2820838" cy="449087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580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Members -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53477"/>
            <a:ext cx="645666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Object Status Tracking Fields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Non-static Data 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For each object instantiated, it gets a brand new</a:t>
            </a:r>
            <a:br>
              <a:rPr lang="en-CA" dirty="0"/>
            </a:br>
            <a:r>
              <a:rPr lang="en-CA" dirty="0"/>
              <a:t>copy of these non-static 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Static Data 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Acting as a class-level global variable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One single copy for all the objects instantiated from</a:t>
            </a:r>
            <a:br>
              <a:rPr lang="en-CA" dirty="0"/>
            </a:br>
            <a:r>
              <a:rPr lang="en-CA" dirty="0"/>
              <a:t>the same class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  <a:latin typeface="Algerian" panose="04020705040A02060702" pitchFamily="82" charset="0"/>
              </a:rPr>
              <a:t>Gotcha! </a:t>
            </a:r>
            <a:r>
              <a:rPr lang="en-CA" dirty="0"/>
              <a:t>Static members must be…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Declared inside the class with static keyword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Defined and initialized outside!!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And WITHOUT static keyword outside!!</a:t>
            </a:r>
          </a:p>
          <a:p>
            <a:pPr lvl="3"/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20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77795-3472-02A6-430F-7A0257F34CE1}"/>
              </a:ext>
            </a:extLst>
          </p:cNvPr>
          <p:cNvSpPr txBox="1"/>
          <p:nvPr/>
        </p:nvSpPr>
        <p:spPr>
          <a:xfrm>
            <a:off x="7513247" y="938169"/>
            <a:ext cx="3455334" cy="432426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Rectangle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length;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width;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Declared static inside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count;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Constructor</a:t>
            </a:r>
            <a:endParaRPr lang="en-US" sz="1100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Rectangle(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</a:t>
            </a: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Rectangle(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l,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w);</a:t>
            </a:r>
          </a:p>
          <a:p>
            <a:endParaRPr lang="en-US" sz="1100" b="1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Getters</a:t>
            </a:r>
          </a:p>
          <a:p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double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GetLength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double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GetWidth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100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GetTotalRect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Defined and initialized outside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WITHOUT static keyword again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Rectangle::count = 0;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AB213B-20A9-D18F-1B34-2F3BF2BC2883}"/>
              </a:ext>
            </a:extLst>
          </p:cNvPr>
          <p:cNvSpPr/>
          <p:nvPr/>
        </p:nvSpPr>
        <p:spPr>
          <a:xfrm>
            <a:off x="8625156" y="5450574"/>
            <a:ext cx="234342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L12Ex2-StaticData.cpp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41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 Functions -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53477"/>
            <a:ext cx="645666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Defining the Behaviours of an Object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b="1" u="sng" dirty="0"/>
              <a:t>Implementors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A870D2"/>
                </a:solidFill>
              </a:rPr>
              <a:t>Constructors</a:t>
            </a:r>
            <a:r>
              <a:rPr lang="en-CA" dirty="0"/>
              <a:t> - object initializers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MUST share the same name as the class name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Do not have a return type (by default </a:t>
            </a:r>
            <a:r>
              <a:rPr lang="en-CA" b="1" dirty="0">
                <a:solidFill>
                  <a:schemeClr val="accent1"/>
                </a:solidFill>
                <a:latin typeface="Courier"/>
              </a:rPr>
              <a:t>void</a:t>
            </a:r>
            <a:r>
              <a:rPr lang="en-CA" dirty="0"/>
              <a:t>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Can be overloaded for different flavours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21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77795-3472-02A6-430F-7A0257F34CE1}"/>
              </a:ext>
            </a:extLst>
          </p:cNvPr>
          <p:cNvSpPr txBox="1"/>
          <p:nvPr/>
        </p:nvSpPr>
        <p:spPr>
          <a:xfrm>
            <a:off x="7933195" y="974433"/>
            <a:ext cx="3455334" cy="4493538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Rectangle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length;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width;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Declared static inside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count;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Constructor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Rectangle(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Rectangle(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w);</a:t>
            </a:r>
          </a:p>
          <a:p>
            <a:endParaRPr lang="en-US" sz="1100" b="1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Getters</a:t>
            </a:r>
          </a:p>
          <a:p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double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GetLength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double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GetWidth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100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int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GetTotalRect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Defined and initialized outside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WITHOUT static keyword again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Rectangle::count = 0;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AB213B-20A9-D18F-1B34-2F3BF2BC2883}"/>
              </a:ext>
            </a:extLst>
          </p:cNvPr>
          <p:cNvSpPr/>
          <p:nvPr/>
        </p:nvSpPr>
        <p:spPr>
          <a:xfrm>
            <a:off x="9045104" y="5486838"/>
            <a:ext cx="234342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L12Ex2-StaticData.cpp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8C838E-AB75-24D6-ACF2-70AAB2373AAC}"/>
              </a:ext>
            </a:extLst>
          </p:cNvPr>
          <p:cNvSpPr txBox="1"/>
          <p:nvPr/>
        </p:nvSpPr>
        <p:spPr>
          <a:xfrm>
            <a:off x="1108821" y="4107698"/>
            <a:ext cx="2496530" cy="138499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"/>
                <a:cs typeface="Courier New" panose="02070309020205020404" pitchFamily="49" charset="0"/>
              </a:rPr>
              <a:t>// Default Constructor</a:t>
            </a:r>
            <a:endParaRPr lang="en-US" sz="1200" b="1" dirty="0">
              <a:solidFill>
                <a:schemeClr val="accent5"/>
              </a:solidFill>
              <a:latin typeface="Courier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rgbClr val="7030A0"/>
                </a:solidFill>
                <a:latin typeface="Courier"/>
                <a:cs typeface="Courier New" panose="02070309020205020404" pitchFamily="49" charset="0"/>
              </a:rPr>
              <a:t>Rectangle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::Rectangle()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    length = 1.0;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    width = 1.0;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7030A0"/>
                </a:solidFill>
                <a:latin typeface="Courier"/>
                <a:cs typeface="Courier New" panose="02070309020205020404" pitchFamily="49" charset="0"/>
              </a:rPr>
              <a:t>Rectangle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::count++;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13494-B620-6A41-FB57-F0F090BD4DAD}"/>
              </a:ext>
            </a:extLst>
          </p:cNvPr>
          <p:cNvSpPr txBox="1"/>
          <p:nvPr/>
        </p:nvSpPr>
        <p:spPr>
          <a:xfrm>
            <a:off x="3751870" y="4113121"/>
            <a:ext cx="3902964" cy="138499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"/>
                <a:cs typeface="Courier New" panose="02070309020205020404" pitchFamily="49" charset="0"/>
              </a:rPr>
              <a:t>// Overloaded Constructor with Inputs</a:t>
            </a:r>
            <a:endParaRPr lang="en-US" sz="1200" b="1" dirty="0">
              <a:solidFill>
                <a:schemeClr val="accent5"/>
              </a:solidFill>
              <a:latin typeface="Courier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rgbClr val="7030A0"/>
                </a:solidFill>
                <a:latin typeface="Courier"/>
                <a:cs typeface="Courier New" panose="02070309020205020404" pitchFamily="49" charset="0"/>
              </a:rPr>
              <a:t>Rectangle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::Rectangle(</a:t>
            </a:r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 l, </a:t>
            </a:r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 w)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    length = l;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    width = w;</a:t>
            </a:r>
          </a:p>
          <a:p>
            <a:r>
              <a:rPr lang="en-US" sz="1200" b="1" dirty="0">
                <a:solidFill>
                  <a:srgbClr val="7030A0"/>
                </a:solidFill>
                <a:latin typeface="Courier"/>
                <a:cs typeface="Courier New" panose="02070309020205020404" pitchFamily="49" charset="0"/>
              </a:rPr>
              <a:t>    Rectangle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::count++;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5460B2A7-D03D-06DD-2B45-77E031706519}"/>
              </a:ext>
            </a:extLst>
          </p:cNvPr>
          <p:cNvSpPr/>
          <p:nvPr/>
        </p:nvSpPr>
        <p:spPr>
          <a:xfrm>
            <a:off x="5347434" y="1997476"/>
            <a:ext cx="1878989" cy="566021"/>
          </a:xfrm>
          <a:prstGeom prst="wedgeRectCallout">
            <a:avLst>
              <a:gd name="adj1" fmla="val -71556"/>
              <a:gd name="adj2" fmla="val 4101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rgbClr val="7F1F1F"/>
                </a:solidFill>
              </a:rPr>
              <a:t>Special Member Function!</a:t>
            </a:r>
            <a:endParaRPr lang="en-US" sz="16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99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 Functions -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67860" y="1502204"/>
            <a:ext cx="6456665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Defining the Behaviours of an Object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b="1" u="sng" dirty="0"/>
              <a:t>Implementors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A870D2"/>
                </a:solidFill>
              </a:rPr>
              <a:t>Setters</a:t>
            </a:r>
            <a:r>
              <a:rPr lang="en-CA" dirty="0"/>
              <a:t> – for altering individual private data members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Allowing controlled modification on the values of individual </a:t>
            </a:r>
            <a:r>
              <a:rPr lang="en-CA" b="1" dirty="0">
                <a:solidFill>
                  <a:schemeClr val="accent1"/>
                </a:solidFill>
              </a:rPr>
              <a:t>private</a:t>
            </a:r>
            <a:r>
              <a:rPr lang="en-CA" dirty="0"/>
              <a:t> data members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When objects are </a:t>
            </a:r>
            <a:r>
              <a:rPr lang="en-CA" b="1" i="1" dirty="0"/>
              <a:t>immutable</a:t>
            </a:r>
            <a:r>
              <a:rPr lang="en-CA" dirty="0"/>
              <a:t>, setters are often not included in the interface</a:t>
            </a:r>
          </a:p>
          <a:p>
            <a:pPr lvl="3"/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lvl="3"/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22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77795-3472-02A6-430F-7A0257F34CE1}"/>
              </a:ext>
            </a:extLst>
          </p:cNvPr>
          <p:cNvSpPr txBox="1"/>
          <p:nvPr/>
        </p:nvSpPr>
        <p:spPr>
          <a:xfrm>
            <a:off x="7933195" y="974433"/>
            <a:ext cx="3455334" cy="432426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Rectangle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length;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width;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Declared static inside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count;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Constructor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Rectangle(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Rectangle(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w);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Getters</a:t>
            </a:r>
          </a:p>
          <a:p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double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GetLength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double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GetWidth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100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int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GetTotalRect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Defined and initialized outside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WITHOUT static keyword again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Rectangle::count = 0;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AB213B-20A9-D18F-1B34-2F3BF2BC2883}"/>
              </a:ext>
            </a:extLst>
          </p:cNvPr>
          <p:cNvSpPr/>
          <p:nvPr/>
        </p:nvSpPr>
        <p:spPr>
          <a:xfrm>
            <a:off x="9045104" y="5486838"/>
            <a:ext cx="234342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L12Ex2-StaticData.cpp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840F0BA7-3341-BB9A-D59E-EC7C34AE62D8}"/>
              </a:ext>
            </a:extLst>
          </p:cNvPr>
          <p:cNvSpPr/>
          <p:nvPr/>
        </p:nvSpPr>
        <p:spPr>
          <a:xfrm>
            <a:off x="9486714" y="672629"/>
            <a:ext cx="2251599" cy="415464"/>
          </a:xfrm>
          <a:prstGeom prst="wedgeRectCallout">
            <a:avLst>
              <a:gd name="adj1" fmla="val -43876"/>
              <a:gd name="adj2" fmla="val 78996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Does not have setters!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CF0DAF-542E-7FA6-440C-0D581C5F5989}"/>
              </a:ext>
            </a:extLst>
          </p:cNvPr>
          <p:cNvSpPr txBox="1"/>
          <p:nvPr/>
        </p:nvSpPr>
        <p:spPr>
          <a:xfrm>
            <a:off x="1412143" y="4043293"/>
            <a:ext cx="3455334" cy="101566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"/>
                <a:cs typeface="Courier New" panose="02070309020205020404" pitchFamily="49" charset="0"/>
              </a:rPr>
              <a:t>// Sample Length Setter</a:t>
            </a:r>
            <a:endParaRPr lang="en-US" sz="1200" b="1" dirty="0">
              <a:solidFill>
                <a:schemeClr val="accent5"/>
              </a:solidFill>
              <a:latin typeface="Courier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void</a:t>
            </a:r>
            <a:r>
              <a:rPr lang="en-US" sz="1200" b="1" dirty="0">
                <a:solidFill>
                  <a:srgbClr val="7030A0"/>
                </a:solidFill>
                <a:latin typeface="Courier"/>
                <a:cs typeface="Courier New" panose="02070309020205020404" pitchFamily="49" charset="0"/>
              </a:rPr>
              <a:t> Rectangle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::</a:t>
            </a:r>
            <a:r>
              <a:rPr lang="en-US" sz="1200" dirty="0" err="1">
                <a:latin typeface="Courier"/>
                <a:cs typeface="Courier New" panose="02070309020205020404" pitchFamily="49" charset="0"/>
              </a:rPr>
              <a:t>SetLength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 l)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    length = l;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E11E48-7358-E9B1-3186-5A093D22C922}"/>
              </a:ext>
            </a:extLst>
          </p:cNvPr>
          <p:cNvSpPr txBox="1"/>
          <p:nvPr/>
        </p:nvSpPr>
        <p:spPr>
          <a:xfrm>
            <a:off x="4060988" y="4619555"/>
            <a:ext cx="3455334" cy="101566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"/>
                <a:cs typeface="Courier New" panose="02070309020205020404" pitchFamily="49" charset="0"/>
              </a:rPr>
              <a:t>// Sample Width Setter</a:t>
            </a:r>
            <a:endParaRPr lang="en-US" sz="1200" b="1" dirty="0">
              <a:solidFill>
                <a:schemeClr val="accent5"/>
              </a:solidFill>
              <a:latin typeface="Courier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void</a:t>
            </a:r>
            <a:r>
              <a:rPr lang="en-US" sz="1200" b="1" dirty="0">
                <a:solidFill>
                  <a:srgbClr val="7030A0"/>
                </a:solidFill>
                <a:latin typeface="Courier"/>
                <a:cs typeface="Courier New" panose="02070309020205020404" pitchFamily="49" charset="0"/>
              </a:rPr>
              <a:t> Rectangle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::</a:t>
            </a:r>
            <a:r>
              <a:rPr lang="en-US" sz="1200" dirty="0" err="1">
                <a:latin typeface="Courier"/>
                <a:cs typeface="Courier New" panose="02070309020205020404" pitchFamily="49" charset="0"/>
              </a:rPr>
              <a:t>SetWidth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 w)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    width = w;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6" name="Callout: Right Arrow 15">
            <a:extLst>
              <a:ext uri="{FF2B5EF4-FFF2-40B4-BE49-F238E27FC236}">
                <a16:creationId xmlns:a16="http://schemas.microsoft.com/office/drawing/2014/main" id="{FBF2FAF9-5E7F-1EFD-AFD0-5A3994FA4F52}"/>
              </a:ext>
            </a:extLst>
          </p:cNvPr>
          <p:cNvSpPr/>
          <p:nvPr/>
        </p:nvSpPr>
        <p:spPr>
          <a:xfrm>
            <a:off x="5676446" y="3760152"/>
            <a:ext cx="2943079" cy="663044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5832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6"/>
                </a:solidFill>
                <a:latin typeface="Courier"/>
                <a:cs typeface="Courier New" panose="02070309020205020404" pitchFamily="49" charset="0"/>
              </a:rPr>
              <a:t>// Setters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SetLength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l);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SetWidth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w);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5905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 Functions -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67860" y="1502204"/>
            <a:ext cx="687406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Defining the Behaviours of an Object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b="1" u="sng" dirty="0"/>
              <a:t>Implementors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A870D2"/>
                </a:solidFill>
              </a:rPr>
              <a:t>Mutators</a:t>
            </a:r>
            <a:r>
              <a:rPr lang="en-CA" dirty="0"/>
              <a:t> – for altering one or more private data members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Allowing controlled modification on the values of multiple </a:t>
            </a:r>
            <a:r>
              <a:rPr lang="en-CA" b="1" dirty="0">
                <a:solidFill>
                  <a:schemeClr val="accent1"/>
                </a:solidFill>
              </a:rPr>
              <a:t>private</a:t>
            </a:r>
            <a:r>
              <a:rPr lang="en-CA" dirty="0"/>
              <a:t> data members with algorithms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When objects are </a:t>
            </a:r>
            <a:r>
              <a:rPr lang="en-CA" b="1" i="1" dirty="0"/>
              <a:t>immutable</a:t>
            </a:r>
            <a:r>
              <a:rPr lang="en-CA" dirty="0"/>
              <a:t>, mutators are often not included in the interface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Setter is a kind of mutator</a:t>
            </a:r>
          </a:p>
          <a:p>
            <a:pPr lvl="3"/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lvl="3"/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23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77795-3472-02A6-430F-7A0257F34CE1}"/>
              </a:ext>
            </a:extLst>
          </p:cNvPr>
          <p:cNvSpPr txBox="1"/>
          <p:nvPr/>
        </p:nvSpPr>
        <p:spPr>
          <a:xfrm>
            <a:off x="7933195" y="974433"/>
            <a:ext cx="3455334" cy="432426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Rectangle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length;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width;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Declared static inside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count;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Constructor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Rectangle(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Rectangle(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w);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Getters</a:t>
            </a:r>
          </a:p>
          <a:p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double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GetLength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double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GetWidth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100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int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GetTotalRect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Defined and initialized outside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WITHOUT static keyword again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Rectangle::count = 0;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AB213B-20A9-D18F-1B34-2F3BF2BC2883}"/>
              </a:ext>
            </a:extLst>
          </p:cNvPr>
          <p:cNvSpPr/>
          <p:nvPr/>
        </p:nvSpPr>
        <p:spPr>
          <a:xfrm>
            <a:off x="9045104" y="5486838"/>
            <a:ext cx="234342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L12Ex2-StaticData.cpp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840F0BA7-3341-BB9A-D59E-EC7C34AE62D8}"/>
              </a:ext>
            </a:extLst>
          </p:cNvPr>
          <p:cNvSpPr/>
          <p:nvPr/>
        </p:nvSpPr>
        <p:spPr>
          <a:xfrm>
            <a:off x="9486714" y="672629"/>
            <a:ext cx="2251599" cy="415464"/>
          </a:xfrm>
          <a:prstGeom prst="wedgeRectCallout">
            <a:avLst>
              <a:gd name="adj1" fmla="val -43876"/>
              <a:gd name="adj2" fmla="val 78996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Does not have mutators!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E11E48-7358-E9B1-3186-5A093D22C922}"/>
              </a:ext>
            </a:extLst>
          </p:cNvPr>
          <p:cNvSpPr txBox="1"/>
          <p:nvPr/>
        </p:nvSpPr>
        <p:spPr>
          <a:xfrm>
            <a:off x="1629031" y="4225546"/>
            <a:ext cx="5954380" cy="1200329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"/>
                <a:cs typeface="Courier New" panose="02070309020205020404" pitchFamily="49" charset="0"/>
              </a:rPr>
              <a:t>// Sample Mutator</a:t>
            </a:r>
          </a:p>
          <a:p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void</a:t>
            </a:r>
            <a:r>
              <a:rPr lang="en-US" sz="1200" b="1" dirty="0">
                <a:solidFill>
                  <a:srgbClr val="7030A0"/>
                </a:solidFill>
                <a:latin typeface="Courier"/>
                <a:cs typeface="Courier New" panose="02070309020205020404" pitchFamily="49" charset="0"/>
              </a:rPr>
              <a:t> Rectangle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::</a:t>
            </a:r>
            <a:r>
              <a:rPr lang="en-US" sz="1200" dirty="0" err="1">
                <a:latin typeface="Courier"/>
                <a:cs typeface="Courier New" panose="02070309020205020404" pitchFamily="49" charset="0"/>
              </a:rPr>
              <a:t>SetDimWithAreaAndLength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 area, </a:t>
            </a:r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double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 l)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    length = l;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    width = area / length;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6" name="Callout: Right Arrow 15">
            <a:extLst>
              <a:ext uri="{FF2B5EF4-FFF2-40B4-BE49-F238E27FC236}">
                <a16:creationId xmlns:a16="http://schemas.microsoft.com/office/drawing/2014/main" id="{FBF2FAF9-5E7F-1EFD-AFD0-5A3994FA4F52}"/>
              </a:ext>
            </a:extLst>
          </p:cNvPr>
          <p:cNvSpPr/>
          <p:nvPr/>
        </p:nvSpPr>
        <p:spPr>
          <a:xfrm>
            <a:off x="5322791" y="3827120"/>
            <a:ext cx="3316112" cy="466936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92455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6"/>
                </a:solidFill>
                <a:latin typeface="Courier"/>
                <a:cs typeface="Courier New" panose="02070309020205020404" pitchFamily="49" charset="0"/>
              </a:rPr>
              <a:t>// Mutator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 err="1">
                <a:solidFill>
                  <a:schemeClr val="tx1"/>
                </a:solidFill>
                <a:latin typeface="Courier"/>
                <a:cs typeface="Courier New" panose="02070309020205020404" pitchFamily="49" charset="0"/>
              </a:rPr>
              <a:t>SetDimWithAreaAndLength</a:t>
            </a:r>
            <a:r>
              <a:rPr lang="en-US" sz="1200" dirty="0">
                <a:solidFill>
                  <a:schemeClr val="tx1"/>
                </a:solidFill>
                <a:latin typeface="Courier"/>
                <a:cs typeface="Courier New" panose="02070309020205020404" pitchFamily="49" charset="0"/>
              </a:rPr>
              <a:t>();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929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 Functions -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53477"/>
            <a:ext cx="687443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Defining the Behaviours of an Object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b="1" u="sng" dirty="0"/>
              <a:t>Accessors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C00000"/>
                </a:solidFill>
              </a:rPr>
              <a:t>Getters</a:t>
            </a:r>
            <a:r>
              <a:rPr lang="en-CA" dirty="0"/>
              <a:t> - object status retrievers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Granting controlled read access to the values of </a:t>
            </a:r>
            <a:r>
              <a:rPr lang="en-CA" b="1" dirty="0">
                <a:solidFill>
                  <a:schemeClr val="accent1"/>
                </a:solidFill>
              </a:rPr>
              <a:t>private</a:t>
            </a:r>
            <a:r>
              <a:rPr lang="en-CA" dirty="0"/>
              <a:t> data members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Adding </a:t>
            </a:r>
            <a:r>
              <a:rPr lang="en-CA" b="1" dirty="0">
                <a:solidFill>
                  <a:schemeClr val="accent1"/>
                </a:solidFill>
              </a:rPr>
              <a:t>const</a:t>
            </a:r>
            <a:r>
              <a:rPr lang="en-CA" dirty="0"/>
              <a:t> qualifier to the end of the declaration prohibits member functions from modifying its private data members (</a:t>
            </a:r>
            <a:r>
              <a:rPr lang="en-CA" b="1" dirty="0"/>
              <a:t>read-only access</a:t>
            </a:r>
            <a:r>
              <a:rPr lang="en-CA" dirty="0"/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lvl="3"/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24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77795-3472-02A6-430F-7A0257F34CE1}"/>
              </a:ext>
            </a:extLst>
          </p:cNvPr>
          <p:cNvSpPr txBox="1"/>
          <p:nvPr/>
        </p:nvSpPr>
        <p:spPr>
          <a:xfrm>
            <a:off x="7933195" y="974433"/>
            <a:ext cx="3455334" cy="432426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Rectangle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length;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width;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Declared static inside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count;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Constructor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Rectangle(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Rectangle(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w);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Getters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GetWidth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100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int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GetTotalRect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Defined and initialized outside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WITHOUT static keyword again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Rectangle::count = 0;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AB213B-20A9-D18F-1B34-2F3BF2BC2883}"/>
              </a:ext>
            </a:extLst>
          </p:cNvPr>
          <p:cNvSpPr/>
          <p:nvPr/>
        </p:nvSpPr>
        <p:spPr>
          <a:xfrm>
            <a:off x="9045104" y="5486838"/>
            <a:ext cx="234342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L12Ex2-StaticData.cpp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4CF95D-B3EC-FE52-36D6-51D37503C49D}"/>
              </a:ext>
            </a:extLst>
          </p:cNvPr>
          <p:cNvSpPr txBox="1"/>
          <p:nvPr/>
        </p:nvSpPr>
        <p:spPr>
          <a:xfrm>
            <a:off x="1464395" y="4277299"/>
            <a:ext cx="3455334" cy="101566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"/>
                <a:cs typeface="Courier New" panose="02070309020205020404" pitchFamily="49" charset="0"/>
              </a:rPr>
              <a:t>// Length Getter</a:t>
            </a:r>
            <a:endParaRPr lang="en-US" sz="1200" b="1" dirty="0">
              <a:solidFill>
                <a:schemeClr val="accent5"/>
              </a:solidFill>
              <a:latin typeface="Courier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double</a:t>
            </a:r>
            <a:r>
              <a:rPr lang="en-US" sz="1200" b="1" dirty="0">
                <a:solidFill>
                  <a:srgbClr val="7030A0"/>
                </a:solidFill>
                <a:latin typeface="Courier"/>
                <a:cs typeface="Courier New" panose="02070309020205020404" pitchFamily="49" charset="0"/>
              </a:rPr>
              <a:t> Rectangle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::</a:t>
            </a:r>
            <a:r>
              <a:rPr lang="en-US" sz="1200" dirty="0" err="1">
                <a:latin typeface="Courier"/>
                <a:cs typeface="Courier New" panose="02070309020205020404" pitchFamily="49" charset="0"/>
              </a:rPr>
              <a:t>GetLength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() </a:t>
            </a:r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const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 length;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C00237-76E2-F716-9370-DC7FF3B4C159}"/>
              </a:ext>
            </a:extLst>
          </p:cNvPr>
          <p:cNvSpPr txBox="1"/>
          <p:nvPr/>
        </p:nvSpPr>
        <p:spPr>
          <a:xfrm>
            <a:off x="4117906" y="4821343"/>
            <a:ext cx="3455334" cy="101566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"/>
                <a:cs typeface="Courier New" panose="02070309020205020404" pitchFamily="49" charset="0"/>
              </a:rPr>
              <a:t>// Width Getter</a:t>
            </a:r>
            <a:endParaRPr lang="en-US" sz="1200" b="1" dirty="0">
              <a:solidFill>
                <a:schemeClr val="accent5"/>
              </a:solidFill>
              <a:latin typeface="Courier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double</a:t>
            </a:r>
            <a:r>
              <a:rPr lang="en-US" sz="1200" b="1" dirty="0">
                <a:solidFill>
                  <a:srgbClr val="7030A0"/>
                </a:solidFill>
                <a:latin typeface="Courier"/>
                <a:cs typeface="Courier New" panose="02070309020205020404" pitchFamily="49" charset="0"/>
              </a:rPr>
              <a:t> Rectangle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::</a:t>
            </a:r>
            <a:r>
              <a:rPr lang="en-US" sz="1200" dirty="0" err="1">
                <a:latin typeface="Courier"/>
                <a:cs typeface="Courier New" panose="02070309020205020404" pitchFamily="49" charset="0"/>
              </a:rPr>
              <a:t>GetWidth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() </a:t>
            </a:r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const</a:t>
            </a:r>
            <a:endParaRPr lang="en-US" sz="1200" dirty="0">
              <a:latin typeface="Courier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 width;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56738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 Functions -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53477"/>
            <a:ext cx="68744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Defining the Behaviours of an Object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b="1" u="sng" dirty="0"/>
              <a:t>Accessors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C00000"/>
                </a:solidFill>
              </a:rPr>
              <a:t>Derived Getters</a:t>
            </a:r>
            <a:r>
              <a:rPr lang="en-CA" dirty="0"/>
              <a:t> – retrieved values calculated from status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Typically invokes a set of algorithms to calculate values from </a:t>
            </a:r>
            <a:r>
              <a:rPr lang="en-CA" b="1" dirty="0">
                <a:solidFill>
                  <a:schemeClr val="accent1"/>
                </a:solidFill>
              </a:rPr>
              <a:t>private</a:t>
            </a:r>
            <a:r>
              <a:rPr lang="en-CA" dirty="0"/>
              <a:t> data members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</a:rPr>
              <a:t>const</a:t>
            </a:r>
            <a:r>
              <a:rPr lang="en-CA" dirty="0"/>
              <a:t> qualifier also ensures read-only access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lvl="3"/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25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77795-3472-02A6-430F-7A0257F34CE1}"/>
              </a:ext>
            </a:extLst>
          </p:cNvPr>
          <p:cNvSpPr txBox="1"/>
          <p:nvPr/>
        </p:nvSpPr>
        <p:spPr>
          <a:xfrm>
            <a:off x="7933195" y="974433"/>
            <a:ext cx="3455334" cy="432426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Rectangle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length;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width;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Declared static inside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count;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Constructor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Rectangle(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Rectangle(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w);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Getters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GetWidth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100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int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GetTotalRect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Defined and initialized outside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WITHOUT static keyword again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Rectangle::count = 0;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AB213B-20A9-D18F-1B34-2F3BF2BC2883}"/>
              </a:ext>
            </a:extLst>
          </p:cNvPr>
          <p:cNvSpPr/>
          <p:nvPr/>
        </p:nvSpPr>
        <p:spPr>
          <a:xfrm>
            <a:off x="9045104" y="5486838"/>
            <a:ext cx="234342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L12Ex2-StaticData.cpp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4CF95D-B3EC-FE52-36D6-51D37503C49D}"/>
              </a:ext>
            </a:extLst>
          </p:cNvPr>
          <p:cNvSpPr txBox="1"/>
          <p:nvPr/>
        </p:nvSpPr>
        <p:spPr>
          <a:xfrm>
            <a:off x="2895968" y="4025625"/>
            <a:ext cx="3455334" cy="101566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"/>
                <a:cs typeface="Courier New" panose="02070309020205020404" pitchFamily="49" charset="0"/>
              </a:rPr>
              <a:t>// Area (Derived) Getter</a:t>
            </a:r>
            <a:endParaRPr lang="en-US" sz="1200" b="1" dirty="0">
              <a:solidFill>
                <a:schemeClr val="accent5"/>
              </a:solidFill>
              <a:latin typeface="Courier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double</a:t>
            </a:r>
            <a:r>
              <a:rPr lang="en-US" sz="1200" b="1" dirty="0">
                <a:solidFill>
                  <a:srgbClr val="7030A0"/>
                </a:solidFill>
                <a:latin typeface="Courier"/>
                <a:cs typeface="Courier New" panose="02070309020205020404" pitchFamily="49" charset="0"/>
              </a:rPr>
              <a:t> Rectangle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::</a:t>
            </a:r>
            <a:r>
              <a:rPr lang="en-US" sz="1200" dirty="0" err="1">
                <a:latin typeface="Courier"/>
                <a:cs typeface="Courier New" panose="02070309020205020404" pitchFamily="49" charset="0"/>
              </a:rPr>
              <a:t>GetArea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() </a:t>
            </a:r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const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 length * width;</a:t>
            </a:r>
          </a:p>
          <a:p>
            <a:r>
              <a:rPr lang="en-US" sz="1200" dirty="0">
                <a:latin typeface="Courier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798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 Functions -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53477"/>
            <a:ext cx="687443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Defining the Behaviours of an Object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b="1" u="sng" dirty="0">
                <a:solidFill>
                  <a:schemeClr val="accent6"/>
                </a:solidFill>
              </a:rPr>
              <a:t>Static Methods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Apply to both Accessor and Implementor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Can access static variables and methods from </a:t>
            </a:r>
            <a:r>
              <a:rPr lang="en-CA" b="1" dirty="0"/>
              <a:t>an</a:t>
            </a:r>
            <a:br>
              <a:rPr lang="en-CA" b="1" dirty="0"/>
            </a:br>
            <a:r>
              <a:rPr lang="en-CA" b="1" dirty="0"/>
              <a:t>instance of a class </a:t>
            </a:r>
            <a:r>
              <a:rPr lang="en-CA" dirty="0"/>
              <a:t>OR </a:t>
            </a:r>
            <a:r>
              <a:rPr lang="en-CA" b="1" dirty="0"/>
              <a:t>directly by the class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Only operates on class variables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Not allowed to operate on instance variables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No instantiation required to use its class variables and</a:t>
            </a:r>
            <a:br>
              <a:rPr lang="en-CA" dirty="0"/>
            </a:br>
            <a:r>
              <a:rPr lang="en-CA" dirty="0"/>
              <a:t>class methods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lvl="3"/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26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77795-3472-02A6-430F-7A0257F34CE1}"/>
              </a:ext>
            </a:extLst>
          </p:cNvPr>
          <p:cNvSpPr txBox="1"/>
          <p:nvPr/>
        </p:nvSpPr>
        <p:spPr>
          <a:xfrm>
            <a:off x="7933195" y="974433"/>
            <a:ext cx="3455334" cy="432426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Rectangle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length;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width;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Declared static inside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count;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Constructor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Rectangle(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Rectangle(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w);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Getters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GetWidth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100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int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GetTotalRect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Defined and initialized outside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WITHOUT static keyword again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Rectangle::count = 0;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AB213B-20A9-D18F-1B34-2F3BF2BC2883}"/>
              </a:ext>
            </a:extLst>
          </p:cNvPr>
          <p:cNvSpPr/>
          <p:nvPr/>
        </p:nvSpPr>
        <p:spPr>
          <a:xfrm>
            <a:off x="9045104" y="5486838"/>
            <a:ext cx="234342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L12Ex2-StaticData.cpp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B3D929-ED55-831A-A165-C9E19219C11D}"/>
              </a:ext>
            </a:extLst>
          </p:cNvPr>
          <p:cNvSpPr txBox="1"/>
          <p:nvPr/>
        </p:nvSpPr>
        <p:spPr>
          <a:xfrm>
            <a:off x="3819077" y="4647652"/>
            <a:ext cx="3455334" cy="101566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"/>
                <a:cs typeface="Courier New" panose="02070309020205020404" pitchFamily="49" charset="0"/>
              </a:rPr>
              <a:t>// Static method definition</a:t>
            </a:r>
            <a:endParaRPr lang="en-US" sz="1200" b="1" dirty="0">
              <a:solidFill>
                <a:schemeClr val="accent5"/>
              </a:solidFill>
              <a:latin typeface="Courier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int </a:t>
            </a:r>
            <a:r>
              <a:rPr lang="en-US" sz="1200" b="1" dirty="0">
                <a:solidFill>
                  <a:srgbClr val="7030A0"/>
                </a:solidFill>
                <a:latin typeface="Courier"/>
                <a:cs typeface="Courier New" panose="02070309020205020404" pitchFamily="49" charset="0"/>
              </a:rPr>
              <a:t>Rectangle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::</a:t>
            </a:r>
            <a:r>
              <a:rPr lang="en-US" sz="1200" dirty="0" err="1">
                <a:latin typeface="Courier"/>
                <a:cs typeface="Courier New" panose="02070309020205020404" pitchFamily="49" charset="0"/>
              </a:rPr>
              <a:t>GetTotalRect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()</a:t>
            </a:r>
          </a:p>
          <a:p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    return </a:t>
            </a:r>
            <a:r>
              <a:rPr lang="en-US" sz="1200" b="1" dirty="0">
                <a:solidFill>
                  <a:srgbClr val="7030A0"/>
                </a:solidFill>
                <a:latin typeface="Courier"/>
                <a:cs typeface="Courier New" panose="02070309020205020404" pitchFamily="49" charset="0"/>
              </a:rPr>
              <a:t>Rectangle</a:t>
            </a:r>
            <a:r>
              <a:rPr lang="en-US" sz="1200" dirty="0">
                <a:latin typeface="Courier"/>
                <a:cs typeface="Courier New" panose="02070309020205020404" pitchFamily="49" charset="0"/>
              </a:rPr>
              <a:t>::count;</a:t>
            </a:r>
          </a:p>
          <a:p>
            <a:r>
              <a:rPr lang="en-US" sz="1200" b="1" dirty="0">
                <a:solidFill>
                  <a:schemeClr val="accent1"/>
                </a:solidFill>
                <a:latin typeface="Courier"/>
                <a:cs typeface="Courier New" panose="02070309020205020404" pitchFamily="49" charset="0"/>
              </a:rPr>
              <a:t>}</a:t>
            </a:r>
            <a:endParaRPr lang="en-US" sz="1200" dirty="0">
              <a:latin typeface="Courier"/>
              <a:cs typeface="Courier New" panose="02070309020205020404" pitchFamily="49" charset="0"/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080754A2-9C38-B187-9BA2-F2C4E1AF92D6}"/>
              </a:ext>
            </a:extLst>
          </p:cNvPr>
          <p:cNvSpPr/>
          <p:nvPr/>
        </p:nvSpPr>
        <p:spPr>
          <a:xfrm>
            <a:off x="1108679" y="4693059"/>
            <a:ext cx="2277723" cy="851974"/>
          </a:xfrm>
          <a:prstGeom prst="wedgeRectCallout">
            <a:avLst>
              <a:gd name="adj1" fmla="val 70060"/>
              <a:gd name="adj2" fmla="val -1708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No static keyword needed in definition (just like static member vars)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30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 Functions -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53477"/>
            <a:ext cx="687443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Graphical Representation – UML Class Diagram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200" dirty="0"/>
              <a:t>Static members – Underscore (_)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200" dirty="0"/>
              <a:t>Constant members – Add </a:t>
            </a:r>
            <a:r>
              <a:rPr lang="en-CA" sz="2200" b="1" dirty="0">
                <a:solidFill>
                  <a:schemeClr val="accent1"/>
                </a:solidFill>
              </a:rPr>
              <a:t>const</a:t>
            </a:r>
            <a:r>
              <a:rPr lang="en-CA" sz="2200" dirty="0"/>
              <a:t> behind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lvl="3"/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27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77795-3472-02A6-430F-7A0257F34CE1}"/>
              </a:ext>
            </a:extLst>
          </p:cNvPr>
          <p:cNvSpPr txBox="1"/>
          <p:nvPr/>
        </p:nvSpPr>
        <p:spPr>
          <a:xfrm>
            <a:off x="7933195" y="974433"/>
            <a:ext cx="3455334" cy="432426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Rectangle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length;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width;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Declared static inside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count;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Constructor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Rectangle(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Rectangle(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w);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Getters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GetWidth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100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int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GetTotalRect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Defined and initialized outside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WITHOUT static keyword again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Rectangle::count = 0;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AB213B-20A9-D18F-1B34-2F3BF2BC2883}"/>
              </a:ext>
            </a:extLst>
          </p:cNvPr>
          <p:cNvSpPr/>
          <p:nvPr/>
        </p:nvSpPr>
        <p:spPr>
          <a:xfrm>
            <a:off x="9045104" y="5486838"/>
            <a:ext cx="234342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L12Ex2-StaticData.cpp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D5D160-F22E-EE19-CC69-FAD6C98A95F4}"/>
              </a:ext>
            </a:extLst>
          </p:cNvPr>
          <p:cNvSpPr/>
          <p:nvPr/>
        </p:nvSpPr>
        <p:spPr>
          <a:xfrm>
            <a:off x="2688200" y="2857878"/>
            <a:ext cx="4056888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Rectangle</a:t>
            </a:r>
            <a:endParaRPr lang="en-US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F4E366-00D2-5AB7-02B8-398DFFCDB26A}"/>
              </a:ext>
            </a:extLst>
          </p:cNvPr>
          <p:cNvSpPr/>
          <p:nvPr/>
        </p:nvSpPr>
        <p:spPr>
          <a:xfrm>
            <a:off x="2698648" y="3198969"/>
            <a:ext cx="4044956" cy="72027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- length: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- width: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</a:t>
            </a:r>
          </a:p>
          <a:p>
            <a:r>
              <a:rPr lang="en-CA" sz="1400" b="1" u="sng" dirty="0">
                <a:solidFill>
                  <a:schemeClr val="tx1"/>
                </a:solidFill>
                <a:latin typeface="Courier"/>
              </a:rPr>
              <a:t>- count: </a:t>
            </a:r>
            <a:r>
              <a:rPr lang="en-CA" sz="1400" b="1" u="sng" dirty="0">
                <a:solidFill>
                  <a:schemeClr val="accent1"/>
                </a:solidFill>
                <a:latin typeface="Courier"/>
              </a:rPr>
              <a:t>int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43A8FD-13AD-46C4-7751-E15DB6F24190}"/>
              </a:ext>
            </a:extLst>
          </p:cNvPr>
          <p:cNvSpPr/>
          <p:nvPr/>
        </p:nvSpPr>
        <p:spPr>
          <a:xfrm>
            <a:off x="2698648" y="3920799"/>
            <a:ext cx="4044956" cy="172553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Rectangle()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Rectangle(l: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, w: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)</a:t>
            </a:r>
            <a:br>
              <a:rPr lang="en-CA" sz="1400" b="1" dirty="0">
                <a:solidFill>
                  <a:schemeClr val="tx1"/>
                </a:solidFill>
                <a:latin typeface="Courier"/>
              </a:rPr>
            </a:br>
            <a:endParaRPr lang="en-CA" sz="1400" b="1" dirty="0">
              <a:solidFill>
                <a:schemeClr val="tx1"/>
              </a:solidFill>
              <a:latin typeface="Courier"/>
            </a:endParaRP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GetLength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 const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GetWidth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 const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 const</a:t>
            </a:r>
          </a:p>
          <a:p>
            <a:r>
              <a:rPr lang="en-CA" sz="1400" b="1" u="sng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b="1" u="sng" dirty="0" err="1">
                <a:solidFill>
                  <a:schemeClr val="tx1"/>
                </a:solidFill>
                <a:latin typeface="Courier"/>
              </a:rPr>
              <a:t>GetTotalRect</a:t>
            </a:r>
            <a:r>
              <a:rPr lang="en-CA" sz="1400" b="1" u="sng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400" b="1" u="sng" dirty="0">
                <a:solidFill>
                  <a:schemeClr val="accent1"/>
                </a:solidFill>
                <a:latin typeface="Courier"/>
              </a:rPr>
              <a:t>int</a:t>
            </a:r>
          </a:p>
        </p:txBody>
      </p:sp>
    </p:spTree>
    <p:extLst>
      <p:ext uri="{BB962C8B-B14F-4D97-AF65-F5344CB8AC3E}">
        <p14:creationId xmlns:p14="http://schemas.microsoft.com/office/powerpoint/2010/main" val="3336800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 tmFilter="0, 0; .2, .5; .8, .5; 1, 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5" dur="250" autoRev="1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Access Control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6456665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A870D2"/>
                </a:solidFill>
              </a:rPr>
              <a:t>Private Members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Feature encapsulation, information hiding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Private member functions aka. </a:t>
            </a:r>
            <a:r>
              <a:rPr lang="en-CA" b="1" i="1" dirty="0"/>
              <a:t>Helper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2"/>
                </a:solidFill>
              </a:rPr>
              <a:t>Public Members – Class Interface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Define the behaviour of the class and the interaction</a:t>
            </a:r>
            <a:br>
              <a:rPr lang="en-CA" dirty="0"/>
            </a:br>
            <a:r>
              <a:rPr lang="en-CA" dirty="0"/>
              <a:t>model with other objects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00B050"/>
                </a:solidFill>
              </a:rPr>
              <a:t>Protected Members – Public Members to derived classes only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Not part of the class interface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Design Highlights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Default access specifier in C++ is </a:t>
            </a:r>
            <a:r>
              <a:rPr lang="en-CA" b="1" dirty="0">
                <a:solidFill>
                  <a:schemeClr val="accent5"/>
                </a:solidFill>
              </a:rPr>
              <a:t>private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Data members should be kept private / protected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Each access control section is optional, repeatable, and sections may occur in any order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But for readability, organize them nicely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28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80896E-DE28-6B0D-57A0-F5878793B864}"/>
              </a:ext>
            </a:extLst>
          </p:cNvPr>
          <p:cNvSpPr txBox="1"/>
          <p:nvPr/>
        </p:nvSpPr>
        <p:spPr>
          <a:xfrm>
            <a:off x="1945464" y="1348330"/>
            <a:ext cx="1016933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77795-3472-02A6-430F-7A0257F34CE1}"/>
              </a:ext>
            </a:extLst>
          </p:cNvPr>
          <p:cNvSpPr txBox="1"/>
          <p:nvPr/>
        </p:nvSpPr>
        <p:spPr>
          <a:xfrm>
            <a:off x="7289321" y="1465273"/>
            <a:ext cx="3455334" cy="432426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SetPower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pow 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more to come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Constructor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pow);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Getters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GetPower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Other External Interactions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Product(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Quotient(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  <a:endParaRPr lang="en-US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void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print();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28571E-657B-B06A-6DE6-9B66AE36FDEC}"/>
              </a:ext>
            </a:extLst>
          </p:cNvPr>
          <p:cNvSpPr/>
          <p:nvPr/>
        </p:nvSpPr>
        <p:spPr>
          <a:xfrm>
            <a:off x="7573992" y="1762042"/>
            <a:ext cx="2820838" cy="1155329"/>
          </a:xfrm>
          <a:prstGeom prst="rect">
            <a:avLst/>
          </a:prstGeom>
          <a:noFill/>
          <a:ln w="28575">
            <a:solidFill>
              <a:srgbClr val="AF7CD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DF68AF-8B36-9216-1D5A-940D5AAEC21E}"/>
              </a:ext>
            </a:extLst>
          </p:cNvPr>
          <p:cNvSpPr/>
          <p:nvPr/>
        </p:nvSpPr>
        <p:spPr>
          <a:xfrm>
            <a:off x="7573991" y="3360984"/>
            <a:ext cx="3088257" cy="2194647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17998338-A2D1-4EF9-6D83-981B0CEAF1BA}"/>
              </a:ext>
            </a:extLst>
          </p:cNvPr>
          <p:cNvSpPr/>
          <p:nvPr/>
        </p:nvSpPr>
        <p:spPr>
          <a:xfrm>
            <a:off x="5708800" y="4129708"/>
            <a:ext cx="774400" cy="328599"/>
          </a:xfrm>
          <a:prstGeom prst="wedgeRectCallout">
            <a:avLst>
              <a:gd name="adj1" fmla="val -67136"/>
              <a:gd name="adj2" fmla="val 5181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Why?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E37B77-7BF2-4AFD-4278-F3B47586AA08}"/>
              </a:ext>
            </a:extLst>
          </p:cNvPr>
          <p:cNvSpPr/>
          <p:nvPr/>
        </p:nvSpPr>
        <p:spPr>
          <a:xfrm>
            <a:off x="7578341" y="2980072"/>
            <a:ext cx="2820838" cy="281291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3074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OOD Basics – Object Initialization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0868CE-955A-BC9D-BEC2-A006707DD906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12-3] C++ Object Instantiation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779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Initialization - Assignment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934766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Closer look at how we can initialize values for data 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Method 1 – By Assignment (Bad Idea most of the time…)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Only works on public data members (well, bad idea…)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No control over the operational correctness of data members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b="1" i="1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30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B2810-A34B-023D-4127-04687792C6F7}"/>
              </a:ext>
            </a:extLst>
          </p:cNvPr>
          <p:cNvSpPr txBox="1"/>
          <p:nvPr/>
        </p:nvSpPr>
        <p:spPr>
          <a:xfrm>
            <a:off x="4491687" y="4293338"/>
            <a:ext cx="2333647" cy="938719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Circle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radius;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715441-ACF8-4A41-D65F-74354C73F796}"/>
              </a:ext>
            </a:extLst>
          </p:cNvPr>
          <p:cNvSpPr txBox="1"/>
          <p:nvPr/>
        </p:nvSpPr>
        <p:spPr>
          <a:xfrm>
            <a:off x="7258756" y="3867243"/>
            <a:ext cx="1885919" cy="138499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rgbClr val="A870D2"/>
                </a:solidFill>
                <a:latin typeface="Courier"/>
              </a:rPr>
              <a:t>    Circle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c1;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c1.radius = 5;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C3F54AA9-8BAE-3C0B-70AC-C511F00691C3}"/>
              </a:ext>
            </a:extLst>
          </p:cNvPr>
          <p:cNvSpPr/>
          <p:nvPr/>
        </p:nvSpPr>
        <p:spPr>
          <a:xfrm>
            <a:off x="1816385" y="3511604"/>
            <a:ext cx="2523270" cy="684361"/>
          </a:xfrm>
          <a:prstGeom prst="wedgeRectCallout">
            <a:avLst>
              <a:gd name="adj1" fmla="val 47573"/>
              <a:gd name="adj2" fmla="val 9593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rgbClr val="7F1F1F"/>
                </a:solidFill>
              </a:rPr>
              <a:t>Nothing wrong syntactically, </a:t>
            </a:r>
          </a:p>
          <a:p>
            <a:pPr algn="ctr"/>
            <a:r>
              <a:rPr lang="en-CA" sz="1600" dirty="0">
                <a:solidFill>
                  <a:srgbClr val="7F1F1F"/>
                </a:solidFill>
              </a:rPr>
              <a:t>but </a:t>
            </a:r>
            <a:r>
              <a:rPr lang="en-CA" sz="1600" b="1" dirty="0">
                <a:solidFill>
                  <a:srgbClr val="7F1F1F"/>
                </a:solidFill>
              </a:rPr>
              <a:t>anti-OOD</a:t>
            </a:r>
            <a:endParaRPr lang="en-US" sz="16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075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Initialization - Setters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93476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Closer look at how we can initialize values for data 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Method 2 – By Public Member Functions – Setters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Follows the information hiding principle to keep data members under private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b="1" i="1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31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B2810-A34B-023D-4127-04687792C6F7}"/>
              </a:ext>
            </a:extLst>
          </p:cNvPr>
          <p:cNvSpPr txBox="1"/>
          <p:nvPr/>
        </p:nvSpPr>
        <p:spPr>
          <a:xfrm>
            <a:off x="1573858" y="3197745"/>
            <a:ext cx="2644220" cy="2123658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Circle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radius;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radius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r;}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radius;}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715441-ACF8-4A41-D65F-74354C73F796}"/>
              </a:ext>
            </a:extLst>
          </p:cNvPr>
          <p:cNvSpPr txBox="1"/>
          <p:nvPr/>
        </p:nvSpPr>
        <p:spPr>
          <a:xfrm>
            <a:off x="4931396" y="3091596"/>
            <a:ext cx="4628446" cy="2677656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rgbClr val="A870D2"/>
                </a:solidFill>
                <a:latin typeface="Courier"/>
              </a:rPr>
              <a:t>    Circle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c1, *c2 = &amp;c1;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Initialize with Setter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c1.setR(5.0);  	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dot operator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c2 -&gt;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(7.0);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arrow operator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Access private data member with Getter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“R = ” &lt;&lt; c1.getR() &lt;&lt;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“R = ” &lt;&lt; c2 -&gt;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436ED83C-B567-E7B6-3BC9-025C9B2079E1}"/>
              </a:ext>
            </a:extLst>
          </p:cNvPr>
          <p:cNvSpPr/>
          <p:nvPr/>
        </p:nvSpPr>
        <p:spPr>
          <a:xfrm>
            <a:off x="8689227" y="997532"/>
            <a:ext cx="2523270" cy="1132210"/>
          </a:xfrm>
          <a:prstGeom prst="wedgeRectCallout">
            <a:avLst>
              <a:gd name="adj1" fmla="val -83526"/>
              <a:gd name="adj2" fmla="val -4596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rgbClr val="7F1F1F"/>
                </a:solidFill>
              </a:rPr>
              <a:t>Nothing wrong syntactically, </a:t>
            </a:r>
          </a:p>
          <a:p>
            <a:pPr algn="ctr"/>
            <a:r>
              <a:rPr lang="en-CA" sz="1600" dirty="0">
                <a:solidFill>
                  <a:srgbClr val="7F1F1F"/>
                </a:solidFill>
              </a:rPr>
              <a:t>but conceptually, Setters are not intended for initialization purpose</a:t>
            </a:r>
            <a:endParaRPr lang="en-US" sz="16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59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Initialization - Constructors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763002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Closer look at how we can initialize values for data 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Method 3 – Constructors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C++ Allows Constructor Overload (Multiple Constructor Flavours)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/>
              <a:t>Default Constructor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/>
              <a:t>Copy Constructor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Other Constructors with 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b="1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Serve as different versions of data member initializers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Public scope, same name as Class, no return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b="1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 C++, highlighted constructors have important roles in building </a:t>
            </a:r>
            <a:br>
              <a:rPr lang="en-CA" dirty="0"/>
            </a:br>
            <a:r>
              <a:rPr lang="en-CA" b="1" dirty="0"/>
              <a:t>Abstract Data Types (ADTs)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We may discuss the importance of them in upper year courses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32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716142-78BE-359B-B58F-3228640656C2}"/>
              </a:ext>
            </a:extLst>
          </p:cNvPr>
          <p:cNvSpPr txBox="1"/>
          <p:nvPr/>
        </p:nvSpPr>
        <p:spPr>
          <a:xfrm>
            <a:off x="8283389" y="1887074"/>
            <a:ext cx="2929108" cy="3647152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Circle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radius;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 Constructo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Circle();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Copy Constructor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Circle(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Circle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&amp;c);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Other Constructors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Circle(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radius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r;}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radius;}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B641D86E-EA31-3BF4-414A-23AD8E922185}"/>
              </a:ext>
            </a:extLst>
          </p:cNvPr>
          <p:cNvSpPr/>
          <p:nvPr/>
        </p:nvSpPr>
        <p:spPr>
          <a:xfrm>
            <a:off x="9018571" y="1320969"/>
            <a:ext cx="2193926" cy="357197"/>
          </a:xfrm>
          <a:prstGeom prst="wedgeRectCallout">
            <a:avLst>
              <a:gd name="adj1" fmla="val -43073"/>
              <a:gd name="adj2" fmla="val -9866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rgbClr val="7F1F1F"/>
                </a:solidFill>
              </a:rPr>
              <a:t>Most Common Method</a:t>
            </a:r>
            <a:endParaRPr lang="en-US" sz="1600" b="1" dirty="0">
              <a:solidFill>
                <a:srgbClr val="7F1F1F"/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BB8DA305-AF41-73EF-0EDE-496BDC4E10B9}"/>
              </a:ext>
            </a:extLst>
          </p:cNvPr>
          <p:cNvSpPr/>
          <p:nvPr/>
        </p:nvSpPr>
        <p:spPr>
          <a:xfrm>
            <a:off x="5917321" y="2942878"/>
            <a:ext cx="1878989" cy="566021"/>
          </a:xfrm>
          <a:prstGeom prst="wedgeRectCallout">
            <a:avLst>
              <a:gd name="adj1" fmla="val -88093"/>
              <a:gd name="adj2" fmla="val 651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rgbClr val="7F1F1F"/>
                </a:solidFill>
              </a:rPr>
              <a:t>Special Member Functions!</a:t>
            </a:r>
            <a:endParaRPr lang="en-US" sz="16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3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Initialization - Constructors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76300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Method 3 – Constructors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FF0000"/>
                </a:solidFill>
              </a:rPr>
              <a:t>What if my class has no constructors?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C++ supplies its </a:t>
            </a:r>
            <a:r>
              <a:rPr lang="en-CA" b="1" i="1" u="sng" dirty="0"/>
              <a:t>most basic</a:t>
            </a:r>
            <a:r>
              <a:rPr lang="en-CA" dirty="0"/>
              <a:t> </a:t>
            </a:r>
            <a:r>
              <a:rPr lang="en-CA" b="1" dirty="0">
                <a:solidFill>
                  <a:srgbClr val="7F1F1F"/>
                </a:solidFill>
              </a:rPr>
              <a:t>Default Constructor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…that initializes literally nothing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C++ also supplies its basic </a:t>
            </a:r>
            <a:r>
              <a:rPr lang="en-CA" b="1" dirty="0">
                <a:solidFill>
                  <a:srgbClr val="7030A0"/>
                </a:solidFill>
              </a:rPr>
              <a:t>Copy Constructor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Copies all the data members from an existing object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33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716142-78BE-359B-B58F-3228640656C2}"/>
              </a:ext>
            </a:extLst>
          </p:cNvPr>
          <p:cNvSpPr txBox="1"/>
          <p:nvPr/>
        </p:nvSpPr>
        <p:spPr>
          <a:xfrm>
            <a:off x="7234516" y="1517083"/>
            <a:ext cx="3726968" cy="432426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base;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height;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setTri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h)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{base = b; height = h;}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0.5 * base * height;}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31BC3E-133A-2CD2-BA85-534AAD171226}"/>
              </a:ext>
            </a:extLst>
          </p:cNvPr>
          <p:cNvSpPr txBox="1"/>
          <p:nvPr/>
        </p:nvSpPr>
        <p:spPr>
          <a:xfrm>
            <a:off x="8507505" y="3748656"/>
            <a:ext cx="2698377" cy="430887"/>
          </a:xfrm>
          <a:prstGeom prst="rect">
            <a:avLst/>
          </a:prstGeom>
          <a:ln w="28575">
            <a:solidFill>
              <a:srgbClr val="7F1F1F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Empty Default Constructor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Triangle(){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EA247D-8306-5A58-3D5C-A83B37DA9397}"/>
              </a:ext>
            </a:extLst>
          </p:cNvPr>
          <p:cNvSpPr txBox="1"/>
          <p:nvPr/>
        </p:nvSpPr>
        <p:spPr>
          <a:xfrm>
            <a:off x="8507504" y="4326892"/>
            <a:ext cx="2698377" cy="1123384"/>
          </a:xfrm>
          <a:prstGeom prst="rect">
            <a:avLst/>
          </a:prstGeom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Basic Copy Constructor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Triangle(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200" b="1" dirty="0">
                <a:solidFill>
                  <a:srgbClr val="A870D2"/>
                </a:solidFill>
                <a:latin typeface="Courier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&amp;t)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base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t.base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height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t.height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E6A419-8459-8CBA-D78B-C820A55392BD}"/>
              </a:ext>
            </a:extLst>
          </p:cNvPr>
          <p:cNvSpPr txBox="1"/>
          <p:nvPr/>
        </p:nvSpPr>
        <p:spPr>
          <a:xfrm>
            <a:off x="1668541" y="3493887"/>
            <a:ext cx="4905555" cy="600164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Initialize with Default Constructor</a:t>
            </a:r>
            <a:endParaRPr lang="en-US" sz="1100" b="1" dirty="0">
              <a:solidFill>
                <a:srgbClr val="A870D2"/>
              </a:solidFill>
              <a:latin typeface="Courier"/>
            </a:endParaRP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t1;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Triangle() implicitly called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Triangle*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t2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Triangle();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210EF9-E19F-AA51-BDB7-3D1B96931A61}"/>
              </a:ext>
            </a:extLst>
          </p:cNvPr>
          <p:cNvSpPr txBox="1"/>
          <p:nvPr/>
        </p:nvSpPr>
        <p:spPr>
          <a:xfrm>
            <a:off x="1668541" y="4267543"/>
            <a:ext cx="4905555" cy="1277273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Initialize with Copy Constructor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t3;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t3.setTri(60.0, 80.0);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t4 = t3;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Copy Constructor implicitly called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t5(t4);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Copy Constructor implicitly called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 t6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Triangle(t4);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F714E8-5F34-B7F0-1112-3D198B2664CC}"/>
              </a:ext>
            </a:extLst>
          </p:cNvPr>
          <p:cNvSpPr/>
          <p:nvPr/>
        </p:nvSpPr>
        <p:spPr>
          <a:xfrm>
            <a:off x="9015920" y="1407724"/>
            <a:ext cx="234342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L12Ex4a-NoConstr.cpp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Initialization - Constructors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763002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Method 3 – Constructors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FF0000"/>
                </a:solidFill>
              </a:rPr>
              <a:t>What if I supplied only constructors with parameters?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C++ will </a:t>
            </a:r>
            <a:r>
              <a:rPr lang="en-CA" b="1" u="sng" dirty="0"/>
              <a:t>NOT</a:t>
            </a:r>
            <a:r>
              <a:rPr lang="en-CA" dirty="0"/>
              <a:t> supply a default constructor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If still needed, you need to explicitly define 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7030A0"/>
                </a:solidFill>
              </a:rPr>
              <a:t>Copy constructor</a:t>
            </a:r>
            <a:r>
              <a:rPr lang="en-CA" dirty="0"/>
              <a:t> is still supplied by default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34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716142-78BE-359B-B58F-3228640656C2}"/>
              </a:ext>
            </a:extLst>
          </p:cNvPr>
          <p:cNvSpPr txBox="1"/>
          <p:nvPr/>
        </p:nvSpPr>
        <p:spPr>
          <a:xfrm>
            <a:off x="7234516" y="1409506"/>
            <a:ext cx="3726968" cy="4493539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base;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height;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setTri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h)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{base = b; height = h;}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0.5 * base * height;}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Other Constructor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Triangle(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h)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{base = b; height = h;}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EA247D-8306-5A58-3D5C-A83B37DA9397}"/>
              </a:ext>
            </a:extLst>
          </p:cNvPr>
          <p:cNvSpPr txBox="1"/>
          <p:nvPr/>
        </p:nvSpPr>
        <p:spPr>
          <a:xfrm>
            <a:off x="8462683" y="4582291"/>
            <a:ext cx="2698377" cy="1123384"/>
          </a:xfrm>
          <a:prstGeom prst="rect">
            <a:avLst/>
          </a:prstGeom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Basic Copy Constructor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Triangle(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200" b="1" dirty="0">
                <a:solidFill>
                  <a:srgbClr val="A870D2"/>
                </a:solidFill>
                <a:latin typeface="Courier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&amp;t)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base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t.base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height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t.height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E6A419-8459-8CBA-D78B-C820A55392BD}"/>
              </a:ext>
            </a:extLst>
          </p:cNvPr>
          <p:cNvSpPr txBox="1"/>
          <p:nvPr/>
        </p:nvSpPr>
        <p:spPr>
          <a:xfrm>
            <a:off x="1668541" y="3700074"/>
            <a:ext cx="4905555" cy="430887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Initialize with Default Constructor 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WILL FAIL</a:t>
            </a:r>
            <a:endParaRPr lang="en-US" sz="1100" b="1" dirty="0">
              <a:solidFill>
                <a:srgbClr val="FF0000"/>
              </a:solidFill>
              <a:latin typeface="Courier"/>
            </a:endParaRP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t1; 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Syntax Error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CBD4C7-8BB3-FD68-BB5E-5A505D0F86FA}"/>
              </a:ext>
            </a:extLst>
          </p:cNvPr>
          <p:cNvSpPr txBox="1"/>
          <p:nvPr/>
        </p:nvSpPr>
        <p:spPr>
          <a:xfrm>
            <a:off x="1668540" y="4396710"/>
            <a:ext cx="4905555" cy="600164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Must initialize with Existing Constructor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t2(30, 40);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 t3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Triangle(t2);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EBB038C-F0E0-5865-CF0E-E08968D26A13}"/>
              </a:ext>
            </a:extLst>
          </p:cNvPr>
          <p:cNvSpPr/>
          <p:nvPr/>
        </p:nvSpPr>
        <p:spPr>
          <a:xfrm>
            <a:off x="8869072" y="1289471"/>
            <a:ext cx="2632646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L12Ex4b-WithConstr.cpp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89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5" grpId="0" animBg="1"/>
      <p:bldP spid="1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Initialization - Constructors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763002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Method 3 – Constructors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FF0000"/>
                </a:solidFill>
              </a:rPr>
              <a:t>What if I supplied only constructors with parameters?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C++ will </a:t>
            </a:r>
            <a:r>
              <a:rPr lang="en-CA" b="1" u="sng" dirty="0"/>
              <a:t>NOT</a:t>
            </a:r>
            <a:r>
              <a:rPr lang="en-CA" dirty="0"/>
              <a:t> supply a default constructor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If still needed, you need to explicitly define 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7030A0"/>
                </a:solidFill>
              </a:rPr>
              <a:t>Copy constructor</a:t>
            </a:r>
            <a:r>
              <a:rPr lang="en-CA" dirty="0"/>
              <a:t> is still supplied by default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35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716142-78BE-359B-B58F-3228640656C2}"/>
              </a:ext>
            </a:extLst>
          </p:cNvPr>
          <p:cNvSpPr txBox="1"/>
          <p:nvPr/>
        </p:nvSpPr>
        <p:spPr>
          <a:xfrm>
            <a:off x="7234516" y="1382611"/>
            <a:ext cx="3726968" cy="4493538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base;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height;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setTri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h)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{base = b; height = h;}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0.5 * base * height;}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Other Constructor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Triangle(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h)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{base = b; height = h;}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EXPLICIT Default Constructor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Triangle()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	{base = 20; height = 50;}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EA247D-8306-5A58-3D5C-A83B37DA9397}"/>
              </a:ext>
            </a:extLst>
          </p:cNvPr>
          <p:cNvSpPr txBox="1"/>
          <p:nvPr/>
        </p:nvSpPr>
        <p:spPr>
          <a:xfrm>
            <a:off x="8514120" y="4832623"/>
            <a:ext cx="2698377" cy="1123384"/>
          </a:xfrm>
          <a:prstGeom prst="rect">
            <a:avLst/>
          </a:prstGeom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Basic Copy Constructor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Triangle(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200" b="1" dirty="0">
                <a:solidFill>
                  <a:srgbClr val="A870D2"/>
                </a:solidFill>
                <a:latin typeface="Courier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&amp;t)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base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t.base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height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t.height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E6A419-8459-8CBA-D78B-C820A55392BD}"/>
              </a:ext>
            </a:extLst>
          </p:cNvPr>
          <p:cNvSpPr txBox="1"/>
          <p:nvPr/>
        </p:nvSpPr>
        <p:spPr>
          <a:xfrm>
            <a:off x="1668541" y="3700074"/>
            <a:ext cx="4905555" cy="769441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Now initialization with Default Constructor is OK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because a default constructor is defined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t1; 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Triangle*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t4 = new Triangle(); </a:t>
            </a:r>
            <a:endParaRPr lang="en-US" sz="11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CBD4C7-8BB3-FD68-BB5E-5A505D0F86FA}"/>
              </a:ext>
            </a:extLst>
          </p:cNvPr>
          <p:cNvSpPr txBox="1"/>
          <p:nvPr/>
        </p:nvSpPr>
        <p:spPr>
          <a:xfrm>
            <a:off x="1668541" y="4709556"/>
            <a:ext cx="4905555" cy="600164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Must initialize with Existing Constructor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t2(30, 40);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 t3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Rectangle(t2);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B911266-C5EB-7521-4DB3-2CDF47E24959}"/>
              </a:ext>
            </a:extLst>
          </p:cNvPr>
          <p:cNvSpPr/>
          <p:nvPr/>
        </p:nvSpPr>
        <p:spPr>
          <a:xfrm>
            <a:off x="8869072" y="1289471"/>
            <a:ext cx="2632646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L12Ex4c-DefConstr.cpp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41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Initialization - Constructors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7630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For Reference – UML for Triangle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Reorganize the public interface for readability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36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716142-78BE-359B-B58F-3228640656C2}"/>
              </a:ext>
            </a:extLst>
          </p:cNvPr>
          <p:cNvSpPr txBox="1"/>
          <p:nvPr/>
        </p:nvSpPr>
        <p:spPr>
          <a:xfrm>
            <a:off x="7234516" y="1382611"/>
            <a:ext cx="3726968" cy="4493538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base;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height;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setTri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h)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{base = b; height = h;}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0.5 * base * height;}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Other Constructor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Triangle(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h)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{base = b; height = h;}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EXPLICIT Default Constructor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Triangle()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	{base = 20; height = 50;}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EA247D-8306-5A58-3D5C-A83B37DA9397}"/>
              </a:ext>
            </a:extLst>
          </p:cNvPr>
          <p:cNvSpPr txBox="1"/>
          <p:nvPr/>
        </p:nvSpPr>
        <p:spPr>
          <a:xfrm>
            <a:off x="8514120" y="4832623"/>
            <a:ext cx="2698377" cy="1123384"/>
          </a:xfrm>
          <a:prstGeom prst="rect">
            <a:avLst/>
          </a:prstGeom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Basic Copy Constructor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Triangle(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200" b="1" dirty="0">
                <a:solidFill>
                  <a:srgbClr val="A870D2"/>
                </a:solidFill>
                <a:latin typeface="Courier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&amp;t)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base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t.base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height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t.height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B911266-C5EB-7521-4DB3-2CDF47E24959}"/>
              </a:ext>
            </a:extLst>
          </p:cNvPr>
          <p:cNvSpPr/>
          <p:nvPr/>
        </p:nvSpPr>
        <p:spPr>
          <a:xfrm>
            <a:off x="8869072" y="1289471"/>
            <a:ext cx="2632646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L12Ex4c-DefConstr.cpp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741A9A-BBDD-9C0C-458E-50C4E482E4A8}"/>
              </a:ext>
            </a:extLst>
          </p:cNvPr>
          <p:cNvSpPr/>
          <p:nvPr/>
        </p:nvSpPr>
        <p:spPr>
          <a:xfrm>
            <a:off x="1940767" y="2589438"/>
            <a:ext cx="4109962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Triangle</a:t>
            </a:r>
            <a:endParaRPr lang="en-US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572AE2-BD64-BFBE-ED6B-8EA6ED3AFF30}"/>
              </a:ext>
            </a:extLst>
          </p:cNvPr>
          <p:cNvSpPr/>
          <p:nvPr/>
        </p:nvSpPr>
        <p:spPr>
          <a:xfrm>
            <a:off x="1940767" y="2930529"/>
            <a:ext cx="4109021" cy="72027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- base: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</a:t>
            </a: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- height: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274D52-E9E2-8F03-7CE0-0B9579177AA3}"/>
              </a:ext>
            </a:extLst>
          </p:cNvPr>
          <p:cNvSpPr/>
          <p:nvPr/>
        </p:nvSpPr>
        <p:spPr>
          <a:xfrm>
            <a:off x="1940767" y="3652359"/>
            <a:ext cx="4109021" cy="172553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+ Triangle()</a:t>
            </a: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+ Triangle(b: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, h: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)</a:t>
            </a: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+ Triangle(t: </a:t>
            </a:r>
            <a:r>
              <a:rPr lang="en-CA" sz="1400" b="1" dirty="0">
                <a:solidFill>
                  <a:srgbClr val="AF7CD6"/>
                </a:solidFill>
                <a:latin typeface="Courier"/>
              </a:rPr>
              <a:t>Triangle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&amp;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const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)</a:t>
            </a:r>
            <a:br>
              <a:rPr lang="en-CA" sz="1400" dirty="0">
                <a:solidFill>
                  <a:schemeClr val="tx1"/>
                </a:solidFill>
                <a:latin typeface="Courier"/>
              </a:rPr>
            </a:br>
            <a:endParaRPr lang="en-CA" sz="1400" dirty="0">
              <a:solidFill>
                <a:schemeClr val="tx1"/>
              </a:solidFill>
              <a:latin typeface="Courier"/>
            </a:endParaRP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dirty="0" err="1">
                <a:solidFill>
                  <a:schemeClr val="tx1"/>
                </a:solidFill>
                <a:latin typeface="Courier"/>
              </a:rPr>
              <a:t>getArea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</a:t>
            </a: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dirty="0" err="1">
                <a:solidFill>
                  <a:schemeClr val="tx1"/>
                </a:solidFill>
                <a:latin typeface="Courier"/>
              </a:rPr>
              <a:t>setTri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(b: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, h: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void</a:t>
            </a:r>
          </a:p>
        </p:txBody>
      </p:sp>
    </p:spTree>
    <p:extLst>
      <p:ext uri="{BB962C8B-B14F-4D97-AF65-F5344CB8AC3E}">
        <p14:creationId xmlns:p14="http://schemas.microsoft.com/office/powerpoint/2010/main" val="329683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Initialization - Constructors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7630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Why Constructor is preferred over other methods?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More control over data members under different initialization needs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37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9A2A7-D5F0-8391-3FB5-B00011A654D0}"/>
              </a:ext>
            </a:extLst>
          </p:cNvPr>
          <p:cNvSpPr txBox="1"/>
          <p:nvPr/>
        </p:nvSpPr>
        <p:spPr>
          <a:xfrm>
            <a:off x="896468" y="2480431"/>
            <a:ext cx="4150662" cy="313932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Account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name;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balance;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 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id;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Default Constructor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Account();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Copy Constructor (for assignment)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Account(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Account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&amp;a);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Extra Constructor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 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with name, zero balance, no id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Account(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 person);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0E221A-5E83-3887-D4EE-9C464FB0E601}"/>
              </a:ext>
            </a:extLst>
          </p:cNvPr>
          <p:cNvSpPr txBox="1"/>
          <p:nvPr/>
        </p:nvSpPr>
        <p:spPr>
          <a:xfrm>
            <a:off x="4746811" y="2605687"/>
            <a:ext cx="2698377" cy="1277273"/>
          </a:xfrm>
          <a:prstGeom prst="rect">
            <a:avLst/>
          </a:prstGeom>
          <a:ln w="28575">
            <a:solidFill>
              <a:srgbClr val="7F1F1F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 Constructor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Account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::Account()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name = NULL;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balance = 0.0;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id =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FA1631-4CB4-825E-6C92-E3170C885AFA}"/>
              </a:ext>
            </a:extLst>
          </p:cNvPr>
          <p:cNvSpPr txBox="1"/>
          <p:nvPr/>
        </p:nvSpPr>
        <p:spPr>
          <a:xfrm>
            <a:off x="7653507" y="2611966"/>
            <a:ext cx="3558990" cy="1461939"/>
          </a:xfrm>
          <a:prstGeom prst="rect">
            <a:avLst/>
          </a:prstGeom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Copy Constructor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Account::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Account(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Account</a:t>
            </a:r>
            <a:r>
              <a:rPr lang="en-US" sz="1200" b="1" dirty="0">
                <a:solidFill>
                  <a:srgbClr val="A870D2"/>
                </a:solidFill>
                <a:latin typeface="Courier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&amp;a)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name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char[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(a.name) + 1];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(name, a.name);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balance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a.balance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id = a.id;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7E1F52-333F-5691-4FE7-260881150584}"/>
              </a:ext>
            </a:extLst>
          </p:cNvPr>
          <p:cNvSpPr txBox="1"/>
          <p:nvPr/>
        </p:nvSpPr>
        <p:spPr>
          <a:xfrm>
            <a:off x="5513294" y="4196366"/>
            <a:ext cx="3558990" cy="1461939"/>
          </a:xfrm>
          <a:prstGeom prst="rect">
            <a:avLst/>
          </a:prstGeom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Extra Constructor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Account::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Account(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char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person)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name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char[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(person) + 1];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(name, person);</a:t>
            </a:r>
          </a:p>
          <a:p>
            <a:r>
              <a:rPr lang="en-US" sz="11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balance = 0.0;</a:t>
            </a:r>
          </a:p>
          <a:p>
            <a:r>
              <a:rPr lang="en-US" sz="11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id =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AD27C96-2B95-12E9-39E9-0BE25EA2F183}"/>
              </a:ext>
            </a:extLst>
          </p:cNvPr>
          <p:cNvSpPr/>
          <p:nvPr/>
        </p:nvSpPr>
        <p:spPr>
          <a:xfrm>
            <a:off x="8726699" y="1647151"/>
            <a:ext cx="2632646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L12Ex5-Account.cpp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271AA42F-1F2C-7913-6B4C-530DA8AAAF17}"/>
              </a:ext>
            </a:extLst>
          </p:cNvPr>
          <p:cNvSpPr/>
          <p:nvPr/>
        </p:nvSpPr>
        <p:spPr>
          <a:xfrm>
            <a:off x="8845815" y="5358606"/>
            <a:ext cx="2366682" cy="299699"/>
          </a:xfrm>
          <a:prstGeom prst="wedgeRectCallout">
            <a:avLst>
              <a:gd name="adj1" fmla="val -41982"/>
              <a:gd name="adj2" fmla="val -10047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rgbClr val="FF0000"/>
                </a:solidFill>
              </a:rPr>
              <a:t>But there is a problem….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41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 animBg="1"/>
      <p:bldP spid="14" grpId="0" animBg="1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Creation and Destruction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38</a:t>
            </a:fld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1303F2-7022-C4E4-2E33-3E47A4A00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545" y="533203"/>
            <a:ext cx="2421952" cy="52017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934766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Object Creation may involve Members on </a:t>
            </a:r>
            <a:r>
              <a:rPr lang="en-CA" sz="2200" b="1" dirty="0">
                <a:solidFill>
                  <a:srgbClr val="7030A0"/>
                </a:solidFill>
              </a:rPr>
              <a:t>Heap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Constructor will be responsible for allocation operation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But who will be responsible for deallocation operation before program ends?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3FB615-75FE-731E-A6D6-FA75B34F1963}"/>
              </a:ext>
            </a:extLst>
          </p:cNvPr>
          <p:cNvSpPr txBox="1"/>
          <p:nvPr/>
        </p:nvSpPr>
        <p:spPr>
          <a:xfrm>
            <a:off x="855921" y="2653940"/>
            <a:ext cx="4150662" cy="313932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Account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name;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balance;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 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id;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Extra Constructor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 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with name, zero balance, no id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Account(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 person)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	name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char[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(person) + 1];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(name, a.name);</a:t>
            </a:r>
          </a:p>
          <a:p>
            <a:r>
              <a:rPr lang="en-US" sz="11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0.0;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id =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EB53CF-C36D-066F-958E-0447094B3711}"/>
              </a:ext>
            </a:extLst>
          </p:cNvPr>
          <p:cNvSpPr/>
          <p:nvPr/>
        </p:nvSpPr>
        <p:spPr>
          <a:xfrm>
            <a:off x="1721633" y="4678273"/>
            <a:ext cx="3235445" cy="20879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BAD76A-FF76-C3EB-724C-668BE8FFFAA5}"/>
              </a:ext>
            </a:extLst>
          </p:cNvPr>
          <p:cNvSpPr txBox="1"/>
          <p:nvPr/>
        </p:nvSpPr>
        <p:spPr>
          <a:xfrm>
            <a:off x="5169139" y="2846169"/>
            <a:ext cx="2904748" cy="127727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    Account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a1(“Terry Foster”);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do some important work…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B5C6DF6A-0DE9-786C-A7F1-7B4FBB0FD293}"/>
              </a:ext>
            </a:extLst>
          </p:cNvPr>
          <p:cNvSpPr/>
          <p:nvPr/>
        </p:nvSpPr>
        <p:spPr>
          <a:xfrm>
            <a:off x="5427900" y="4416389"/>
            <a:ext cx="3671276" cy="890716"/>
          </a:xfrm>
          <a:prstGeom prst="wedgeRectCallout">
            <a:avLst>
              <a:gd name="adj1" fmla="val -49004"/>
              <a:gd name="adj2" fmla="val -9411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  <a:latin typeface="Courier"/>
              </a:rPr>
              <a:t>a1</a:t>
            </a:r>
            <a:r>
              <a:rPr lang="en-CA" sz="1600" dirty="0">
                <a:solidFill>
                  <a:schemeClr val="tx1"/>
                </a:solidFill>
              </a:rPr>
              <a:t> will be popped off the Stack before program ends… but will the </a:t>
            </a:r>
            <a:r>
              <a:rPr lang="en-CA" sz="1600" dirty="0">
                <a:solidFill>
                  <a:schemeClr val="tx1"/>
                </a:solidFill>
                <a:latin typeface="Courier"/>
              </a:rPr>
              <a:t>name</a:t>
            </a:r>
            <a:r>
              <a:rPr lang="en-CA" sz="1600" dirty="0">
                <a:solidFill>
                  <a:schemeClr val="tx1"/>
                </a:solidFill>
              </a:rPr>
              <a:t> member be deleted from Heap alongside?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984942CB-C2F3-F2DF-BBED-E4861EC7DF7E}"/>
              </a:ext>
            </a:extLst>
          </p:cNvPr>
          <p:cNvSpPr/>
          <p:nvPr/>
        </p:nvSpPr>
        <p:spPr>
          <a:xfrm>
            <a:off x="6795247" y="5431915"/>
            <a:ext cx="1636969" cy="299699"/>
          </a:xfrm>
          <a:prstGeom prst="wedgeRectCallout">
            <a:avLst>
              <a:gd name="adj1" fmla="val 39346"/>
              <a:gd name="adj2" fmla="val -10346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>
                <a:solidFill>
                  <a:srgbClr val="FF0000"/>
                </a:solidFill>
              </a:rPr>
              <a:t>Nope!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1CAC86-DA09-B44C-9F32-67EB6A943844}"/>
              </a:ext>
            </a:extLst>
          </p:cNvPr>
          <p:cNvSpPr/>
          <p:nvPr/>
        </p:nvSpPr>
        <p:spPr>
          <a:xfrm>
            <a:off x="9634641" y="1010649"/>
            <a:ext cx="366880" cy="22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FF0093-8EE8-CC3A-3AF8-998CA7F9D8FC}"/>
              </a:ext>
            </a:extLst>
          </p:cNvPr>
          <p:cNvSpPr/>
          <p:nvPr/>
        </p:nvSpPr>
        <p:spPr>
          <a:xfrm>
            <a:off x="9455585" y="2849819"/>
            <a:ext cx="853953" cy="214223"/>
          </a:xfrm>
          <a:prstGeom prst="rect">
            <a:avLst/>
          </a:prstGeom>
          <a:solidFill>
            <a:srgbClr val="AF7CD6"/>
          </a:solidFill>
          <a:ln w="28575"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name []</a:t>
            </a: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3740846F-6426-D8B6-E585-0C246791441B}"/>
              </a:ext>
            </a:extLst>
          </p:cNvPr>
          <p:cNvSpPr/>
          <p:nvPr/>
        </p:nvSpPr>
        <p:spPr>
          <a:xfrm rot="10800000">
            <a:off x="9634641" y="1235370"/>
            <a:ext cx="118959" cy="161079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51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4" presetClass="exit" presetSubtype="1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4" presetClass="exit" presetSubtype="1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6" grpId="1" animBg="1"/>
      <p:bldP spid="27" grpId="0" animBg="1"/>
      <p:bldP spid="28" grpId="0" animBg="1"/>
      <p:bldP spid="28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Destruction - Destructor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39</a:t>
            </a:fld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1303F2-7022-C4E4-2E33-3E47A4A00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545" y="533203"/>
            <a:ext cx="2421952" cy="52017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934766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Who will be responsible for member deallocation?  </a:t>
            </a:r>
            <a:r>
              <a:rPr lang="en-CA" sz="2200" b="1" dirty="0">
                <a:solidFill>
                  <a:srgbClr val="0000FF"/>
                </a:solidFill>
              </a:rPr>
              <a:t>YOU.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C++ only deletes surface-level instances, not sub-level Heap instances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Certain sub-level heap members may be shared by other system parts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You therefore must specify the “cleanup routine” – the </a:t>
            </a:r>
            <a:r>
              <a:rPr lang="en-CA" b="1" dirty="0">
                <a:solidFill>
                  <a:srgbClr val="0000FF"/>
                </a:solidFill>
              </a:rPr>
              <a:t>Destructor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Destructor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special member function that is automatically called </a:t>
            </a:r>
            <a:r>
              <a:rPr lang="en-CA" b="1" i="1" dirty="0"/>
              <a:t>immediately before </a:t>
            </a:r>
            <a:r>
              <a:rPr lang="en-CA" dirty="0"/>
              <a:t>the </a:t>
            </a:r>
            <a:br>
              <a:rPr lang="en-CA" dirty="0"/>
            </a:br>
            <a:r>
              <a:rPr lang="en-CA" dirty="0"/>
              <a:t>object is deallocated / deleted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Its name is the class name with tilde(~) prefix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Has no arguments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Used to release heap members and other cleanup activities (ex. File handle, etc.)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If no need to specify cleanup routine, the Destructor definition can be omitted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C++ Default Destructor is empty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1CAC86-DA09-B44C-9F32-67EB6A943844}"/>
              </a:ext>
            </a:extLst>
          </p:cNvPr>
          <p:cNvSpPr/>
          <p:nvPr/>
        </p:nvSpPr>
        <p:spPr>
          <a:xfrm>
            <a:off x="9634641" y="1010649"/>
            <a:ext cx="366880" cy="22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FF0093-8EE8-CC3A-3AF8-998CA7F9D8FC}"/>
              </a:ext>
            </a:extLst>
          </p:cNvPr>
          <p:cNvSpPr/>
          <p:nvPr/>
        </p:nvSpPr>
        <p:spPr>
          <a:xfrm>
            <a:off x="9455585" y="2849819"/>
            <a:ext cx="853953" cy="214223"/>
          </a:xfrm>
          <a:prstGeom prst="rect">
            <a:avLst/>
          </a:prstGeom>
          <a:solidFill>
            <a:srgbClr val="AF7CD6"/>
          </a:solidFill>
          <a:ln w="28575"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name []</a:t>
            </a: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3740846F-6426-D8B6-E585-0C246791441B}"/>
              </a:ext>
            </a:extLst>
          </p:cNvPr>
          <p:cNvSpPr/>
          <p:nvPr/>
        </p:nvSpPr>
        <p:spPr>
          <a:xfrm rot="10800000">
            <a:off x="9634641" y="1235370"/>
            <a:ext cx="118959" cy="161079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86E5FB89-1C38-0EE7-2F47-3F0980365847}"/>
              </a:ext>
            </a:extLst>
          </p:cNvPr>
          <p:cNvSpPr/>
          <p:nvPr/>
        </p:nvSpPr>
        <p:spPr>
          <a:xfrm>
            <a:off x="3103194" y="2889968"/>
            <a:ext cx="2598080" cy="348148"/>
          </a:xfrm>
          <a:prstGeom prst="wedgeRectCallout">
            <a:avLst>
              <a:gd name="adj1" fmla="val -71556"/>
              <a:gd name="adj2" fmla="val 4101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rgbClr val="7F1F1F"/>
                </a:solidFill>
              </a:rPr>
              <a:t>Special Member Function!</a:t>
            </a:r>
            <a:endParaRPr lang="en-US" sz="16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Destruction - Destructor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40</a:t>
            </a:fld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1303F2-7022-C4E4-2E33-3E47A4A00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545" y="533203"/>
            <a:ext cx="2421952" cy="52017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934766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Object Creation may involve Members on </a:t>
            </a:r>
            <a:r>
              <a:rPr lang="en-CA" sz="2200" b="1" dirty="0">
                <a:solidFill>
                  <a:srgbClr val="7030A0"/>
                </a:solidFill>
              </a:rPr>
              <a:t>Heap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But who will be responsible for deallocation operation before program ends?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We must specify the cleanup routine in the </a:t>
            </a:r>
            <a:r>
              <a:rPr lang="en-CA" b="1" dirty="0"/>
              <a:t>Destructor</a:t>
            </a:r>
            <a:r>
              <a:rPr lang="en-CA" dirty="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3FB615-75FE-731E-A6D6-FA75B34F1963}"/>
              </a:ext>
            </a:extLst>
          </p:cNvPr>
          <p:cNvSpPr txBox="1"/>
          <p:nvPr/>
        </p:nvSpPr>
        <p:spPr>
          <a:xfrm>
            <a:off x="855921" y="2653940"/>
            <a:ext cx="4150662" cy="313932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Account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name;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balance;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 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id;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Extra Constructor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 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with name, zero balance, no id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Account(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 person)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	name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char[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(person) + 1];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(name, a.name);</a:t>
            </a:r>
          </a:p>
          <a:p>
            <a:r>
              <a:rPr lang="en-US" sz="11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0.0;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id =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EB53CF-C36D-066F-958E-0447094B3711}"/>
              </a:ext>
            </a:extLst>
          </p:cNvPr>
          <p:cNvSpPr/>
          <p:nvPr/>
        </p:nvSpPr>
        <p:spPr>
          <a:xfrm>
            <a:off x="1721633" y="4678273"/>
            <a:ext cx="3235445" cy="20879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BAD76A-FF76-C3EB-724C-668BE8FFFAA5}"/>
              </a:ext>
            </a:extLst>
          </p:cNvPr>
          <p:cNvSpPr txBox="1"/>
          <p:nvPr/>
        </p:nvSpPr>
        <p:spPr>
          <a:xfrm>
            <a:off x="5329859" y="2653940"/>
            <a:ext cx="2904748" cy="127727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    Account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a1(“Terry Foster”);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do some important work…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1CAC86-DA09-B44C-9F32-67EB6A943844}"/>
              </a:ext>
            </a:extLst>
          </p:cNvPr>
          <p:cNvSpPr/>
          <p:nvPr/>
        </p:nvSpPr>
        <p:spPr>
          <a:xfrm>
            <a:off x="9634641" y="1010649"/>
            <a:ext cx="366880" cy="22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FF0093-8EE8-CC3A-3AF8-998CA7F9D8FC}"/>
              </a:ext>
            </a:extLst>
          </p:cNvPr>
          <p:cNvSpPr/>
          <p:nvPr/>
        </p:nvSpPr>
        <p:spPr>
          <a:xfrm>
            <a:off x="9455585" y="2849819"/>
            <a:ext cx="853953" cy="214223"/>
          </a:xfrm>
          <a:prstGeom prst="rect">
            <a:avLst/>
          </a:prstGeom>
          <a:solidFill>
            <a:srgbClr val="AF7CD6"/>
          </a:solidFill>
          <a:ln w="28575"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name []</a:t>
            </a: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3740846F-6426-D8B6-E585-0C246791441B}"/>
              </a:ext>
            </a:extLst>
          </p:cNvPr>
          <p:cNvSpPr/>
          <p:nvPr/>
        </p:nvSpPr>
        <p:spPr>
          <a:xfrm rot="10800000">
            <a:off x="9634641" y="1235370"/>
            <a:ext cx="118959" cy="161079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llout: Right Arrow 1">
            <a:extLst>
              <a:ext uri="{FF2B5EF4-FFF2-40B4-BE49-F238E27FC236}">
                <a16:creationId xmlns:a16="http://schemas.microsoft.com/office/drawing/2014/main" id="{6DDBA372-3640-D6D8-0861-BF8120ABB166}"/>
              </a:ext>
            </a:extLst>
          </p:cNvPr>
          <p:cNvSpPr/>
          <p:nvPr/>
        </p:nvSpPr>
        <p:spPr>
          <a:xfrm flipH="1">
            <a:off x="4635445" y="4860639"/>
            <a:ext cx="2186695" cy="950552"/>
          </a:xfrm>
          <a:prstGeom prst="rightArrowCallout">
            <a:avLst>
              <a:gd name="adj1" fmla="val 14751"/>
              <a:gd name="adj2" fmla="val 13043"/>
              <a:gd name="adj3" fmla="val 23292"/>
              <a:gd name="adj4" fmla="val 78568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accent6"/>
                </a:solidFill>
                <a:latin typeface="Courier"/>
                <a:cs typeface="Courier New" panose="02070309020205020404" pitchFamily="49" charset="0"/>
              </a:rPr>
              <a:t>// Destructor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~Account()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name;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D460C6F2-6384-16AC-7299-8B57A0C33065}"/>
              </a:ext>
            </a:extLst>
          </p:cNvPr>
          <p:cNvSpPr/>
          <p:nvPr/>
        </p:nvSpPr>
        <p:spPr>
          <a:xfrm>
            <a:off x="6020081" y="4007556"/>
            <a:ext cx="2492495" cy="603846"/>
          </a:xfrm>
          <a:prstGeom prst="wedgeRectCallout">
            <a:avLst>
              <a:gd name="adj1" fmla="val -49004"/>
              <a:gd name="adj2" fmla="val -9411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Destructor called before </a:t>
            </a:r>
            <a:r>
              <a:rPr lang="en-CA" sz="1600" dirty="0">
                <a:solidFill>
                  <a:schemeClr val="tx1"/>
                </a:solidFill>
                <a:latin typeface="Courier"/>
              </a:rPr>
              <a:t>a1</a:t>
            </a:r>
            <a:r>
              <a:rPr lang="en-CA" sz="1600" dirty="0">
                <a:solidFill>
                  <a:schemeClr val="tx1"/>
                </a:solidFill>
              </a:rPr>
              <a:t> popped off from the Stack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6533B1-48DD-1342-3AB1-3DDF53C3E2AC}"/>
              </a:ext>
            </a:extLst>
          </p:cNvPr>
          <p:cNvSpPr/>
          <p:nvPr/>
        </p:nvSpPr>
        <p:spPr>
          <a:xfrm>
            <a:off x="6523461" y="4931677"/>
            <a:ext cx="2632646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L12Ex5-Account.cpp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25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" autoRev="1" fill="remove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" dur="250" autoRev="1" fill="remove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" grpId="0" animBg="1"/>
      <p:bldP spid="2" grpId="1" animBg="1"/>
      <p:bldP spid="5" grpId="0" animBg="1"/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Destruction - Destructor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664704" y="1560993"/>
            <a:ext cx="7630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For Reference – UML for Account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complete class implementation is in the sample code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41</a:t>
            </a:fld>
            <a:endParaRPr lang="en-CA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741A9A-BBDD-9C0C-458E-50C4E482E4A8}"/>
              </a:ext>
            </a:extLst>
          </p:cNvPr>
          <p:cNvSpPr/>
          <p:nvPr/>
        </p:nvSpPr>
        <p:spPr>
          <a:xfrm>
            <a:off x="2213180" y="2431176"/>
            <a:ext cx="3688080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Account</a:t>
            </a:r>
            <a:endParaRPr lang="en-US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572AE2-BD64-BFBE-ED6B-8EA6ED3AFF30}"/>
              </a:ext>
            </a:extLst>
          </p:cNvPr>
          <p:cNvSpPr/>
          <p:nvPr/>
        </p:nvSpPr>
        <p:spPr>
          <a:xfrm>
            <a:off x="2223086" y="2772267"/>
            <a:ext cx="3677233" cy="72027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- name: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char*</a:t>
            </a: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- balance: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</a:t>
            </a: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- id: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unsigned int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274D52-E9E2-8F03-7CE0-0B9579177AA3}"/>
              </a:ext>
            </a:extLst>
          </p:cNvPr>
          <p:cNvSpPr/>
          <p:nvPr/>
        </p:nvSpPr>
        <p:spPr>
          <a:xfrm>
            <a:off x="2223086" y="3494097"/>
            <a:ext cx="3677233" cy="218027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+ Account()</a:t>
            </a: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+ Account(a: </a:t>
            </a:r>
            <a:r>
              <a:rPr lang="en-CA" sz="1400" b="1" dirty="0">
                <a:solidFill>
                  <a:srgbClr val="AF7CD6"/>
                </a:solidFill>
                <a:latin typeface="Courier"/>
              </a:rPr>
              <a:t>Account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&amp;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const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)</a:t>
            </a: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+ Account(person: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char* const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)</a:t>
            </a: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+ Account(person: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char* const</a:t>
            </a:r>
          </a:p>
          <a:p>
            <a:r>
              <a:rPr lang="en-CA" sz="1400" b="1" dirty="0">
                <a:solidFill>
                  <a:schemeClr val="accent1"/>
                </a:solidFill>
                <a:latin typeface="Courier"/>
              </a:rPr>
              <a:t>          </a:t>
            </a:r>
            <a:r>
              <a:rPr lang="en-CA" sz="1400" dirty="0" err="1">
                <a:solidFill>
                  <a:schemeClr val="tx1"/>
                </a:solidFill>
                <a:latin typeface="Courier"/>
              </a:rPr>
              <a:t>bal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: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 double</a:t>
            </a:r>
          </a:p>
          <a:p>
            <a:r>
              <a:rPr lang="en-CA" sz="1400" b="1" dirty="0">
                <a:solidFill>
                  <a:schemeClr val="accent1"/>
                </a:solidFill>
                <a:latin typeface="Courier"/>
              </a:rPr>
              <a:t>          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i: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unsigned int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)</a:t>
            </a:r>
            <a:br>
              <a:rPr lang="en-CA" sz="1400" dirty="0">
                <a:solidFill>
                  <a:schemeClr val="tx1"/>
                </a:solidFill>
                <a:latin typeface="Courier"/>
              </a:rPr>
            </a:br>
            <a:r>
              <a:rPr lang="en-CA" sz="1400" dirty="0">
                <a:solidFill>
                  <a:schemeClr val="tx1"/>
                </a:solidFill>
                <a:latin typeface="Courier"/>
              </a:rPr>
              <a:t>+ ~Account()</a:t>
            </a:r>
            <a:endParaRPr lang="en-CA" sz="1400" b="1" dirty="0">
              <a:solidFill>
                <a:schemeClr val="accent1"/>
              </a:solidFill>
              <a:latin typeface="Courier"/>
            </a:endParaRPr>
          </a:p>
          <a:p>
            <a:endParaRPr lang="en-CA" sz="1400" dirty="0">
              <a:solidFill>
                <a:schemeClr val="tx1"/>
              </a:solidFill>
              <a:latin typeface="Courier"/>
            </a:endParaRP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+ print():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void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E4C24A-2224-38F8-8CC2-EE8C7C29A676}"/>
              </a:ext>
            </a:extLst>
          </p:cNvPr>
          <p:cNvSpPr txBox="1"/>
          <p:nvPr/>
        </p:nvSpPr>
        <p:spPr>
          <a:xfrm>
            <a:off x="7035459" y="2185485"/>
            <a:ext cx="4150662" cy="3647152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Account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name;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balance;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 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id;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Constructors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Account();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Account(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Account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&amp;a);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Account(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 person);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Account(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 person, </a:t>
            </a:r>
            <a:b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~Account();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Method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print();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A11F8D-A6D3-4096-B7FC-E10955337003}"/>
              </a:ext>
            </a:extLst>
          </p:cNvPr>
          <p:cNvSpPr/>
          <p:nvPr/>
        </p:nvSpPr>
        <p:spPr>
          <a:xfrm>
            <a:off x="8579851" y="1510698"/>
            <a:ext cx="2632646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L12Ex5-Account.cpp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82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OOD Basics – C++ Special Member Functions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of the Six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0868CE-955A-BC9D-BEC2-A006707DD906}"/>
              </a:ext>
            </a:extLst>
          </p:cNvPr>
          <p:cNvSpPr txBox="1"/>
          <p:nvPr/>
        </p:nvSpPr>
        <p:spPr>
          <a:xfrm>
            <a:off x="831849" y="551471"/>
            <a:ext cx="619926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US" sz="2000" b="1" dirty="0">
                <a:solidFill>
                  <a:srgbClr val="7F1F1F"/>
                </a:solidFill>
              </a:rPr>
              <a:t>[PLV 12-4] Making Objects Behave Primitive</a:t>
            </a:r>
          </a:p>
        </p:txBody>
      </p:sp>
    </p:spTree>
    <p:extLst>
      <p:ext uri="{BB962C8B-B14F-4D97-AF65-F5344CB8AC3E}">
        <p14:creationId xmlns:p14="http://schemas.microsoft.com/office/powerpoint/2010/main" val="33579549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Special Member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927013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Something is still Missing…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C++ Class should behave as closely as possible as primitive data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rgbClr val="7F1F1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C++ Offers…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7F1F1F"/>
                </a:solidFill>
              </a:rPr>
              <a:t>6 Special Member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7F1F1F"/>
                </a:solidFill>
              </a:rPr>
              <a:t>30+ over-loadable operators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rgbClr val="7F1F1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You can customize these special functions</a:t>
            </a:r>
            <a:br>
              <a:rPr lang="en-CA" dirty="0"/>
            </a:br>
            <a:r>
              <a:rPr lang="en-CA" dirty="0"/>
              <a:t>to make your class as </a:t>
            </a:r>
            <a:r>
              <a:rPr lang="en-CA" i="1" dirty="0"/>
              <a:t>primitive-like</a:t>
            </a:r>
            <a:r>
              <a:rPr lang="en-CA" dirty="0"/>
              <a:t> as possible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We will discuss only the 6 special member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b="1" i="1" dirty="0"/>
              <a:t>Focusing on the main 4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Including assignment operator overload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43</a:t>
            </a:fld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B656CB-6F97-F34C-BA21-764FF67F33BF}"/>
              </a:ext>
            </a:extLst>
          </p:cNvPr>
          <p:cNvSpPr txBox="1"/>
          <p:nvPr/>
        </p:nvSpPr>
        <p:spPr>
          <a:xfrm>
            <a:off x="6265108" y="2320696"/>
            <a:ext cx="4905555" cy="600164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Initialize with Default Constructor</a:t>
            </a:r>
            <a:endParaRPr lang="en-US" sz="1100" b="1" dirty="0">
              <a:solidFill>
                <a:srgbClr val="A870D2"/>
              </a:solidFill>
              <a:latin typeface="Courier"/>
            </a:endParaRP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t1;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Triangle() implicitly called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Triangle*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t2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Triangle();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32775B-DED2-9A51-83C2-FC304B4E909A}"/>
              </a:ext>
            </a:extLst>
          </p:cNvPr>
          <p:cNvSpPr txBox="1"/>
          <p:nvPr/>
        </p:nvSpPr>
        <p:spPr>
          <a:xfrm>
            <a:off x="6265108" y="3032206"/>
            <a:ext cx="4905555" cy="1277273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Initialize with Copy Constructor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t3;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t3.setTri(60.0, 80.0);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t4 = t3;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Copy Constructor implicitly called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t5(t4);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Copy Constructor implicitly called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 t6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Triangle(t4);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4E407A-888E-4C8C-D3EE-2C12F5B6764E}"/>
              </a:ext>
            </a:extLst>
          </p:cNvPr>
          <p:cNvSpPr txBox="1"/>
          <p:nvPr/>
        </p:nvSpPr>
        <p:spPr>
          <a:xfrm>
            <a:off x="6265108" y="4446340"/>
            <a:ext cx="4905555" cy="1107996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What if I want to do the following?</a:t>
            </a:r>
            <a:endParaRPr lang="en-US" sz="1100" b="1" dirty="0">
              <a:solidFill>
                <a:srgbClr val="FF0000"/>
              </a:solidFill>
              <a:latin typeface="Courier"/>
            </a:endParaRP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result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(tri1, tri2);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(result</a:t>
            </a:r>
            <a:r>
              <a:rPr lang="zh-TW" alt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zh-TW" alt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tri3)? </a:t>
            </a:r>
            <a:r>
              <a:rPr lang="en-US" altLang="zh-TW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TW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“yes” : </a:t>
            </a:r>
            <a:r>
              <a:rPr lang="en-US" altLang="zh-TW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TW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“no”;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tri5 += tri7?</a:t>
            </a:r>
          </a:p>
        </p:txBody>
      </p:sp>
    </p:spTree>
    <p:extLst>
      <p:ext uri="{BB962C8B-B14F-4D97-AF65-F5344CB8AC3E}">
        <p14:creationId xmlns:p14="http://schemas.microsoft.com/office/powerpoint/2010/main" val="8708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Six Special Member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5612534" cy="497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Constructor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Default Instantiation Procedure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7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Destructor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Default Deallocation Procedure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7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Copy Constructor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Instantiation and copy member values from </a:t>
            </a:r>
            <a:br>
              <a:rPr lang="en-CA" sz="1600" dirty="0"/>
            </a:br>
            <a:r>
              <a:rPr lang="en-CA" sz="1600" dirty="0"/>
              <a:t>existing objects of the same kind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7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Copy Assignment Operator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Copy values among existing objects of the same kind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Copy objects on to stack when pass-by-value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Copy object on to stack as returned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>
                <a:solidFill>
                  <a:schemeClr val="bg1">
                    <a:lumMod val="50000"/>
                  </a:schemeClr>
                </a:solidFill>
              </a:rPr>
              <a:t>Move Constructor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>
                <a:solidFill>
                  <a:schemeClr val="bg1">
                    <a:lumMod val="50000"/>
                  </a:schemeClr>
                </a:solidFill>
              </a:rPr>
              <a:t>Move Assignment Operator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rgbClr val="7F1F1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44</a:t>
            </a:fld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B656CB-6F97-F34C-BA21-764FF67F33BF}"/>
              </a:ext>
            </a:extLst>
          </p:cNvPr>
          <p:cNvSpPr txBox="1"/>
          <p:nvPr/>
        </p:nvSpPr>
        <p:spPr>
          <a:xfrm>
            <a:off x="6794799" y="1723625"/>
            <a:ext cx="4033003" cy="261610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t1;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Triangle() implicitly called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32775B-DED2-9A51-83C2-FC304B4E909A}"/>
              </a:ext>
            </a:extLst>
          </p:cNvPr>
          <p:cNvSpPr txBox="1"/>
          <p:nvPr/>
        </p:nvSpPr>
        <p:spPr>
          <a:xfrm>
            <a:off x="5956060" y="3298807"/>
            <a:ext cx="4905555" cy="430887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t4 = t3;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Copy Constructor implicitly called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t5(t4);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Copy Constructor implicitly called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4E407A-888E-4C8C-D3EE-2C12F5B6764E}"/>
              </a:ext>
            </a:extLst>
          </p:cNvPr>
          <p:cNvSpPr txBox="1"/>
          <p:nvPr/>
        </p:nvSpPr>
        <p:spPr>
          <a:xfrm>
            <a:off x="7059445" y="4109374"/>
            <a:ext cx="3802170" cy="769441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result;</a:t>
            </a:r>
            <a:br>
              <a:rPr lang="en-US" sz="1100" b="1" dirty="0">
                <a:solidFill>
                  <a:srgbClr val="A870D2"/>
                </a:solidFill>
                <a:latin typeface="Courier"/>
              </a:rPr>
            </a:br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result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(tri1, tri2);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8CB636-AA7E-6DC2-6BEB-9E0D3E0B9493}"/>
              </a:ext>
            </a:extLst>
          </p:cNvPr>
          <p:cNvSpPr txBox="1"/>
          <p:nvPr/>
        </p:nvSpPr>
        <p:spPr>
          <a:xfrm>
            <a:off x="6794799" y="2354131"/>
            <a:ext cx="4033003" cy="600164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Triangle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 t6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Triangle(t4);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t6;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~Triangle() implicitly called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FF727A25-D382-0BF6-3B2D-3E7C5CB98701}"/>
              </a:ext>
            </a:extLst>
          </p:cNvPr>
          <p:cNvSpPr/>
          <p:nvPr/>
        </p:nvSpPr>
        <p:spPr>
          <a:xfrm>
            <a:off x="4734993" y="5391213"/>
            <a:ext cx="1497131" cy="340855"/>
          </a:xfrm>
          <a:prstGeom prst="wedgeRectCallout">
            <a:avLst>
              <a:gd name="adj1" fmla="val -76281"/>
              <a:gd name="adj2" fmla="val -1858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rgbClr val="7F1F1F"/>
                </a:solidFill>
              </a:rPr>
              <a:t>Out of Scope</a:t>
            </a:r>
            <a:endParaRPr lang="en-US" sz="16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02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2" grpId="0" animBg="1"/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Rule of the Six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3" y="1563637"/>
            <a:ext cx="9518710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Six Special Member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When to implement one or more of them in our class?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In 2SH4 and 2SI3, you are expected to </a:t>
            </a:r>
            <a:r>
              <a:rPr lang="en-CA" sz="2200" b="1" i="1" dirty="0"/>
              <a:t>ALWAYS</a:t>
            </a:r>
            <a:r>
              <a:rPr lang="en-CA" sz="2200" dirty="0"/>
              <a:t> implement the </a:t>
            </a:r>
            <a:r>
              <a:rPr lang="en-CA" sz="2200" b="1" u="sng" dirty="0"/>
              <a:t>Minimum 4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Constructor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Destructor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Copy Constructor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Copy Assignment Operator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Let’s now look at how to implement these Special Member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7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45</a:t>
            </a:fld>
            <a:endParaRPr lang="en-CA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0DEF27DF-2C4A-1D5E-510D-829CF16320C7}"/>
              </a:ext>
            </a:extLst>
          </p:cNvPr>
          <p:cNvSpPr/>
          <p:nvPr/>
        </p:nvSpPr>
        <p:spPr>
          <a:xfrm>
            <a:off x="6403995" y="214540"/>
            <a:ext cx="4808502" cy="1720791"/>
          </a:xfrm>
          <a:prstGeom prst="wedgeRectCallout">
            <a:avLst>
              <a:gd name="adj1" fmla="val -61565"/>
              <a:gd name="adj2" fmla="val 4538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u="sng" dirty="0">
                <a:solidFill>
                  <a:srgbClr val="7F1F1F"/>
                </a:solidFill>
              </a:rPr>
              <a:t>RULE OF SIX (or FIVE)</a:t>
            </a:r>
          </a:p>
          <a:p>
            <a:r>
              <a:rPr lang="en-CA" sz="1600" dirty="0">
                <a:solidFill>
                  <a:srgbClr val="7F1F1F"/>
                </a:solidFill>
              </a:rPr>
              <a:t>If you have to define your own version of any 1 of them, </a:t>
            </a:r>
            <a:r>
              <a:rPr lang="en-CA" sz="1600" b="1" dirty="0">
                <a:solidFill>
                  <a:srgbClr val="7F1F1F"/>
                </a:solidFill>
              </a:rPr>
              <a:t>you need to define all 6 of them as best practice</a:t>
            </a:r>
            <a:r>
              <a:rPr lang="en-CA" sz="1600" dirty="0">
                <a:solidFill>
                  <a:srgbClr val="7F1F1F"/>
                </a:solidFill>
              </a:rPr>
              <a:t>.</a:t>
            </a:r>
          </a:p>
          <a:p>
            <a:endParaRPr lang="en-CA" sz="1600" dirty="0">
              <a:solidFill>
                <a:srgbClr val="7F1F1F"/>
              </a:solidFill>
            </a:endParaRPr>
          </a:p>
          <a:p>
            <a:r>
              <a:rPr lang="en-CA" sz="1600" b="1" u="sng" dirty="0">
                <a:solidFill>
                  <a:srgbClr val="7F1F1F"/>
                </a:solidFill>
              </a:rPr>
              <a:t>Minimally 4</a:t>
            </a:r>
            <a:r>
              <a:rPr lang="en-CA" sz="1600" dirty="0">
                <a:solidFill>
                  <a:srgbClr val="7F1F1F"/>
                </a:solidFill>
              </a:rPr>
              <a:t> (excluding </a:t>
            </a:r>
            <a:r>
              <a:rPr lang="en-CA" sz="1600" b="1" i="1" dirty="0">
                <a:solidFill>
                  <a:srgbClr val="7F1F1F"/>
                </a:solidFill>
              </a:rPr>
              <a:t>move</a:t>
            </a:r>
            <a:r>
              <a:rPr lang="en-CA" sz="1600" dirty="0">
                <a:solidFill>
                  <a:srgbClr val="7F1F1F"/>
                </a:solidFill>
              </a:rPr>
              <a:t>) to avoid semantic / memory errors.</a:t>
            </a:r>
            <a:endParaRPr lang="en-US" sz="1600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6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Default Constructor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10459742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compiler-generated version has the following </a:t>
            </a:r>
            <a:r>
              <a:rPr lang="en-US" sz="2000" b="1" u="sng" dirty="0"/>
              <a:t>member-wise initialization characteristics</a:t>
            </a:r>
            <a:br>
              <a:rPr lang="en-US" sz="2400" b="1" u="sng" dirty="0"/>
            </a:br>
            <a:endParaRPr lang="en-US" sz="2400" b="1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Simple Data Members (Primitive Types)</a:t>
            </a:r>
            <a:r>
              <a:rPr lang="en-US" dirty="0"/>
              <a:t>	Uninitialized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Pointer Members (Heap)</a:t>
            </a:r>
            <a:r>
              <a:rPr lang="en-US" dirty="0"/>
              <a:t>		Uninitialized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Member Objects</a:t>
            </a:r>
            <a:r>
              <a:rPr lang="en-US" dirty="0"/>
              <a:t>			Initialized using member default constructor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Inherited Members			Initialized using base class default constructor</a:t>
            </a:r>
            <a:endParaRPr lang="en-CA" b="1" dirty="0">
              <a:solidFill>
                <a:schemeClr val="accent2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46</a:t>
            </a:fld>
            <a:endParaRPr lang="en-C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EEAD8E-6324-6121-6F95-59ABA001F9FB}"/>
              </a:ext>
            </a:extLst>
          </p:cNvPr>
          <p:cNvSpPr/>
          <p:nvPr/>
        </p:nvSpPr>
        <p:spPr>
          <a:xfrm>
            <a:off x="2855640" y="3933056"/>
            <a:ext cx="1800200" cy="36004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Inherited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CEFD71-611B-1964-949A-6CF3962521DF}"/>
              </a:ext>
            </a:extLst>
          </p:cNvPr>
          <p:cNvSpPr/>
          <p:nvPr/>
        </p:nvSpPr>
        <p:spPr>
          <a:xfrm>
            <a:off x="2855640" y="4293096"/>
            <a:ext cx="1800200" cy="36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Objects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6E049A-3594-4A83-9416-17CC87A8ABFF}"/>
              </a:ext>
            </a:extLst>
          </p:cNvPr>
          <p:cNvSpPr/>
          <p:nvPr/>
        </p:nvSpPr>
        <p:spPr>
          <a:xfrm>
            <a:off x="2855640" y="4657210"/>
            <a:ext cx="1800200" cy="36004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Pointers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A86D0-6E27-6E4B-C8C7-69D0699582E7}"/>
              </a:ext>
            </a:extLst>
          </p:cNvPr>
          <p:cNvSpPr/>
          <p:nvPr/>
        </p:nvSpPr>
        <p:spPr>
          <a:xfrm>
            <a:off x="2855640" y="5021324"/>
            <a:ext cx="1800200" cy="36004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Primitives</a:t>
            </a:r>
          </a:p>
        </p:txBody>
      </p:sp>
    </p:spTree>
    <p:extLst>
      <p:ext uri="{BB962C8B-B14F-4D97-AF65-F5344CB8AC3E}">
        <p14:creationId xmlns:p14="http://schemas.microsoft.com/office/powerpoint/2010/main" val="179974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Default Destructor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47</a:t>
            </a:fld>
            <a:endParaRPr lang="en-CA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AB26D77-0AB9-FC4F-0AE8-ABE496BD11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7382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The compiler-generated version has the following </a:t>
            </a:r>
            <a:r>
              <a:rPr lang="en-US" sz="2000" b="1" u="sng" dirty="0"/>
              <a:t>member-wise destruction characteristics</a:t>
            </a:r>
            <a:br>
              <a:rPr lang="en-US" b="1" u="sng" dirty="0"/>
            </a:br>
            <a:endParaRPr lang="en-US" b="1" u="sng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Simple Data Members (Primitive Types)</a:t>
            </a:r>
            <a:r>
              <a:rPr lang="en-US" sz="1800" dirty="0"/>
              <a:t>	Deallocated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Pointer Members (Heap)</a:t>
            </a:r>
            <a:r>
              <a:rPr lang="en-US" sz="1800" dirty="0"/>
              <a:t>		Pointer deallocated (</a:t>
            </a:r>
            <a:r>
              <a:rPr lang="en-US" sz="1800" b="1" u="sng" dirty="0">
                <a:solidFill>
                  <a:srgbClr val="FF0000"/>
                </a:solidFill>
              </a:rPr>
              <a:t>not deleted</a:t>
            </a:r>
            <a:r>
              <a:rPr lang="en-US" sz="1800" dirty="0"/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Member Objects</a:t>
            </a:r>
            <a:r>
              <a:rPr lang="en-US" sz="1800" dirty="0"/>
              <a:t>			Cleaned up using member destructor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2"/>
                </a:solidFill>
              </a:rPr>
              <a:t>Inherited Members</a:t>
            </a:r>
            <a:r>
              <a:rPr lang="en-US" sz="1800" dirty="0"/>
              <a:t>			Cleaned up using base class destructor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D916DF-8070-21E2-8F3D-A7AD68BCE246}"/>
              </a:ext>
            </a:extLst>
          </p:cNvPr>
          <p:cNvSpPr/>
          <p:nvPr/>
        </p:nvSpPr>
        <p:spPr>
          <a:xfrm>
            <a:off x="1084048" y="4186910"/>
            <a:ext cx="1800200" cy="36004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Inherited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666683-0A61-CEA3-FE65-D1823226986E}"/>
              </a:ext>
            </a:extLst>
          </p:cNvPr>
          <p:cNvSpPr/>
          <p:nvPr/>
        </p:nvSpPr>
        <p:spPr>
          <a:xfrm>
            <a:off x="1084048" y="4546950"/>
            <a:ext cx="1800200" cy="36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Objects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AE042C-80E0-4970-5875-BFB49E4B3BE6}"/>
              </a:ext>
            </a:extLst>
          </p:cNvPr>
          <p:cNvSpPr/>
          <p:nvPr/>
        </p:nvSpPr>
        <p:spPr>
          <a:xfrm>
            <a:off x="1084048" y="4911064"/>
            <a:ext cx="1800200" cy="36004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Pointers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B18CE2-9CAA-FFD0-110F-EEED44DA5BBC}"/>
              </a:ext>
            </a:extLst>
          </p:cNvPr>
          <p:cNvSpPr/>
          <p:nvPr/>
        </p:nvSpPr>
        <p:spPr>
          <a:xfrm>
            <a:off x="1084048" y="5275178"/>
            <a:ext cx="1800200" cy="36004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Primitives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436E1C-2244-827C-2D81-FF3EEA535CBC}"/>
              </a:ext>
            </a:extLst>
          </p:cNvPr>
          <p:cNvSpPr/>
          <p:nvPr/>
        </p:nvSpPr>
        <p:spPr>
          <a:xfrm>
            <a:off x="4342165" y="4906990"/>
            <a:ext cx="1800200" cy="3600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Heap Data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0EF7B48-4BE9-214E-E6D4-3A6D056D6DFA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 flipV="1">
            <a:off x="2884248" y="5087010"/>
            <a:ext cx="1457917" cy="4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6B2BAD12-D270-6AF2-4235-D8B0B786FF4B}"/>
              </a:ext>
            </a:extLst>
          </p:cNvPr>
          <p:cNvSpPr/>
          <p:nvPr/>
        </p:nvSpPr>
        <p:spPr>
          <a:xfrm>
            <a:off x="5660438" y="4215072"/>
            <a:ext cx="1592618" cy="481932"/>
          </a:xfrm>
          <a:prstGeom prst="wedgeRectCallout">
            <a:avLst>
              <a:gd name="adj1" fmla="val -47802"/>
              <a:gd name="adj2" fmla="val 9103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u="sng" dirty="0">
                <a:solidFill>
                  <a:srgbClr val="7F1F1F"/>
                </a:solidFill>
              </a:rPr>
              <a:t>LEAKED!!</a:t>
            </a: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ACF836AD-8D84-0A4D-9F1D-89ED299744F5}"/>
              </a:ext>
            </a:extLst>
          </p:cNvPr>
          <p:cNvSpPr/>
          <p:nvPr/>
        </p:nvSpPr>
        <p:spPr>
          <a:xfrm>
            <a:off x="8940554" y="2225166"/>
            <a:ext cx="2635928" cy="920991"/>
          </a:xfrm>
          <a:prstGeom prst="wedgeRectCallout">
            <a:avLst>
              <a:gd name="adj1" fmla="val -60868"/>
              <a:gd name="adj2" fmla="val 25586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FF0000"/>
                </a:solidFill>
              </a:rPr>
              <a:t>If having heap members, must overload to avoid memory leak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DFA649-3A7A-C693-B88B-B20075CC74F6}"/>
              </a:ext>
            </a:extLst>
          </p:cNvPr>
          <p:cNvSpPr txBox="1"/>
          <p:nvPr/>
        </p:nvSpPr>
        <p:spPr>
          <a:xfrm>
            <a:off x="7831638" y="3760522"/>
            <a:ext cx="3726968" cy="229293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myClass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myArray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myArray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int[50];}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87F99C-D2FE-4F70-792A-40BAA7076616}"/>
              </a:ext>
            </a:extLst>
          </p:cNvPr>
          <p:cNvSpPr txBox="1"/>
          <p:nvPr/>
        </p:nvSpPr>
        <p:spPr>
          <a:xfrm>
            <a:off x="8256251" y="5124050"/>
            <a:ext cx="2698377" cy="646331"/>
          </a:xfrm>
          <a:prstGeom prst="rect">
            <a:avLst/>
          </a:prstGeom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(){ </a:t>
            </a: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delete[]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myArray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048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5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Copy Constructor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48</a:t>
            </a:fld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54958-71BA-C45D-278A-AE48757AAECF}"/>
              </a:ext>
            </a:extLst>
          </p:cNvPr>
          <p:cNvSpPr txBox="1">
            <a:spLocks/>
          </p:cNvSpPr>
          <p:nvPr/>
        </p:nvSpPr>
        <p:spPr>
          <a:xfrm>
            <a:off x="696897" y="15397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The compiler-generated version has the following </a:t>
            </a:r>
            <a:r>
              <a:rPr lang="en-US" sz="2000" b="1" u="sng" dirty="0"/>
              <a:t>member-wise copy characteristics</a:t>
            </a:r>
            <a:endParaRPr lang="en-US" b="1" u="sng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Simple Data Members (Primitive Types)</a:t>
            </a:r>
            <a:r>
              <a:rPr lang="en-US" sz="1800" dirty="0"/>
              <a:t>	Bitwise copy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Pointer Members (Heap)</a:t>
            </a:r>
            <a:r>
              <a:rPr lang="en-US" sz="1800" dirty="0"/>
              <a:t>		Bitwise copy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Member Objects</a:t>
            </a:r>
            <a:r>
              <a:rPr lang="en-US" sz="1800" dirty="0"/>
              <a:t>			Copy using member copy constructor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2"/>
                </a:solidFill>
              </a:rPr>
              <a:t>Inherited Members</a:t>
            </a:r>
            <a:r>
              <a:rPr lang="en-US" sz="1800" dirty="0"/>
              <a:t>			Copy using base class copy constructor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6C1527-F881-1734-3EFF-48297588D037}"/>
              </a:ext>
            </a:extLst>
          </p:cNvPr>
          <p:cNvSpPr/>
          <p:nvPr/>
        </p:nvSpPr>
        <p:spPr>
          <a:xfrm>
            <a:off x="861871" y="3968871"/>
            <a:ext cx="1800200" cy="36004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Inherited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D13CF3-E7D5-1E7D-DFB5-B1E97B13606E}"/>
              </a:ext>
            </a:extLst>
          </p:cNvPr>
          <p:cNvSpPr/>
          <p:nvPr/>
        </p:nvSpPr>
        <p:spPr>
          <a:xfrm>
            <a:off x="861871" y="4328911"/>
            <a:ext cx="1800200" cy="36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Objects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4F71A9-7256-1742-5992-097B5C34EC96}"/>
              </a:ext>
            </a:extLst>
          </p:cNvPr>
          <p:cNvSpPr/>
          <p:nvPr/>
        </p:nvSpPr>
        <p:spPr>
          <a:xfrm>
            <a:off x="861871" y="4693025"/>
            <a:ext cx="1800200" cy="36004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Pointers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1F0232-28F3-31EA-56E1-540F3C3457E7}"/>
              </a:ext>
            </a:extLst>
          </p:cNvPr>
          <p:cNvSpPr/>
          <p:nvPr/>
        </p:nvSpPr>
        <p:spPr>
          <a:xfrm>
            <a:off x="861871" y="5057139"/>
            <a:ext cx="1800200" cy="36004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Primitives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714821-6362-36EE-97B3-C1B69D8F5106}"/>
              </a:ext>
            </a:extLst>
          </p:cNvPr>
          <p:cNvSpPr/>
          <p:nvPr/>
        </p:nvSpPr>
        <p:spPr>
          <a:xfrm>
            <a:off x="3533063" y="5598290"/>
            <a:ext cx="1800200" cy="3600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Heap Data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EC8C80-F3DE-A22C-0B2E-B8C221858063}"/>
              </a:ext>
            </a:extLst>
          </p:cNvPr>
          <p:cNvSpPr/>
          <p:nvPr/>
        </p:nvSpPr>
        <p:spPr>
          <a:xfrm>
            <a:off x="2164911" y="3968871"/>
            <a:ext cx="1800200" cy="3600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Inherited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AA721D-B7E4-24DB-F620-FDEF1E7B748B}"/>
              </a:ext>
            </a:extLst>
          </p:cNvPr>
          <p:cNvSpPr/>
          <p:nvPr/>
        </p:nvSpPr>
        <p:spPr>
          <a:xfrm>
            <a:off x="2164911" y="4328911"/>
            <a:ext cx="1800200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Objects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3DDCCC-5070-48D6-2A9B-AD5B54E95EE3}"/>
              </a:ext>
            </a:extLst>
          </p:cNvPr>
          <p:cNvSpPr/>
          <p:nvPr/>
        </p:nvSpPr>
        <p:spPr>
          <a:xfrm>
            <a:off x="2164911" y="4693025"/>
            <a:ext cx="1800200" cy="360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Pointers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95C94F-B419-BF1A-FCB5-947C67D9C811}"/>
              </a:ext>
            </a:extLst>
          </p:cNvPr>
          <p:cNvSpPr/>
          <p:nvPr/>
        </p:nvSpPr>
        <p:spPr>
          <a:xfrm>
            <a:off x="2164911" y="5057139"/>
            <a:ext cx="1800200" cy="360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Primitives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431B04C-489D-B69E-0BA7-470102E95BEB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662071" y="4873045"/>
            <a:ext cx="130304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FA73AF3-6C35-6B6C-0667-69DF9F6E7685}"/>
              </a:ext>
            </a:extLst>
          </p:cNvPr>
          <p:cNvCxnSpPr>
            <a:cxnSpLocks/>
          </p:cNvCxnSpPr>
          <p:nvPr/>
        </p:nvCxnSpPr>
        <p:spPr>
          <a:xfrm>
            <a:off x="3965111" y="4873045"/>
            <a:ext cx="0" cy="725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4599317-95CB-8849-1FF9-01956459EB6A}"/>
              </a:ext>
            </a:extLst>
          </p:cNvPr>
          <p:cNvCxnSpPr>
            <a:cxnSpLocks/>
          </p:cNvCxnSpPr>
          <p:nvPr/>
        </p:nvCxnSpPr>
        <p:spPr>
          <a:xfrm>
            <a:off x="4822311" y="4873045"/>
            <a:ext cx="130304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4A8F2F0-0CA0-4C0E-7B51-0ED093CF3255}"/>
              </a:ext>
            </a:extLst>
          </p:cNvPr>
          <p:cNvCxnSpPr>
            <a:cxnSpLocks/>
          </p:cNvCxnSpPr>
          <p:nvPr/>
        </p:nvCxnSpPr>
        <p:spPr>
          <a:xfrm>
            <a:off x="4828018" y="4873045"/>
            <a:ext cx="0" cy="72524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E35A737-D3FD-7A72-24EC-DCD357555F58}"/>
              </a:ext>
            </a:extLst>
          </p:cNvPr>
          <p:cNvSpPr txBox="1"/>
          <p:nvPr/>
        </p:nvSpPr>
        <p:spPr>
          <a:xfrm>
            <a:off x="1221911" y="347637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Original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B11FD2-49DA-6694-6D14-AF6C20805EF9}"/>
              </a:ext>
            </a:extLst>
          </p:cNvPr>
          <p:cNvSpPr txBox="1"/>
          <p:nvPr/>
        </p:nvSpPr>
        <p:spPr>
          <a:xfrm>
            <a:off x="6629407" y="347637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Copy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608FA4-9239-4E25-E3E9-78ABF9388B2D}"/>
              </a:ext>
            </a:extLst>
          </p:cNvPr>
          <p:cNvSpPr txBox="1"/>
          <p:nvPr/>
        </p:nvSpPr>
        <p:spPr>
          <a:xfrm>
            <a:off x="3104463" y="4096272"/>
            <a:ext cx="25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Shallow Copy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5B58E9-663F-67C9-B359-8A5CB1573497}"/>
              </a:ext>
            </a:extLst>
          </p:cNvPr>
          <p:cNvSpPr txBox="1"/>
          <p:nvPr/>
        </p:nvSpPr>
        <p:spPr>
          <a:xfrm>
            <a:off x="7831638" y="3760522"/>
            <a:ext cx="3726968" cy="229293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myClass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myArray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myArray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int[50];}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01CF2D-40A0-DE30-0E18-FDE2E266A5F5}"/>
              </a:ext>
            </a:extLst>
          </p:cNvPr>
          <p:cNvSpPr txBox="1"/>
          <p:nvPr/>
        </p:nvSpPr>
        <p:spPr>
          <a:xfrm>
            <a:off x="8256251" y="5124050"/>
            <a:ext cx="2698377" cy="769441"/>
          </a:xfrm>
          <a:prstGeom prst="rect">
            <a:avLst/>
          </a:prstGeom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(const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&amp;m){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m.myData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myArray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m.myArray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745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29167E-6 2.59259E-6 L 0.32787 -0.000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93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29167E-6 3.33333E-6 L 0.32787 -0.0004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9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29167E-6 2.59259E-6 L 0.32787 2.59259E-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9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29167E-6 -1.11111E-6 L 0.32787 -1.11111E-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9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31" grpId="0"/>
      <p:bldP spid="32" grpId="0" animBg="1"/>
      <p:bldP spid="3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Shallow vs. Deep Copy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49</a:t>
            </a:fld>
            <a:endParaRPr lang="en-CA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7AE97AE-0B70-1867-9EC2-1DC8F6891FB7}"/>
              </a:ext>
            </a:extLst>
          </p:cNvPr>
          <p:cNvSpPr txBox="1">
            <a:spLocks/>
          </p:cNvSpPr>
          <p:nvPr/>
        </p:nvSpPr>
        <p:spPr>
          <a:xfrm>
            <a:off x="838200" y="150243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Shallow Copy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Copy pointer addresses: The pointer members of the original and the copy refer to the same object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sz="5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Deep Copy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Copy the referenced data: The pointer members of the original and the copy refer to distinct objects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97DAF1-1D05-CA15-DAF4-AD0E7C30FEA9}"/>
              </a:ext>
            </a:extLst>
          </p:cNvPr>
          <p:cNvSpPr/>
          <p:nvPr/>
        </p:nvSpPr>
        <p:spPr>
          <a:xfrm>
            <a:off x="1408200" y="2479299"/>
            <a:ext cx="1487768" cy="27050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Inherited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2A35C7-6614-3301-F2A4-D5E447A5E1E7}"/>
              </a:ext>
            </a:extLst>
          </p:cNvPr>
          <p:cNvSpPr/>
          <p:nvPr/>
        </p:nvSpPr>
        <p:spPr>
          <a:xfrm>
            <a:off x="1408200" y="2722563"/>
            <a:ext cx="1487768" cy="27050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Objects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655184-1CE4-FF4B-586B-9B3EDE46ED0B}"/>
              </a:ext>
            </a:extLst>
          </p:cNvPr>
          <p:cNvSpPr/>
          <p:nvPr/>
        </p:nvSpPr>
        <p:spPr>
          <a:xfrm>
            <a:off x="1408200" y="2978212"/>
            <a:ext cx="1487768" cy="270504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Pointers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B9C028-81ED-9245-3BD9-4C5CF8353D0B}"/>
              </a:ext>
            </a:extLst>
          </p:cNvPr>
          <p:cNvSpPr/>
          <p:nvPr/>
        </p:nvSpPr>
        <p:spPr>
          <a:xfrm>
            <a:off x="1408200" y="3226619"/>
            <a:ext cx="1487768" cy="27050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Primitives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B1C545-A4EB-45AA-084F-655F70E37004}"/>
              </a:ext>
            </a:extLst>
          </p:cNvPr>
          <p:cNvSpPr/>
          <p:nvPr/>
        </p:nvSpPr>
        <p:spPr>
          <a:xfrm>
            <a:off x="3972774" y="3272456"/>
            <a:ext cx="1487768" cy="2705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Heap Data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C63C1A-51FD-5A06-9A70-2C233415373C}"/>
              </a:ext>
            </a:extLst>
          </p:cNvPr>
          <p:cNvSpPr/>
          <p:nvPr/>
        </p:nvSpPr>
        <p:spPr>
          <a:xfrm>
            <a:off x="6336838" y="2479299"/>
            <a:ext cx="1487768" cy="2705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Inherited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28CD8C-315D-D956-6B85-CD143F90F0B7}"/>
              </a:ext>
            </a:extLst>
          </p:cNvPr>
          <p:cNvSpPr/>
          <p:nvPr/>
        </p:nvSpPr>
        <p:spPr>
          <a:xfrm>
            <a:off x="6336838" y="2722563"/>
            <a:ext cx="1487768" cy="2705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Objects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E875D7-02F9-6276-E908-6DBDE9EAB5CA}"/>
              </a:ext>
            </a:extLst>
          </p:cNvPr>
          <p:cNvSpPr/>
          <p:nvPr/>
        </p:nvSpPr>
        <p:spPr>
          <a:xfrm>
            <a:off x="6336838" y="2978212"/>
            <a:ext cx="1487768" cy="2705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Pointers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C99E79-C0C8-33AA-588B-0F068F7AE1D1}"/>
              </a:ext>
            </a:extLst>
          </p:cNvPr>
          <p:cNvSpPr/>
          <p:nvPr/>
        </p:nvSpPr>
        <p:spPr>
          <a:xfrm>
            <a:off x="6336838" y="3226619"/>
            <a:ext cx="1487768" cy="2705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Primitives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4C98DCD-151D-0FA9-2E96-07F97DD43741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2895968" y="3113464"/>
            <a:ext cx="1352638" cy="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F7BCB36-F068-08DC-0B3C-7C1B7167F144}"/>
              </a:ext>
            </a:extLst>
          </p:cNvPr>
          <p:cNvCxnSpPr>
            <a:cxnSpLocks/>
          </p:cNvCxnSpPr>
          <p:nvPr/>
        </p:nvCxnSpPr>
        <p:spPr>
          <a:xfrm>
            <a:off x="4248606" y="3113464"/>
            <a:ext cx="0" cy="172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76B6E87-58DA-FCC7-C4D0-C4F3F6DDF7D1}"/>
              </a:ext>
            </a:extLst>
          </p:cNvPr>
          <p:cNvCxnSpPr>
            <a:cxnSpLocks/>
          </p:cNvCxnSpPr>
          <p:nvPr/>
        </p:nvCxnSpPr>
        <p:spPr>
          <a:xfrm>
            <a:off x="5225776" y="3113464"/>
            <a:ext cx="1076893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B1C2C43-C0F1-5C18-2A33-300429D7D4A4}"/>
              </a:ext>
            </a:extLst>
          </p:cNvPr>
          <p:cNvCxnSpPr>
            <a:cxnSpLocks/>
          </p:cNvCxnSpPr>
          <p:nvPr/>
        </p:nvCxnSpPr>
        <p:spPr>
          <a:xfrm>
            <a:off x="5225776" y="3099706"/>
            <a:ext cx="0" cy="17275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EB31A6A-E2DC-43A2-06E5-7605FD4170BD}"/>
              </a:ext>
            </a:extLst>
          </p:cNvPr>
          <p:cNvSpPr txBox="1"/>
          <p:nvPr/>
        </p:nvSpPr>
        <p:spPr>
          <a:xfrm>
            <a:off x="1705754" y="2126754"/>
            <a:ext cx="892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Original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2613BD-2E51-5ADD-E7CC-21394B48DE23}"/>
              </a:ext>
            </a:extLst>
          </p:cNvPr>
          <p:cNvSpPr txBox="1"/>
          <p:nvPr/>
        </p:nvSpPr>
        <p:spPr>
          <a:xfrm>
            <a:off x="6753413" y="2126754"/>
            <a:ext cx="654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Copy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012C6FF-8C65-0120-7168-76F39E620B71}"/>
              </a:ext>
            </a:extLst>
          </p:cNvPr>
          <p:cNvSpPr/>
          <p:nvPr/>
        </p:nvSpPr>
        <p:spPr>
          <a:xfrm>
            <a:off x="1408200" y="4731714"/>
            <a:ext cx="1487768" cy="27050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Inherited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DF925C7-8768-06E7-3C32-4E51123D9D60}"/>
              </a:ext>
            </a:extLst>
          </p:cNvPr>
          <p:cNvSpPr/>
          <p:nvPr/>
        </p:nvSpPr>
        <p:spPr>
          <a:xfrm>
            <a:off x="1408200" y="4974978"/>
            <a:ext cx="1487768" cy="27050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Objects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EEABAA2-9E44-6B91-BBC1-E09EAB347422}"/>
              </a:ext>
            </a:extLst>
          </p:cNvPr>
          <p:cNvSpPr/>
          <p:nvPr/>
        </p:nvSpPr>
        <p:spPr>
          <a:xfrm>
            <a:off x="1408200" y="5230627"/>
            <a:ext cx="1487768" cy="270504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Pointers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F82A963-D8FF-B357-0477-678E83A4E51D}"/>
              </a:ext>
            </a:extLst>
          </p:cNvPr>
          <p:cNvSpPr/>
          <p:nvPr/>
        </p:nvSpPr>
        <p:spPr>
          <a:xfrm>
            <a:off x="1408200" y="5479034"/>
            <a:ext cx="1487768" cy="27050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Primitives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8453E84-328E-EB7C-6166-9C19F144FBCE}"/>
              </a:ext>
            </a:extLst>
          </p:cNvPr>
          <p:cNvSpPr/>
          <p:nvPr/>
        </p:nvSpPr>
        <p:spPr>
          <a:xfrm>
            <a:off x="3280408" y="5524871"/>
            <a:ext cx="1487768" cy="2705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Heap Data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1441B13-589F-E90B-15E1-780C8D91C3DF}"/>
              </a:ext>
            </a:extLst>
          </p:cNvPr>
          <p:cNvSpPr/>
          <p:nvPr/>
        </p:nvSpPr>
        <p:spPr>
          <a:xfrm>
            <a:off x="5440648" y="4731714"/>
            <a:ext cx="1487768" cy="2705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Inherited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AA6024-789C-57D8-D6AF-3CB6BE906904}"/>
              </a:ext>
            </a:extLst>
          </p:cNvPr>
          <p:cNvSpPr/>
          <p:nvPr/>
        </p:nvSpPr>
        <p:spPr>
          <a:xfrm>
            <a:off x="5440648" y="4974978"/>
            <a:ext cx="1487768" cy="2705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Objects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EEF4F40-E9E2-6609-684C-89DA2DE50849}"/>
              </a:ext>
            </a:extLst>
          </p:cNvPr>
          <p:cNvSpPr/>
          <p:nvPr/>
        </p:nvSpPr>
        <p:spPr>
          <a:xfrm>
            <a:off x="5440648" y="5230627"/>
            <a:ext cx="1487768" cy="2705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Pointers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CCB7DC1-A4C4-B5C1-4DCE-51E0E40837C6}"/>
              </a:ext>
            </a:extLst>
          </p:cNvPr>
          <p:cNvSpPr/>
          <p:nvPr/>
        </p:nvSpPr>
        <p:spPr>
          <a:xfrm>
            <a:off x="5440648" y="5479034"/>
            <a:ext cx="1487768" cy="2705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Primitives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818D49E-D99B-9F69-85D7-0872BF339EA5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2895968" y="5365879"/>
            <a:ext cx="67247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F8C5B5D-3667-8BE8-856B-D78FB7AEC208}"/>
              </a:ext>
            </a:extLst>
          </p:cNvPr>
          <p:cNvCxnSpPr>
            <a:cxnSpLocks/>
          </p:cNvCxnSpPr>
          <p:nvPr/>
        </p:nvCxnSpPr>
        <p:spPr>
          <a:xfrm>
            <a:off x="3556240" y="5365879"/>
            <a:ext cx="0" cy="172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4D2A930-4248-959D-C7B0-842E0A3E9850}"/>
              </a:ext>
            </a:extLst>
          </p:cNvPr>
          <p:cNvSpPr txBox="1"/>
          <p:nvPr/>
        </p:nvSpPr>
        <p:spPr>
          <a:xfrm>
            <a:off x="1705754" y="4379169"/>
            <a:ext cx="892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Original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88BEFA8-FD89-3139-0F35-051AE35FECD9}"/>
              </a:ext>
            </a:extLst>
          </p:cNvPr>
          <p:cNvSpPr txBox="1"/>
          <p:nvPr/>
        </p:nvSpPr>
        <p:spPr>
          <a:xfrm>
            <a:off x="5857223" y="4379169"/>
            <a:ext cx="654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Copy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82598D2-2981-482F-377A-8F992401C902}"/>
              </a:ext>
            </a:extLst>
          </p:cNvPr>
          <p:cNvSpPr/>
          <p:nvPr/>
        </p:nvSpPr>
        <p:spPr>
          <a:xfrm>
            <a:off x="7312856" y="5476836"/>
            <a:ext cx="1487768" cy="2705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Heap Data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D7A72F3-2EC1-51D8-2505-E39F3C573615}"/>
              </a:ext>
            </a:extLst>
          </p:cNvPr>
          <p:cNvCxnSpPr>
            <a:cxnSpLocks/>
          </p:cNvCxnSpPr>
          <p:nvPr/>
        </p:nvCxnSpPr>
        <p:spPr>
          <a:xfrm>
            <a:off x="6928416" y="5317844"/>
            <a:ext cx="67247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27AECFC-505F-A5C2-40E7-EF4D22B3EC12}"/>
              </a:ext>
            </a:extLst>
          </p:cNvPr>
          <p:cNvCxnSpPr>
            <a:cxnSpLocks/>
          </p:cNvCxnSpPr>
          <p:nvPr/>
        </p:nvCxnSpPr>
        <p:spPr>
          <a:xfrm>
            <a:off x="7588688" y="5317844"/>
            <a:ext cx="0" cy="172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E28D154-C2E3-8B9A-0927-B3E9FB80A17A}"/>
              </a:ext>
            </a:extLst>
          </p:cNvPr>
          <p:cNvSpPr txBox="1"/>
          <p:nvPr/>
        </p:nvSpPr>
        <p:spPr>
          <a:xfrm>
            <a:off x="8471139" y="2473094"/>
            <a:ext cx="2698377" cy="769441"/>
          </a:xfrm>
          <a:prstGeom prst="rect">
            <a:avLst/>
          </a:prstGeom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(const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&amp;m){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m.myData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myArray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m.myArray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AAC916-B7AC-1E0F-0600-38793AEE0ECF}"/>
              </a:ext>
            </a:extLst>
          </p:cNvPr>
          <p:cNvSpPr txBox="1"/>
          <p:nvPr/>
        </p:nvSpPr>
        <p:spPr>
          <a:xfrm>
            <a:off x="8394082" y="4438557"/>
            <a:ext cx="3129130" cy="1107996"/>
          </a:xfrm>
          <a:prstGeom prst="rect">
            <a:avLst/>
          </a:prstGeom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(const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&amp;m){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m.myData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myArray</a:t>
            </a:r>
            <a:r>
              <a:rPr lang="en-US" sz="1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int[50];</a:t>
            </a:r>
          </a:p>
          <a:p>
            <a:r>
              <a:rPr lang="en-US" sz="1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for(int </a:t>
            </a:r>
            <a:r>
              <a:rPr lang="en-US" sz="1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&lt;50; </a:t>
            </a:r>
            <a:r>
              <a:rPr lang="en-US" sz="1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1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myArray</a:t>
            </a:r>
            <a:r>
              <a:rPr lang="en-US" sz="1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m.myArray</a:t>
            </a:r>
            <a:r>
              <a:rPr lang="en-US" sz="1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9" name="Speech Bubble: Rectangle 58">
            <a:extLst>
              <a:ext uri="{FF2B5EF4-FFF2-40B4-BE49-F238E27FC236}">
                <a16:creationId xmlns:a16="http://schemas.microsoft.com/office/drawing/2014/main" id="{48F089B6-1458-3CE8-B325-B47982F3E86D}"/>
              </a:ext>
            </a:extLst>
          </p:cNvPr>
          <p:cNvSpPr/>
          <p:nvPr/>
        </p:nvSpPr>
        <p:spPr>
          <a:xfrm>
            <a:off x="8576569" y="562246"/>
            <a:ext cx="2635928" cy="920991"/>
          </a:xfrm>
          <a:prstGeom prst="wedgeRectCallout">
            <a:avLst>
              <a:gd name="adj1" fmla="val -76045"/>
              <a:gd name="adj2" fmla="val 6074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FF0000"/>
                </a:solidFill>
              </a:rPr>
              <a:t>C++ Compiler always defaults to shallow copy.  You need to override it.</a:t>
            </a:r>
          </a:p>
        </p:txBody>
      </p:sp>
    </p:spTree>
    <p:extLst>
      <p:ext uri="{BB962C8B-B14F-4D97-AF65-F5344CB8AC3E}">
        <p14:creationId xmlns:p14="http://schemas.microsoft.com/office/powerpoint/2010/main" val="214715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518 0.00625 L 0.00039 0.00208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79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20" grpId="0" animBg="1"/>
      <p:bldP spid="21" grpId="0" animBg="1"/>
      <p:bldP spid="34" grpId="0" animBg="1"/>
      <p:bldP spid="39" grpId="0"/>
      <p:bldP spid="40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2" grpId="0"/>
      <p:bldP spid="53" grpId="0"/>
      <p:bldP spid="54" grpId="0" animBg="1"/>
      <p:bldP spid="54" grpId="1" animBg="1"/>
      <p:bldP spid="57" grpId="0" animBg="1"/>
      <p:bldP spid="58" grpId="0" animBg="1"/>
      <p:bldP spid="5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320064A-183D-7441-E937-C0EE80C51CD7}"/>
              </a:ext>
            </a:extLst>
          </p:cNvPr>
          <p:cNvSpPr/>
          <p:nvPr/>
        </p:nvSpPr>
        <p:spPr>
          <a:xfrm>
            <a:off x="7491207" y="3968871"/>
            <a:ext cx="1800200" cy="36004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Inherited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A5483E-5CC4-81A1-9985-1FDA5D3BA578}"/>
              </a:ext>
            </a:extLst>
          </p:cNvPr>
          <p:cNvSpPr/>
          <p:nvPr/>
        </p:nvSpPr>
        <p:spPr>
          <a:xfrm>
            <a:off x="7491207" y="4328911"/>
            <a:ext cx="1800200" cy="36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Objects 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0947DB-4097-82EA-40FC-B432BB07ED08}"/>
              </a:ext>
            </a:extLst>
          </p:cNvPr>
          <p:cNvSpPr/>
          <p:nvPr/>
        </p:nvSpPr>
        <p:spPr>
          <a:xfrm>
            <a:off x="7491207" y="4693025"/>
            <a:ext cx="1800200" cy="36004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Pointers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6F7D0B-0DC7-712D-1620-C34D225A8A4B}"/>
              </a:ext>
            </a:extLst>
          </p:cNvPr>
          <p:cNvSpPr/>
          <p:nvPr/>
        </p:nvSpPr>
        <p:spPr>
          <a:xfrm>
            <a:off x="7491207" y="5057139"/>
            <a:ext cx="1800200" cy="36004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Primitives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Assignment Operator (Overload)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50</a:t>
            </a:fld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54958-71BA-C45D-278A-AE48757AAECF}"/>
              </a:ext>
            </a:extLst>
          </p:cNvPr>
          <p:cNvSpPr txBox="1">
            <a:spLocks/>
          </p:cNvSpPr>
          <p:nvPr/>
        </p:nvSpPr>
        <p:spPr>
          <a:xfrm>
            <a:off x="696896" y="1539738"/>
            <a:ext cx="108617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The compiler-generated version has the following </a:t>
            </a:r>
            <a:r>
              <a:rPr lang="en-US" sz="2000" b="1" u="sng" dirty="0"/>
              <a:t>member-wise copy assignment characteristics</a:t>
            </a:r>
            <a:endParaRPr lang="en-US" b="1" u="sng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Simple Data Members (Primitive Types)</a:t>
            </a:r>
            <a:r>
              <a:rPr lang="en-US" sz="1800" dirty="0"/>
              <a:t>	Bitwise copy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Pointer Members (Heap)</a:t>
            </a:r>
            <a:r>
              <a:rPr lang="en-US" sz="1800" dirty="0"/>
              <a:t>		Bitwise copy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Member Objects</a:t>
            </a:r>
            <a:r>
              <a:rPr lang="en-US" sz="1800" dirty="0"/>
              <a:t>			Copy using member copy constructor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2"/>
                </a:solidFill>
              </a:rPr>
              <a:t>Inherited Members</a:t>
            </a:r>
            <a:r>
              <a:rPr lang="en-US" sz="1800" dirty="0"/>
              <a:t>			Copy using base class copy constructor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6C1527-F881-1734-3EFF-48297588D037}"/>
              </a:ext>
            </a:extLst>
          </p:cNvPr>
          <p:cNvSpPr/>
          <p:nvPr/>
        </p:nvSpPr>
        <p:spPr>
          <a:xfrm>
            <a:off x="2271571" y="3968871"/>
            <a:ext cx="1800200" cy="36004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Inherited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D13CF3-E7D5-1E7D-DFB5-B1E97B13606E}"/>
              </a:ext>
            </a:extLst>
          </p:cNvPr>
          <p:cNvSpPr/>
          <p:nvPr/>
        </p:nvSpPr>
        <p:spPr>
          <a:xfrm>
            <a:off x="2271571" y="4328911"/>
            <a:ext cx="1800200" cy="36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Objects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4F71A9-7256-1742-5992-097B5C34EC96}"/>
              </a:ext>
            </a:extLst>
          </p:cNvPr>
          <p:cNvSpPr/>
          <p:nvPr/>
        </p:nvSpPr>
        <p:spPr>
          <a:xfrm>
            <a:off x="2271571" y="4693025"/>
            <a:ext cx="1800200" cy="36004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Pointers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1F0232-28F3-31EA-56E1-540F3C3457E7}"/>
              </a:ext>
            </a:extLst>
          </p:cNvPr>
          <p:cNvSpPr/>
          <p:nvPr/>
        </p:nvSpPr>
        <p:spPr>
          <a:xfrm>
            <a:off x="2271571" y="5057139"/>
            <a:ext cx="1800200" cy="36004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Primitives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714821-6362-36EE-97B3-C1B69D8F5106}"/>
              </a:ext>
            </a:extLst>
          </p:cNvPr>
          <p:cNvSpPr/>
          <p:nvPr/>
        </p:nvSpPr>
        <p:spPr>
          <a:xfrm>
            <a:off x="4942763" y="5598290"/>
            <a:ext cx="1800200" cy="3600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Heap Data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EC8C80-F3DE-A22C-0B2E-B8C221858063}"/>
              </a:ext>
            </a:extLst>
          </p:cNvPr>
          <p:cNvSpPr/>
          <p:nvPr/>
        </p:nvSpPr>
        <p:spPr>
          <a:xfrm>
            <a:off x="3574611" y="3968871"/>
            <a:ext cx="1800200" cy="3600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Inherited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AA721D-B7E4-24DB-F620-FDEF1E7B748B}"/>
              </a:ext>
            </a:extLst>
          </p:cNvPr>
          <p:cNvSpPr/>
          <p:nvPr/>
        </p:nvSpPr>
        <p:spPr>
          <a:xfrm>
            <a:off x="3574611" y="4328911"/>
            <a:ext cx="1800200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Objects 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3DDCCC-5070-48D6-2A9B-AD5B54E95EE3}"/>
              </a:ext>
            </a:extLst>
          </p:cNvPr>
          <p:cNvSpPr/>
          <p:nvPr/>
        </p:nvSpPr>
        <p:spPr>
          <a:xfrm>
            <a:off x="3574611" y="4693025"/>
            <a:ext cx="1800200" cy="360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Pointers 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95C94F-B419-BF1A-FCB5-947C67D9C811}"/>
              </a:ext>
            </a:extLst>
          </p:cNvPr>
          <p:cNvSpPr/>
          <p:nvPr/>
        </p:nvSpPr>
        <p:spPr>
          <a:xfrm>
            <a:off x="3574611" y="5057139"/>
            <a:ext cx="1800200" cy="360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Primitives 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431B04C-489D-B69E-0BA7-470102E95BEB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071771" y="4873045"/>
            <a:ext cx="130304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FA73AF3-6C35-6B6C-0667-69DF9F6E7685}"/>
              </a:ext>
            </a:extLst>
          </p:cNvPr>
          <p:cNvCxnSpPr>
            <a:cxnSpLocks/>
          </p:cNvCxnSpPr>
          <p:nvPr/>
        </p:nvCxnSpPr>
        <p:spPr>
          <a:xfrm>
            <a:off x="5374811" y="4873045"/>
            <a:ext cx="0" cy="725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4599317-95CB-8849-1FF9-01956459EB6A}"/>
              </a:ext>
            </a:extLst>
          </p:cNvPr>
          <p:cNvCxnSpPr>
            <a:cxnSpLocks/>
          </p:cNvCxnSpPr>
          <p:nvPr/>
        </p:nvCxnSpPr>
        <p:spPr>
          <a:xfrm>
            <a:off x="6232011" y="4873045"/>
            <a:ext cx="130304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4A8F2F0-0CA0-4C0E-7B51-0ED093CF3255}"/>
              </a:ext>
            </a:extLst>
          </p:cNvPr>
          <p:cNvCxnSpPr>
            <a:cxnSpLocks/>
          </p:cNvCxnSpPr>
          <p:nvPr/>
        </p:nvCxnSpPr>
        <p:spPr>
          <a:xfrm>
            <a:off x="6237718" y="4873045"/>
            <a:ext cx="0" cy="72524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E35A737-D3FD-7A72-24EC-DCD357555F58}"/>
              </a:ext>
            </a:extLst>
          </p:cNvPr>
          <p:cNvSpPr txBox="1"/>
          <p:nvPr/>
        </p:nvSpPr>
        <p:spPr>
          <a:xfrm>
            <a:off x="2631611" y="347637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Object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B11FD2-49DA-6694-6D14-AF6C20805EF9}"/>
              </a:ext>
            </a:extLst>
          </p:cNvPr>
          <p:cNvSpPr txBox="1"/>
          <p:nvPr/>
        </p:nvSpPr>
        <p:spPr>
          <a:xfrm>
            <a:off x="7953382" y="347637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Object 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608FA4-9239-4E25-E3E9-78ABF9388B2D}"/>
              </a:ext>
            </a:extLst>
          </p:cNvPr>
          <p:cNvSpPr txBox="1"/>
          <p:nvPr/>
        </p:nvSpPr>
        <p:spPr>
          <a:xfrm>
            <a:off x="4514163" y="4096272"/>
            <a:ext cx="25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Shallow Copy</a:t>
            </a:r>
          </a:p>
        </p:txBody>
      </p:sp>
    </p:spTree>
    <p:extLst>
      <p:ext uri="{BB962C8B-B14F-4D97-AF65-F5344CB8AC3E}">
        <p14:creationId xmlns:p14="http://schemas.microsoft.com/office/powerpoint/2010/main" val="326340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70833E-6 2.59259E-6 L 0.32786 -0.000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93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70833E-6 3.33333E-6 L 0.32786 -0.0004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9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70833E-6 2.59259E-6 L 0.32786 2.59259E-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9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70833E-6 -1.11111E-6 L 0.32786 -1.11111E-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9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3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Assignment Operator (Overload)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51</a:t>
            </a:fld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54958-71BA-C45D-278A-AE48757AAECF}"/>
              </a:ext>
            </a:extLst>
          </p:cNvPr>
          <p:cNvSpPr txBox="1">
            <a:spLocks/>
          </p:cNvSpPr>
          <p:nvPr/>
        </p:nvSpPr>
        <p:spPr>
          <a:xfrm>
            <a:off x="696896" y="1539738"/>
            <a:ext cx="108617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The compiler-generated version has the following </a:t>
            </a:r>
            <a:r>
              <a:rPr lang="en-US" sz="2000" b="1" u="sng" dirty="0"/>
              <a:t>member-wise copy assignment characteristics</a:t>
            </a:r>
            <a:endParaRPr lang="en-US" b="1" u="sng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Simple Data Members (Primitive Types)</a:t>
            </a:r>
            <a:r>
              <a:rPr lang="en-US" sz="1800" dirty="0"/>
              <a:t>	Bitwise copy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Pointer Members (Heap)</a:t>
            </a:r>
            <a:r>
              <a:rPr lang="en-US" sz="1800" dirty="0"/>
              <a:t>		Bitwise copy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Member Objects</a:t>
            </a:r>
            <a:r>
              <a:rPr lang="en-US" sz="1800" dirty="0"/>
              <a:t>			Copy using member copy constructor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2"/>
                </a:solidFill>
              </a:rPr>
              <a:t>Inherited Members</a:t>
            </a:r>
            <a:r>
              <a:rPr lang="en-US" sz="1800" dirty="0"/>
              <a:t>			Copy using base class copy constructor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8C37C7-91EE-EA05-45DD-B7CDE854338B}"/>
              </a:ext>
            </a:extLst>
          </p:cNvPr>
          <p:cNvSpPr txBox="1"/>
          <p:nvPr/>
        </p:nvSpPr>
        <p:spPr>
          <a:xfrm>
            <a:off x="1002212" y="3429000"/>
            <a:ext cx="4674687" cy="1815882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400" b="1" dirty="0" err="1">
                <a:solidFill>
                  <a:srgbClr val="A870D2"/>
                </a:solidFill>
                <a:latin typeface="Courier"/>
              </a:rPr>
              <a:t>myClass</a:t>
            </a:r>
            <a:endParaRPr lang="en-US" sz="14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myArray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myArray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int[50];}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017AAD-374F-560F-5E94-5C29021EC210}"/>
              </a:ext>
            </a:extLst>
          </p:cNvPr>
          <p:cNvSpPr txBox="1"/>
          <p:nvPr/>
        </p:nvSpPr>
        <p:spPr>
          <a:xfrm>
            <a:off x="5598775" y="3235684"/>
            <a:ext cx="5959829" cy="2062103"/>
          </a:xfrm>
          <a:prstGeom prst="rect">
            <a:avLst/>
          </a:prstGeom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operator=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&amp;m){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!= &amp;m){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this-&gt;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m.myData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for(int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&lt;50;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lvl="1"/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this-&gt;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myArray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m.myArray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*this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4144B3-81F8-7F31-6FBC-EF39FF8ACD27}"/>
              </a:ext>
            </a:extLst>
          </p:cNvPr>
          <p:cNvSpPr txBox="1"/>
          <p:nvPr/>
        </p:nvSpPr>
        <p:spPr>
          <a:xfrm>
            <a:off x="6374740" y="5095351"/>
            <a:ext cx="4905555" cy="938719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So you can now do</a:t>
            </a:r>
            <a:endParaRPr lang="en-US" sz="1100" b="1" dirty="0">
              <a:solidFill>
                <a:srgbClr val="FF0000"/>
              </a:solidFill>
              <a:latin typeface="Courier"/>
            </a:endParaRPr>
          </a:p>
          <a:p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b;</a:t>
            </a:r>
            <a:b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b;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assignment!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SpecialFunc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Pass and Return by Copied Values!</a:t>
            </a: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8BCABD92-331B-2F9B-0440-9651BE04E915}"/>
              </a:ext>
            </a:extLst>
          </p:cNvPr>
          <p:cNvSpPr/>
          <p:nvPr/>
        </p:nvSpPr>
        <p:spPr>
          <a:xfrm>
            <a:off x="9865140" y="3617818"/>
            <a:ext cx="1415156" cy="496620"/>
          </a:xfrm>
          <a:prstGeom prst="wedgeRectCallout">
            <a:avLst>
              <a:gd name="adj1" fmla="val -76045"/>
              <a:gd name="adj2" fmla="val 6074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FF0000"/>
                </a:solidFill>
              </a:rPr>
              <a:t>Deep Copy!</a:t>
            </a:r>
          </a:p>
        </p:txBody>
      </p:sp>
    </p:spTree>
    <p:extLst>
      <p:ext uri="{BB962C8B-B14F-4D97-AF65-F5344CB8AC3E}">
        <p14:creationId xmlns:p14="http://schemas.microsoft.com/office/powerpoint/2010/main" val="155380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2" grpId="0" animBg="1"/>
      <p:bldP spid="1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Rule of the Six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52</a:t>
            </a:fld>
            <a:endParaRPr lang="en-CA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2ACFDD-7D88-78E0-80C1-348003CEE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634" y="1276421"/>
            <a:ext cx="6196061" cy="4678025"/>
          </a:xfrm>
          <a:prstGeom prst="rect">
            <a:avLst/>
          </a:prstGeom>
          <a:noFill/>
        </p:spPr>
      </p:pic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6383A32F-72F9-82A4-8924-C2DDD1434B52}"/>
              </a:ext>
            </a:extLst>
          </p:cNvPr>
          <p:cNvSpPr/>
          <p:nvPr/>
        </p:nvSpPr>
        <p:spPr>
          <a:xfrm>
            <a:off x="1396989" y="2599791"/>
            <a:ext cx="1825605" cy="580017"/>
          </a:xfrm>
          <a:prstGeom prst="wedgeRectCallout">
            <a:avLst>
              <a:gd name="adj1" fmla="val 70372"/>
              <a:gd name="adj2" fmla="val 445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u="sng" dirty="0">
                <a:solidFill>
                  <a:srgbClr val="7F1F1F"/>
                </a:solidFill>
              </a:rPr>
              <a:t>Minimum 4</a:t>
            </a:r>
          </a:p>
        </p:txBody>
      </p:sp>
    </p:spTree>
    <p:extLst>
      <p:ext uri="{BB962C8B-B14F-4D97-AF65-F5344CB8AC3E}">
        <p14:creationId xmlns:p14="http://schemas.microsoft.com/office/powerpoint/2010/main" val="168233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OOD Basics – Grand Example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(Simplified) Custom String Library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191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047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 Example - String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7630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C/C++ doesn’t come with String as primitive data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Let’s build a string data type then!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54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9A2A7-D5F0-8391-3FB5-B00011A654D0}"/>
              </a:ext>
            </a:extLst>
          </p:cNvPr>
          <p:cNvSpPr txBox="1"/>
          <p:nvPr/>
        </p:nvSpPr>
        <p:spPr>
          <a:xfrm>
            <a:off x="896468" y="2341092"/>
            <a:ext cx="3213978" cy="347787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Constructors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&amp;str);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0E221A-5E83-3887-D4EE-9C464FB0E601}"/>
              </a:ext>
            </a:extLst>
          </p:cNvPr>
          <p:cNvSpPr txBox="1"/>
          <p:nvPr/>
        </p:nvSpPr>
        <p:spPr>
          <a:xfrm>
            <a:off x="3640951" y="2580714"/>
            <a:ext cx="2698377" cy="1277273"/>
          </a:xfrm>
          <a:prstGeom prst="rect">
            <a:avLst/>
          </a:prstGeom>
          <a:ln w="28575">
            <a:solidFill>
              <a:srgbClr val="7F1F1F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 Constructor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::String()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new char[1];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*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‘\0’;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FA1631-4CB4-825E-6C92-E3170C885AFA}"/>
              </a:ext>
            </a:extLst>
          </p:cNvPr>
          <p:cNvSpPr txBox="1"/>
          <p:nvPr/>
        </p:nvSpPr>
        <p:spPr>
          <a:xfrm>
            <a:off x="3961072" y="3710503"/>
            <a:ext cx="3558990" cy="1461939"/>
          </a:xfrm>
          <a:prstGeom prst="rect">
            <a:avLst/>
          </a:prstGeom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Copy Constructor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String::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String(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</a:t>
            </a:r>
            <a:r>
              <a:rPr lang="en-US" sz="1200" b="1" dirty="0">
                <a:solidFill>
                  <a:srgbClr val="A870D2"/>
                </a:solidFill>
                <a:latin typeface="Courier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&amp;str)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n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str.nLength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char[n + 1];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n;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pData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str.pData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7E1F52-333F-5691-4FE7-260881150584}"/>
              </a:ext>
            </a:extLst>
          </p:cNvPr>
          <p:cNvSpPr txBox="1"/>
          <p:nvPr/>
        </p:nvSpPr>
        <p:spPr>
          <a:xfrm>
            <a:off x="6790601" y="4630790"/>
            <a:ext cx="3558990" cy="1292662"/>
          </a:xfrm>
          <a:prstGeom prst="rect">
            <a:avLst/>
          </a:prstGeom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Extra Constructor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String::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String(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(s);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char[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+ 1];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s);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7AA3C3-121D-CFE9-0E58-51729F4760F2}"/>
              </a:ext>
            </a:extLst>
          </p:cNvPr>
          <p:cNvSpPr txBox="1"/>
          <p:nvPr/>
        </p:nvSpPr>
        <p:spPr>
          <a:xfrm>
            <a:off x="7223337" y="2408384"/>
            <a:ext cx="3906217" cy="1446550"/>
          </a:xfrm>
          <a:prstGeom prst="rect">
            <a:avLst/>
          </a:prstGeom>
          <a:ln w="28575">
            <a:solidFill>
              <a:schemeClr val="accent2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Our own string length calculator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** Private Helper Function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 String::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 != ‘\0’;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++);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0C4AB77-C06B-35E8-A2EF-792EDC52700A}"/>
              </a:ext>
            </a:extLst>
          </p:cNvPr>
          <p:cNvSpPr/>
          <p:nvPr/>
        </p:nvSpPr>
        <p:spPr>
          <a:xfrm>
            <a:off x="8248804" y="1090969"/>
            <a:ext cx="2632646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L12Ex6-String.cpp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D1AD00CF-4A72-5382-5588-AE1DDB673D02}"/>
              </a:ext>
            </a:extLst>
          </p:cNvPr>
          <p:cNvSpPr/>
          <p:nvPr/>
        </p:nvSpPr>
        <p:spPr>
          <a:xfrm>
            <a:off x="3609231" y="5322347"/>
            <a:ext cx="2343893" cy="496620"/>
          </a:xfrm>
          <a:prstGeom prst="wedgeRectCallout">
            <a:avLst>
              <a:gd name="adj1" fmla="val 4824"/>
              <a:gd name="adj2" fmla="val -11570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You can also write your own routine instead</a:t>
            </a:r>
          </a:p>
        </p:txBody>
      </p:sp>
    </p:spTree>
    <p:extLst>
      <p:ext uri="{BB962C8B-B14F-4D97-AF65-F5344CB8AC3E}">
        <p14:creationId xmlns:p14="http://schemas.microsoft.com/office/powerpoint/2010/main" val="2857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 animBg="1"/>
      <p:bldP spid="2" grpId="0" animBg="1"/>
      <p:bldP spid="9" grpId="0" animBg="1"/>
      <p:bldP spid="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047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 Example - String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7630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C/C++ doesn’t come with String as primitive data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Let’s build a string data type then!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55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9A2A7-D5F0-8391-3FB5-B00011A654D0}"/>
              </a:ext>
            </a:extLst>
          </p:cNvPr>
          <p:cNvSpPr txBox="1"/>
          <p:nvPr/>
        </p:nvSpPr>
        <p:spPr>
          <a:xfrm>
            <a:off x="896468" y="2341092"/>
            <a:ext cx="3213978" cy="347787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Constructors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String();</a:t>
            </a:r>
            <a:b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&amp;str);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Accessors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char*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length();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Destructor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~String();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0E221A-5E83-3887-D4EE-9C464FB0E601}"/>
              </a:ext>
            </a:extLst>
          </p:cNvPr>
          <p:cNvSpPr txBox="1"/>
          <p:nvPr/>
        </p:nvSpPr>
        <p:spPr>
          <a:xfrm>
            <a:off x="4317703" y="2491715"/>
            <a:ext cx="2698377" cy="938719"/>
          </a:xfrm>
          <a:prstGeom prst="rect">
            <a:avLst/>
          </a:prstGeom>
          <a:ln w="28575">
            <a:solidFill>
              <a:srgbClr val="7F1F1F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String Getter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 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FA1631-4CB4-825E-6C92-E3170C885AFA}"/>
              </a:ext>
            </a:extLst>
          </p:cNvPr>
          <p:cNvSpPr txBox="1"/>
          <p:nvPr/>
        </p:nvSpPr>
        <p:spPr>
          <a:xfrm>
            <a:off x="4317703" y="3571440"/>
            <a:ext cx="2698377" cy="938719"/>
          </a:xfrm>
          <a:prstGeom prst="rect">
            <a:avLst/>
          </a:prstGeom>
          <a:ln w="28575">
            <a:solidFill>
              <a:srgbClr val="7030A0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Length Getter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 String::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length()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7AA3C3-121D-CFE9-0E58-51729F4760F2}"/>
              </a:ext>
            </a:extLst>
          </p:cNvPr>
          <p:cNvSpPr txBox="1"/>
          <p:nvPr/>
        </p:nvSpPr>
        <p:spPr>
          <a:xfrm>
            <a:off x="4317703" y="4653027"/>
            <a:ext cx="2698377" cy="938719"/>
          </a:xfrm>
          <a:prstGeom prst="rect">
            <a:avLst/>
          </a:prstGeom>
          <a:ln w="28575">
            <a:solidFill>
              <a:schemeClr val="accent2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Destructor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String::~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String()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32CF73-5050-E49A-672D-55661529FFA0}"/>
              </a:ext>
            </a:extLst>
          </p:cNvPr>
          <p:cNvSpPr/>
          <p:nvPr/>
        </p:nvSpPr>
        <p:spPr>
          <a:xfrm>
            <a:off x="8248804" y="1090969"/>
            <a:ext cx="2632646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L12Ex6-String.cpp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3840AA-84B7-FA21-25EA-6EE6ACBC46BA}"/>
              </a:ext>
            </a:extLst>
          </p:cNvPr>
          <p:cNvSpPr txBox="1"/>
          <p:nvPr/>
        </p:nvSpPr>
        <p:spPr>
          <a:xfrm>
            <a:off x="7223337" y="2181587"/>
            <a:ext cx="3923634" cy="3647152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 main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   String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str1; 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   String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str2(“Joe”); </a:t>
            </a:r>
            <a:endParaRPr lang="en-US" sz="11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   String*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str3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String(“Ann”); 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   String*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str4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String(str2); </a:t>
            </a:r>
          </a:p>
          <a:p>
            <a:endParaRPr lang="en-US" sz="11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str1.getString() &lt;&lt; “, Len = ” </a:t>
            </a:r>
            <a:b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&lt;&lt; str1.length() &lt;&lt;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str2.getString() &lt;&lt; “, Len = ” </a:t>
            </a:r>
            <a:b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&lt;&lt; str2.length() &lt;&lt;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str3-&gt;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&lt;&lt; “, Len = ” </a:t>
            </a:r>
            <a:b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&lt;&lt; str3-&gt;length() &lt;&lt;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str4-&gt;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&lt;&lt; “, Len = ” </a:t>
            </a:r>
            <a:b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&lt;&lt; str4-&gt;length() &lt;&lt;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str3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str4;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96957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" grpId="0" animBg="1"/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047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 Example - String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7630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C/C++ doesn’t come with String as primitive data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Let’s build a string data type then!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56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9A2A7-D5F0-8391-3FB5-B00011A654D0}"/>
              </a:ext>
            </a:extLst>
          </p:cNvPr>
          <p:cNvSpPr txBox="1"/>
          <p:nvPr/>
        </p:nvSpPr>
        <p:spPr>
          <a:xfrm>
            <a:off x="896468" y="2341092"/>
            <a:ext cx="4133664" cy="3985706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Constructors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String();</a:t>
            </a:r>
            <a:b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&amp;str);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Accessors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char*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length();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Destructor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~String();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Copy Assignment Operator (Overload)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        String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operator=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&amp;str);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0E221A-5E83-3887-D4EE-9C464FB0E601}"/>
              </a:ext>
            </a:extLst>
          </p:cNvPr>
          <p:cNvSpPr txBox="1"/>
          <p:nvPr/>
        </p:nvSpPr>
        <p:spPr>
          <a:xfrm>
            <a:off x="3965278" y="2412315"/>
            <a:ext cx="3923634" cy="1954381"/>
          </a:xfrm>
          <a:prstGeom prst="rect">
            <a:avLst/>
          </a:prstGeom>
          <a:ln w="28575">
            <a:solidFill>
              <a:srgbClr val="7F1F1F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Rule of Minimum 4!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Copy Assignment Operator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 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operator=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&amp;str)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n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str.nLength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this-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char[n + 1];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this-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n;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pData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str.pData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32CF73-5050-E49A-672D-55661529FFA0}"/>
              </a:ext>
            </a:extLst>
          </p:cNvPr>
          <p:cNvSpPr/>
          <p:nvPr/>
        </p:nvSpPr>
        <p:spPr>
          <a:xfrm>
            <a:off x="8248804" y="1090969"/>
            <a:ext cx="2632646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L12Ex6-String.cpp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3840AA-84B7-FA21-25EA-6EE6ACBC46BA}"/>
              </a:ext>
            </a:extLst>
          </p:cNvPr>
          <p:cNvSpPr txBox="1"/>
          <p:nvPr/>
        </p:nvSpPr>
        <p:spPr>
          <a:xfrm>
            <a:off x="7161870" y="3378539"/>
            <a:ext cx="3923634" cy="2970044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 main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   String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str1; 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   String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str2(“Joe”); </a:t>
            </a:r>
            <a:endParaRPr lang="en-US" sz="11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   String*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str3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String(“Ann”); 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   String*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str4 =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String(str2); </a:t>
            </a:r>
          </a:p>
          <a:p>
            <a:endParaRPr lang="en-US" sz="11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…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*str4 = str2;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str1 = *str3;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 Print to confirm correct assignment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str3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str4;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3658B93E-25EB-C86D-2681-12E6168863ED}"/>
              </a:ext>
            </a:extLst>
          </p:cNvPr>
          <p:cNvSpPr/>
          <p:nvPr/>
        </p:nvSpPr>
        <p:spPr>
          <a:xfrm>
            <a:off x="4464211" y="4327356"/>
            <a:ext cx="2343893" cy="496620"/>
          </a:xfrm>
          <a:prstGeom prst="wedgeRectCallout">
            <a:avLst>
              <a:gd name="adj1" fmla="val 4824"/>
              <a:gd name="adj2" fmla="val -11570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You can also write your own routine instead</a:t>
            </a:r>
          </a:p>
        </p:txBody>
      </p:sp>
    </p:spTree>
    <p:extLst>
      <p:ext uri="{BB962C8B-B14F-4D97-AF65-F5344CB8AC3E}">
        <p14:creationId xmlns:p14="http://schemas.microsoft.com/office/powerpoint/2010/main" val="75284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047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 Example - String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675877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C/C++ doesn’t come with String as primitive data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Let’s build a string data type then!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This String class is a </a:t>
            </a:r>
            <a:r>
              <a:rPr lang="en-CA" b="1" dirty="0"/>
              <a:t>Container Class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Encapsulation of relevant data members </a:t>
            </a:r>
            <a:br>
              <a:rPr lang="en-CA" dirty="0"/>
            </a:br>
            <a:r>
              <a:rPr lang="en-CA" dirty="0"/>
              <a:t>and their management member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This String class shall </a:t>
            </a:r>
            <a:r>
              <a:rPr lang="en-CA" b="1" dirty="0"/>
              <a:t>NOT</a:t>
            </a:r>
            <a:r>
              <a:rPr lang="en-CA" dirty="0"/>
              <a:t> be referred to as an </a:t>
            </a:r>
            <a:br>
              <a:rPr lang="en-CA" dirty="0"/>
            </a:br>
            <a:r>
              <a:rPr lang="en-CA" b="1" dirty="0"/>
              <a:t>Abstract Data Type (ADT)</a:t>
            </a: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Lacking full ADT features (but close)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Out of scope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57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4B2410-711A-AAD9-3C2E-1DA10E07394E}"/>
              </a:ext>
            </a:extLst>
          </p:cNvPr>
          <p:cNvSpPr txBox="1"/>
          <p:nvPr/>
        </p:nvSpPr>
        <p:spPr>
          <a:xfrm>
            <a:off x="6498740" y="2138407"/>
            <a:ext cx="4713757" cy="3985706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Constructors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String();</a:t>
            </a:r>
            <a:b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&amp;str);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Accessors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char*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length();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Destructor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~String();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Copy Assignment Operator (Overload)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        String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operator=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&amp;str);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32CF73-5050-E49A-672D-55661529FFA0}"/>
              </a:ext>
            </a:extLst>
          </p:cNvPr>
          <p:cNvSpPr/>
          <p:nvPr/>
        </p:nvSpPr>
        <p:spPr>
          <a:xfrm>
            <a:off x="8248804" y="1090969"/>
            <a:ext cx="2632646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L12Ex6-String.cpp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92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047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 Example - String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76300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UML for String Container Class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58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9A2A7-D5F0-8391-3FB5-B00011A654D0}"/>
              </a:ext>
            </a:extLst>
          </p:cNvPr>
          <p:cNvSpPr txBox="1"/>
          <p:nvPr/>
        </p:nvSpPr>
        <p:spPr>
          <a:xfrm>
            <a:off x="7013781" y="2080729"/>
            <a:ext cx="3213978" cy="347787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findLength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str);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Constructors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String();</a:t>
            </a:r>
            <a:b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&amp;str);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Accessors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char*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getString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length();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Destructor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~String();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32CF73-5050-E49A-672D-55661529FFA0}"/>
              </a:ext>
            </a:extLst>
          </p:cNvPr>
          <p:cNvSpPr/>
          <p:nvPr/>
        </p:nvSpPr>
        <p:spPr>
          <a:xfrm>
            <a:off x="7264066" y="1274643"/>
            <a:ext cx="2632646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L12Ex6-String.cpp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5A1AA-763F-1229-D348-07BF76D7545F}"/>
              </a:ext>
            </a:extLst>
          </p:cNvPr>
          <p:cNvSpPr/>
          <p:nvPr/>
        </p:nvSpPr>
        <p:spPr>
          <a:xfrm>
            <a:off x="2230764" y="2315405"/>
            <a:ext cx="3688080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String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3DF894-66C8-80D0-AA81-2A27213F004E}"/>
              </a:ext>
            </a:extLst>
          </p:cNvPr>
          <p:cNvSpPr/>
          <p:nvPr/>
        </p:nvSpPr>
        <p:spPr>
          <a:xfrm>
            <a:off x="2240670" y="2656496"/>
            <a:ext cx="3677233" cy="72027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- </a:t>
            </a:r>
            <a:r>
              <a:rPr lang="en-CA" sz="1400" dirty="0" err="1">
                <a:solidFill>
                  <a:schemeClr val="tx1"/>
                </a:solidFill>
                <a:latin typeface="Courier"/>
              </a:rPr>
              <a:t>pData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char*</a:t>
            </a: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- </a:t>
            </a:r>
            <a:r>
              <a:rPr lang="en-CA" sz="1400" dirty="0" err="1">
                <a:solidFill>
                  <a:schemeClr val="tx1"/>
                </a:solidFill>
                <a:latin typeface="Courier"/>
              </a:rPr>
              <a:t>nLength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19F32A-6347-C034-AB3C-F0022A4B2BEE}"/>
              </a:ext>
            </a:extLst>
          </p:cNvPr>
          <p:cNvSpPr/>
          <p:nvPr/>
        </p:nvSpPr>
        <p:spPr>
          <a:xfrm>
            <a:off x="2240670" y="3378326"/>
            <a:ext cx="3677233" cy="218027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- </a:t>
            </a:r>
            <a:r>
              <a:rPr lang="en-CA" sz="1400" dirty="0" err="1">
                <a:solidFill>
                  <a:schemeClr val="tx1"/>
                </a:solidFill>
                <a:latin typeface="Courier"/>
              </a:rPr>
              <a:t>findLength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(str: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char*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endParaRPr lang="en-CA" sz="1400" dirty="0">
              <a:solidFill>
                <a:schemeClr val="tx1"/>
              </a:solidFill>
              <a:latin typeface="Courier"/>
            </a:endParaRP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+ String()</a:t>
            </a: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+ String(s: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char*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)</a:t>
            </a: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+ String(str: </a:t>
            </a:r>
            <a:r>
              <a:rPr lang="en-CA" sz="1400" b="1" dirty="0">
                <a:solidFill>
                  <a:srgbClr val="AF7CD6"/>
                </a:solidFill>
                <a:latin typeface="Courier"/>
              </a:rPr>
              <a:t>String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&amp;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const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)</a:t>
            </a: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+ ~String()</a:t>
            </a:r>
            <a:endParaRPr lang="en-CA" sz="1400" b="1" dirty="0">
              <a:solidFill>
                <a:schemeClr val="accent1"/>
              </a:solidFill>
              <a:latin typeface="Courier"/>
            </a:endParaRPr>
          </a:p>
          <a:p>
            <a:endParaRPr lang="en-CA" sz="1400" dirty="0">
              <a:solidFill>
                <a:schemeClr val="tx1"/>
              </a:solidFill>
              <a:latin typeface="Courier"/>
            </a:endParaRP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dirty="0" err="1">
                <a:solidFill>
                  <a:schemeClr val="tx1"/>
                </a:solidFill>
                <a:latin typeface="Courier"/>
              </a:rPr>
              <a:t>getString</a:t>
            </a:r>
            <a:r>
              <a:rPr lang="en-CA" sz="1400" dirty="0">
                <a:solidFill>
                  <a:schemeClr val="tx1"/>
                </a:solidFill>
                <a:latin typeface="Courier"/>
              </a:rPr>
              <a:t>():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char*</a:t>
            </a:r>
          </a:p>
          <a:p>
            <a:r>
              <a:rPr lang="en-CA" sz="1400" dirty="0">
                <a:solidFill>
                  <a:schemeClr val="tx1"/>
                </a:solidFill>
                <a:latin typeface="Courier"/>
              </a:rPr>
              <a:t>+ length():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</p:txBody>
      </p:sp>
    </p:spTree>
    <p:extLst>
      <p:ext uri="{BB962C8B-B14F-4D97-AF65-F5344CB8AC3E}">
        <p14:creationId xmlns:p14="http://schemas.microsoft.com/office/powerpoint/2010/main" val="2285007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047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Modularization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10166271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Similar to C Library, C++ Classes can be modularized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And always should be, for code management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Header File (.h)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Contains C++ Class declaration (i.e. C struct and function prototypes)</a:t>
            </a:r>
            <a:endParaRPr lang="en-CA" b="1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Required libraries in preprocessor directives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Must be named the same as the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Source File (.</a:t>
            </a:r>
            <a:r>
              <a:rPr lang="en-CA" dirty="0" err="1"/>
              <a:t>cpp</a:t>
            </a:r>
            <a:r>
              <a:rPr lang="en-CA" dirty="0"/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Contains C++ Class implementation (i.e. function definitions, static data member init., etc.)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Required libraries in preprocessor directives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Must be named the same as the class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#include the required header file into your main program (.</a:t>
            </a:r>
            <a:r>
              <a:rPr lang="en-CA" dirty="0" err="1"/>
              <a:t>cpp</a:t>
            </a:r>
            <a:r>
              <a:rPr lang="en-CA" dirty="0"/>
              <a:t> source with main() function) to </a:t>
            </a:r>
            <a:br>
              <a:rPr lang="en-CA" dirty="0"/>
            </a:br>
            <a:r>
              <a:rPr lang="en-CA" dirty="0"/>
              <a:t>use the C++ class features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59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381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6846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8922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Object-Oriented Design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Builds upon C++ Class (C library, syntactically enforced)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C++ compiler helps programmers re-focus on object template designs rather than sequential code flow design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Much more design conveniences to come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C++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Data Members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Member Functions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Constructor, Accessor, Implementor, Destructor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Access Scope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60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559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Upcoming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69005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OOD - Class Inheritance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What’s Inheritance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Class Hierarchy and Inheritance Scope Control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Inheritance Rules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Parent-Child Class Relationships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Application of Class Inheritance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61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51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41041</TotalTime>
  <Words>8354</Words>
  <Application>Microsoft Office PowerPoint</Application>
  <PresentationFormat>Widescreen</PresentationFormat>
  <Paragraphs>1914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8" baseType="lpstr">
      <vt:lpstr>Algerian</vt:lpstr>
      <vt:lpstr>Arial</vt:lpstr>
      <vt:lpstr>Calibri</vt:lpstr>
      <vt:lpstr>Calibri Light</vt:lpstr>
      <vt:lpstr>Courier</vt:lpstr>
      <vt:lpstr>Courier New</vt:lpstr>
      <vt:lpstr>Office Theme</vt:lpstr>
      <vt:lpstr>PowerPoint Presentation</vt:lpstr>
      <vt:lpstr>PowerPoint Presentation</vt:lpstr>
      <vt:lpstr>Object Oriented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OOD Basics -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OOD Basics – Object Initialization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OOD Basics – C++ Special Member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OOD Basics – Grand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12 -Object Oriented Design in C++ - Classes</dc:title>
  <dc:creator>Shahrukh Athar</dc:creator>
  <cp:lastModifiedBy>Shahrukh Athar</cp:lastModifiedBy>
  <cp:revision>681</cp:revision>
  <dcterms:created xsi:type="dcterms:W3CDTF">2018-10-02T00:35:18Z</dcterms:created>
  <dcterms:modified xsi:type="dcterms:W3CDTF">2024-11-15T22:02:00Z</dcterms:modified>
</cp:coreProperties>
</file>