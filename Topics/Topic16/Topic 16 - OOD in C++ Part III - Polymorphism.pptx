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4" r:id="rId3"/>
    <p:sldId id="517" r:id="rId4"/>
    <p:sldId id="595" r:id="rId5"/>
    <p:sldId id="563" r:id="rId6"/>
    <p:sldId id="605" r:id="rId7"/>
    <p:sldId id="606" r:id="rId8"/>
    <p:sldId id="607" r:id="rId9"/>
    <p:sldId id="613" r:id="rId10"/>
    <p:sldId id="615" r:id="rId11"/>
    <p:sldId id="618" r:id="rId12"/>
    <p:sldId id="617" r:id="rId13"/>
    <p:sldId id="614" r:id="rId14"/>
    <p:sldId id="596" r:id="rId15"/>
    <p:sldId id="518" r:id="rId16"/>
    <p:sldId id="561" r:id="rId17"/>
    <p:sldId id="620" r:id="rId18"/>
    <p:sldId id="621" r:id="rId19"/>
    <p:sldId id="622" r:id="rId20"/>
    <p:sldId id="629" r:id="rId21"/>
    <p:sldId id="619" r:id="rId22"/>
    <p:sldId id="623" r:id="rId23"/>
    <p:sldId id="624" r:id="rId24"/>
    <p:sldId id="625" r:id="rId25"/>
    <p:sldId id="628" r:id="rId26"/>
    <p:sldId id="626" r:id="rId27"/>
    <p:sldId id="627" r:id="rId28"/>
    <p:sldId id="377" r:id="rId29"/>
    <p:sldId id="31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33CC33"/>
    <a:srgbClr val="7F1F1F"/>
    <a:srgbClr val="FFDDDD"/>
    <a:srgbClr val="FF7D7D"/>
    <a:srgbClr val="FFE699"/>
    <a:srgbClr val="D1B3E7"/>
    <a:srgbClr val="E8D9F3"/>
    <a:srgbClr val="AF7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731502" y="2611819"/>
            <a:ext cx="107290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Oriented Design in C++</a:t>
            </a:r>
          </a:p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III – Polymorphism and OOD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871506" y="1867574"/>
            <a:ext cx="4434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16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A9AB86-1910-31A3-7502-3A212AA66040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A88D4-CCAD-A7CF-3C62-A6309C452753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Polymorphism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Virtual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Static vs. Dynamic Binding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Abstract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Principles – Polymorphism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64216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Polymorphism (Class Diversification)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base class can be used to </a:t>
            </a:r>
            <a:r>
              <a:rPr lang="en-US" altLang="zh-CN" dirty="0"/>
              <a:t>ma</a:t>
            </a:r>
            <a:r>
              <a:rPr lang="en-CA" altLang="zh-CN" dirty="0" err="1"/>
              <a:t>ndate</a:t>
            </a:r>
            <a:r>
              <a:rPr lang="en-CA" dirty="0"/>
              <a:t> many </a:t>
            </a:r>
            <a:r>
              <a:rPr lang="en-CA" i="1" u="sng" dirty="0"/>
              <a:t>related</a:t>
            </a:r>
            <a:r>
              <a:rPr lang="en-CA" dirty="0"/>
              <a:t> derived classes to share certain identical behaviours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Literal meaning: “Many Forms”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An inheritance-based C++ feature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possibility of expressing actions and relations in terms of the base class functionality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Even after the base class is greatly extended by inheritance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Base Class: Enemy</a:t>
            </a:r>
            <a:r>
              <a:rPr lang="en-CA" dirty="0"/>
              <a:t> has a function </a:t>
            </a:r>
            <a:r>
              <a:rPr lang="en-CA" dirty="0" err="1"/>
              <a:t>takeDamage</a:t>
            </a:r>
            <a:r>
              <a:rPr lang="en-CA" dirty="0"/>
              <a:t>()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Subclasses: Minion, </a:t>
            </a:r>
            <a:r>
              <a:rPr lang="en-CA" dirty="0" err="1"/>
              <a:t>MiniBoss</a:t>
            </a:r>
            <a:r>
              <a:rPr lang="en-CA" dirty="0"/>
              <a:t>, </a:t>
            </a:r>
            <a:r>
              <a:rPr lang="en-CA" dirty="0" err="1"/>
              <a:t>MajorBoss</a:t>
            </a:r>
            <a:r>
              <a:rPr lang="en-CA" dirty="0"/>
              <a:t>, Dragons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They are all derived from Enemy – they are “different kinds of Enemy”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All inherit </a:t>
            </a:r>
            <a:r>
              <a:rPr lang="en-CA" dirty="0" err="1"/>
              <a:t>takeDamage</a:t>
            </a:r>
            <a:r>
              <a:rPr lang="en-CA" dirty="0"/>
              <a:t>()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Thus, when player swings a sword, it just needs to say “all </a:t>
            </a:r>
            <a:r>
              <a:rPr lang="en-CA" dirty="0" err="1"/>
              <a:t>Enemy.takeDamage</a:t>
            </a:r>
            <a:r>
              <a:rPr lang="en-CA" dirty="0"/>
              <a:t>() when hit”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Player doesn’t need to care which kind of Enemy it hit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203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Polymorphism Fundamentals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Binding vs. Dynamic Binding</a:t>
            </a:r>
          </a:p>
          <a:p>
            <a:r>
              <a:rPr lang="en-US" dirty="0"/>
              <a:t>Virtual Function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1DAD3D-5BC8-EC6E-8A6C-052FFFA3B186}"/>
              </a:ext>
            </a:extLst>
          </p:cNvPr>
          <p:cNvSpPr txBox="1"/>
          <p:nvPr/>
        </p:nvSpPr>
        <p:spPr>
          <a:xfrm>
            <a:off x="831850" y="541589"/>
            <a:ext cx="690136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16-1] C Library Template to C++ Polymorphism</a:t>
            </a:r>
          </a:p>
          <a:p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68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Polymorphism Definition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7984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 C++, subclasses can be of different forms derived from the same parent template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Software teams can then syntactically enforce a parent class template on their contributors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Outcome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When the type of a formal parameter is in a parent class, the argument used can be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 same type as the formal parameter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Any derived class types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8335E5-413E-469B-3B4F-706D2C0AE6FD}"/>
              </a:ext>
            </a:extLst>
          </p:cNvPr>
          <p:cNvSpPr/>
          <p:nvPr/>
        </p:nvSpPr>
        <p:spPr>
          <a:xfrm>
            <a:off x="2283250" y="5045498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C4CA318-7A51-21EF-BABF-140D9C0A9DA1}"/>
              </a:ext>
            </a:extLst>
          </p:cNvPr>
          <p:cNvSpPr/>
          <p:nvPr/>
        </p:nvSpPr>
        <p:spPr>
          <a:xfrm>
            <a:off x="3235557" y="4506069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6C88A6-0E3A-89F5-0342-0D1C37DB86D8}"/>
              </a:ext>
            </a:extLst>
          </p:cNvPr>
          <p:cNvCxnSpPr>
            <a:cxnSpLocks/>
          </p:cNvCxnSpPr>
          <p:nvPr/>
        </p:nvCxnSpPr>
        <p:spPr>
          <a:xfrm>
            <a:off x="3319497" y="4646345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11282A9-473C-E355-A9F9-5A2C91D997C5}"/>
              </a:ext>
            </a:extLst>
          </p:cNvPr>
          <p:cNvSpPr txBox="1"/>
          <p:nvPr/>
        </p:nvSpPr>
        <p:spPr>
          <a:xfrm>
            <a:off x="2544595" y="4701478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701E1D-5444-5618-4654-EEFE481ACFE8}"/>
              </a:ext>
            </a:extLst>
          </p:cNvPr>
          <p:cNvSpPr/>
          <p:nvPr/>
        </p:nvSpPr>
        <p:spPr>
          <a:xfrm>
            <a:off x="3089954" y="3883522"/>
            <a:ext cx="135314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RectBase</a:t>
            </a:r>
            <a:endParaRPr lang="en-US" b="1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D42CAF-DAEA-883C-6BE1-FADB44B30C28}"/>
              </a:ext>
            </a:extLst>
          </p:cNvPr>
          <p:cNvSpPr/>
          <p:nvPr/>
        </p:nvSpPr>
        <p:spPr>
          <a:xfrm>
            <a:off x="3100236" y="4220165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86D920-CC8D-F093-7C79-1951C7DD095D}"/>
              </a:ext>
            </a:extLst>
          </p:cNvPr>
          <p:cNvSpPr/>
          <p:nvPr/>
        </p:nvSpPr>
        <p:spPr>
          <a:xfrm>
            <a:off x="2282360" y="5378124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E22618-0AAB-3870-0CE6-8805333EFAA5}"/>
              </a:ext>
            </a:extLst>
          </p:cNvPr>
          <p:cNvSpPr/>
          <p:nvPr/>
        </p:nvSpPr>
        <p:spPr>
          <a:xfrm>
            <a:off x="3878700" y="5061293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7FCCC7-54F1-610A-3597-6C71030EC8DD}"/>
              </a:ext>
            </a:extLst>
          </p:cNvPr>
          <p:cNvSpPr/>
          <p:nvPr/>
        </p:nvSpPr>
        <p:spPr>
          <a:xfrm>
            <a:off x="3877810" y="5393919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F9A9B6C-9140-025A-7A5F-F32F43596C8C}"/>
              </a:ext>
            </a:extLst>
          </p:cNvPr>
          <p:cNvSpPr/>
          <p:nvPr/>
        </p:nvSpPr>
        <p:spPr>
          <a:xfrm>
            <a:off x="4023640" y="4506069"/>
            <a:ext cx="167880" cy="131567"/>
          </a:xfrm>
          <a:prstGeom prst="triangle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15315D-4B2A-50BB-7D64-D922ABAE71E1}"/>
              </a:ext>
            </a:extLst>
          </p:cNvPr>
          <p:cNvSpPr txBox="1"/>
          <p:nvPr/>
        </p:nvSpPr>
        <p:spPr>
          <a:xfrm>
            <a:off x="4116130" y="4721809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1F1F"/>
                </a:solidFill>
              </a:rPr>
              <a:t>extends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972AD1-5824-E706-CB46-F43B85644483}"/>
              </a:ext>
            </a:extLst>
          </p:cNvPr>
          <p:cNvCxnSpPr>
            <a:cxnSpLocks/>
          </p:cNvCxnSpPr>
          <p:nvPr/>
        </p:nvCxnSpPr>
        <p:spPr>
          <a:xfrm>
            <a:off x="4107580" y="4646345"/>
            <a:ext cx="0" cy="414948"/>
          </a:xfrm>
          <a:prstGeom prst="lin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4CCE6E-752E-CE9D-A0C4-65F94234D6D4}"/>
              </a:ext>
            </a:extLst>
          </p:cNvPr>
          <p:cNvSpPr txBox="1"/>
          <p:nvPr/>
        </p:nvSpPr>
        <p:spPr>
          <a:xfrm>
            <a:off x="6263805" y="3444103"/>
            <a:ext cx="4948692" cy="2462213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*r)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“Area: ” &lt;&lt; </a:t>
            </a:r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r-&gt;</a:t>
            </a:r>
            <a:r>
              <a:rPr lang="en-US" sz="11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r1(3, 4);</a:t>
            </a:r>
          </a:p>
          <a:p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r2(7, 11);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sq(9);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(&amp;r1);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(&amp;r2);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OK!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a kind of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(&amp;sq);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OK! Square is a kind of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4DF3F249-79DD-3686-024B-7FE25A7A32F1}"/>
              </a:ext>
            </a:extLst>
          </p:cNvPr>
          <p:cNvSpPr/>
          <p:nvPr/>
        </p:nvSpPr>
        <p:spPr>
          <a:xfrm>
            <a:off x="8499566" y="4025801"/>
            <a:ext cx="2622372" cy="648960"/>
          </a:xfrm>
          <a:prstGeom prst="wedgeRectCallout">
            <a:avLst>
              <a:gd name="adj1" fmla="val -45539"/>
              <a:gd name="adj2" fmla="val 10116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C++ achieves this through a </a:t>
            </a:r>
            <a:r>
              <a:rPr lang="en-CA" sz="1600" b="1" i="1" dirty="0">
                <a:solidFill>
                  <a:schemeClr val="tx1"/>
                </a:solidFill>
              </a:rPr>
              <a:t>special mechanism</a:t>
            </a:r>
          </a:p>
        </p:txBody>
      </p:sp>
    </p:spTree>
    <p:extLst>
      <p:ext uri="{BB962C8B-B14F-4D97-AF65-F5344CB8AC3E}">
        <p14:creationId xmlns:p14="http://schemas.microsoft.com/office/powerpoint/2010/main" val="344354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/>
      <p:bldP spid="16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20" grpId="0" animBg="1"/>
      <p:bldP spid="20" grpId="1" animBg="1"/>
      <p:bldP spid="21" grpId="0" animBg="1"/>
      <p:bldP spid="22" grpId="0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Polymorphism in C++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7984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C++ Compiler Differentiates Functions based on…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Not just its function signature, but also the class it belongs to!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Therefore, </a:t>
            </a:r>
            <a:r>
              <a:rPr lang="en-CA" b="1" dirty="0" err="1"/>
              <a:t>Rect</a:t>
            </a:r>
            <a:r>
              <a:rPr lang="en-CA" b="1" dirty="0"/>
              <a:t>::</a:t>
            </a:r>
            <a:r>
              <a:rPr lang="en-CA" b="1" dirty="0" err="1"/>
              <a:t>getArea</a:t>
            </a:r>
            <a:r>
              <a:rPr lang="en-CA" b="1" dirty="0"/>
              <a:t>() </a:t>
            </a:r>
            <a:r>
              <a:rPr lang="en-CA" dirty="0"/>
              <a:t>is different from </a:t>
            </a:r>
            <a:r>
              <a:rPr lang="en-CA" b="1" dirty="0"/>
              <a:t>Square::</a:t>
            </a:r>
            <a:r>
              <a:rPr lang="en-CA" b="1" dirty="0" err="1"/>
              <a:t>getArea</a:t>
            </a:r>
            <a:r>
              <a:rPr lang="en-CA" b="1" dirty="0"/>
              <a:t>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69278-94CE-AEA3-3E44-A5CD1E271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545" y="533203"/>
            <a:ext cx="2421952" cy="52017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73634A-70D3-1D49-1BA8-91F86422599A}"/>
              </a:ext>
            </a:extLst>
          </p:cNvPr>
          <p:cNvSpPr/>
          <p:nvPr/>
        </p:nvSpPr>
        <p:spPr>
          <a:xfrm>
            <a:off x="9747942" y="5052767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2E5953-0CD5-2282-B228-24735F188C6D}"/>
              </a:ext>
            </a:extLst>
          </p:cNvPr>
          <p:cNvSpPr/>
          <p:nvPr/>
        </p:nvSpPr>
        <p:spPr>
          <a:xfrm>
            <a:off x="9747052" y="5385393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1957D1-6DDD-C55F-171A-040A8D2C2DD7}"/>
              </a:ext>
            </a:extLst>
          </p:cNvPr>
          <p:cNvSpPr/>
          <p:nvPr/>
        </p:nvSpPr>
        <p:spPr>
          <a:xfrm>
            <a:off x="9747052" y="4400576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4C1BC5-75D2-A53F-754B-90F77ECC0DCE}"/>
              </a:ext>
            </a:extLst>
          </p:cNvPr>
          <p:cNvSpPr/>
          <p:nvPr/>
        </p:nvSpPr>
        <p:spPr>
          <a:xfrm>
            <a:off x="9746162" y="4733202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FC79B64A-0F7F-D605-AA1D-CDE58C77041F}"/>
              </a:ext>
            </a:extLst>
          </p:cNvPr>
          <p:cNvSpPr/>
          <p:nvPr/>
        </p:nvSpPr>
        <p:spPr>
          <a:xfrm>
            <a:off x="6658391" y="3671127"/>
            <a:ext cx="2319300" cy="928026"/>
          </a:xfrm>
          <a:prstGeom prst="wedgeRectCallout">
            <a:avLst>
              <a:gd name="adj1" fmla="val 75367"/>
              <a:gd name="adj2" fmla="val 739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C++ compiler places these classes in different memory areas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E1612D-70B6-34E9-8723-28B46A3EAAAA}"/>
              </a:ext>
            </a:extLst>
          </p:cNvPr>
          <p:cNvSpPr/>
          <p:nvPr/>
        </p:nvSpPr>
        <p:spPr>
          <a:xfrm>
            <a:off x="1557732" y="4443132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17076BA7-74A1-7CCD-1990-04E0528003FC}"/>
              </a:ext>
            </a:extLst>
          </p:cNvPr>
          <p:cNvSpPr/>
          <p:nvPr/>
        </p:nvSpPr>
        <p:spPr>
          <a:xfrm>
            <a:off x="2510039" y="3903703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202473-D2EC-66DE-4ED9-3406475ED646}"/>
              </a:ext>
            </a:extLst>
          </p:cNvPr>
          <p:cNvCxnSpPr>
            <a:cxnSpLocks/>
          </p:cNvCxnSpPr>
          <p:nvPr/>
        </p:nvCxnSpPr>
        <p:spPr>
          <a:xfrm>
            <a:off x="2593979" y="4043979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875D814-8FEC-1CFB-0F16-E6CE554D1381}"/>
              </a:ext>
            </a:extLst>
          </p:cNvPr>
          <p:cNvSpPr txBox="1"/>
          <p:nvPr/>
        </p:nvSpPr>
        <p:spPr>
          <a:xfrm>
            <a:off x="1819077" y="4099112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25E50F-4FCB-DA91-17A3-69B08D700428}"/>
              </a:ext>
            </a:extLst>
          </p:cNvPr>
          <p:cNvSpPr/>
          <p:nvPr/>
        </p:nvSpPr>
        <p:spPr>
          <a:xfrm>
            <a:off x="2282586" y="3279136"/>
            <a:ext cx="135314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RectBase</a:t>
            </a:r>
            <a:endParaRPr lang="en-US" b="1" i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09479C-965E-5E32-7433-850E7B8F9E72}"/>
              </a:ext>
            </a:extLst>
          </p:cNvPr>
          <p:cNvSpPr/>
          <p:nvPr/>
        </p:nvSpPr>
        <p:spPr>
          <a:xfrm>
            <a:off x="2292868" y="3615779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FED82A-C591-1DC0-CCFF-35F8B57E9193}"/>
              </a:ext>
            </a:extLst>
          </p:cNvPr>
          <p:cNvSpPr/>
          <p:nvPr/>
        </p:nvSpPr>
        <p:spPr>
          <a:xfrm>
            <a:off x="1556842" y="4775758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0E248F-2ABD-C221-B461-668A39B653A2}"/>
              </a:ext>
            </a:extLst>
          </p:cNvPr>
          <p:cNvSpPr/>
          <p:nvPr/>
        </p:nvSpPr>
        <p:spPr>
          <a:xfrm>
            <a:off x="3153182" y="4458927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7FBA43-1FA3-D3E9-D208-97593FD0C7AE}"/>
              </a:ext>
            </a:extLst>
          </p:cNvPr>
          <p:cNvSpPr/>
          <p:nvPr/>
        </p:nvSpPr>
        <p:spPr>
          <a:xfrm>
            <a:off x="3152292" y="4791553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87232BB2-D1F5-CB8E-6566-8E098743F034}"/>
              </a:ext>
            </a:extLst>
          </p:cNvPr>
          <p:cNvSpPr/>
          <p:nvPr/>
        </p:nvSpPr>
        <p:spPr>
          <a:xfrm>
            <a:off x="3298122" y="3903703"/>
            <a:ext cx="167880" cy="131567"/>
          </a:xfrm>
          <a:prstGeom prst="triangle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D08D72-3B25-B95A-3A68-26FA99624552}"/>
              </a:ext>
            </a:extLst>
          </p:cNvPr>
          <p:cNvSpPr txBox="1"/>
          <p:nvPr/>
        </p:nvSpPr>
        <p:spPr>
          <a:xfrm>
            <a:off x="3390612" y="4119443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1F1F"/>
                </a:solidFill>
              </a:rPr>
              <a:t>extends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0AF123C-A43A-41A5-0122-26A2F78E65DA}"/>
              </a:ext>
            </a:extLst>
          </p:cNvPr>
          <p:cNvCxnSpPr>
            <a:cxnSpLocks/>
          </p:cNvCxnSpPr>
          <p:nvPr/>
        </p:nvCxnSpPr>
        <p:spPr>
          <a:xfrm>
            <a:off x="3382062" y="4043979"/>
            <a:ext cx="0" cy="414948"/>
          </a:xfrm>
          <a:prstGeom prst="lin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4B02CDB-A3EB-004C-07CC-363E3F56A0E8}"/>
              </a:ext>
            </a:extLst>
          </p:cNvPr>
          <p:cNvSpPr/>
          <p:nvPr/>
        </p:nvSpPr>
        <p:spPr>
          <a:xfrm>
            <a:off x="4535482" y="2778040"/>
            <a:ext cx="3302231" cy="324480"/>
          </a:xfrm>
          <a:prstGeom prst="wedgeRectCallout">
            <a:avLst>
              <a:gd name="adj1" fmla="val -40523"/>
              <a:gd name="adj2" fmla="val -13769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This is where C compiler falls short</a:t>
            </a:r>
          </a:p>
        </p:txBody>
      </p:sp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8020A8C7-D245-C7B7-697E-E1825B7D01A2}"/>
              </a:ext>
            </a:extLst>
          </p:cNvPr>
          <p:cNvSpPr/>
          <p:nvPr/>
        </p:nvSpPr>
        <p:spPr>
          <a:xfrm>
            <a:off x="5549153" y="4735663"/>
            <a:ext cx="3428538" cy="1100374"/>
          </a:xfrm>
          <a:prstGeom prst="wedgeRectCallout">
            <a:avLst>
              <a:gd name="adj1" fmla="val 73114"/>
              <a:gd name="adj2" fmla="val -20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To computers, these two </a:t>
            </a:r>
            <a:r>
              <a:rPr lang="en-CA" sz="1600" dirty="0" err="1">
                <a:solidFill>
                  <a:schemeClr val="tx1"/>
                </a:solidFill>
              </a:rPr>
              <a:t>getArea</a:t>
            </a:r>
            <a:r>
              <a:rPr lang="en-CA" sz="1600" dirty="0">
                <a:solidFill>
                  <a:schemeClr val="tx1"/>
                </a:solidFill>
              </a:rPr>
              <a:t>() functions are entirely different procedures recorded in different parts of program memory</a:t>
            </a:r>
          </a:p>
        </p:txBody>
      </p:sp>
    </p:spTree>
    <p:extLst>
      <p:ext uri="{BB962C8B-B14F-4D97-AF65-F5344CB8AC3E}">
        <p14:creationId xmlns:p14="http://schemas.microsoft.com/office/powerpoint/2010/main" val="373821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4" grpId="0" animBg="1"/>
      <p:bldP spid="27" grpId="0" animBg="1"/>
      <p:bldP spid="29" grpId="0" animBg="1"/>
      <p:bldP spid="30" grpId="0" animBg="1"/>
      <p:bldP spid="36" grpId="0" animBg="1"/>
      <p:bldP spid="37" grpId="0" animBg="1"/>
      <p:bldP spid="38" grpId="0" animBg="1"/>
      <p:bldP spid="42" grpId="0" animBg="1"/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Polymorphism in C++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7984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Thus, when </a:t>
            </a:r>
            <a:r>
              <a:rPr lang="en-CA" sz="2200" dirty="0" err="1"/>
              <a:t>getArea</a:t>
            </a:r>
            <a:r>
              <a:rPr lang="en-CA" sz="2200" dirty="0"/>
              <a:t>() is invoked on different members…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control jumps to the starting address of the corresponding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i.e. Same name to programmers, different sets of instructions to computers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69278-94CE-AEA3-3E44-A5CD1E271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545" y="533203"/>
            <a:ext cx="2421952" cy="52017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73634A-70D3-1D49-1BA8-91F86422599A}"/>
              </a:ext>
            </a:extLst>
          </p:cNvPr>
          <p:cNvSpPr/>
          <p:nvPr/>
        </p:nvSpPr>
        <p:spPr>
          <a:xfrm>
            <a:off x="9747942" y="5052767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2E5953-0CD5-2282-B228-24735F188C6D}"/>
              </a:ext>
            </a:extLst>
          </p:cNvPr>
          <p:cNvSpPr/>
          <p:nvPr/>
        </p:nvSpPr>
        <p:spPr>
          <a:xfrm>
            <a:off x="9747052" y="5385393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1957D1-6DDD-C55F-171A-040A8D2C2DD7}"/>
              </a:ext>
            </a:extLst>
          </p:cNvPr>
          <p:cNvSpPr/>
          <p:nvPr/>
        </p:nvSpPr>
        <p:spPr>
          <a:xfrm>
            <a:off x="9747052" y="4400576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4C1BC5-75D2-A53F-754B-90F77ECC0DCE}"/>
              </a:ext>
            </a:extLst>
          </p:cNvPr>
          <p:cNvSpPr/>
          <p:nvPr/>
        </p:nvSpPr>
        <p:spPr>
          <a:xfrm>
            <a:off x="9746162" y="4733202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911B1D0B-7809-225F-397E-E0010E2474B1}"/>
              </a:ext>
            </a:extLst>
          </p:cNvPr>
          <p:cNvSpPr/>
          <p:nvPr/>
        </p:nvSpPr>
        <p:spPr>
          <a:xfrm>
            <a:off x="6544574" y="4834144"/>
            <a:ext cx="2319300" cy="928026"/>
          </a:xfrm>
          <a:prstGeom prst="wedgeRectCallout">
            <a:avLst>
              <a:gd name="adj1" fmla="val 77244"/>
              <a:gd name="adj2" fmla="val 357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C++ compiler places these classes in different memory areas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08C5B-0DE1-D72E-92D7-01BD55AFA0FB}"/>
              </a:ext>
            </a:extLst>
          </p:cNvPr>
          <p:cNvSpPr txBox="1"/>
          <p:nvPr/>
        </p:nvSpPr>
        <p:spPr>
          <a:xfrm>
            <a:off x="4748632" y="2800062"/>
            <a:ext cx="3983739" cy="1785104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*r)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“Area: ” &lt;&lt; r-&gt;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r2(7, 11);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sq(9);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(&amp;r2);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(&amp;sq);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41419-A965-7135-96C2-DF725F0F2BDA}"/>
              </a:ext>
            </a:extLst>
          </p:cNvPr>
          <p:cNvSpPr/>
          <p:nvPr/>
        </p:nvSpPr>
        <p:spPr>
          <a:xfrm>
            <a:off x="1557732" y="4443132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8D2E4C2-4E61-9CFB-9B66-63E489B54C66}"/>
              </a:ext>
            </a:extLst>
          </p:cNvPr>
          <p:cNvSpPr/>
          <p:nvPr/>
        </p:nvSpPr>
        <p:spPr>
          <a:xfrm>
            <a:off x="2510039" y="3903703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17D26CB-6D54-A63D-DBF2-CBE4FDC120DA}"/>
              </a:ext>
            </a:extLst>
          </p:cNvPr>
          <p:cNvCxnSpPr>
            <a:cxnSpLocks/>
          </p:cNvCxnSpPr>
          <p:nvPr/>
        </p:nvCxnSpPr>
        <p:spPr>
          <a:xfrm>
            <a:off x="2593979" y="4043979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76E39B1-4503-E68A-72DE-F200252713D4}"/>
              </a:ext>
            </a:extLst>
          </p:cNvPr>
          <p:cNvSpPr txBox="1"/>
          <p:nvPr/>
        </p:nvSpPr>
        <p:spPr>
          <a:xfrm>
            <a:off x="1819077" y="4099112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122314-5B35-8C9A-815D-1DDFD01BE442}"/>
              </a:ext>
            </a:extLst>
          </p:cNvPr>
          <p:cNvSpPr/>
          <p:nvPr/>
        </p:nvSpPr>
        <p:spPr>
          <a:xfrm>
            <a:off x="2282586" y="3279136"/>
            <a:ext cx="135314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RectBase</a:t>
            </a:r>
            <a:endParaRPr lang="en-US" b="1" i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12DB0F-10E4-96D4-8E19-3275474E15F3}"/>
              </a:ext>
            </a:extLst>
          </p:cNvPr>
          <p:cNvSpPr/>
          <p:nvPr/>
        </p:nvSpPr>
        <p:spPr>
          <a:xfrm>
            <a:off x="2292868" y="3615779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39494B-D2A6-2B4B-20BE-A093AF4655DC}"/>
              </a:ext>
            </a:extLst>
          </p:cNvPr>
          <p:cNvSpPr/>
          <p:nvPr/>
        </p:nvSpPr>
        <p:spPr>
          <a:xfrm>
            <a:off x="1556842" y="4775758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BFB4EA-2DB5-190F-9713-FCAEA99730E7}"/>
              </a:ext>
            </a:extLst>
          </p:cNvPr>
          <p:cNvSpPr/>
          <p:nvPr/>
        </p:nvSpPr>
        <p:spPr>
          <a:xfrm>
            <a:off x="3153182" y="4458927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787A23-D24B-0791-B3AF-60C6D8ED031B}"/>
              </a:ext>
            </a:extLst>
          </p:cNvPr>
          <p:cNvSpPr/>
          <p:nvPr/>
        </p:nvSpPr>
        <p:spPr>
          <a:xfrm>
            <a:off x="3152292" y="4791553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59328E8D-B789-1D03-B18F-A54514EFB820}"/>
              </a:ext>
            </a:extLst>
          </p:cNvPr>
          <p:cNvSpPr/>
          <p:nvPr/>
        </p:nvSpPr>
        <p:spPr>
          <a:xfrm>
            <a:off x="3298122" y="3903703"/>
            <a:ext cx="167880" cy="131567"/>
          </a:xfrm>
          <a:prstGeom prst="triangle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8064C7-6F00-1338-400D-2D37EE4DA4F0}"/>
              </a:ext>
            </a:extLst>
          </p:cNvPr>
          <p:cNvSpPr txBox="1"/>
          <p:nvPr/>
        </p:nvSpPr>
        <p:spPr>
          <a:xfrm>
            <a:off x="3390612" y="4119443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1F1F"/>
                </a:solidFill>
              </a:rPr>
              <a:t>extends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0DE1FF-116C-782E-4EAC-B712E8E05996}"/>
              </a:ext>
            </a:extLst>
          </p:cNvPr>
          <p:cNvCxnSpPr>
            <a:cxnSpLocks/>
          </p:cNvCxnSpPr>
          <p:nvPr/>
        </p:nvCxnSpPr>
        <p:spPr>
          <a:xfrm>
            <a:off x="3382062" y="4043979"/>
            <a:ext cx="0" cy="414948"/>
          </a:xfrm>
          <a:prstGeom prst="lin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52A6CAD-64F4-6CC1-C802-C7642A4BEB49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544574" y="4099112"/>
            <a:ext cx="3202478" cy="1416888"/>
          </a:xfrm>
          <a:prstGeom prst="bentConnector3">
            <a:avLst>
              <a:gd name="adj1" fmla="val 82904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4E3C8FF-BEF3-91A5-6EF8-6A00FBC8D68E}"/>
              </a:ext>
            </a:extLst>
          </p:cNvPr>
          <p:cNvCxnSpPr>
            <a:cxnSpLocks/>
          </p:cNvCxnSpPr>
          <p:nvPr/>
        </p:nvCxnSpPr>
        <p:spPr>
          <a:xfrm>
            <a:off x="6545909" y="4257732"/>
            <a:ext cx="3200253" cy="617870"/>
          </a:xfrm>
          <a:prstGeom prst="bentConnector3">
            <a:avLst>
              <a:gd name="adj1" fmla="val 78029"/>
            </a:avLst>
          </a:prstGeom>
          <a:ln w="57150">
            <a:solidFill>
              <a:srgbClr val="7F1F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9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7" grpId="0" animBg="1"/>
      <p:bldP spid="10" grpId="0" animBg="1"/>
      <p:bldP spid="32" grpId="0" animBg="1"/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Polymorphism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7984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From Design Perspective…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i="1" dirty="0" err="1"/>
              <a:t>RectBase</a:t>
            </a:r>
            <a:r>
              <a:rPr lang="en-CA" dirty="0"/>
              <a:t> is now a template of </a:t>
            </a:r>
            <a:r>
              <a:rPr lang="en-CA" i="1" dirty="0" err="1"/>
              <a:t>Rect</a:t>
            </a:r>
            <a:r>
              <a:rPr lang="en-CA" dirty="0"/>
              <a:t> and </a:t>
            </a:r>
            <a:r>
              <a:rPr lang="en-CA" i="1" dirty="0"/>
              <a:t>Square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i="1" dirty="0" err="1"/>
              <a:t>RectBase</a:t>
            </a:r>
            <a:r>
              <a:rPr lang="en-CA" dirty="0"/>
              <a:t> can provide default template behaviours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i="1" dirty="0" err="1"/>
              <a:t>Rect</a:t>
            </a:r>
            <a:r>
              <a:rPr lang="en-CA" dirty="0"/>
              <a:t> is considered a </a:t>
            </a:r>
            <a:r>
              <a:rPr lang="en-CA" i="1" dirty="0" err="1"/>
              <a:t>Rect</a:t>
            </a:r>
            <a:r>
              <a:rPr lang="en-CA" dirty="0"/>
              <a:t>, but also a </a:t>
            </a:r>
            <a:r>
              <a:rPr lang="en-CA" i="1" dirty="0" err="1"/>
              <a:t>RectBase</a:t>
            </a:r>
            <a:endParaRPr lang="en-CA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i="1" dirty="0"/>
              <a:t>Square</a:t>
            </a:r>
            <a:r>
              <a:rPr lang="en-CA" dirty="0"/>
              <a:t> is considered a </a:t>
            </a:r>
            <a:r>
              <a:rPr lang="en-CA" i="1" dirty="0"/>
              <a:t>Square</a:t>
            </a:r>
            <a:r>
              <a:rPr lang="en-CA" dirty="0"/>
              <a:t>, but also a </a:t>
            </a:r>
            <a:r>
              <a:rPr lang="en-CA" i="1" dirty="0" err="1"/>
              <a:t>RectBase</a:t>
            </a:r>
            <a:endParaRPr lang="en-CA" i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All specialized classes can override the </a:t>
            </a:r>
            <a:r>
              <a:rPr lang="en-CA" i="1" dirty="0" err="1"/>
              <a:t>RectBase</a:t>
            </a:r>
            <a:r>
              <a:rPr lang="en-CA" dirty="0"/>
              <a:t> default behaviours as needed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Given a function / algorithm working with </a:t>
            </a:r>
            <a:r>
              <a:rPr lang="en-CA" i="1" dirty="0" err="1"/>
              <a:t>RectBase</a:t>
            </a:r>
            <a:r>
              <a:rPr lang="en-CA" dirty="0"/>
              <a:t>, it is directly applicable to both </a:t>
            </a:r>
            <a:r>
              <a:rPr lang="en-CA" i="1" dirty="0" err="1"/>
              <a:t>Rect</a:t>
            </a:r>
            <a:r>
              <a:rPr lang="en-CA" dirty="0"/>
              <a:t> and </a:t>
            </a:r>
            <a:r>
              <a:rPr lang="en-CA" i="1" dirty="0"/>
              <a:t>Square</a:t>
            </a:r>
            <a:r>
              <a:rPr lang="en-CA" dirty="0"/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41419-A965-7135-96C2-DF725F0F2BDA}"/>
              </a:ext>
            </a:extLst>
          </p:cNvPr>
          <p:cNvSpPr/>
          <p:nvPr/>
        </p:nvSpPr>
        <p:spPr>
          <a:xfrm>
            <a:off x="3322594" y="4897279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8D2E4C2-4E61-9CFB-9B66-63E489B54C66}"/>
              </a:ext>
            </a:extLst>
          </p:cNvPr>
          <p:cNvSpPr/>
          <p:nvPr/>
        </p:nvSpPr>
        <p:spPr>
          <a:xfrm>
            <a:off x="4274901" y="4357850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17D26CB-6D54-A63D-DBF2-CBE4FDC120DA}"/>
              </a:ext>
            </a:extLst>
          </p:cNvPr>
          <p:cNvCxnSpPr>
            <a:cxnSpLocks/>
          </p:cNvCxnSpPr>
          <p:nvPr/>
        </p:nvCxnSpPr>
        <p:spPr>
          <a:xfrm>
            <a:off x="4358841" y="4498126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76E39B1-4503-E68A-72DE-F200252713D4}"/>
              </a:ext>
            </a:extLst>
          </p:cNvPr>
          <p:cNvSpPr txBox="1"/>
          <p:nvPr/>
        </p:nvSpPr>
        <p:spPr>
          <a:xfrm>
            <a:off x="3583939" y="4553259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122314-5B35-8C9A-815D-1DDFD01BE442}"/>
              </a:ext>
            </a:extLst>
          </p:cNvPr>
          <p:cNvSpPr/>
          <p:nvPr/>
        </p:nvSpPr>
        <p:spPr>
          <a:xfrm>
            <a:off x="4047448" y="3733283"/>
            <a:ext cx="135314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RectBase</a:t>
            </a:r>
            <a:endParaRPr lang="en-US" b="1" i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12DB0F-10E4-96D4-8E19-3275474E15F3}"/>
              </a:ext>
            </a:extLst>
          </p:cNvPr>
          <p:cNvSpPr/>
          <p:nvPr/>
        </p:nvSpPr>
        <p:spPr>
          <a:xfrm>
            <a:off x="4057730" y="4069926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39494B-D2A6-2B4B-20BE-A093AF4655DC}"/>
              </a:ext>
            </a:extLst>
          </p:cNvPr>
          <p:cNvSpPr/>
          <p:nvPr/>
        </p:nvSpPr>
        <p:spPr>
          <a:xfrm>
            <a:off x="3321704" y="5229905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BFB4EA-2DB5-190F-9713-FCAEA99730E7}"/>
              </a:ext>
            </a:extLst>
          </p:cNvPr>
          <p:cNvSpPr/>
          <p:nvPr/>
        </p:nvSpPr>
        <p:spPr>
          <a:xfrm>
            <a:off x="4918044" y="4913074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787A23-D24B-0791-B3AF-60C6D8ED031B}"/>
              </a:ext>
            </a:extLst>
          </p:cNvPr>
          <p:cNvSpPr/>
          <p:nvPr/>
        </p:nvSpPr>
        <p:spPr>
          <a:xfrm>
            <a:off x="4917154" y="5245700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59328E8D-B789-1D03-B18F-A54514EFB820}"/>
              </a:ext>
            </a:extLst>
          </p:cNvPr>
          <p:cNvSpPr/>
          <p:nvPr/>
        </p:nvSpPr>
        <p:spPr>
          <a:xfrm>
            <a:off x="5062984" y="4357850"/>
            <a:ext cx="167880" cy="131567"/>
          </a:xfrm>
          <a:prstGeom prst="triangle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8064C7-6F00-1338-400D-2D37EE4DA4F0}"/>
              </a:ext>
            </a:extLst>
          </p:cNvPr>
          <p:cNvSpPr txBox="1"/>
          <p:nvPr/>
        </p:nvSpPr>
        <p:spPr>
          <a:xfrm>
            <a:off x="5155474" y="4573590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1F1F"/>
                </a:solidFill>
              </a:rPr>
              <a:t>extends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0DE1FF-116C-782E-4EAC-B712E8E05996}"/>
              </a:ext>
            </a:extLst>
          </p:cNvPr>
          <p:cNvCxnSpPr>
            <a:cxnSpLocks/>
          </p:cNvCxnSpPr>
          <p:nvPr/>
        </p:nvCxnSpPr>
        <p:spPr>
          <a:xfrm>
            <a:off x="5146924" y="4498126"/>
            <a:ext cx="0" cy="414948"/>
          </a:xfrm>
          <a:prstGeom prst="lin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C228DA2C-D716-C854-08B0-2AEDAA3AF988}"/>
              </a:ext>
            </a:extLst>
          </p:cNvPr>
          <p:cNvSpPr/>
          <p:nvPr/>
        </p:nvSpPr>
        <p:spPr>
          <a:xfrm>
            <a:off x="7210696" y="1354729"/>
            <a:ext cx="3011714" cy="685390"/>
          </a:xfrm>
          <a:prstGeom prst="wedgeRectCallout">
            <a:avLst>
              <a:gd name="adj1" fmla="val -41021"/>
              <a:gd name="adj2" fmla="val 11030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Offload the differentiation to C++ compiler.  Let’s focus on designs</a:t>
            </a:r>
          </a:p>
        </p:txBody>
      </p:sp>
      <p:sp>
        <p:nvSpPr>
          <p:cNvPr id="39" name="Speech Bubble: Rectangle 38">
            <a:extLst>
              <a:ext uri="{FF2B5EF4-FFF2-40B4-BE49-F238E27FC236}">
                <a16:creationId xmlns:a16="http://schemas.microsoft.com/office/drawing/2014/main" id="{A437A754-BFE9-B3F9-FF7F-7FF02662F467}"/>
              </a:ext>
            </a:extLst>
          </p:cNvPr>
          <p:cNvSpPr/>
          <p:nvPr/>
        </p:nvSpPr>
        <p:spPr>
          <a:xfrm>
            <a:off x="7336970" y="4437360"/>
            <a:ext cx="3011714" cy="961953"/>
          </a:xfrm>
          <a:prstGeom prst="wedgeRectCallout">
            <a:avLst>
              <a:gd name="adj1" fmla="val -105503"/>
              <a:gd name="adj2" fmla="val -10061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>
                <a:solidFill>
                  <a:schemeClr val="tx1"/>
                </a:solidFill>
              </a:rPr>
              <a:t>HOWEVER</a:t>
            </a:r>
            <a:r>
              <a:rPr lang="en-CA" sz="1600" dirty="0">
                <a:solidFill>
                  <a:schemeClr val="tx1"/>
                </a:solidFill>
              </a:rPr>
              <a:t>, we need to do something in </a:t>
            </a:r>
            <a:r>
              <a:rPr lang="en-CA" sz="1600" i="1" dirty="0" err="1">
                <a:solidFill>
                  <a:schemeClr val="tx1"/>
                </a:solidFill>
              </a:rPr>
              <a:t>RectBase</a:t>
            </a:r>
            <a:r>
              <a:rPr lang="en-CA" sz="1600" dirty="0">
                <a:solidFill>
                  <a:schemeClr val="tx1"/>
                </a:solidFill>
              </a:rPr>
              <a:t> class to enable all these nice features</a:t>
            </a:r>
            <a:endParaRPr lang="en-CA" sz="16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21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Binding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32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/>
              <a:t>Choice of Member Function Invocation is determined during </a:t>
            </a:r>
            <a:r>
              <a:rPr lang="en-US" altLang="zh-TW" sz="2200" b="1" i="1" dirty="0"/>
              <a:t>Compilation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printArea</a:t>
            </a:r>
            <a:r>
              <a:rPr lang="en-US" dirty="0"/>
              <a:t>() function, </a:t>
            </a:r>
            <a:r>
              <a:rPr lang="en-US" b="1" dirty="0" err="1"/>
              <a:t>RectBase</a:t>
            </a:r>
            <a:r>
              <a:rPr lang="en-US" b="1" dirty="0"/>
              <a:t>::</a:t>
            </a:r>
            <a:r>
              <a:rPr lang="en-US" b="1" dirty="0" err="1"/>
              <a:t>getArea</a:t>
            </a:r>
            <a:r>
              <a:rPr lang="en-US" b="1" dirty="0"/>
              <a:t>()</a:t>
            </a:r>
            <a:r>
              <a:rPr lang="en-US" dirty="0"/>
              <a:t> will be invoked regardless of </a:t>
            </a:r>
            <a:r>
              <a:rPr lang="en-US" dirty="0" err="1"/>
              <a:t>Rect</a:t>
            </a:r>
            <a:r>
              <a:rPr lang="en-US" dirty="0"/>
              <a:t> or Square!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3E493-A28C-001F-C1C0-CB669E3229E7}"/>
              </a:ext>
            </a:extLst>
          </p:cNvPr>
          <p:cNvSpPr txBox="1"/>
          <p:nvPr/>
        </p:nvSpPr>
        <p:spPr>
          <a:xfrm>
            <a:off x="1969193" y="2391709"/>
            <a:ext cx="3073070" cy="178510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length;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width;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width;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3AFA07-18D0-9ED6-BE7B-402716C0C5B1}"/>
              </a:ext>
            </a:extLst>
          </p:cNvPr>
          <p:cNvSpPr/>
          <p:nvPr/>
        </p:nvSpPr>
        <p:spPr>
          <a:xfrm>
            <a:off x="4160659" y="2480431"/>
            <a:ext cx="135314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RectBase</a:t>
            </a:r>
            <a:endParaRPr lang="en-US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A4A40B-24B1-9255-A9DE-E850E50FDF3A}"/>
              </a:ext>
            </a:extLst>
          </p:cNvPr>
          <p:cNvSpPr/>
          <p:nvPr/>
        </p:nvSpPr>
        <p:spPr>
          <a:xfrm>
            <a:off x="4170941" y="2817074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0A697D-6AEC-2857-33E8-34D394C7BE12}"/>
              </a:ext>
            </a:extLst>
          </p:cNvPr>
          <p:cNvSpPr txBox="1"/>
          <p:nvPr/>
        </p:nvSpPr>
        <p:spPr>
          <a:xfrm>
            <a:off x="1097871" y="4311091"/>
            <a:ext cx="3073070" cy="1277273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width;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8DF18B-88E1-910E-7AB5-9DAB4910E307}"/>
              </a:ext>
            </a:extLst>
          </p:cNvPr>
          <p:cNvSpPr/>
          <p:nvPr/>
        </p:nvSpPr>
        <p:spPr>
          <a:xfrm>
            <a:off x="3374081" y="5404822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44E5D3-544C-42C1-0AF7-F6D86B0594E7}"/>
              </a:ext>
            </a:extLst>
          </p:cNvPr>
          <p:cNvSpPr/>
          <p:nvPr/>
        </p:nvSpPr>
        <p:spPr>
          <a:xfrm>
            <a:off x="3373191" y="5737448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7FFBA2-3EE0-DFF1-04C1-160B30B6F2B4}"/>
              </a:ext>
            </a:extLst>
          </p:cNvPr>
          <p:cNvSpPr txBox="1"/>
          <p:nvPr/>
        </p:nvSpPr>
        <p:spPr>
          <a:xfrm>
            <a:off x="4624664" y="4312891"/>
            <a:ext cx="3073070" cy="127727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length;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D8AAAF-AFF2-5214-8045-4CAEBF44413C}"/>
              </a:ext>
            </a:extLst>
          </p:cNvPr>
          <p:cNvSpPr/>
          <p:nvPr/>
        </p:nvSpPr>
        <p:spPr>
          <a:xfrm>
            <a:off x="6209494" y="5419460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0581B-2312-4C03-3CF8-C24A2916B585}"/>
              </a:ext>
            </a:extLst>
          </p:cNvPr>
          <p:cNvSpPr/>
          <p:nvPr/>
        </p:nvSpPr>
        <p:spPr>
          <a:xfrm>
            <a:off x="6208604" y="5752086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BB6E6-B3B4-D9A5-0228-18A22C2765BA}"/>
              </a:ext>
            </a:extLst>
          </p:cNvPr>
          <p:cNvSpPr txBox="1"/>
          <p:nvPr/>
        </p:nvSpPr>
        <p:spPr>
          <a:xfrm>
            <a:off x="7328791" y="2545635"/>
            <a:ext cx="3906766" cy="2123658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Example –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“Area: 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r2(7, 11);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sq(9);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(sq);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6F08F6-D050-461F-BED0-E6B24E149C46}"/>
              </a:ext>
            </a:extLst>
          </p:cNvPr>
          <p:cNvSpPr/>
          <p:nvPr/>
        </p:nvSpPr>
        <p:spPr>
          <a:xfrm>
            <a:off x="9240914" y="3057384"/>
            <a:ext cx="981893" cy="26058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6562F2-AAF3-8F63-D97F-047D63A0E8FC}"/>
              </a:ext>
            </a:extLst>
          </p:cNvPr>
          <p:cNvSpPr/>
          <p:nvPr/>
        </p:nvSpPr>
        <p:spPr>
          <a:xfrm>
            <a:off x="2612002" y="3610936"/>
            <a:ext cx="2264798" cy="33212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6AC0D53-A46D-816B-1BBB-CFD4B1C6CA4D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 rot="5400000">
            <a:off x="6591646" y="470721"/>
            <a:ext cx="292970" cy="5987460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4AE88140-8200-59FC-B178-AE719CEFB1C3}"/>
              </a:ext>
            </a:extLst>
          </p:cNvPr>
          <p:cNvSpPr/>
          <p:nvPr/>
        </p:nvSpPr>
        <p:spPr>
          <a:xfrm>
            <a:off x="8606093" y="4830350"/>
            <a:ext cx="2319300" cy="928026"/>
          </a:xfrm>
          <a:prstGeom prst="wedgeRectCallout">
            <a:avLst>
              <a:gd name="adj1" fmla="val -30144"/>
              <a:gd name="adj2" fmla="val -9214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Pass by Value mode automatically deploys </a:t>
            </a:r>
            <a:r>
              <a:rPr lang="en-US" altLang="ja-JP" sz="1600" b="1" u="sng" dirty="0">
                <a:solidFill>
                  <a:schemeClr val="tx1"/>
                </a:solidFill>
              </a:rPr>
              <a:t>Static Binding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EA08B1A-7FFC-6061-774A-16F2F3C6E6BE}"/>
              </a:ext>
            </a:extLst>
          </p:cNvPr>
          <p:cNvSpPr/>
          <p:nvPr/>
        </p:nvSpPr>
        <p:spPr>
          <a:xfrm>
            <a:off x="8399552" y="290238"/>
            <a:ext cx="2836005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L16Ex1-StaticBind.cpp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27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8" grpId="0" animBg="1"/>
      <p:bldP spid="41" grpId="0" animBg="1"/>
      <p:bldP spid="42" grpId="0" animBg="1"/>
      <p:bldP spid="45" grpId="0" animBg="1"/>
      <p:bldP spid="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(aka. Late) Binding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32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/>
              <a:t>Choice of Member Function Invocation is determined during </a:t>
            </a:r>
            <a:r>
              <a:rPr lang="en-US" altLang="zh-TW" sz="2200" b="1" i="1" dirty="0"/>
              <a:t>Runtime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Through </a:t>
            </a:r>
            <a:r>
              <a:rPr lang="en-US" b="1" i="1" dirty="0">
                <a:solidFill>
                  <a:srgbClr val="0000FF"/>
                </a:solidFill>
              </a:rPr>
              <a:t>Virtual Function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3E493-A28C-001F-C1C0-CB669E3229E7}"/>
              </a:ext>
            </a:extLst>
          </p:cNvPr>
          <p:cNvSpPr txBox="1"/>
          <p:nvPr/>
        </p:nvSpPr>
        <p:spPr>
          <a:xfrm>
            <a:off x="1969193" y="2391709"/>
            <a:ext cx="3830716" cy="183127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length;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width;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width;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3AFA07-18D0-9ED6-BE7B-402716C0C5B1}"/>
              </a:ext>
            </a:extLst>
          </p:cNvPr>
          <p:cNvSpPr/>
          <p:nvPr/>
        </p:nvSpPr>
        <p:spPr>
          <a:xfrm>
            <a:off x="4160659" y="2480431"/>
            <a:ext cx="135314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RectBase</a:t>
            </a:r>
            <a:endParaRPr lang="en-US" b="1" i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A4A40B-24B1-9255-A9DE-E850E50FDF3A}"/>
              </a:ext>
            </a:extLst>
          </p:cNvPr>
          <p:cNvSpPr/>
          <p:nvPr/>
        </p:nvSpPr>
        <p:spPr>
          <a:xfrm>
            <a:off x="4170941" y="2817074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0A697D-6AEC-2857-33E8-34D394C7BE12}"/>
              </a:ext>
            </a:extLst>
          </p:cNvPr>
          <p:cNvSpPr txBox="1"/>
          <p:nvPr/>
        </p:nvSpPr>
        <p:spPr>
          <a:xfrm>
            <a:off x="1097871" y="4311091"/>
            <a:ext cx="3073070" cy="1277273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width;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8DF18B-88E1-910E-7AB5-9DAB4910E307}"/>
              </a:ext>
            </a:extLst>
          </p:cNvPr>
          <p:cNvSpPr/>
          <p:nvPr/>
        </p:nvSpPr>
        <p:spPr>
          <a:xfrm>
            <a:off x="3374081" y="5404822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44E5D3-544C-42C1-0AF7-F6D86B0594E7}"/>
              </a:ext>
            </a:extLst>
          </p:cNvPr>
          <p:cNvSpPr/>
          <p:nvPr/>
        </p:nvSpPr>
        <p:spPr>
          <a:xfrm>
            <a:off x="3373191" y="5737448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7FFBA2-3EE0-DFF1-04C1-160B30B6F2B4}"/>
              </a:ext>
            </a:extLst>
          </p:cNvPr>
          <p:cNvSpPr txBox="1"/>
          <p:nvPr/>
        </p:nvSpPr>
        <p:spPr>
          <a:xfrm>
            <a:off x="4624664" y="4312891"/>
            <a:ext cx="3073070" cy="127727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length;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D8AAAF-AFF2-5214-8045-4CAEBF44413C}"/>
              </a:ext>
            </a:extLst>
          </p:cNvPr>
          <p:cNvSpPr/>
          <p:nvPr/>
        </p:nvSpPr>
        <p:spPr>
          <a:xfrm>
            <a:off x="6209494" y="5419460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0581B-2312-4C03-3CF8-C24A2916B585}"/>
              </a:ext>
            </a:extLst>
          </p:cNvPr>
          <p:cNvSpPr/>
          <p:nvPr/>
        </p:nvSpPr>
        <p:spPr>
          <a:xfrm>
            <a:off x="6208604" y="5752086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BB6E6-B3B4-D9A5-0228-18A22C2765BA}"/>
              </a:ext>
            </a:extLst>
          </p:cNvPr>
          <p:cNvSpPr txBox="1"/>
          <p:nvPr/>
        </p:nvSpPr>
        <p:spPr>
          <a:xfrm>
            <a:off x="7328790" y="2545635"/>
            <a:ext cx="4035895" cy="2123658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Example –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*r)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“Area: ” &lt;&lt; r-&gt;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r2(7, 11);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sq(9);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(&amp;r2);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(&amp;sq);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D77B0D4C-FC08-2C8A-122F-06DA3EA99F8B}"/>
              </a:ext>
            </a:extLst>
          </p:cNvPr>
          <p:cNvSpPr/>
          <p:nvPr/>
        </p:nvSpPr>
        <p:spPr>
          <a:xfrm>
            <a:off x="9282174" y="1284296"/>
            <a:ext cx="1505857" cy="335777"/>
          </a:xfrm>
          <a:prstGeom prst="wedgeRectCallout">
            <a:avLst>
              <a:gd name="adj1" fmla="val -53456"/>
              <a:gd name="adj2" fmla="val 9023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But HOW?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0B2603-8D4A-C337-184F-9B90E27ACF6B}"/>
              </a:ext>
            </a:extLst>
          </p:cNvPr>
          <p:cNvSpPr/>
          <p:nvPr/>
        </p:nvSpPr>
        <p:spPr>
          <a:xfrm>
            <a:off x="7697733" y="4044425"/>
            <a:ext cx="1260025" cy="260582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8E03EF-DC91-C6A4-9039-20018C071984}"/>
              </a:ext>
            </a:extLst>
          </p:cNvPr>
          <p:cNvSpPr/>
          <p:nvPr/>
        </p:nvSpPr>
        <p:spPr>
          <a:xfrm>
            <a:off x="9102121" y="3046762"/>
            <a:ext cx="1260025" cy="260582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9134E-E0A4-CED1-4952-4B39AC1F6221}"/>
              </a:ext>
            </a:extLst>
          </p:cNvPr>
          <p:cNvSpPr/>
          <p:nvPr/>
        </p:nvSpPr>
        <p:spPr>
          <a:xfrm>
            <a:off x="2531502" y="3580421"/>
            <a:ext cx="2728475" cy="458358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ABD297-9E5D-E372-4E64-1D8650C9EA52}"/>
              </a:ext>
            </a:extLst>
          </p:cNvPr>
          <p:cNvSpPr/>
          <p:nvPr/>
        </p:nvSpPr>
        <p:spPr>
          <a:xfrm>
            <a:off x="2602820" y="3630167"/>
            <a:ext cx="861429" cy="203453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7CF7A4-4271-9DEA-2CE6-B13BE1BDF3C3}"/>
              </a:ext>
            </a:extLst>
          </p:cNvPr>
          <p:cNvSpPr/>
          <p:nvPr/>
        </p:nvSpPr>
        <p:spPr>
          <a:xfrm>
            <a:off x="1722329" y="5024038"/>
            <a:ext cx="2266197" cy="332126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DABE1150-B24B-7FD4-7CDF-A82CF3DB4322}"/>
              </a:ext>
            </a:extLst>
          </p:cNvPr>
          <p:cNvSpPr/>
          <p:nvPr/>
        </p:nvSpPr>
        <p:spPr>
          <a:xfrm>
            <a:off x="8333047" y="4830350"/>
            <a:ext cx="2866138" cy="928026"/>
          </a:xfrm>
          <a:prstGeom prst="wedgeRectCallout">
            <a:avLst>
              <a:gd name="adj1" fmla="val -5621"/>
              <a:gd name="adj2" fmla="val -10058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Pass by Reference/Pointer mode + Virtual Function will deploy </a:t>
            </a:r>
            <a:r>
              <a:rPr lang="en-US" altLang="ja-JP" sz="1600" b="1" u="sng" dirty="0">
                <a:solidFill>
                  <a:schemeClr val="tx1"/>
                </a:solidFill>
              </a:rPr>
              <a:t>Dynamic Binding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37501E3-F146-6E25-683F-0DAED0515A9C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8957758" y="3307344"/>
            <a:ext cx="774376" cy="867372"/>
          </a:xfrm>
          <a:prstGeom prst="bentConnector2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40B7062-4526-9D2C-BA39-57D539F40DDC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rot="10800000" flipV="1">
            <a:off x="5259977" y="3177052"/>
            <a:ext cx="3842144" cy="632547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AFB6BB5-2762-76DB-4536-E0390CC0D3D0}"/>
              </a:ext>
            </a:extLst>
          </p:cNvPr>
          <p:cNvCxnSpPr>
            <a:cxnSpLocks/>
            <a:endCxn id="12" idx="0"/>
          </p:cNvCxnSpPr>
          <p:nvPr/>
        </p:nvCxnSpPr>
        <p:spPr>
          <a:xfrm rot="5400000">
            <a:off x="2352152" y="4336896"/>
            <a:ext cx="1190419" cy="183865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4CDE2D-5269-CE53-4B03-6A70E21EFC5B}"/>
              </a:ext>
            </a:extLst>
          </p:cNvPr>
          <p:cNvSpPr/>
          <p:nvPr/>
        </p:nvSpPr>
        <p:spPr>
          <a:xfrm>
            <a:off x="8399552" y="290238"/>
            <a:ext cx="2836005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L16Ex2a-DynamicBind.cpp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8FFA32-4376-9B1A-5763-A519B46120CE}"/>
              </a:ext>
            </a:extLst>
          </p:cNvPr>
          <p:cNvSpPr/>
          <p:nvPr/>
        </p:nvSpPr>
        <p:spPr>
          <a:xfrm>
            <a:off x="8399552" y="632374"/>
            <a:ext cx="2836005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L16Ex2b-DynamicBind.cpp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62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8" grpId="0" animBg="1"/>
      <p:bldP spid="2" grpId="0" animBg="1"/>
      <p:bldP spid="5" grpId="0" animBg="1"/>
      <p:bldP spid="9" grpId="0" animBg="1"/>
      <p:bldP spid="10" grpId="0" animBg="1"/>
      <p:bldP spid="11" grpId="0" animBg="1"/>
      <p:bldP spid="12" grpId="0" animBg="1"/>
      <p:bldP spid="14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(aka. Late) Binding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32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/>
              <a:t>Choice of Member Function Invocation is determined during </a:t>
            </a:r>
            <a:r>
              <a:rPr lang="en-US" altLang="zh-TW" sz="2200" b="1" i="1" dirty="0"/>
              <a:t>Runtime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Through </a:t>
            </a:r>
            <a:r>
              <a:rPr lang="en-US" b="1" i="1" dirty="0">
                <a:solidFill>
                  <a:srgbClr val="0000FF"/>
                </a:solidFill>
              </a:rPr>
              <a:t>Virtual Function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3E493-A28C-001F-C1C0-CB669E3229E7}"/>
              </a:ext>
            </a:extLst>
          </p:cNvPr>
          <p:cNvSpPr txBox="1"/>
          <p:nvPr/>
        </p:nvSpPr>
        <p:spPr>
          <a:xfrm>
            <a:off x="1969193" y="2391709"/>
            <a:ext cx="3830716" cy="183127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length;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width;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width;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3AFA07-18D0-9ED6-BE7B-402716C0C5B1}"/>
              </a:ext>
            </a:extLst>
          </p:cNvPr>
          <p:cNvSpPr/>
          <p:nvPr/>
        </p:nvSpPr>
        <p:spPr>
          <a:xfrm>
            <a:off x="4160659" y="2480431"/>
            <a:ext cx="135314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RectBase</a:t>
            </a:r>
            <a:endParaRPr lang="en-US" b="1" i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A4A40B-24B1-9255-A9DE-E850E50FDF3A}"/>
              </a:ext>
            </a:extLst>
          </p:cNvPr>
          <p:cNvSpPr/>
          <p:nvPr/>
        </p:nvSpPr>
        <p:spPr>
          <a:xfrm>
            <a:off x="4170941" y="2817074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0A697D-6AEC-2857-33E8-34D394C7BE12}"/>
              </a:ext>
            </a:extLst>
          </p:cNvPr>
          <p:cNvSpPr txBox="1"/>
          <p:nvPr/>
        </p:nvSpPr>
        <p:spPr>
          <a:xfrm>
            <a:off x="1097871" y="4311091"/>
            <a:ext cx="3073070" cy="1277273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width;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8DF18B-88E1-910E-7AB5-9DAB4910E307}"/>
              </a:ext>
            </a:extLst>
          </p:cNvPr>
          <p:cNvSpPr/>
          <p:nvPr/>
        </p:nvSpPr>
        <p:spPr>
          <a:xfrm>
            <a:off x="3374081" y="5404822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44E5D3-544C-42C1-0AF7-F6D86B0594E7}"/>
              </a:ext>
            </a:extLst>
          </p:cNvPr>
          <p:cNvSpPr/>
          <p:nvPr/>
        </p:nvSpPr>
        <p:spPr>
          <a:xfrm>
            <a:off x="3373191" y="5737448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7FFBA2-3EE0-DFF1-04C1-160B30B6F2B4}"/>
              </a:ext>
            </a:extLst>
          </p:cNvPr>
          <p:cNvSpPr txBox="1"/>
          <p:nvPr/>
        </p:nvSpPr>
        <p:spPr>
          <a:xfrm>
            <a:off x="4624664" y="4312891"/>
            <a:ext cx="3073070" cy="127727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length;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D8AAAF-AFF2-5214-8045-4CAEBF44413C}"/>
              </a:ext>
            </a:extLst>
          </p:cNvPr>
          <p:cNvSpPr/>
          <p:nvPr/>
        </p:nvSpPr>
        <p:spPr>
          <a:xfrm>
            <a:off x="6209494" y="5419460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0581B-2312-4C03-3CF8-C24A2916B585}"/>
              </a:ext>
            </a:extLst>
          </p:cNvPr>
          <p:cNvSpPr/>
          <p:nvPr/>
        </p:nvSpPr>
        <p:spPr>
          <a:xfrm>
            <a:off x="6208604" y="5752086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BB6E6-B3B4-D9A5-0228-18A22C2765BA}"/>
              </a:ext>
            </a:extLst>
          </p:cNvPr>
          <p:cNvSpPr txBox="1"/>
          <p:nvPr/>
        </p:nvSpPr>
        <p:spPr>
          <a:xfrm>
            <a:off x="7328790" y="2545635"/>
            <a:ext cx="4035895" cy="2123658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Example –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&amp;r)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cout &lt;&lt; “Area: 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endl; 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r2(7, 11);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sq(9);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(sq);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D77B0D4C-FC08-2C8A-122F-06DA3EA99F8B}"/>
              </a:ext>
            </a:extLst>
          </p:cNvPr>
          <p:cNvSpPr/>
          <p:nvPr/>
        </p:nvSpPr>
        <p:spPr>
          <a:xfrm>
            <a:off x="9282174" y="1284296"/>
            <a:ext cx="1505857" cy="335777"/>
          </a:xfrm>
          <a:prstGeom prst="wedgeRectCallout">
            <a:avLst>
              <a:gd name="adj1" fmla="val -53456"/>
              <a:gd name="adj2" fmla="val 9023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But HOW?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0B2603-8D4A-C337-184F-9B90E27ACF6B}"/>
              </a:ext>
            </a:extLst>
          </p:cNvPr>
          <p:cNvSpPr/>
          <p:nvPr/>
        </p:nvSpPr>
        <p:spPr>
          <a:xfrm>
            <a:off x="7697734" y="4225953"/>
            <a:ext cx="1260025" cy="260582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8E03EF-DC91-C6A4-9039-20018C071984}"/>
              </a:ext>
            </a:extLst>
          </p:cNvPr>
          <p:cNvSpPr/>
          <p:nvPr/>
        </p:nvSpPr>
        <p:spPr>
          <a:xfrm>
            <a:off x="9110831" y="3046762"/>
            <a:ext cx="1260025" cy="260582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9134E-E0A4-CED1-4952-4B39AC1F6221}"/>
              </a:ext>
            </a:extLst>
          </p:cNvPr>
          <p:cNvSpPr/>
          <p:nvPr/>
        </p:nvSpPr>
        <p:spPr>
          <a:xfrm>
            <a:off x="2531502" y="3580421"/>
            <a:ext cx="2728475" cy="458358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ABD297-9E5D-E372-4E64-1D8650C9EA52}"/>
              </a:ext>
            </a:extLst>
          </p:cNvPr>
          <p:cNvSpPr/>
          <p:nvPr/>
        </p:nvSpPr>
        <p:spPr>
          <a:xfrm>
            <a:off x="2602820" y="3630167"/>
            <a:ext cx="861429" cy="203453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7CF7A4-4271-9DEA-2CE6-B13BE1BDF3C3}"/>
              </a:ext>
            </a:extLst>
          </p:cNvPr>
          <p:cNvSpPr/>
          <p:nvPr/>
        </p:nvSpPr>
        <p:spPr>
          <a:xfrm>
            <a:off x="5229119" y="5018734"/>
            <a:ext cx="2338630" cy="332126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DABE1150-B24B-7FD4-7CDF-A82CF3DB4322}"/>
              </a:ext>
            </a:extLst>
          </p:cNvPr>
          <p:cNvSpPr/>
          <p:nvPr/>
        </p:nvSpPr>
        <p:spPr>
          <a:xfrm>
            <a:off x="8333047" y="4830350"/>
            <a:ext cx="2866138" cy="928026"/>
          </a:xfrm>
          <a:prstGeom prst="wedgeRectCallout">
            <a:avLst>
              <a:gd name="adj1" fmla="val -1975"/>
              <a:gd name="adj2" fmla="val -8463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Pass by Reference/Pointer mode + Virtual Function will deploy </a:t>
            </a:r>
            <a:r>
              <a:rPr lang="en-US" altLang="ja-JP" sz="1600" b="1" u="sng" dirty="0">
                <a:solidFill>
                  <a:schemeClr val="tx1"/>
                </a:solidFill>
              </a:rPr>
              <a:t>Dynamic Binding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37501E3-F146-6E25-683F-0DAED0515A9C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8957759" y="3307344"/>
            <a:ext cx="783085" cy="1048900"/>
          </a:xfrm>
          <a:prstGeom prst="bentConnector2">
            <a:avLst/>
          </a:prstGeom>
          <a:ln w="57150">
            <a:solidFill>
              <a:srgbClr val="7F1F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40B7062-4526-9D2C-BA39-57D539F40DDC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rot="10800000" flipV="1">
            <a:off x="5259977" y="3177052"/>
            <a:ext cx="3850854" cy="632547"/>
          </a:xfrm>
          <a:prstGeom prst="bentConnector3">
            <a:avLst>
              <a:gd name="adj1" fmla="val 50000"/>
            </a:avLst>
          </a:prstGeom>
          <a:ln w="57150">
            <a:solidFill>
              <a:srgbClr val="7F1F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AFB6BB5-2762-76DB-4536-E0390CC0D3D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16200000" flipH="1">
            <a:off x="4123427" y="2743727"/>
            <a:ext cx="1185114" cy="3364899"/>
          </a:xfrm>
          <a:prstGeom prst="bentConnector3">
            <a:avLst>
              <a:gd name="adj1" fmla="val 27220"/>
            </a:avLst>
          </a:prstGeom>
          <a:ln w="57150">
            <a:solidFill>
              <a:srgbClr val="7F1F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69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Binding in Disguise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32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/>
              <a:t>Choice of Member Function Invocation is determined during </a:t>
            </a:r>
            <a:r>
              <a:rPr lang="en-US" altLang="zh-TW" sz="2200" b="1" i="1" dirty="0"/>
              <a:t>Compilation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lgerian" panose="04020705040A02060702" pitchFamily="82" charset="0"/>
              </a:rPr>
              <a:t>Gotcha!</a:t>
            </a:r>
            <a:r>
              <a:rPr lang="en-US" dirty="0"/>
              <a:t>  Virtual function without pass-by-reference/pointer will result in </a:t>
            </a:r>
            <a:r>
              <a:rPr lang="en-US" b="1" dirty="0">
                <a:solidFill>
                  <a:srgbClr val="FF0000"/>
                </a:solidFill>
              </a:rPr>
              <a:t>Static Binding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3E493-A28C-001F-C1C0-CB669E3229E7}"/>
              </a:ext>
            </a:extLst>
          </p:cNvPr>
          <p:cNvSpPr txBox="1"/>
          <p:nvPr/>
        </p:nvSpPr>
        <p:spPr>
          <a:xfrm>
            <a:off x="1969193" y="2391709"/>
            <a:ext cx="3544612" cy="183127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length;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width;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width;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3AFA07-18D0-9ED6-BE7B-402716C0C5B1}"/>
              </a:ext>
            </a:extLst>
          </p:cNvPr>
          <p:cNvSpPr/>
          <p:nvPr/>
        </p:nvSpPr>
        <p:spPr>
          <a:xfrm>
            <a:off x="4160659" y="2480431"/>
            <a:ext cx="135314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RectBase</a:t>
            </a:r>
            <a:endParaRPr lang="en-US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A4A40B-24B1-9255-A9DE-E850E50FDF3A}"/>
              </a:ext>
            </a:extLst>
          </p:cNvPr>
          <p:cNvSpPr/>
          <p:nvPr/>
        </p:nvSpPr>
        <p:spPr>
          <a:xfrm>
            <a:off x="4170941" y="2817074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0A697D-6AEC-2857-33E8-34D394C7BE12}"/>
              </a:ext>
            </a:extLst>
          </p:cNvPr>
          <p:cNvSpPr txBox="1"/>
          <p:nvPr/>
        </p:nvSpPr>
        <p:spPr>
          <a:xfrm>
            <a:off x="1097871" y="4311091"/>
            <a:ext cx="3073070" cy="1277273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width;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8DF18B-88E1-910E-7AB5-9DAB4910E307}"/>
              </a:ext>
            </a:extLst>
          </p:cNvPr>
          <p:cNvSpPr/>
          <p:nvPr/>
        </p:nvSpPr>
        <p:spPr>
          <a:xfrm>
            <a:off x="3374081" y="5404822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44E5D3-544C-42C1-0AF7-F6D86B0594E7}"/>
              </a:ext>
            </a:extLst>
          </p:cNvPr>
          <p:cNvSpPr/>
          <p:nvPr/>
        </p:nvSpPr>
        <p:spPr>
          <a:xfrm>
            <a:off x="3373191" y="5737448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7FFBA2-3EE0-DFF1-04C1-160B30B6F2B4}"/>
              </a:ext>
            </a:extLst>
          </p:cNvPr>
          <p:cNvSpPr txBox="1"/>
          <p:nvPr/>
        </p:nvSpPr>
        <p:spPr>
          <a:xfrm>
            <a:off x="4624664" y="4312891"/>
            <a:ext cx="3073070" cy="127727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 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 * length; }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D8AAAF-AFF2-5214-8045-4CAEBF44413C}"/>
              </a:ext>
            </a:extLst>
          </p:cNvPr>
          <p:cNvSpPr/>
          <p:nvPr/>
        </p:nvSpPr>
        <p:spPr>
          <a:xfrm>
            <a:off x="6209494" y="5419460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0581B-2312-4C03-3CF8-C24A2916B585}"/>
              </a:ext>
            </a:extLst>
          </p:cNvPr>
          <p:cNvSpPr/>
          <p:nvPr/>
        </p:nvSpPr>
        <p:spPr>
          <a:xfrm>
            <a:off x="6208604" y="5752086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BB6E6-B3B4-D9A5-0228-18A22C2765BA}"/>
              </a:ext>
            </a:extLst>
          </p:cNvPr>
          <p:cNvSpPr txBox="1"/>
          <p:nvPr/>
        </p:nvSpPr>
        <p:spPr>
          <a:xfrm>
            <a:off x="7328791" y="2545635"/>
            <a:ext cx="3906766" cy="2123658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Example –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“Area: 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r2(7, 11);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sq(9);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(sq);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6F08F6-D050-461F-BED0-E6B24E149C46}"/>
              </a:ext>
            </a:extLst>
          </p:cNvPr>
          <p:cNvSpPr/>
          <p:nvPr/>
        </p:nvSpPr>
        <p:spPr>
          <a:xfrm>
            <a:off x="9240914" y="3057384"/>
            <a:ext cx="981893" cy="26058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6562F2-AAF3-8F63-D97F-047D63A0E8FC}"/>
              </a:ext>
            </a:extLst>
          </p:cNvPr>
          <p:cNvSpPr/>
          <p:nvPr/>
        </p:nvSpPr>
        <p:spPr>
          <a:xfrm>
            <a:off x="2612002" y="3610935"/>
            <a:ext cx="2630558" cy="38346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6AC0D53-A46D-816B-1BBB-CFD4B1C6CA4D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 rot="5400000">
            <a:off x="6683087" y="562160"/>
            <a:ext cx="292969" cy="5804580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9849197C-5AEF-A85A-493B-4DE4438C224F}"/>
              </a:ext>
            </a:extLst>
          </p:cNvPr>
          <p:cNvSpPr/>
          <p:nvPr/>
        </p:nvSpPr>
        <p:spPr>
          <a:xfrm>
            <a:off x="8333047" y="4830350"/>
            <a:ext cx="2866138" cy="928026"/>
          </a:xfrm>
          <a:prstGeom prst="wedgeRectCallout">
            <a:avLst>
              <a:gd name="adj1" fmla="val -5621"/>
              <a:gd name="adj2" fmla="val -100588"/>
            </a:avLst>
          </a:prstGeom>
          <a:solidFill>
            <a:srgbClr val="FF7D7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Virtual function WITHOUT pass by reference / pointer mode will result in… </a:t>
            </a:r>
            <a:r>
              <a:rPr lang="en-US" altLang="ja-JP" sz="1600" b="1" u="sng" dirty="0">
                <a:solidFill>
                  <a:schemeClr val="tx1"/>
                </a:solidFill>
              </a:rPr>
              <a:t>Static Binding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33C387-3BC0-8C52-8B1E-A52947A1139C}"/>
              </a:ext>
            </a:extLst>
          </p:cNvPr>
          <p:cNvSpPr/>
          <p:nvPr/>
        </p:nvSpPr>
        <p:spPr>
          <a:xfrm>
            <a:off x="8399552" y="632374"/>
            <a:ext cx="2836005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L16Ex3a-FakeDynamic.cpp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68DC90-D23A-772A-4AB7-7A7E8E8224AE}"/>
              </a:ext>
            </a:extLst>
          </p:cNvPr>
          <p:cNvSpPr/>
          <p:nvPr/>
        </p:nvSpPr>
        <p:spPr>
          <a:xfrm>
            <a:off x="8399552" y="998616"/>
            <a:ext cx="2836005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L16Ex3b-FakeDynamic.cpp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57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5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F79F76-D948-8A0E-5468-225E2D5B2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154" y="2351314"/>
            <a:ext cx="2408132" cy="33491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8856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(aka. Late) Binding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3203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/>
              <a:t>Choice of Member Function Invocation is determined during </a:t>
            </a:r>
            <a:r>
              <a:rPr lang="en-US" altLang="zh-TW" sz="2200" b="1" i="1" dirty="0"/>
              <a:t>Runtime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During compilation, C++ compiler inserts additional class-differentiating and decision-making codes to allow the program to determine on the fly which member function should be correctly invoked.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BB6E6-B3B4-D9A5-0228-18A22C2765BA}"/>
              </a:ext>
            </a:extLst>
          </p:cNvPr>
          <p:cNvSpPr txBox="1"/>
          <p:nvPr/>
        </p:nvSpPr>
        <p:spPr>
          <a:xfrm>
            <a:off x="1354190" y="2678736"/>
            <a:ext cx="3977111" cy="2123658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Example –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&amp;r)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“Area: 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r2(7, 11);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sq(9);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(sq);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09266C-6517-231C-61FE-BF5FB0E86FE2}"/>
              </a:ext>
            </a:extLst>
          </p:cNvPr>
          <p:cNvSpPr txBox="1"/>
          <p:nvPr/>
        </p:nvSpPr>
        <p:spPr>
          <a:xfrm>
            <a:off x="3500847" y="3811343"/>
            <a:ext cx="3977112" cy="1785104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Dynamic Binding Outcome (Pseudo-Code)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(Conceptually Equivalent, NOT correct)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whichArea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RectBase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isType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(r) ==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isType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call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isType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(r) ==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isType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call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2D0E1E-D060-521A-4EB2-F3C2A1B5CEBF}"/>
              </a:ext>
            </a:extLst>
          </p:cNvPr>
          <p:cNvSpPr/>
          <p:nvPr/>
        </p:nvSpPr>
        <p:spPr>
          <a:xfrm>
            <a:off x="9599895" y="5023960"/>
            <a:ext cx="1120187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Rect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363C87-C5E2-0E38-0B9F-6C4531F9B385}"/>
              </a:ext>
            </a:extLst>
          </p:cNvPr>
          <p:cNvSpPr/>
          <p:nvPr/>
        </p:nvSpPr>
        <p:spPr>
          <a:xfrm>
            <a:off x="9599005" y="5356586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6D621-00E2-82C8-76D3-96C67FA64E45}"/>
              </a:ext>
            </a:extLst>
          </p:cNvPr>
          <p:cNvSpPr/>
          <p:nvPr/>
        </p:nvSpPr>
        <p:spPr>
          <a:xfrm>
            <a:off x="9599005" y="4371769"/>
            <a:ext cx="1120187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Square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65D99C-0698-219B-6193-7BF0F44278A6}"/>
              </a:ext>
            </a:extLst>
          </p:cNvPr>
          <p:cNvSpPr/>
          <p:nvPr/>
        </p:nvSpPr>
        <p:spPr>
          <a:xfrm>
            <a:off x="9598115" y="4704395"/>
            <a:ext cx="1120187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E23517-5E2B-CBA1-7BF2-A459A78225DC}"/>
              </a:ext>
            </a:extLst>
          </p:cNvPr>
          <p:cNvSpPr/>
          <p:nvPr/>
        </p:nvSpPr>
        <p:spPr>
          <a:xfrm>
            <a:off x="7167154" y="2650653"/>
            <a:ext cx="1801038" cy="611757"/>
          </a:xfrm>
          <a:prstGeom prst="rect">
            <a:avLst/>
          </a:prstGeom>
          <a:solidFill>
            <a:srgbClr val="FFE699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>
                <a:solidFill>
                  <a:srgbClr val="7F1F1F"/>
                </a:solidFill>
              </a:rPr>
              <a:t>Machine Code</a:t>
            </a:r>
          </a:p>
          <a:p>
            <a:pPr algn="ctr"/>
            <a:r>
              <a:rPr lang="en-CA" b="1" i="1" dirty="0">
                <a:solidFill>
                  <a:srgbClr val="7F1F1F"/>
                </a:solidFill>
              </a:rPr>
              <a:t>In Program Sec.</a:t>
            </a:r>
            <a:endParaRPr lang="en-US" b="1" i="1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08DCC0-C38A-8A15-82A6-0797AC4E4E29}"/>
              </a:ext>
            </a:extLst>
          </p:cNvPr>
          <p:cNvSpPr txBox="1"/>
          <p:nvPr/>
        </p:nvSpPr>
        <p:spPr>
          <a:xfrm>
            <a:off x="3196045" y="3204577"/>
            <a:ext cx="1201783" cy="162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whichArea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(r)</a:t>
            </a:r>
            <a:endParaRPr lang="en-US" sz="1100" dirty="0"/>
          </a:p>
        </p:txBody>
      </p:sp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A9CE30C0-6D0F-AD5B-412E-3C55C426DC5D}"/>
              </a:ext>
            </a:extLst>
          </p:cNvPr>
          <p:cNvSpPr/>
          <p:nvPr/>
        </p:nvSpPr>
        <p:spPr>
          <a:xfrm rot="16200000">
            <a:off x="4213851" y="2116216"/>
            <a:ext cx="982125" cy="2408132"/>
          </a:xfrm>
          <a:prstGeom prst="bentUpArrow">
            <a:avLst>
              <a:gd name="adj1" fmla="val 8153"/>
              <a:gd name="adj2" fmla="val 13029"/>
              <a:gd name="adj3" fmla="val 25000"/>
            </a:avLst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5EB15A-CA9D-7926-FF54-9BA03C974C7F}"/>
              </a:ext>
            </a:extLst>
          </p:cNvPr>
          <p:cNvSpPr txBox="1"/>
          <p:nvPr/>
        </p:nvSpPr>
        <p:spPr>
          <a:xfrm>
            <a:off x="5908980" y="3339852"/>
            <a:ext cx="940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Insert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CC4C36A-872A-F0E9-96A0-0211C583B39C}"/>
              </a:ext>
            </a:extLst>
          </p:cNvPr>
          <p:cNvSpPr/>
          <p:nvPr/>
        </p:nvSpPr>
        <p:spPr>
          <a:xfrm rot="16200000">
            <a:off x="6093508" y="1857076"/>
            <a:ext cx="303020" cy="1844271"/>
          </a:xfrm>
          <a:prstGeom prst="downArrow">
            <a:avLst/>
          </a:prstGeom>
          <a:solidFill>
            <a:srgbClr val="FFE699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EBAEB2-758C-2B0A-5951-BF86A89D6A10}"/>
              </a:ext>
            </a:extLst>
          </p:cNvPr>
          <p:cNvSpPr/>
          <p:nvPr/>
        </p:nvSpPr>
        <p:spPr>
          <a:xfrm>
            <a:off x="9598114" y="3980792"/>
            <a:ext cx="1120187" cy="261214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whichArea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5" name="Arrow: Curved Down 24">
            <a:extLst>
              <a:ext uri="{FF2B5EF4-FFF2-40B4-BE49-F238E27FC236}">
                <a16:creationId xmlns:a16="http://schemas.microsoft.com/office/drawing/2014/main" id="{371501FF-BA1F-1F7D-A2F4-706F8DA1C1D1}"/>
              </a:ext>
            </a:extLst>
          </p:cNvPr>
          <p:cNvSpPr/>
          <p:nvPr/>
        </p:nvSpPr>
        <p:spPr>
          <a:xfrm rot="5400000">
            <a:off x="10560450" y="4318414"/>
            <a:ext cx="696686" cy="380985"/>
          </a:xfrm>
          <a:prstGeom prst="curvedDown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Curved Down 25">
            <a:extLst>
              <a:ext uri="{FF2B5EF4-FFF2-40B4-BE49-F238E27FC236}">
                <a16:creationId xmlns:a16="http://schemas.microsoft.com/office/drawing/2014/main" id="{6A340CB3-A6B0-E33E-4FCF-2C1B5334E5C0}"/>
              </a:ext>
            </a:extLst>
          </p:cNvPr>
          <p:cNvSpPr/>
          <p:nvPr/>
        </p:nvSpPr>
        <p:spPr>
          <a:xfrm rot="5400000" flipV="1">
            <a:off x="8615845" y="4622288"/>
            <a:ext cx="1476191" cy="472127"/>
          </a:xfrm>
          <a:prstGeom prst="curved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83A1B94A-D956-E967-97E5-F2735EF5DBE7}"/>
              </a:ext>
            </a:extLst>
          </p:cNvPr>
          <p:cNvSpPr/>
          <p:nvPr/>
        </p:nvSpPr>
        <p:spPr>
          <a:xfrm>
            <a:off x="4758659" y="5429989"/>
            <a:ext cx="3473941" cy="532519"/>
          </a:xfrm>
          <a:prstGeom prst="wedgeRectCallout">
            <a:avLst>
              <a:gd name="adj1" fmla="val 5319"/>
              <a:gd name="adj2" fmla="val -9128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Done by </a:t>
            </a:r>
            <a:r>
              <a:rPr lang="en-CA" sz="1600" b="1" i="1" dirty="0">
                <a:solidFill>
                  <a:schemeClr val="tx1"/>
                </a:solidFill>
              </a:rPr>
              <a:t>Function Pointer Array</a:t>
            </a:r>
          </a:p>
          <a:p>
            <a:pPr algn="ctr"/>
            <a:r>
              <a:rPr lang="en-CA" sz="1600" dirty="0">
                <a:solidFill>
                  <a:schemeClr val="tx1"/>
                </a:solidFill>
              </a:rPr>
              <a:t>(aka. </a:t>
            </a:r>
            <a:r>
              <a:rPr lang="en-CA" sz="1600" b="1" i="1" dirty="0" err="1">
                <a:solidFill>
                  <a:schemeClr val="tx1"/>
                </a:solidFill>
              </a:rPr>
              <a:t>vtable</a:t>
            </a:r>
            <a:r>
              <a:rPr lang="en-CA" sz="1600" dirty="0">
                <a:solidFill>
                  <a:schemeClr val="tx1"/>
                </a:solidFill>
              </a:rPr>
              <a:t>, FAAAAR Out of Scope)</a:t>
            </a:r>
          </a:p>
        </p:txBody>
      </p:sp>
    </p:spTree>
    <p:extLst>
      <p:ext uri="{BB962C8B-B14F-4D97-AF65-F5344CB8AC3E}">
        <p14:creationId xmlns:p14="http://schemas.microsoft.com/office/powerpoint/2010/main" val="298734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10" grpId="0" animBg="1"/>
      <p:bldP spid="11" grpId="0" animBg="1"/>
      <p:bldP spid="14" grpId="0" animBg="1"/>
      <p:bldP spid="15" grpId="0" animBg="1"/>
      <p:bldP spid="23" grpId="0" animBg="1"/>
      <p:bldP spid="12" grpId="0" animBg="1"/>
      <p:bldP spid="17" grpId="0" animBg="1"/>
      <p:bldP spid="20" grpId="0"/>
      <p:bldP spid="21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Polymorphism Implementation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 Function and Abstract 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6709E0-3F8B-FCBB-87A3-1AAC2915AED4}"/>
              </a:ext>
            </a:extLst>
          </p:cNvPr>
          <p:cNvSpPr txBox="1"/>
          <p:nvPr/>
        </p:nvSpPr>
        <p:spPr>
          <a:xfrm>
            <a:off x="831850" y="541589"/>
            <a:ext cx="690136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16-2] Polymorphism Application</a:t>
            </a:r>
          </a:p>
          <a:p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643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Principles – Abstraction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64216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Abstraction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Classes should be designed such that external programmers can focus on how to interact with the objects rather than how their classes are implemented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Class: Car</a:t>
            </a:r>
            <a:r>
              <a:rPr lang="en-CA" dirty="0"/>
              <a:t> has functions drive(), stop(), and reverse()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 driver only needs to know how to call </a:t>
            </a:r>
            <a:r>
              <a:rPr lang="en-CA" dirty="0" err="1"/>
              <a:t>myCar.drive</a:t>
            </a:r>
            <a:r>
              <a:rPr lang="en-CA" dirty="0"/>
              <a:t>(), </a:t>
            </a:r>
            <a:r>
              <a:rPr lang="en-CA" dirty="0" err="1"/>
              <a:t>myCar.stop</a:t>
            </a:r>
            <a:r>
              <a:rPr lang="en-CA" dirty="0"/>
              <a:t>(), and </a:t>
            </a:r>
            <a:r>
              <a:rPr lang="en-CA" dirty="0" err="1"/>
              <a:t>myCar.reverse</a:t>
            </a:r>
            <a:r>
              <a:rPr lang="en-CA" dirty="0"/>
              <a:t>() to operate the car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 driver does not need to know how to deliver gas-air mixture into an engine cylinder to drive()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 driver does not need to know how to tighten the brake calipers against the brake disc to stop()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well-designed class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Hides all the unnecessary implementation details away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Only exposes conceptually intuitive interactions on the interface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6666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20981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Virtual Function forms the fundamentals for C++ Polymorphism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Controls the binding mode under polymorphic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Keyword </a:t>
            </a:r>
            <a:r>
              <a:rPr lang="en-CA" sz="2200" b="1" dirty="0">
                <a:solidFill>
                  <a:schemeClr val="accent1"/>
                </a:solidFill>
                <a:latin typeface="Courier"/>
              </a:rPr>
              <a:t>virtual</a:t>
            </a:r>
            <a:r>
              <a:rPr lang="en-CA" sz="2200" dirty="0"/>
              <a:t> instructs the compiler to deploy dynamic binding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Rules of defining virtual function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CA" dirty="0"/>
              <a:t>Define virtual function in the base class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CA" dirty="0"/>
              <a:t>The base class </a:t>
            </a:r>
            <a:r>
              <a:rPr lang="en-CA" b="1" dirty="0"/>
              <a:t>MUST</a:t>
            </a:r>
            <a:r>
              <a:rPr lang="en-CA" dirty="0"/>
              <a:t> implement a virtual function, even if the implementation body is empty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CA" dirty="0"/>
              <a:t>Virtual function in the base class remains virtual in all the derived classes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CA" dirty="0"/>
              <a:t>Virtual function can be overridden in the derived classes</a:t>
            </a:r>
          </a:p>
          <a:p>
            <a:pPr marL="1771650" lvl="3" indent="-400050">
              <a:buFont typeface="Arial" panose="020B0604020202020204" pitchFamily="34" charset="0"/>
              <a:buChar char="•"/>
            </a:pPr>
            <a:r>
              <a:rPr lang="en-CA" dirty="0"/>
              <a:t>However, if the derived classes do not override the virtual function, the base class implementation will be used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CA" dirty="0"/>
              <a:t>Virtual function </a:t>
            </a:r>
            <a:r>
              <a:rPr lang="en-CA" b="1" i="1" dirty="0"/>
              <a:t>only works with pointers / references</a:t>
            </a:r>
            <a:endParaRPr lang="en-CA" dirty="0"/>
          </a:p>
          <a:p>
            <a:pPr marL="1314450" lvl="2" indent="-400050">
              <a:buFont typeface="+mj-lt"/>
              <a:buAutoNum type="romanLcPeriod"/>
            </a:pPr>
            <a:r>
              <a:rPr lang="en-CA" dirty="0"/>
              <a:t>If a class declares any virtual functions, the destructor of the class must be declared virtual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922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041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Function – Another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43178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Scenario 1 – No Virtual Function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F002A0-5BAC-074F-B7C7-3E01B5FE4AF1}"/>
              </a:ext>
            </a:extLst>
          </p:cNvPr>
          <p:cNvSpPr/>
          <p:nvPr/>
        </p:nvSpPr>
        <p:spPr>
          <a:xfrm>
            <a:off x="4852527" y="2063215"/>
            <a:ext cx="2610260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73553-8D12-270C-B2BF-968BFF2932A6}"/>
              </a:ext>
            </a:extLst>
          </p:cNvPr>
          <p:cNvSpPr/>
          <p:nvPr/>
        </p:nvSpPr>
        <p:spPr>
          <a:xfrm>
            <a:off x="4861605" y="2404306"/>
            <a:ext cx="2593552" cy="51703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21F502-8923-275E-C55F-528ADF506367}"/>
              </a:ext>
            </a:extLst>
          </p:cNvPr>
          <p:cNvSpPr/>
          <p:nvPr/>
        </p:nvSpPr>
        <p:spPr>
          <a:xfrm>
            <a:off x="4851784" y="2897189"/>
            <a:ext cx="2594983" cy="7386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04C57-C432-3812-4484-6214630383AF}"/>
              </a:ext>
            </a:extLst>
          </p:cNvPr>
          <p:cNvSpPr/>
          <p:nvPr/>
        </p:nvSpPr>
        <p:spPr>
          <a:xfrm>
            <a:off x="8459153" y="2074672"/>
            <a:ext cx="2661066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0B35C94-6CF7-67D5-01BF-02BFCAD9360A}"/>
              </a:ext>
            </a:extLst>
          </p:cNvPr>
          <p:cNvSpPr/>
          <p:nvPr/>
        </p:nvSpPr>
        <p:spPr>
          <a:xfrm rot="16200000">
            <a:off x="7437001" y="3102084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F3BC74-B125-9390-E25C-3D5555F6FD8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586725" y="3167868"/>
            <a:ext cx="87194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5D3544-CD38-A1FF-2EF3-3EA3C4595FA1}"/>
              </a:ext>
            </a:extLst>
          </p:cNvPr>
          <p:cNvSpPr txBox="1"/>
          <p:nvPr/>
        </p:nvSpPr>
        <p:spPr>
          <a:xfrm>
            <a:off x="7649715" y="2618268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3E4B5-13B7-91E9-E48D-73A1205DBACB}"/>
              </a:ext>
            </a:extLst>
          </p:cNvPr>
          <p:cNvSpPr/>
          <p:nvPr/>
        </p:nvSpPr>
        <p:spPr>
          <a:xfrm>
            <a:off x="8461352" y="2390679"/>
            <a:ext cx="2652170" cy="22293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05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580D06-80E4-1667-AF68-3C53C4FCAD8C}"/>
              </a:ext>
            </a:extLst>
          </p:cNvPr>
          <p:cNvSpPr/>
          <p:nvPr/>
        </p:nvSpPr>
        <p:spPr>
          <a:xfrm>
            <a:off x="8458672" y="2616404"/>
            <a:ext cx="2652170" cy="81703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...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00" b="1" dirty="0">
                <a:solidFill>
                  <a:schemeClr val="tx1"/>
                </a:solidFill>
                <a:latin typeface="Courier"/>
              </a:rPr>
            </a:br>
            <a:r>
              <a:rPr lang="en-CA" sz="1000" b="1" dirty="0">
                <a:solidFill>
                  <a:schemeClr val="tx1"/>
                </a:solidFill>
                <a:latin typeface="Courier"/>
              </a:rPr>
              <a:t>          </a:t>
            </a:r>
            <a:r>
              <a:rPr lang="en-CA" sz="100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43C07-CD92-2A06-6170-A762874854F8}"/>
              </a:ext>
            </a:extLst>
          </p:cNvPr>
          <p:cNvSpPr txBox="1"/>
          <p:nvPr/>
        </p:nvSpPr>
        <p:spPr>
          <a:xfrm>
            <a:off x="4858945" y="3848676"/>
            <a:ext cx="4548689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“:” </a:t>
            </a:r>
            <a:b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mins &lt;&lt; “:”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secs; 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15BB6-9405-FDE8-A1DC-D83C982770A1}"/>
              </a:ext>
            </a:extLst>
          </p:cNvPr>
          <p:cNvSpPr txBox="1"/>
          <p:nvPr/>
        </p:nvSpPr>
        <p:spPr>
          <a:xfrm>
            <a:off x="4858945" y="4728437"/>
            <a:ext cx="6361598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b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string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[8] = {“EST”, “CST”, “MST”, PST”, “EDT”, “CDT”, “MDT”, PDT”};</a:t>
            </a:r>
            <a:endParaRPr lang="en-US" sz="105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::Write();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' '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[zone]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F216E1-A182-8109-EE78-92A4A95FD649}"/>
              </a:ext>
            </a:extLst>
          </p:cNvPr>
          <p:cNvSpPr txBox="1"/>
          <p:nvPr/>
        </p:nvSpPr>
        <p:spPr>
          <a:xfrm>
            <a:off x="1071240" y="2063215"/>
            <a:ext cx="3527899" cy="263149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“Time is: ”;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t.Write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Time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t1(8, 30, 0);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t2(10, 45, 0, CST);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print(t1);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print(t2);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51698B6-8730-5C2D-A6BC-F33137464718}"/>
              </a:ext>
            </a:extLst>
          </p:cNvPr>
          <p:cNvSpPr/>
          <p:nvPr/>
        </p:nvSpPr>
        <p:spPr>
          <a:xfrm>
            <a:off x="919746" y="4790508"/>
            <a:ext cx="3652414" cy="597634"/>
          </a:xfrm>
          <a:prstGeom prst="wedgeRectCallout">
            <a:avLst>
              <a:gd name="adj1" fmla="val -31161"/>
              <a:gd name="adj2" fmla="val -9919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dirty="0">
                <a:solidFill>
                  <a:schemeClr val="tx1"/>
                </a:solidFill>
              </a:rPr>
              <a:t>Q1: Static or Dynamic Binding for print()? </a:t>
            </a:r>
          </a:p>
          <a:p>
            <a:r>
              <a:rPr lang="en-CA" sz="1600" dirty="0">
                <a:solidFill>
                  <a:schemeClr val="tx1"/>
                </a:solidFill>
              </a:rPr>
              <a:t>Q2: What will be the output?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B27DD-9C86-B562-933D-51E7072E676A}"/>
              </a:ext>
            </a:extLst>
          </p:cNvPr>
          <p:cNvSpPr/>
          <p:nvPr/>
        </p:nvSpPr>
        <p:spPr>
          <a:xfrm>
            <a:off x="1286164" y="5317882"/>
            <a:ext cx="844449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Static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706500-9227-22EE-3104-70406E56F1E5}"/>
              </a:ext>
            </a:extLst>
          </p:cNvPr>
          <p:cNvSpPr/>
          <p:nvPr/>
        </p:nvSpPr>
        <p:spPr>
          <a:xfrm>
            <a:off x="2268360" y="5306765"/>
            <a:ext cx="1946592" cy="597634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latin typeface="Courier"/>
              </a:rPr>
              <a:t>Time is 08:30:00</a:t>
            </a:r>
          </a:p>
          <a:p>
            <a:r>
              <a:rPr lang="en-CA" sz="1400" b="1" dirty="0">
                <a:latin typeface="Courier"/>
              </a:rPr>
              <a:t>Time is 10:45:00</a:t>
            </a:r>
            <a:endParaRPr lang="en-US" sz="1400" b="1" dirty="0">
              <a:latin typeface="Courier"/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FD65C02F-50CF-A7F8-3351-6EC63CAE1721}"/>
              </a:ext>
            </a:extLst>
          </p:cNvPr>
          <p:cNvSpPr/>
          <p:nvPr/>
        </p:nvSpPr>
        <p:spPr>
          <a:xfrm>
            <a:off x="3064692" y="2738010"/>
            <a:ext cx="1360940" cy="318358"/>
          </a:xfrm>
          <a:prstGeom prst="wedgeRectCallout">
            <a:avLst>
              <a:gd name="adj1" fmla="val -100909"/>
              <a:gd name="adj2" fmla="val -5543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Polymorphic?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FE08EE5-1936-1178-0784-5B3C7B370484}"/>
              </a:ext>
            </a:extLst>
          </p:cNvPr>
          <p:cNvSpPr/>
          <p:nvPr/>
        </p:nvSpPr>
        <p:spPr>
          <a:xfrm>
            <a:off x="8384538" y="5603962"/>
            <a:ext cx="2836005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L16Ex4a-TimeStatic.zip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A52C1-1669-EA7C-9653-E83236D3EB0A}"/>
              </a:ext>
            </a:extLst>
          </p:cNvPr>
          <p:cNvSpPr txBox="1"/>
          <p:nvPr/>
        </p:nvSpPr>
        <p:spPr>
          <a:xfrm>
            <a:off x="5243809" y="1558446"/>
            <a:ext cx="46000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200" b="1" dirty="0">
                <a:solidFill>
                  <a:srgbClr val="FF0000"/>
                </a:solidFill>
              </a:rPr>
              <a:t>(Polymorphism unsuccessful) </a:t>
            </a:r>
          </a:p>
        </p:txBody>
      </p:sp>
    </p:spTree>
    <p:extLst>
      <p:ext uri="{BB962C8B-B14F-4D97-AF65-F5344CB8AC3E}">
        <p14:creationId xmlns:p14="http://schemas.microsoft.com/office/powerpoint/2010/main" val="59163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0" grpId="0" animBg="1"/>
      <p:bldP spid="12" grpId="0"/>
      <p:bldP spid="14" grpId="0" animBg="1"/>
      <p:bldP spid="15" grpId="0" animBg="1"/>
      <p:bldP spid="16" grpId="0" animBg="1"/>
      <p:bldP spid="16" grpId="1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041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Function – Another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45044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Scenario 2 – Virtual Function Only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F002A0-5BAC-074F-B7C7-3E01B5FE4AF1}"/>
              </a:ext>
            </a:extLst>
          </p:cNvPr>
          <p:cNvSpPr/>
          <p:nvPr/>
        </p:nvSpPr>
        <p:spPr>
          <a:xfrm>
            <a:off x="4852527" y="2063215"/>
            <a:ext cx="2610260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73553-8D12-270C-B2BF-968BFF2932A6}"/>
              </a:ext>
            </a:extLst>
          </p:cNvPr>
          <p:cNvSpPr/>
          <p:nvPr/>
        </p:nvSpPr>
        <p:spPr>
          <a:xfrm>
            <a:off x="4861605" y="2404306"/>
            <a:ext cx="2593552" cy="51703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21F502-8923-275E-C55F-528ADF506367}"/>
              </a:ext>
            </a:extLst>
          </p:cNvPr>
          <p:cNvSpPr/>
          <p:nvPr/>
        </p:nvSpPr>
        <p:spPr>
          <a:xfrm>
            <a:off x="4851784" y="2897189"/>
            <a:ext cx="2594983" cy="7386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04C57-C432-3812-4484-6214630383AF}"/>
              </a:ext>
            </a:extLst>
          </p:cNvPr>
          <p:cNvSpPr/>
          <p:nvPr/>
        </p:nvSpPr>
        <p:spPr>
          <a:xfrm>
            <a:off x="8459153" y="2074672"/>
            <a:ext cx="2661066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0B35C94-6CF7-67D5-01BF-02BFCAD9360A}"/>
              </a:ext>
            </a:extLst>
          </p:cNvPr>
          <p:cNvSpPr/>
          <p:nvPr/>
        </p:nvSpPr>
        <p:spPr>
          <a:xfrm rot="16200000">
            <a:off x="7437001" y="3102084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F3BC74-B125-9390-E25C-3D5555F6FD8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586725" y="3167868"/>
            <a:ext cx="87194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5D3544-CD38-A1FF-2EF3-3EA3C4595FA1}"/>
              </a:ext>
            </a:extLst>
          </p:cNvPr>
          <p:cNvSpPr txBox="1"/>
          <p:nvPr/>
        </p:nvSpPr>
        <p:spPr>
          <a:xfrm>
            <a:off x="7649715" y="2618268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3E4B5-13B7-91E9-E48D-73A1205DBACB}"/>
              </a:ext>
            </a:extLst>
          </p:cNvPr>
          <p:cNvSpPr/>
          <p:nvPr/>
        </p:nvSpPr>
        <p:spPr>
          <a:xfrm>
            <a:off x="8461352" y="2390679"/>
            <a:ext cx="2652170" cy="22293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05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580D06-80E4-1667-AF68-3C53C4FCAD8C}"/>
              </a:ext>
            </a:extLst>
          </p:cNvPr>
          <p:cNvSpPr/>
          <p:nvPr/>
        </p:nvSpPr>
        <p:spPr>
          <a:xfrm>
            <a:off x="8458672" y="2616404"/>
            <a:ext cx="2652170" cy="81703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...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00" b="1" dirty="0">
                <a:solidFill>
                  <a:schemeClr val="tx1"/>
                </a:solidFill>
                <a:latin typeface="Courier"/>
              </a:rPr>
            </a:br>
            <a:r>
              <a:rPr lang="en-CA" sz="1000" b="1" dirty="0">
                <a:solidFill>
                  <a:schemeClr val="tx1"/>
                </a:solidFill>
                <a:latin typeface="Courier"/>
              </a:rPr>
              <a:t>          </a:t>
            </a:r>
            <a:r>
              <a:rPr lang="en-CA" sz="100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43C07-CD92-2A06-6170-A762874854F8}"/>
              </a:ext>
            </a:extLst>
          </p:cNvPr>
          <p:cNvSpPr txBox="1"/>
          <p:nvPr/>
        </p:nvSpPr>
        <p:spPr>
          <a:xfrm>
            <a:off x="4858945" y="3848676"/>
            <a:ext cx="4548689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“:” </a:t>
            </a:r>
            <a:b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mins &lt;&lt; “:”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secs; 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15BB6-9405-FDE8-A1DC-D83C982770A1}"/>
              </a:ext>
            </a:extLst>
          </p:cNvPr>
          <p:cNvSpPr txBox="1"/>
          <p:nvPr/>
        </p:nvSpPr>
        <p:spPr>
          <a:xfrm>
            <a:off x="4858945" y="4728437"/>
            <a:ext cx="6361598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b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string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[8] = {“EST”, “CST”, “MST”, PST”, “EDT”, “CDT”, “MDT”, PDT”};</a:t>
            </a:r>
            <a:endParaRPr lang="en-US" sz="105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::Write();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' '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[zone]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F216E1-A182-8109-EE78-92A4A95FD649}"/>
              </a:ext>
            </a:extLst>
          </p:cNvPr>
          <p:cNvSpPr txBox="1"/>
          <p:nvPr/>
        </p:nvSpPr>
        <p:spPr>
          <a:xfrm>
            <a:off x="1071240" y="2063215"/>
            <a:ext cx="3527899" cy="263149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“Time is: ”;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t.Write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Time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t1(8, 30, 0);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t2(10, 45, 0, CST);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print(t1);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print(t2);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51698B6-8730-5C2D-A6BC-F33137464718}"/>
              </a:ext>
            </a:extLst>
          </p:cNvPr>
          <p:cNvSpPr/>
          <p:nvPr/>
        </p:nvSpPr>
        <p:spPr>
          <a:xfrm>
            <a:off x="919746" y="4790508"/>
            <a:ext cx="3652414" cy="597634"/>
          </a:xfrm>
          <a:prstGeom prst="wedgeRectCallout">
            <a:avLst>
              <a:gd name="adj1" fmla="val -31161"/>
              <a:gd name="adj2" fmla="val -9919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dirty="0">
                <a:solidFill>
                  <a:schemeClr val="tx1"/>
                </a:solidFill>
              </a:rPr>
              <a:t>Q1: Static or Dynamic Binding for print()? </a:t>
            </a:r>
          </a:p>
          <a:p>
            <a:r>
              <a:rPr lang="en-CA" sz="1600" dirty="0">
                <a:solidFill>
                  <a:schemeClr val="tx1"/>
                </a:solidFill>
              </a:rPr>
              <a:t>Q2: What will be the output?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B27DD-9C86-B562-933D-51E7072E676A}"/>
              </a:ext>
            </a:extLst>
          </p:cNvPr>
          <p:cNvSpPr/>
          <p:nvPr/>
        </p:nvSpPr>
        <p:spPr>
          <a:xfrm>
            <a:off x="1286164" y="5317882"/>
            <a:ext cx="844449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Static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706500-9227-22EE-3104-70406E56F1E5}"/>
              </a:ext>
            </a:extLst>
          </p:cNvPr>
          <p:cNvSpPr/>
          <p:nvPr/>
        </p:nvSpPr>
        <p:spPr>
          <a:xfrm>
            <a:off x="2268360" y="5306765"/>
            <a:ext cx="1946592" cy="597634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latin typeface="Courier"/>
              </a:rPr>
              <a:t>Time is 08:30:00</a:t>
            </a:r>
          </a:p>
          <a:p>
            <a:r>
              <a:rPr lang="en-CA" sz="1400" b="1" dirty="0">
                <a:latin typeface="Courier"/>
              </a:rPr>
              <a:t>Time is 10:45:00</a:t>
            </a:r>
            <a:endParaRPr lang="en-US" sz="1400" b="1" dirty="0">
              <a:latin typeface="Courier"/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FD65C02F-50CF-A7F8-3351-6EC63CAE1721}"/>
              </a:ext>
            </a:extLst>
          </p:cNvPr>
          <p:cNvSpPr/>
          <p:nvPr/>
        </p:nvSpPr>
        <p:spPr>
          <a:xfrm>
            <a:off x="3064692" y="2738010"/>
            <a:ext cx="1360940" cy="318358"/>
          </a:xfrm>
          <a:prstGeom prst="wedgeRectCallout">
            <a:avLst>
              <a:gd name="adj1" fmla="val -100909"/>
              <a:gd name="adj2" fmla="val -5543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Polymorphic?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5B3CEE-2948-CA9D-EEAF-673DFEB0AB8C}"/>
              </a:ext>
            </a:extLst>
          </p:cNvPr>
          <p:cNvSpPr txBox="1"/>
          <p:nvPr/>
        </p:nvSpPr>
        <p:spPr>
          <a:xfrm>
            <a:off x="6562186" y="3351612"/>
            <a:ext cx="9318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EBDA90-B455-233E-A7AD-BD64302CA17E}"/>
              </a:ext>
            </a:extLst>
          </p:cNvPr>
          <p:cNvSpPr/>
          <p:nvPr/>
        </p:nvSpPr>
        <p:spPr>
          <a:xfrm>
            <a:off x="8376492" y="5602415"/>
            <a:ext cx="2836005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L16Ex4b-TimeStatic2.zip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6A6FF7-1FF3-2A57-440F-F9FEAD96B9E2}"/>
              </a:ext>
            </a:extLst>
          </p:cNvPr>
          <p:cNvSpPr txBox="1"/>
          <p:nvPr/>
        </p:nvSpPr>
        <p:spPr>
          <a:xfrm>
            <a:off x="7976312" y="3509908"/>
            <a:ext cx="313453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Write()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const;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7936273E-FC80-4AD9-E5A8-A92E371EF6AF}"/>
              </a:ext>
            </a:extLst>
          </p:cNvPr>
          <p:cNvSpPr/>
          <p:nvPr/>
        </p:nvSpPr>
        <p:spPr>
          <a:xfrm>
            <a:off x="10467914" y="3957031"/>
            <a:ext cx="1516200" cy="571652"/>
          </a:xfrm>
          <a:prstGeom prst="wedgeRectCallout">
            <a:avLst>
              <a:gd name="adj1" fmla="val -80601"/>
              <a:gd name="adj2" fmla="val -7828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In Class Declaration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BF1E6A-7490-F626-AAB4-1238A092B369}"/>
              </a:ext>
            </a:extLst>
          </p:cNvPr>
          <p:cNvCxnSpPr>
            <a:cxnSpLocks/>
            <a:stCxn id="26" idx="3"/>
            <a:endCxn id="23" idx="1"/>
          </p:cNvCxnSpPr>
          <p:nvPr/>
        </p:nvCxnSpPr>
        <p:spPr>
          <a:xfrm>
            <a:off x="7494023" y="3505501"/>
            <a:ext cx="482289" cy="142907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205B965-856B-74CB-EB5E-D119AC723AE6}"/>
              </a:ext>
            </a:extLst>
          </p:cNvPr>
          <p:cNvSpPr txBox="1"/>
          <p:nvPr/>
        </p:nvSpPr>
        <p:spPr>
          <a:xfrm>
            <a:off x="5243809" y="1558446"/>
            <a:ext cx="46000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200" b="1" dirty="0">
                <a:solidFill>
                  <a:srgbClr val="FF0000"/>
                </a:solidFill>
              </a:rPr>
              <a:t>(Polymorphism unsuccessful) </a:t>
            </a:r>
          </a:p>
        </p:txBody>
      </p:sp>
    </p:spTree>
    <p:extLst>
      <p:ext uri="{BB962C8B-B14F-4D97-AF65-F5344CB8AC3E}">
        <p14:creationId xmlns:p14="http://schemas.microsoft.com/office/powerpoint/2010/main" val="250969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6" grpId="0"/>
      <p:bldP spid="28" grpId="0" animBg="1"/>
      <p:bldP spid="23" grpId="0" animBg="1"/>
      <p:bldP spid="24" grpId="0" animBg="1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041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Function – Another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59600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Scenario 3 – Virtual Function + Pass by Pointer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F002A0-5BAC-074F-B7C7-3E01B5FE4AF1}"/>
              </a:ext>
            </a:extLst>
          </p:cNvPr>
          <p:cNvSpPr/>
          <p:nvPr/>
        </p:nvSpPr>
        <p:spPr>
          <a:xfrm>
            <a:off x="4852527" y="2063215"/>
            <a:ext cx="2610260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73553-8D12-270C-B2BF-968BFF2932A6}"/>
              </a:ext>
            </a:extLst>
          </p:cNvPr>
          <p:cNvSpPr/>
          <p:nvPr/>
        </p:nvSpPr>
        <p:spPr>
          <a:xfrm>
            <a:off x="4861605" y="2404306"/>
            <a:ext cx="2593552" cy="51703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21F502-8923-275E-C55F-528ADF506367}"/>
              </a:ext>
            </a:extLst>
          </p:cNvPr>
          <p:cNvSpPr/>
          <p:nvPr/>
        </p:nvSpPr>
        <p:spPr>
          <a:xfrm>
            <a:off x="4851784" y="2897189"/>
            <a:ext cx="2594983" cy="7386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04C57-C432-3812-4484-6214630383AF}"/>
              </a:ext>
            </a:extLst>
          </p:cNvPr>
          <p:cNvSpPr/>
          <p:nvPr/>
        </p:nvSpPr>
        <p:spPr>
          <a:xfrm>
            <a:off x="8459153" y="2074672"/>
            <a:ext cx="2661066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0B35C94-6CF7-67D5-01BF-02BFCAD9360A}"/>
              </a:ext>
            </a:extLst>
          </p:cNvPr>
          <p:cNvSpPr/>
          <p:nvPr/>
        </p:nvSpPr>
        <p:spPr>
          <a:xfrm rot="16200000">
            <a:off x="7437001" y="3102084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F3BC74-B125-9390-E25C-3D5555F6FD8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586725" y="3167868"/>
            <a:ext cx="87194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5D3544-CD38-A1FF-2EF3-3EA3C4595FA1}"/>
              </a:ext>
            </a:extLst>
          </p:cNvPr>
          <p:cNvSpPr txBox="1"/>
          <p:nvPr/>
        </p:nvSpPr>
        <p:spPr>
          <a:xfrm>
            <a:off x="7649715" y="2618268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3E4B5-13B7-91E9-E48D-73A1205DBACB}"/>
              </a:ext>
            </a:extLst>
          </p:cNvPr>
          <p:cNvSpPr/>
          <p:nvPr/>
        </p:nvSpPr>
        <p:spPr>
          <a:xfrm>
            <a:off x="8461352" y="2390679"/>
            <a:ext cx="2652170" cy="22293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05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580D06-80E4-1667-AF68-3C53C4FCAD8C}"/>
              </a:ext>
            </a:extLst>
          </p:cNvPr>
          <p:cNvSpPr/>
          <p:nvPr/>
        </p:nvSpPr>
        <p:spPr>
          <a:xfrm>
            <a:off x="8458672" y="2616404"/>
            <a:ext cx="2652170" cy="81703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...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00" b="1" dirty="0">
                <a:solidFill>
                  <a:schemeClr val="tx1"/>
                </a:solidFill>
                <a:latin typeface="Courier"/>
              </a:rPr>
            </a:br>
            <a:r>
              <a:rPr lang="en-CA" sz="1000" b="1" dirty="0">
                <a:solidFill>
                  <a:schemeClr val="tx1"/>
                </a:solidFill>
                <a:latin typeface="Courier"/>
              </a:rPr>
              <a:t>          </a:t>
            </a:r>
            <a:r>
              <a:rPr lang="en-CA" sz="100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43C07-CD92-2A06-6170-A762874854F8}"/>
              </a:ext>
            </a:extLst>
          </p:cNvPr>
          <p:cNvSpPr txBox="1"/>
          <p:nvPr/>
        </p:nvSpPr>
        <p:spPr>
          <a:xfrm>
            <a:off x="4858945" y="3848676"/>
            <a:ext cx="4548689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“:” </a:t>
            </a:r>
            <a:b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mins &lt;&lt; “:”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secs; 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15BB6-9405-FDE8-A1DC-D83C982770A1}"/>
              </a:ext>
            </a:extLst>
          </p:cNvPr>
          <p:cNvSpPr txBox="1"/>
          <p:nvPr/>
        </p:nvSpPr>
        <p:spPr>
          <a:xfrm>
            <a:off x="4858945" y="4728437"/>
            <a:ext cx="6361598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b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string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[8] = {“EST”, “CST”, “MST”, PST”, “EDT”, “CDT”, “MDT”, PDT”};</a:t>
            </a:r>
            <a:endParaRPr lang="en-US" sz="105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::Write();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' '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[zone]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F216E1-A182-8109-EE78-92A4A95FD649}"/>
              </a:ext>
            </a:extLst>
          </p:cNvPr>
          <p:cNvSpPr txBox="1"/>
          <p:nvPr/>
        </p:nvSpPr>
        <p:spPr>
          <a:xfrm>
            <a:off x="1071240" y="2063215"/>
            <a:ext cx="3527899" cy="263149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“Time is: ”;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-&gt; Write();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Time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t1(8, 30, 0);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t2(10, 45, 0, CST);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51698B6-8730-5C2D-A6BC-F33137464718}"/>
              </a:ext>
            </a:extLst>
          </p:cNvPr>
          <p:cNvSpPr/>
          <p:nvPr/>
        </p:nvSpPr>
        <p:spPr>
          <a:xfrm>
            <a:off x="919746" y="4790508"/>
            <a:ext cx="3652414" cy="597634"/>
          </a:xfrm>
          <a:prstGeom prst="wedgeRectCallout">
            <a:avLst>
              <a:gd name="adj1" fmla="val -31161"/>
              <a:gd name="adj2" fmla="val -9919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dirty="0">
                <a:solidFill>
                  <a:schemeClr val="tx1"/>
                </a:solidFill>
              </a:rPr>
              <a:t>Q1: Static or Dynamic Binding for print()? </a:t>
            </a:r>
          </a:p>
          <a:p>
            <a:r>
              <a:rPr lang="en-CA" sz="1600" dirty="0">
                <a:solidFill>
                  <a:schemeClr val="tx1"/>
                </a:solidFill>
              </a:rPr>
              <a:t>Q2: What will be the output?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B27DD-9C86-B562-933D-51E7072E676A}"/>
              </a:ext>
            </a:extLst>
          </p:cNvPr>
          <p:cNvSpPr/>
          <p:nvPr/>
        </p:nvSpPr>
        <p:spPr>
          <a:xfrm>
            <a:off x="1071240" y="5317882"/>
            <a:ext cx="1059374" cy="33212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Dynamic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706500-9227-22EE-3104-70406E56F1E5}"/>
              </a:ext>
            </a:extLst>
          </p:cNvPr>
          <p:cNvSpPr/>
          <p:nvPr/>
        </p:nvSpPr>
        <p:spPr>
          <a:xfrm>
            <a:off x="2268360" y="5306765"/>
            <a:ext cx="2455294" cy="597634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latin typeface="Courier"/>
              </a:rPr>
              <a:t>Time is 08:30:00</a:t>
            </a:r>
          </a:p>
          <a:p>
            <a:r>
              <a:rPr lang="en-CA" sz="1400" b="1" dirty="0">
                <a:latin typeface="Courier"/>
              </a:rPr>
              <a:t>Time is 10:45:00 CST</a:t>
            </a:r>
            <a:endParaRPr lang="en-US" sz="1400" b="1" dirty="0">
              <a:latin typeface="Courier"/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FD65C02F-50CF-A7F8-3351-6EC63CAE1721}"/>
              </a:ext>
            </a:extLst>
          </p:cNvPr>
          <p:cNvSpPr/>
          <p:nvPr/>
        </p:nvSpPr>
        <p:spPr>
          <a:xfrm>
            <a:off x="3096187" y="2708791"/>
            <a:ext cx="1360940" cy="318358"/>
          </a:xfrm>
          <a:prstGeom prst="wedgeRectCallout">
            <a:avLst>
              <a:gd name="adj1" fmla="val -87471"/>
              <a:gd name="adj2" fmla="val -5269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Polymorphic?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5B3CEE-2948-CA9D-EEAF-673DFEB0AB8C}"/>
              </a:ext>
            </a:extLst>
          </p:cNvPr>
          <p:cNvSpPr txBox="1"/>
          <p:nvPr/>
        </p:nvSpPr>
        <p:spPr>
          <a:xfrm>
            <a:off x="6562186" y="3351612"/>
            <a:ext cx="9318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15F2DC-0450-8987-D366-CD2F8CE08C58}"/>
              </a:ext>
            </a:extLst>
          </p:cNvPr>
          <p:cNvSpPr/>
          <p:nvPr/>
        </p:nvSpPr>
        <p:spPr>
          <a:xfrm>
            <a:off x="8129713" y="5617567"/>
            <a:ext cx="3082784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L16Ex4c-TimeDynamicPBP.zip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632B86-A143-35F9-19F1-7A7F5FEB3995}"/>
              </a:ext>
            </a:extLst>
          </p:cNvPr>
          <p:cNvSpPr txBox="1"/>
          <p:nvPr/>
        </p:nvSpPr>
        <p:spPr>
          <a:xfrm>
            <a:off x="7976312" y="3509908"/>
            <a:ext cx="313453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Write()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const;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FD697267-DC54-B4CC-551B-B736FC417F31}"/>
              </a:ext>
            </a:extLst>
          </p:cNvPr>
          <p:cNvSpPr/>
          <p:nvPr/>
        </p:nvSpPr>
        <p:spPr>
          <a:xfrm>
            <a:off x="10467914" y="3957031"/>
            <a:ext cx="1516200" cy="571652"/>
          </a:xfrm>
          <a:prstGeom prst="wedgeRectCallout">
            <a:avLst>
              <a:gd name="adj1" fmla="val -80601"/>
              <a:gd name="adj2" fmla="val -7828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In Class Declaration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93D0FF-160D-EF8A-2FFC-31B8AD06D1B1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7494023" y="3505501"/>
            <a:ext cx="482289" cy="142907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8A6D33F-1FFE-3A12-ED4B-97E02AC50056}"/>
              </a:ext>
            </a:extLst>
          </p:cNvPr>
          <p:cNvSpPr txBox="1"/>
          <p:nvPr/>
        </p:nvSpPr>
        <p:spPr>
          <a:xfrm>
            <a:off x="6662074" y="1558446"/>
            <a:ext cx="46000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200" b="1" dirty="0">
                <a:solidFill>
                  <a:srgbClr val="008000"/>
                </a:solidFill>
              </a:rPr>
              <a:t>(Polymorphism will work successfully) </a:t>
            </a:r>
          </a:p>
        </p:txBody>
      </p:sp>
    </p:spTree>
    <p:extLst>
      <p:ext uri="{BB962C8B-B14F-4D97-AF65-F5344CB8AC3E}">
        <p14:creationId xmlns:p14="http://schemas.microsoft.com/office/powerpoint/2010/main" val="416588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041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Function – Another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286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Scenario 4 – Virtual Function + Pass by Reference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F002A0-5BAC-074F-B7C7-3E01B5FE4AF1}"/>
              </a:ext>
            </a:extLst>
          </p:cNvPr>
          <p:cNvSpPr/>
          <p:nvPr/>
        </p:nvSpPr>
        <p:spPr>
          <a:xfrm>
            <a:off x="4852527" y="2063215"/>
            <a:ext cx="2610260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73553-8D12-270C-B2BF-968BFF2932A6}"/>
              </a:ext>
            </a:extLst>
          </p:cNvPr>
          <p:cNvSpPr/>
          <p:nvPr/>
        </p:nvSpPr>
        <p:spPr>
          <a:xfrm>
            <a:off x="4861605" y="2404306"/>
            <a:ext cx="2593552" cy="51703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0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21F502-8923-275E-C55F-528ADF506367}"/>
              </a:ext>
            </a:extLst>
          </p:cNvPr>
          <p:cNvSpPr/>
          <p:nvPr/>
        </p:nvSpPr>
        <p:spPr>
          <a:xfrm>
            <a:off x="4851784" y="2897189"/>
            <a:ext cx="2594983" cy="7386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04C57-C432-3812-4484-6214630383AF}"/>
              </a:ext>
            </a:extLst>
          </p:cNvPr>
          <p:cNvSpPr/>
          <p:nvPr/>
        </p:nvSpPr>
        <p:spPr>
          <a:xfrm>
            <a:off x="8459153" y="2074672"/>
            <a:ext cx="2661066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0B35C94-6CF7-67D5-01BF-02BFCAD9360A}"/>
              </a:ext>
            </a:extLst>
          </p:cNvPr>
          <p:cNvSpPr/>
          <p:nvPr/>
        </p:nvSpPr>
        <p:spPr>
          <a:xfrm rot="16200000">
            <a:off x="7437001" y="3102084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F3BC74-B125-9390-E25C-3D5555F6FD8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586725" y="3167868"/>
            <a:ext cx="87194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5D3544-CD38-A1FF-2EF3-3EA3C4595FA1}"/>
              </a:ext>
            </a:extLst>
          </p:cNvPr>
          <p:cNvSpPr txBox="1"/>
          <p:nvPr/>
        </p:nvSpPr>
        <p:spPr>
          <a:xfrm>
            <a:off x="7649715" y="2618268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3E4B5-13B7-91E9-E48D-73A1205DBACB}"/>
              </a:ext>
            </a:extLst>
          </p:cNvPr>
          <p:cNvSpPr/>
          <p:nvPr/>
        </p:nvSpPr>
        <p:spPr>
          <a:xfrm>
            <a:off x="8461352" y="2390679"/>
            <a:ext cx="2652170" cy="22293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05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580D06-80E4-1667-AF68-3C53C4FCAD8C}"/>
              </a:ext>
            </a:extLst>
          </p:cNvPr>
          <p:cNvSpPr/>
          <p:nvPr/>
        </p:nvSpPr>
        <p:spPr>
          <a:xfrm>
            <a:off x="8458672" y="2616404"/>
            <a:ext cx="2652170" cy="81703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...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0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00" b="1" dirty="0">
                <a:solidFill>
                  <a:schemeClr val="tx1"/>
                </a:solidFill>
                <a:latin typeface="Courier"/>
              </a:rPr>
            </a:br>
            <a:r>
              <a:rPr lang="en-CA" sz="1000" b="1" dirty="0">
                <a:solidFill>
                  <a:schemeClr val="tx1"/>
                </a:solidFill>
                <a:latin typeface="Courier"/>
              </a:rPr>
              <a:t>          </a:t>
            </a:r>
            <a:r>
              <a:rPr lang="en-CA" sz="100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0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...</a:t>
            </a:r>
            <a:endParaRPr lang="en-CA" sz="10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0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0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43C07-CD92-2A06-6170-A762874854F8}"/>
              </a:ext>
            </a:extLst>
          </p:cNvPr>
          <p:cNvSpPr txBox="1"/>
          <p:nvPr/>
        </p:nvSpPr>
        <p:spPr>
          <a:xfrm>
            <a:off x="4858945" y="3848676"/>
            <a:ext cx="4548689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“:” </a:t>
            </a:r>
            <a:b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mins &lt;&lt; “:”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secs; 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15BB6-9405-FDE8-A1DC-D83C982770A1}"/>
              </a:ext>
            </a:extLst>
          </p:cNvPr>
          <p:cNvSpPr txBox="1"/>
          <p:nvPr/>
        </p:nvSpPr>
        <p:spPr>
          <a:xfrm>
            <a:off x="4858945" y="4728437"/>
            <a:ext cx="6361598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b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string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[8] = {“EST”, “CST”, “MST”, PST”, “EDT”, “CDT”, “MDT”, PDT”};</a:t>
            </a:r>
            <a:endParaRPr lang="en-US" sz="105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::Write();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' '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[zone]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F216E1-A182-8109-EE78-92A4A95FD649}"/>
              </a:ext>
            </a:extLst>
          </p:cNvPr>
          <p:cNvSpPr txBox="1"/>
          <p:nvPr/>
        </p:nvSpPr>
        <p:spPr>
          <a:xfrm>
            <a:off x="1071240" y="2063215"/>
            <a:ext cx="3527899" cy="263149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“Time is: ”;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t.Write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Time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t1(8, 30, 0);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t2(10, 45, 0, CST);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print(t1);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print(t2);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51698B6-8730-5C2D-A6BC-F33137464718}"/>
              </a:ext>
            </a:extLst>
          </p:cNvPr>
          <p:cNvSpPr/>
          <p:nvPr/>
        </p:nvSpPr>
        <p:spPr>
          <a:xfrm>
            <a:off x="919746" y="4790508"/>
            <a:ext cx="3652414" cy="597634"/>
          </a:xfrm>
          <a:prstGeom prst="wedgeRectCallout">
            <a:avLst>
              <a:gd name="adj1" fmla="val -31161"/>
              <a:gd name="adj2" fmla="val -9919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dirty="0">
                <a:solidFill>
                  <a:schemeClr val="tx1"/>
                </a:solidFill>
              </a:rPr>
              <a:t>Q1: Static or Dynamic Binding for print()? </a:t>
            </a:r>
          </a:p>
          <a:p>
            <a:r>
              <a:rPr lang="en-CA" sz="1600" dirty="0">
                <a:solidFill>
                  <a:schemeClr val="tx1"/>
                </a:solidFill>
              </a:rPr>
              <a:t>Q2: What will be the output?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B27DD-9C86-B562-933D-51E7072E676A}"/>
              </a:ext>
            </a:extLst>
          </p:cNvPr>
          <p:cNvSpPr/>
          <p:nvPr/>
        </p:nvSpPr>
        <p:spPr>
          <a:xfrm>
            <a:off x="1071240" y="5317882"/>
            <a:ext cx="1059374" cy="33212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Dynamic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706500-9227-22EE-3104-70406E56F1E5}"/>
              </a:ext>
            </a:extLst>
          </p:cNvPr>
          <p:cNvSpPr/>
          <p:nvPr/>
        </p:nvSpPr>
        <p:spPr>
          <a:xfrm>
            <a:off x="2268360" y="5306765"/>
            <a:ext cx="2455294" cy="597634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latin typeface="Courier"/>
              </a:rPr>
              <a:t>Time is 08:30:00</a:t>
            </a:r>
          </a:p>
          <a:p>
            <a:r>
              <a:rPr lang="en-CA" sz="1400" b="1" dirty="0">
                <a:latin typeface="Courier"/>
              </a:rPr>
              <a:t>Time is 10:45:00 CST</a:t>
            </a:r>
            <a:endParaRPr lang="en-US" sz="1400" b="1" dirty="0">
              <a:latin typeface="Courier"/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FD65C02F-50CF-A7F8-3351-6EC63CAE1721}"/>
              </a:ext>
            </a:extLst>
          </p:cNvPr>
          <p:cNvSpPr/>
          <p:nvPr/>
        </p:nvSpPr>
        <p:spPr>
          <a:xfrm>
            <a:off x="3096187" y="2708791"/>
            <a:ext cx="1360940" cy="318358"/>
          </a:xfrm>
          <a:prstGeom prst="wedgeRectCallout">
            <a:avLst>
              <a:gd name="adj1" fmla="val -87471"/>
              <a:gd name="adj2" fmla="val -5269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Polymorphic?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5B3CEE-2948-CA9D-EEAF-673DFEB0AB8C}"/>
              </a:ext>
            </a:extLst>
          </p:cNvPr>
          <p:cNvSpPr txBox="1"/>
          <p:nvPr/>
        </p:nvSpPr>
        <p:spPr>
          <a:xfrm>
            <a:off x="6562186" y="3351612"/>
            <a:ext cx="9318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15F2DC-0450-8987-D366-CD2F8CE08C58}"/>
              </a:ext>
            </a:extLst>
          </p:cNvPr>
          <p:cNvSpPr/>
          <p:nvPr/>
        </p:nvSpPr>
        <p:spPr>
          <a:xfrm>
            <a:off x="8129713" y="5617567"/>
            <a:ext cx="3082784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L16Ex4d-TimeDynamicPBR.zip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632B86-A143-35F9-19F1-7A7F5FEB3995}"/>
              </a:ext>
            </a:extLst>
          </p:cNvPr>
          <p:cNvSpPr txBox="1"/>
          <p:nvPr/>
        </p:nvSpPr>
        <p:spPr>
          <a:xfrm>
            <a:off x="7976312" y="3509908"/>
            <a:ext cx="313453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Write()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const;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FD697267-DC54-B4CC-551B-B736FC417F31}"/>
              </a:ext>
            </a:extLst>
          </p:cNvPr>
          <p:cNvSpPr/>
          <p:nvPr/>
        </p:nvSpPr>
        <p:spPr>
          <a:xfrm>
            <a:off x="10467914" y="3957031"/>
            <a:ext cx="1516200" cy="571652"/>
          </a:xfrm>
          <a:prstGeom prst="wedgeRectCallout">
            <a:avLst>
              <a:gd name="adj1" fmla="val -80601"/>
              <a:gd name="adj2" fmla="val -7828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In Class Declaration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93D0FF-160D-EF8A-2FFC-31B8AD06D1B1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7494023" y="3505501"/>
            <a:ext cx="482289" cy="142907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8A6D33F-1FFE-3A12-ED4B-97E02AC50056}"/>
              </a:ext>
            </a:extLst>
          </p:cNvPr>
          <p:cNvSpPr txBox="1"/>
          <p:nvPr/>
        </p:nvSpPr>
        <p:spPr>
          <a:xfrm>
            <a:off x="6997990" y="1558446"/>
            <a:ext cx="46000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200" b="1" dirty="0">
                <a:solidFill>
                  <a:srgbClr val="008000"/>
                </a:solidFill>
              </a:rPr>
              <a:t>(Polymorphism will work successfully) </a:t>
            </a:r>
          </a:p>
        </p:txBody>
      </p:sp>
    </p:spTree>
    <p:extLst>
      <p:ext uri="{BB962C8B-B14F-4D97-AF65-F5344CB8AC3E}">
        <p14:creationId xmlns:p14="http://schemas.microsoft.com/office/powerpoint/2010/main" val="363772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422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“Pure” Virtual Function – Abstract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20981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Virtual Function forms the fundamentals for C++ Polymorphism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Controls the binding mode under polymorphic operations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Enforces a class to be used </a:t>
            </a:r>
            <a:r>
              <a:rPr lang="en-CA" b="1" i="1" dirty="0"/>
              <a:t>purely as a template class </a:t>
            </a:r>
            <a:r>
              <a:rPr lang="en-CA" dirty="0"/>
              <a:t>for subtype template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Abstract Class</a:t>
            </a:r>
            <a:r>
              <a:rPr lang="en-CA" sz="2200" dirty="0"/>
              <a:t> – </a:t>
            </a:r>
            <a:r>
              <a:rPr lang="en-CA" sz="2200" b="1" dirty="0">
                <a:solidFill>
                  <a:srgbClr val="FF0000"/>
                </a:solidFill>
              </a:rPr>
              <a:t>Incomplete</a:t>
            </a:r>
            <a:r>
              <a:rPr lang="en-CA" sz="2200" dirty="0"/>
              <a:t> Class Definition for Polymorphic Template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Used only as a </a:t>
            </a:r>
            <a:r>
              <a:rPr lang="en-CA" b="1" i="1" dirty="0"/>
              <a:t>Logical Base Class</a:t>
            </a:r>
            <a:r>
              <a:rPr lang="en-CA" dirty="0"/>
              <a:t> for categorization and behavioural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NOT intended to be used to create objects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895D75-B32D-325E-04F6-90DE45089BC8}"/>
              </a:ext>
            </a:extLst>
          </p:cNvPr>
          <p:cNvSpPr/>
          <p:nvPr/>
        </p:nvSpPr>
        <p:spPr>
          <a:xfrm>
            <a:off x="6119366" y="3933509"/>
            <a:ext cx="2278454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Shape</a:t>
            </a:r>
            <a:endParaRPr lang="en-US" b="1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3D7A6C-19D5-442C-C5ED-BE8A4EC5D5C4}"/>
              </a:ext>
            </a:extLst>
          </p:cNvPr>
          <p:cNvSpPr/>
          <p:nvPr/>
        </p:nvSpPr>
        <p:spPr>
          <a:xfrm>
            <a:off x="6126955" y="4258126"/>
            <a:ext cx="2264028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400" b="1" i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i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4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7BEC8-2D16-417F-29DA-BDA0E59233CD}"/>
              </a:ext>
            </a:extLst>
          </p:cNvPr>
          <p:cNvSpPr/>
          <p:nvPr/>
        </p:nvSpPr>
        <p:spPr>
          <a:xfrm>
            <a:off x="5182499" y="5004562"/>
            <a:ext cx="2222492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Circle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565C61-4AD0-F385-AADC-ABF13FAD0513}"/>
              </a:ext>
            </a:extLst>
          </p:cNvPr>
          <p:cNvSpPr/>
          <p:nvPr/>
        </p:nvSpPr>
        <p:spPr>
          <a:xfrm>
            <a:off x="5189641" y="5345653"/>
            <a:ext cx="2208263" cy="33149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0413B-69A5-8C24-57E4-38D015172FEA}"/>
              </a:ext>
            </a:extLst>
          </p:cNvPr>
          <p:cNvSpPr/>
          <p:nvPr/>
        </p:nvSpPr>
        <p:spPr>
          <a:xfrm>
            <a:off x="7929612" y="4999380"/>
            <a:ext cx="2436032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Rectangle</a:t>
            </a: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48B8B-5B32-9C2A-74D6-A766AA0F9E6E}"/>
              </a:ext>
            </a:extLst>
          </p:cNvPr>
          <p:cNvSpPr/>
          <p:nvPr/>
        </p:nvSpPr>
        <p:spPr>
          <a:xfrm>
            <a:off x="7934056" y="5340471"/>
            <a:ext cx="2420436" cy="331493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D9277DE-A62A-9351-E157-2FF83EC4F99E}"/>
              </a:ext>
            </a:extLst>
          </p:cNvPr>
          <p:cNvSpPr/>
          <p:nvPr/>
        </p:nvSpPr>
        <p:spPr>
          <a:xfrm>
            <a:off x="7989751" y="4534982"/>
            <a:ext cx="167880" cy="131567"/>
          </a:xfrm>
          <a:prstGeom prst="triangle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9A4428C-5CD8-D70D-2176-B86BCBC5652F}"/>
              </a:ext>
            </a:extLst>
          </p:cNvPr>
          <p:cNvSpPr/>
          <p:nvPr/>
        </p:nvSpPr>
        <p:spPr>
          <a:xfrm>
            <a:off x="6338236" y="4540691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1B71E8-400F-9522-8F73-92EB5D2B46E6}"/>
              </a:ext>
            </a:extLst>
          </p:cNvPr>
          <p:cNvCxnSpPr>
            <a:cxnSpLocks/>
          </p:cNvCxnSpPr>
          <p:nvPr/>
        </p:nvCxnSpPr>
        <p:spPr>
          <a:xfrm>
            <a:off x="6422176" y="4680967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6FFE5B-5CAB-0889-F030-7AB54B0D8D23}"/>
              </a:ext>
            </a:extLst>
          </p:cNvPr>
          <p:cNvCxnSpPr>
            <a:cxnSpLocks/>
          </p:cNvCxnSpPr>
          <p:nvPr/>
        </p:nvCxnSpPr>
        <p:spPr>
          <a:xfrm>
            <a:off x="8068129" y="4676344"/>
            <a:ext cx="5562" cy="414948"/>
          </a:xfrm>
          <a:prstGeom prst="lin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0A5DC9A-754B-9666-2CFA-6849C86BEA26}"/>
              </a:ext>
            </a:extLst>
          </p:cNvPr>
          <p:cNvSpPr txBox="1"/>
          <p:nvPr/>
        </p:nvSpPr>
        <p:spPr>
          <a:xfrm>
            <a:off x="5714207" y="4709254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CE6D89-EB9F-2A89-2980-9AB5A3A8BBBB}"/>
              </a:ext>
            </a:extLst>
          </p:cNvPr>
          <p:cNvSpPr txBox="1"/>
          <p:nvPr/>
        </p:nvSpPr>
        <p:spPr>
          <a:xfrm>
            <a:off x="8042341" y="4728010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1F1F"/>
                </a:solidFill>
              </a:rPr>
              <a:t>extends</a:t>
            </a: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3569029D-919E-AD01-5496-700EF24D3500}"/>
              </a:ext>
            </a:extLst>
          </p:cNvPr>
          <p:cNvSpPr/>
          <p:nvPr/>
        </p:nvSpPr>
        <p:spPr>
          <a:xfrm>
            <a:off x="1590522" y="3942949"/>
            <a:ext cx="3295429" cy="1555407"/>
          </a:xfrm>
          <a:prstGeom prst="foldedCorner">
            <a:avLst>
              <a:gd name="adj" fmla="val 10130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n-CA" sz="1400" b="1" i="1" dirty="0"/>
              <a:t>Italic</a:t>
            </a:r>
            <a:r>
              <a:rPr lang="en-CA" sz="1400" dirty="0"/>
              <a:t> – Abstract / Virtual</a:t>
            </a:r>
          </a:p>
          <a:p>
            <a:pPr marL="171450" indent="-171450">
              <a:buFontTx/>
              <a:buChar char="-"/>
            </a:pPr>
            <a:endParaRPr lang="en-CA" sz="1400" dirty="0"/>
          </a:p>
          <a:p>
            <a:pPr marL="171450" indent="-171450">
              <a:buFontTx/>
              <a:buChar char="-"/>
            </a:pPr>
            <a:r>
              <a:rPr lang="en-CA" sz="1400" b="1" dirty="0"/>
              <a:t>Logical Class / Abstract Class</a:t>
            </a:r>
          </a:p>
          <a:p>
            <a:pPr marL="628650" lvl="1" indent="-171450">
              <a:buFontTx/>
              <a:buChar char="-"/>
            </a:pPr>
            <a:r>
              <a:rPr lang="en-CA" sz="1400" dirty="0"/>
              <a:t>Shape must have Area</a:t>
            </a:r>
          </a:p>
          <a:p>
            <a:pPr marL="628650" lvl="1" indent="-171450">
              <a:buFontTx/>
              <a:buChar char="-"/>
            </a:pPr>
            <a:r>
              <a:rPr lang="en-CA" sz="1400" dirty="0"/>
              <a:t>But can only calculate area when the shape is known</a:t>
            </a:r>
            <a:endParaRPr lang="en-US" sz="1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20CA30C-30DF-4278-ACA4-9D4919F12069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885951" y="4099572"/>
            <a:ext cx="12334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04C5BFA-E699-A446-1ECD-9003C96E4C61}"/>
              </a:ext>
            </a:extLst>
          </p:cNvPr>
          <p:cNvSpPr/>
          <p:nvPr/>
        </p:nvSpPr>
        <p:spPr>
          <a:xfrm>
            <a:off x="4737465" y="5638569"/>
            <a:ext cx="2595154" cy="30534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{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return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 PI * r * r; }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855C20-EEA0-A7C1-429E-F0DDDE25FFEE}"/>
              </a:ext>
            </a:extLst>
          </p:cNvPr>
          <p:cNvSpPr/>
          <p:nvPr/>
        </p:nvSpPr>
        <p:spPr>
          <a:xfrm>
            <a:off x="8157631" y="5634684"/>
            <a:ext cx="2092358" cy="305347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{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return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 w * l; }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61BC330D-501E-3B0A-C6F9-0DFE0F1F4F74}"/>
              </a:ext>
            </a:extLst>
          </p:cNvPr>
          <p:cNvSpPr/>
          <p:nvPr/>
        </p:nvSpPr>
        <p:spPr>
          <a:xfrm>
            <a:off x="9149333" y="3664593"/>
            <a:ext cx="1360940" cy="318358"/>
          </a:xfrm>
          <a:prstGeom prst="wedgeRectCallout">
            <a:avLst>
              <a:gd name="adj1" fmla="val -100909"/>
              <a:gd name="adj2" fmla="val 8407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Abstract Class</a:t>
            </a:r>
          </a:p>
        </p:txBody>
      </p:sp>
    </p:spTree>
    <p:extLst>
      <p:ext uri="{BB962C8B-B14F-4D97-AF65-F5344CB8AC3E}">
        <p14:creationId xmlns:p14="http://schemas.microsoft.com/office/powerpoint/2010/main" val="220812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  <p:bldP spid="18" grpId="0" animBg="1"/>
      <p:bldP spid="19" grpId="0" animBg="1"/>
      <p:bldP spid="22" grpId="0"/>
      <p:bldP spid="23" grpId="0"/>
      <p:bldP spid="24" grpId="0" animBg="1"/>
      <p:bldP spid="28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422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“Pure” Virtual Function – Abstract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20981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Abstract Class</a:t>
            </a:r>
            <a:r>
              <a:rPr lang="en-CA" sz="2200" dirty="0"/>
              <a:t> – </a:t>
            </a:r>
            <a:r>
              <a:rPr lang="en-CA" sz="2200" b="1" dirty="0">
                <a:solidFill>
                  <a:srgbClr val="FF0000"/>
                </a:solidFill>
              </a:rPr>
              <a:t>Incomplete</a:t>
            </a:r>
            <a:r>
              <a:rPr lang="en-CA" sz="2200" dirty="0"/>
              <a:t> Class Definition for Polymorphic Template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Used only as a </a:t>
            </a:r>
            <a:r>
              <a:rPr lang="en-CA" b="1" i="1" dirty="0"/>
              <a:t>Logical Base Class</a:t>
            </a:r>
            <a:r>
              <a:rPr lang="en-CA" dirty="0"/>
              <a:t> for categorization and behavioural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NOT intended to be used to create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 to create it then?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virtual</a:t>
            </a:r>
            <a:r>
              <a:rPr lang="en-CA" dirty="0"/>
              <a:t> keyword + </a:t>
            </a:r>
            <a:r>
              <a:rPr lang="en-CA" b="1" dirty="0">
                <a:solidFill>
                  <a:schemeClr val="accent1"/>
                </a:solidFill>
              </a:rPr>
              <a:t>“ = 0” </a:t>
            </a:r>
            <a:r>
              <a:rPr lang="en-CA" dirty="0"/>
              <a:t>at the end of the enforced methods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What would it do?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Shape</a:t>
            </a:r>
            <a:r>
              <a:rPr lang="en-CA" dirty="0"/>
              <a:t> turns into an </a:t>
            </a:r>
            <a:r>
              <a:rPr lang="en-CA" b="1" dirty="0"/>
              <a:t>abstract class </a:t>
            </a:r>
            <a:r>
              <a:rPr lang="en-CA" dirty="0"/>
              <a:t>that </a:t>
            </a:r>
            <a:r>
              <a:rPr lang="en-CA" b="1" i="1" dirty="0"/>
              <a:t>cannot be instantiated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All subclasses of Shape must implement </a:t>
            </a:r>
            <a:r>
              <a:rPr lang="en-CA" dirty="0" err="1"/>
              <a:t>getArea</a:t>
            </a:r>
            <a:r>
              <a:rPr lang="en-CA" dirty="0"/>
              <a:t>(), else they will</a:t>
            </a:r>
            <a:br>
              <a:rPr lang="en-CA" dirty="0"/>
            </a:br>
            <a:r>
              <a:rPr lang="en-CA" dirty="0"/>
              <a:t>also become abstract classes that cannot be instantiated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895D75-B32D-325E-04F6-90DE45089BC8}"/>
              </a:ext>
            </a:extLst>
          </p:cNvPr>
          <p:cNvSpPr/>
          <p:nvPr/>
        </p:nvSpPr>
        <p:spPr>
          <a:xfrm>
            <a:off x="8958362" y="2391424"/>
            <a:ext cx="1805434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i="1" dirty="0"/>
              <a:t>Shape</a:t>
            </a:r>
            <a:endParaRPr lang="en-US" sz="1400" b="1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3D7A6C-19D5-442C-C5ED-BE8A4EC5D5C4}"/>
              </a:ext>
            </a:extLst>
          </p:cNvPr>
          <p:cNvSpPr/>
          <p:nvPr/>
        </p:nvSpPr>
        <p:spPr>
          <a:xfrm>
            <a:off x="8965951" y="2716041"/>
            <a:ext cx="1794003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i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7BEC8-2D16-417F-29DA-BDA0E59233CD}"/>
              </a:ext>
            </a:extLst>
          </p:cNvPr>
          <p:cNvSpPr/>
          <p:nvPr/>
        </p:nvSpPr>
        <p:spPr>
          <a:xfrm>
            <a:off x="8631093" y="3473461"/>
            <a:ext cx="184442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Circle</a:t>
            </a:r>
            <a:endParaRPr lang="en-US" sz="1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565C61-4AD0-F385-AADC-ABF13FAD0513}"/>
              </a:ext>
            </a:extLst>
          </p:cNvPr>
          <p:cNvSpPr/>
          <p:nvPr/>
        </p:nvSpPr>
        <p:spPr>
          <a:xfrm>
            <a:off x="8638235" y="3814552"/>
            <a:ext cx="1832615" cy="33149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0413B-69A5-8C24-57E4-38D015172FEA}"/>
              </a:ext>
            </a:extLst>
          </p:cNvPr>
          <p:cNvSpPr/>
          <p:nvPr/>
        </p:nvSpPr>
        <p:spPr>
          <a:xfrm>
            <a:off x="8983942" y="4503057"/>
            <a:ext cx="1857218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Rectangle</a:t>
            </a:r>
            <a:endParaRPr lang="en-US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48B8B-5B32-9C2A-74D6-A766AA0F9E6E}"/>
              </a:ext>
            </a:extLst>
          </p:cNvPr>
          <p:cNvSpPr/>
          <p:nvPr/>
        </p:nvSpPr>
        <p:spPr>
          <a:xfrm>
            <a:off x="8988386" y="4844148"/>
            <a:ext cx="1845328" cy="331493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D9277DE-A62A-9351-E157-2FF83EC4F99E}"/>
              </a:ext>
            </a:extLst>
          </p:cNvPr>
          <p:cNvSpPr/>
          <p:nvPr/>
        </p:nvSpPr>
        <p:spPr>
          <a:xfrm>
            <a:off x="10551095" y="2993681"/>
            <a:ext cx="167880" cy="131567"/>
          </a:xfrm>
          <a:prstGeom prst="triangle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9A4428C-5CD8-D70D-2176-B86BCBC5652F}"/>
              </a:ext>
            </a:extLst>
          </p:cNvPr>
          <p:cNvSpPr/>
          <p:nvPr/>
        </p:nvSpPr>
        <p:spPr>
          <a:xfrm>
            <a:off x="9786830" y="3009590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1B71E8-400F-9522-8F73-92EB5D2B46E6}"/>
              </a:ext>
            </a:extLst>
          </p:cNvPr>
          <p:cNvCxnSpPr>
            <a:cxnSpLocks/>
          </p:cNvCxnSpPr>
          <p:nvPr/>
        </p:nvCxnSpPr>
        <p:spPr>
          <a:xfrm>
            <a:off x="9870770" y="3149866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6FFE5B-5CAB-0889-F030-7AB54B0D8D23}"/>
              </a:ext>
            </a:extLst>
          </p:cNvPr>
          <p:cNvCxnSpPr>
            <a:cxnSpLocks/>
          </p:cNvCxnSpPr>
          <p:nvPr/>
        </p:nvCxnSpPr>
        <p:spPr>
          <a:xfrm>
            <a:off x="10629473" y="3135043"/>
            <a:ext cx="0" cy="1368014"/>
          </a:xfrm>
          <a:prstGeom prst="lin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0A5DC9A-754B-9666-2CFA-6849C86BEA26}"/>
              </a:ext>
            </a:extLst>
          </p:cNvPr>
          <p:cNvSpPr txBox="1"/>
          <p:nvPr/>
        </p:nvSpPr>
        <p:spPr>
          <a:xfrm>
            <a:off x="9162801" y="3178153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CE6D89-EB9F-2A89-2980-9AB5A3A8BBBB}"/>
              </a:ext>
            </a:extLst>
          </p:cNvPr>
          <p:cNvSpPr txBox="1"/>
          <p:nvPr/>
        </p:nvSpPr>
        <p:spPr>
          <a:xfrm>
            <a:off x="9884256" y="4187319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1F1F"/>
                </a:solidFill>
              </a:rPr>
              <a:t>extends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5E05FE-C333-01BD-DD4D-35AA0B35B68F}"/>
              </a:ext>
            </a:extLst>
          </p:cNvPr>
          <p:cNvSpPr txBox="1"/>
          <p:nvPr/>
        </p:nvSpPr>
        <p:spPr>
          <a:xfrm>
            <a:off x="2172749" y="3379519"/>
            <a:ext cx="3804634" cy="98488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virtual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F2110ECF-B2B8-5C08-9802-9B493A581208}"/>
              </a:ext>
            </a:extLst>
          </p:cNvPr>
          <p:cNvSpPr/>
          <p:nvPr/>
        </p:nvSpPr>
        <p:spPr>
          <a:xfrm>
            <a:off x="5751539" y="4228827"/>
            <a:ext cx="2102061" cy="318358"/>
          </a:xfrm>
          <a:prstGeom prst="wedgeRectCallout">
            <a:avLst>
              <a:gd name="adj1" fmla="val -74033"/>
              <a:gd name="adj2" fmla="val -6637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Pure Virtual Function</a:t>
            </a:r>
          </a:p>
        </p:txBody>
      </p:sp>
    </p:spTree>
    <p:extLst>
      <p:ext uri="{BB962C8B-B14F-4D97-AF65-F5344CB8AC3E}">
        <p14:creationId xmlns:p14="http://schemas.microsoft.com/office/powerpoint/2010/main" val="230233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0" grpId="1" animBg="1"/>
      <p:bldP spid="11" grpId="0" animBg="1"/>
      <p:bldP spid="12" grpId="0" animBg="1"/>
      <p:bldP spid="12" grpId="1" animBg="1"/>
      <p:bldP spid="18" grpId="0" animBg="1"/>
      <p:bldP spid="19" grpId="0" animBg="1"/>
      <p:bldP spid="22" grpId="0"/>
      <p:bldP spid="23" grpId="0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422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Pure Virtual Function –  Abstract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20981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Abstract Class</a:t>
            </a:r>
            <a:r>
              <a:rPr lang="en-CA" sz="2200" dirty="0"/>
              <a:t> – </a:t>
            </a:r>
            <a:r>
              <a:rPr lang="en-CA" sz="2200" b="1" dirty="0">
                <a:solidFill>
                  <a:srgbClr val="FF0000"/>
                </a:solidFill>
              </a:rPr>
              <a:t>Incomplete</a:t>
            </a:r>
            <a:r>
              <a:rPr lang="en-CA" sz="2200" dirty="0"/>
              <a:t> Class Definition for Polymorphic Template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Used only as a </a:t>
            </a:r>
            <a:r>
              <a:rPr lang="en-CA" b="1" i="1" dirty="0"/>
              <a:t>Logical Base Class</a:t>
            </a:r>
            <a:r>
              <a:rPr lang="en-CA" dirty="0"/>
              <a:t> for categorization and behavioural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FF"/>
                </a:solidFill>
              </a:rPr>
              <a:t>Cannot be instantiated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FF"/>
                </a:solidFill>
              </a:rPr>
              <a:t>Its subclasses are also abstract unless implementing the pure virtual function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895D75-B32D-325E-04F6-90DE45089BC8}"/>
              </a:ext>
            </a:extLst>
          </p:cNvPr>
          <p:cNvSpPr/>
          <p:nvPr/>
        </p:nvSpPr>
        <p:spPr>
          <a:xfrm>
            <a:off x="9208849" y="2980727"/>
            <a:ext cx="1805434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i="1" dirty="0"/>
              <a:t>Shape</a:t>
            </a:r>
            <a:endParaRPr lang="en-US" sz="1400" b="1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3D7A6C-19D5-442C-C5ED-BE8A4EC5D5C4}"/>
              </a:ext>
            </a:extLst>
          </p:cNvPr>
          <p:cNvSpPr/>
          <p:nvPr/>
        </p:nvSpPr>
        <p:spPr>
          <a:xfrm>
            <a:off x="9216438" y="3305344"/>
            <a:ext cx="1794003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i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7BEC8-2D16-417F-29DA-BDA0E59233CD}"/>
              </a:ext>
            </a:extLst>
          </p:cNvPr>
          <p:cNvSpPr/>
          <p:nvPr/>
        </p:nvSpPr>
        <p:spPr>
          <a:xfrm>
            <a:off x="8881580" y="4062764"/>
            <a:ext cx="184442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Circle</a:t>
            </a:r>
            <a:endParaRPr lang="en-US" sz="1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565C61-4AD0-F385-AADC-ABF13FAD0513}"/>
              </a:ext>
            </a:extLst>
          </p:cNvPr>
          <p:cNvSpPr/>
          <p:nvPr/>
        </p:nvSpPr>
        <p:spPr>
          <a:xfrm>
            <a:off x="8888722" y="4403855"/>
            <a:ext cx="1832615" cy="33149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0413B-69A5-8C24-57E4-38D015172FEA}"/>
              </a:ext>
            </a:extLst>
          </p:cNvPr>
          <p:cNvSpPr/>
          <p:nvPr/>
        </p:nvSpPr>
        <p:spPr>
          <a:xfrm>
            <a:off x="9234429" y="5092360"/>
            <a:ext cx="1857218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Rectangle</a:t>
            </a:r>
            <a:endParaRPr lang="en-US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48B8B-5B32-9C2A-74D6-A766AA0F9E6E}"/>
              </a:ext>
            </a:extLst>
          </p:cNvPr>
          <p:cNvSpPr/>
          <p:nvPr/>
        </p:nvSpPr>
        <p:spPr>
          <a:xfrm>
            <a:off x="9238873" y="5433451"/>
            <a:ext cx="1845328" cy="331493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D9277DE-A62A-9351-E157-2FF83EC4F99E}"/>
              </a:ext>
            </a:extLst>
          </p:cNvPr>
          <p:cNvSpPr/>
          <p:nvPr/>
        </p:nvSpPr>
        <p:spPr>
          <a:xfrm>
            <a:off x="10801582" y="3582984"/>
            <a:ext cx="167880" cy="131567"/>
          </a:xfrm>
          <a:prstGeom prst="triangle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9A4428C-5CD8-D70D-2176-B86BCBC5652F}"/>
              </a:ext>
            </a:extLst>
          </p:cNvPr>
          <p:cNvSpPr/>
          <p:nvPr/>
        </p:nvSpPr>
        <p:spPr>
          <a:xfrm>
            <a:off x="10037317" y="3598893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1B71E8-400F-9522-8F73-92EB5D2B46E6}"/>
              </a:ext>
            </a:extLst>
          </p:cNvPr>
          <p:cNvCxnSpPr>
            <a:cxnSpLocks/>
          </p:cNvCxnSpPr>
          <p:nvPr/>
        </p:nvCxnSpPr>
        <p:spPr>
          <a:xfrm>
            <a:off x="10121257" y="3739169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6FFE5B-5CAB-0889-F030-7AB54B0D8D23}"/>
              </a:ext>
            </a:extLst>
          </p:cNvPr>
          <p:cNvCxnSpPr>
            <a:cxnSpLocks/>
          </p:cNvCxnSpPr>
          <p:nvPr/>
        </p:nvCxnSpPr>
        <p:spPr>
          <a:xfrm>
            <a:off x="10879960" y="3724346"/>
            <a:ext cx="0" cy="1368014"/>
          </a:xfrm>
          <a:prstGeom prst="lin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0A5DC9A-754B-9666-2CFA-6849C86BEA26}"/>
              </a:ext>
            </a:extLst>
          </p:cNvPr>
          <p:cNvSpPr txBox="1"/>
          <p:nvPr/>
        </p:nvSpPr>
        <p:spPr>
          <a:xfrm>
            <a:off x="9413288" y="3767456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CE6D89-EB9F-2A89-2980-9AB5A3A8BBBB}"/>
              </a:ext>
            </a:extLst>
          </p:cNvPr>
          <p:cNvSpPr txBox="1"/>
          <p:nvPr/>
        </p:nvSpPr>
        <p:spPr>
          <a:xfrm>
            <a:off x="10134743" y="4776622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1F1F"/>
                </a:solidFill>
              </a:rPr>
              <a:t>extends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5E05FE-C333-01BD-DD4D-35AA0B35B68F}"/>
              </a:ext>
            </a:extLst>
          </p:cNvPr>
          <p:cNvSpPr txBox="1"/>
          <p:nvPr/>
        </p:nvSpPr>
        <p:spPr>
          <a:xfrm>
            <a:off x="1785841" y="3096415"/>
            <a:ext cx="3804634" cy="98488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virtual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50B99-CEF5-73D1-779A-25392C182031}"/>
              </a:ext>
            </a:extLst>
          </p:cNvPr>
          <p:cNvSpPr txBox="1"/>
          <p:nvPr/>
        </p:nvSpPr>
        <p:spPr>
          <a:xfrm>
            <a:off x="1787785" y="4163994"/>
            <a:ext cx="3804634" cy="1200329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Shape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virtual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{ return PI * r * r; }       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AA6E10-3908-3FC0-99B8-75D39ED35B3A}"/>
              </a:ext>
            </a:extLst>
          </p:cNvPr>
          <p:cNvSpPr txBox="1"/>
          <p:nvPr/>
        </p:nvSpPr>
        <p:spPr>
          <a:xfrm>
            <a:off x="5993344" y="3230649"/>
            <a:ext cx="2419300" cy="1954381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Circle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c(3.0); </a:t>
            </a:r>
          </a:p>
          <a:p>
            <a:r>
              <a:rPr lang="fr-FR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FR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OK, not abstract</a:t>
            </a:r>
          </a:p>
          <a:p>
            <a:endParaRPr lang="fr-FR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s; 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FR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GOOD, Abstract!!</a:t>
            </a:r>
            <a:endParaRPr lang="en-US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C67C2099-8B11-C1FD-9216-39D8646F1253}"/>
              </a:ext>
            </a:extLst>
          </p:cNvPr>
          <p:cNvSpPr/>
          <p:nvPr/>
        </p:nvSpPr>
        <p:spPr>
          <a:xfrm>
            <a:off x="4222206" y="5373888"/>
            <a:ext cx="3027680" cy="517187"/>
          </a:xfrm>
          <a:prstGeom prst="wedgeRectCallout">
            <a:avLst>
              <a:gd name="adj1" fmla="val -41447"/>
              <a:gd name="adj2" fmla="val -9730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rgbClr val="FF0000"/>
                </a:solidFill>
              </a:rPr>
              <a:t>NOT</a:t>
            </a:r>
            <a:r>
              <a:rPr lang="en-CA" sz="1600" b="1" dirty="0">
                <a:solidFill>
                  <a:schemeClr val="tx1"/>
                </a:solidFill>
              </a:rPr>
              <a:t> Pure Virtual Function</a:t>
            </a:r>
          </a:p>
          <a:p>
            <a:r>
              <a:rPr lang="en-CA" sz="1600" b="1" dirty="0">
                <a:solidFill>
                  <a:schemeClr val="tx1"/>
                </a:solidFill>
              </a:rPr>
              <a:t>Circle is a regular (Concrete) class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C6BF8CF1-EEBB-A3D6-66F2-BE7822963A10}"/>
              </a:ext>
            </a:extLst>
          </p:cNvPr>
          <p:cNvSpPr/>
          <p:nvPr/>
        </p:nvSpPr>
        <p:spPr>
          <a:xfrm>
            <a:off x="3259909" y="2915109"/>
            <a:ext cx="2419299" cy="517187"/>
          </a:xfrm>
          <a:prstGeom prst="wedgeRectCallout">
            <a:avLst>
              <a:gd name="adj1" fmla="val -6171"/>
              <a:gd name="adj2" fmla="val 9297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Pure Virtual Function</a:t>
            </a:r>
          </a:p>
          <a:p>
            <a:r>
              <a:rPr lang="en-CA" sz="1600" b="1" dirty="0">
                <a:solidFill>
                  <a:schemeClr val="tx1"/>
                </a:solidFill>
              </a:rPr>
              <a:t>Shape is an abstract class</a:t>
            </a:r>
          </a:p>
        </p:txBody>
      </p:sp>
    </p:spTree>
    <p:extLst>
      <p:ext uri="{BB962C8B-B14F-4D97-AF65-F5344CB8AC3E}">
        <p14:creationId xmlns:p14="http://schemas.microsoft.com/office/powerpoint/2010/main" val="348865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422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Pure Virtual Function –  Abstract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20981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Abstract Class</a:t>
            </a:r>
            <a:r>
              <a:rPr lang="en-CA" sz="2200" dirty="0"/>
              <a:t> – </a:t>
            </a:r>
            <a:r>
              <a:rPr lang="en-CA" sz="2200" b="1" dirty="0">
                <a:solidFill>
                  <a:srgbClr val="FF0000"/>
                </a:solidFill>
              </a:rPr>
              <a:t>Incomplete</a:t>
            </a:r>
            <a:r>
              <a:rPr lang="en-CA" sz="2200" dirty="0"/>
              <a:t> Class Definition for Polymorphic Template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Used only as a </a:t>
            </a:r>
            <a:r>
              <a:rPr lang="en-CA" b="1" i="1" dirty="0"/>
              <a:t>Logical Base Class</a:t>
            </a:r>
            <a:r>
              <a:rPr lang="en-CA" dirty="0"/>
              <a:t> for categorization and behavioural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Cannot be instantiated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Its subclasses are also abstract unless implementing the pure virtual function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895D75-B32D-325E-04F6-90DE45089BC8}"/>
              </a:ext>
            </a:extLst>
          </p:cNvPr>
          <p:cNvSpPr/>
          <p:nvPr/>
        </p:nvSpPr>
        <p:spPr>
          <a:xfrm>
            <a:off x="9208849" y="2980727"/>
            <a:ext cx="1805434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i="1" dirty="0"/>
              <a:t>Shape</a:t>
            </a:r>
            <a:endParaRPr lang="en-US" sz="1400" b="1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3D7A6C-19D5-442C-C5ED-BE8A4EC5D5C4}"/>
              </a:ext>
            </a:extLst>
          </p:cNvPr>
          <p:cNvSpPr/>
          <p:nvPr/>
        </p:nvSpPr>
        <p:spPr>
          <a:xfrm>
            <a:off x="9216438" y="3305344"/>
            <a:ext cx="1794003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i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7BEC8-2D16-417F-29DA-BDA0E59233CD}"/>
              </a:ext>
            </a:extLst>
          </p:cNvPr>
          <p:cNvSpPr/>
          <p:nvPr/>
        </p:nvSpPr>
        <p:spPr>
          <a:xfrm>
            <a:off x="8881580" y="4062764"/>
            <a:ext cx="184442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Circle</a:t>
            </a:r>
            <a:endParaRPr lang="en-US" sz="1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565C61-4AD0-F385-AADC-ABF13FAD0513}"/>
              </a:ext>
            </a:extLst>
          </p:cNvPr>
          <p:cNvSpPr/>
          <p:nvPr/>
        </p:nvSpPr>
        <p:spPr>
          <a:xfrm>
            <a:off x="8888722" y="4403855"/>
            <a:ext cx="1832615" cy="33149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0413B-69A5-8C24-57E4-38D015172FEA}"/>
              </a:ext>
            </a:extLst>
          </p:cNvPr>
          <p:cNvSpPr/>
          <p:nvPr/>
        </p:nvSpPr>
        <p:spPr>
          <a:xfrm>
            <a:off x="9234429" y="5092360"/>
            <a:ext cx="1857218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i="1" dirty="0"/>
              <a:t>Rectangle</a:t>
            </a:r>
            <a:endParaRPr lang="en-US" sz="1400" b="1" i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48B8B-5B32-9C2A-74D6-A766AA0F9E6E}"/>
              </a:ext>
            </a:extLst>
          </p:cNvPr>
          <p:cNvSpPr/>
          <p:nvPr/>
        </p:nvSpPr>
        <p:spPr>
          <a:xfrm>
            <a:off x="9238873" y="5433451"/>
            <a:ext cx="1845328" cy="331493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i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D9277DE-A62A-9351-E157-2FF83EC4F99E}"/>
              </a:ext>
            </a:extLst>
          </p:cNvPr>
          <p:cNvSpPr/>
          <p:nvPr/>
        </p:nvSpPr>
        <p:spPr>
          <a:xfrm>
            <a:off x="10801582" y="3582984"/>
            <a:ext cx="167880" cy="131567"/>
          </a:xfrm>
          <a:prstGeom prst="triangle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9A4428C-5CD8-D70D-2176-B86BCBC5652F}"/>
              </a:ext>
            </a:extLst>
          </p:cNvPr>
          <p:cNvSpPr/>
          <p:nvPr/>
        </p:nvSpPr>
        <p:spPr>
          <a:xfrm>
            <a:off x="10037317" y="3598893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1B71E8-400F-9522-8F73-92EB5D2B46E6}"/>
              </a:ext>
            </a:extLst>
          </p:cNvPr>
          <p:cNvCxnSpPr>
            <a:cxnSpLocks/>
          </p:cNvCxnSpPr>
          <p:nvPr/>
        </p:nvCxnSpPr>
        <p:spPr>
          <a:xfrm>
            <a:off x="10121257" y="3739169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6FFE5B-5CAB-0889-F030-7AB54B0D8D23}"/>
              </a:ext>
            </a:extLst>
          </p:cNvPr>
          <p:cNvCxnSpPr>
            <a:cxnSpLocks/>
          </p:cNvCxnSpPr>
          <p:nvPr/>
        </p:nvCxnSpPr>
        <p:spPr>
          <a:xfrm>
            <a:off x="10879960" y="3724346"/>
            <a:ext cx="0" cy="1368014"/>
          </a:xfrm>
          <a:prstGeom prst="lin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0A5DC9A-754B-9666-2CFA-6849C86BEA26}"/>
              </a:ext>
            </a:extLst>
          </p:cNvPr>
          <p:cNvSpPr txBox="1"/>
          <p:nvPr/>
        </p:nvSpPr>
        <p:spPr>
          <a:xfrm>
            <a:off x="9413288" y="3767456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CE6D89-EB9F-2A89-2980-9AB5A3A8BBBB}"/>
              </a:ext>
            </a:extLst>
          </p:cNvPr>
          <p:cNvSpPr txBox="1"/>
          <p:nvPr/>
        </p:nvSpPr>
        <p:spPr>
          <a:xfrm>
            <a:off x="10134743" y="4776622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1F1F"/>
                </a:solidFill>
              </a:rPr>
              <a:t>extends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5E05FE-C333-01BD-DD4D-35AA0B35B68F}"/>
              </a:ext>
            </a:extLst>
          </p:cNvPr>
          <p:cNvSpPr txBox="1"/>
          <p:nvPr/>
        </p:nvSpPr>
        <p:spPr>
          <a:xfrm>
            <a:off x="1785841" y="3096415"/>
            <a:ext cx="3804634" cy="98488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virtual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50B99-CEF5-73D1-779A-25392C182031}"/>
              </a:ext>
            </a:extLst>
          </p:cNvPr>
          <p:cNvSpPr txBox="1"/>
          <p:nvPr/>
        </p:nvSpPr>
        <p:spPr>
          <a:xfrm>
            <a:off x="1787785" y="4163994"/>
            <a:ext cx="3804634" cy="1107996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Shape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Does not override </a:t>
            </a:r>
            <a:r>
              <a:rPr lang="en-CA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CA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with</a:t>
            </a:r>
          </a:p>
          <a:p>
            <a:r>
              <a:rPr lang="en-CA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implementation</a:t>
            </a:r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AA6E10-3908-3FC0-99B8-75D39ED35B3A}"/>
              </a:ext>
            </a:extLst>
          </p:cNvPr>
          <p:cNvSpPr txBox="1"/>
          <p:nvPr/>
        </p:nvSpPr>
        <p:spPr>
          <a:xfrm>
            <a:off x="5993344" y="3230649"/>
            <a:ext cx="2419300" cy="1954381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Rectangle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r(4.0, 4.5); 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FR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GOOD, Abstract!!</a:t>
            </a:r>
          </a:p>
          <a:p>
            <a:endParaRPr lang="fr-FR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s; 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FR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GOOD, Abstract!!</a:t>
            </a:r>
            <a:endParaRPr lang="en-US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C6BF8CF1-EEBB-A3D6-66F2-BE7822963A10}"/>
              </a:ext>
            </a:extLst>
          </p:cNvPr>
          <p:cNvSpPr/>
          <p:nvPr/>
        </p:nvSpPr>
        <p:spPr>
          <a:xfrm>
            <a:off x="2098767" y="5209024"/>
            <a:ext cx="3543890" cy="517187"/>
          </a:xfrm>
          <a:prstGeom prst="wedgeRectCallout">
            <a:avLst>
              <a:gd name="adj1" fmla="val -12069"/>
              <a:gd name="adj2" fmla="val -7709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 err="1">
                <a:solidFill>
                  <a:schemeClr val="tx1"/>
                </a:solidFill>
              </a:rPr>
              <a:t>getArea</a:t>
            </a:r>
            <a:r>
              <a:rPr lang="en-CA" sz="1600" b="1" dirty="0">
                <a:solidFill>
                  <a:schemeClr val="tx1"/>
                </a:solidFill>
              </a:rPr>
              <a:t>() remains Pure Virtual Function</a:t>
            </a:r>
          </a:p>
          <a:p>
            <a:r>
              <a:rPr lang="en-CA" sz="1600" b="1" dirty="0">
                <a:solidFill>
                  <a:schemeClr val="tx1"/>
                </a:solidFill>
              </a:rPr>
              <a:t>Rectangle is </a:t>
            </a:r>
            <a:r>
              <a:rPr lang="en-CA" sz="1600" b="1" dirty="0">
                <a:solidFill>
                  <a:srgbClr val="FF0000"/>
                </a:solidFill>
              </a:rPr>
              <a:t>ALSO</a:t>
            </a:r>
            <a:r>
              <a:rPr lang="en-CA" sz="1600" b="1" dirty="0">
                <a:solidFill>
                  <a:schemeClr val="tx1"/>
                </a:solidFill>
              </a:rPr>
              <a:t> an abstract class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1D2BB3-2D9A-CF24-F35C-2F4D9412D049}"/>
              </a:ext>
            </a:extLst>
          </p:cNvPr>
          <p:cNvSpPr/>
          <p:nvPr/>
        </p:nvSpPr>
        <p:spPr>
          <a:xfrm>
            <a:off x="8995954" y="2322254"/>
            <a:ext cx="2292297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L16Ex5a-Abstract.cpp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11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5" grpId="0" animBg="1"/>
      <p:bldP spid="17" grpId="0" animBg="1"/>
      <p:bldP spid="2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7413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Pure Virtual Function –  Abstract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20981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Abstract Class</a:t>
            </a:r>
            <a:r>
              <a:rPr lang="en-CA" sz="2200" dirty="0"/>
              <a:t> – </a:t>
            </a:r>
            <a:r>
              <a:rPr lang="en-CA" sz="2200" b="1" dirty="0">
                <a:solidFill>
                  <a:srgbClr val="FF0000"/>
                </a:solidFill>
              </a:rPr>
              <a:t>Incomplete</a:t>
            </a:r>
            <a:r>
              <a:rPr lang="en-CA" sz="2200" dirty="0"/>
              <a:t> Class Definition for Polymorphic Template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Used only as a </a:t>
            </a:r>
            <a:r>
              <a:rPr lang="en-CA" b="1" i="1" dirty="0"/>
              <a:t>Logical Base Class</a:t>
            </a:r>
            <a:r>
              <a:rPr lang="en-CA" dirty="0"/>
              <a:t> for categorization and behavioural enforcement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Cannot be instantiated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Its subclasses are also abstract unless implementing the pure virtual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provide implementation for pure virtual function for sharing codes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895D75-B32D-325E-04F6-90DE45089BC8}"/>
              </a:ext>
            </a:extLst>
          </p:cNvPr>
          <p:cNvSpPr/>
          <p:nvPr/>
        </p:nvSpPr>
        <p:spPr>
          <a:xfrm>
            <a:off x="9208849" y="2980727"/>
            <a:ext cx="1805434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i="1" dirty="0"/>
              <a:t>Shape</a:t>
            </a:r>
            <a:endParaRPr lang="en-US" sz="1400" b="1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3D7A6C-19D5-442C-C5ED-BE8A4EC5D5C4}"/>
              </a:ext>
            </a:extLst>
          </p:cNvPr>
          <p:cNvSpPr/>
          <p:nvPr/>
        </p:nvSpPr>
        <p:spPr>
          <a:xfrm>
            <a:off x="9216438" y="3305344"/>
            <a:ext cx="1794003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i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7BEC8-2D16-417F-29DA-BDA0E59233CD}"/>
              </a:ext>
            </a:extLst>
          </p:cNvPr>
          <p:cNvSpPr/>
          <p:nvPr/>
        </p:nvSpPr>
        <p:spPr>
          <a:xfrm>
            <a:off x="8881580" y="4062764"/>
            <a:ext cx="184442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Circle</a:t>
            </a:r>
            <a:endParaRPr lang="en-US" sz="1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565C61-4AD0-F385-AADC-ABF13FAD0513}"/>
              </a:ext>
            </a:extLst>
          </p:cNvPr>
          <p:cNvSpPr/>
          <p:nvPr/>
        </p:nvSpPr>
        <p:spPr>
          <a:xfrm>
            <a:off x="8888722" y="4403855"/>
            <a:ext cx="1832615" cy="33149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0413B-69A5-8C24-57E4-38D015172FEA}"/>
              </a:ext>
            </a:extLst>
          </p:cNvPr>
          <p:cNvSpPr/>
          <p:nvPr/>
        </p:nvSpPr>
        <p:spPr>
          <a:xfrm>
            <a:off x="9234429" y="5092360"/>
            <a:ext cx="1857218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i="1" dirty="0"/>
              <a:t>Rectangle</a:t>
            </a:r>
            <a:endParaRPr lang="en-US" sz="1400" b="1" i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48B8B-5B32-9C2A-74D6-A766AA0F9E6E}"/>
              </a:ext>
            </a:extLst>
          </p:cNvPr>
          <p:cNvSpPr/>
          <p:nvPr/>
        </p:nvSpPr>
        <p:spPr>
          <a:xfrm>
            <a:off x="9238873" y="5433451"/>
            <a:ext cx="1845328" cy="331493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double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D9277DE-A62A-9351-E157-2FF83EC4F99E}"/>
              </a:ext>
            </a:extLst>
          </p:cNvPr>
          <p:cNvSpPr/>
          <p:nvPr/>
        </p:nvSpPr>
        <p:spPr>
          <a:xfrm>
            <a:off x="10801582" y="3582984"/>
            <a:ext cx="167880" cy="131567"/>
          </a:xfrm>
          <a:prstGeom prst="triangle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9A4428C-5CD8-D70D-2176-B86BCBC5652F}"/>
              </a:ext>
            </a:extLst>
          </p:cNvPr>
          <p:cNvSpPr/>
          <p:nvPr/>
        </p:nvSpPr>
        <p:spPr>
          <a:xfrm>
            <a:off x="10037317" y="3598893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1B71E8-400F-9522-8F73-92EB5D2B46E6}"/>
              </a:ext>
            </a:extLst>
          </p:cNvPr>
          <p:cNvCxnSpPr>
            <a:cxnSpLocks/>
          </p:cNvCxnSpPr>
          <p:nvPr/>
        </p:nvCxnSpPr>
        <p:spPr>
          <a:xfrm>
            <a:off x="10121257" y="3739169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6FFE5B-5CAB-0889-F030-7AB54B0D8D23}"/>
              </a:ext>
            </a:extLst>
          </p:cNvPr>
          <p:cNvCxnSpPr>
            <a:cxnSpLocks/>
          </p:cNvCxnSpPr>
          <p:nvPr/>
        </p:nvCxnSpPr>
        <p:spPr>
          <a:xfrm>
            <a:off x="10879960" y="3724346"/>
            <a:ext cx="0" cy="1368014"/>
          </a:xfrm>
          <a:prstGeom prst="lin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0A5DC9A-754B-9666-2CFA-6849C86BEA26}"/>
              </a:ext>
            </a:extLst>
          </p:cNvPr>
          <p:cNvSpPr txBox="1"/>
          <p:nvPr/>
        </p:nvSpPr>
        <p:spPr>
          <a:xfrm>
            <a:off x="9413288" y="3767456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CE6D89-EB9F-2A89-2980-9AB5A3A8BBBB}"/>
              </a:ext>
            </a:extLst>
          </p:cNvPr>
          <p:cNvSpPr txBox="1"/>
          <p:nvPr/>
        </p:nvSpPr>
        <p:spPr>
          <a:xfrm>
            <a:off x="10134743" y="4776622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1F1F"/>
                </a:solidFill>
              </a:rPr>
              <a:t>extends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5E05FE-C333-01BD-DD4D-35AA0B35B68F}"/>
              </a:ext>
            </a:extLst>
          </p:cNvPr>
          <p:cNvSpPr txBox="1"/>
          <p:nvPr/>
        </p:nvSpPr>
        <p:spPr>
          <a:xfrm>
            <a:off x="1177717" y="3169232"/>
            <a:ext cx="3804634" cy="98488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virtual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AA6E10-3908-3FC0-99B8-75D39ED35B3A}"/>
              </a:ext>
            </a:extLst>
          </p:cNvPr>
          <p:cNvSpPr txBox="1"/>
          <p:nvPr/>
        </p:nvSpPr>
        <p:spPr>
          <a:xfrm>
            <a:off x="5809311" y="3380916"/>
            <a:ext cx="2419300" cy="1954381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fr-FR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All OK!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Circle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c(3.0); </a:t>
            </a:r>
          </a:p>
          <a:p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cout &lt;&lt; 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c.getArea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fr-FR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s; 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FR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GOOD, Abstract!!</a:t>
            </a:r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8AA154-898B-F44E-F430-8B96A858054F}"/>
              </a:ext>
            </a:extLst>
          </p:cNvPr>
          <p:cNvSpPr txBox="1"/>
          <p:nvPr/>
        </p:nvSpPr>
        <p:spPr>
          <a:xfrm>
            <a:off x="1168941" y="4289138"/>
            <a:ext cx="3804634" cy="1415772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Shape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{ </a:t>
            </a:r>
            <a:r>
              <a:rPr lang="en-US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return PI * r * r; }       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52C900-D19C-5C8E-76B6-AAABFFCF73A6}"/>
              </a:ext>
            </a:extLst>
          </p:cNvPr>
          <p:cNvSpPr txBox="1"/>
          <p:nvPr/>
        </p:nvSpPr>
        <p:spPr>
          <a:xfrm>
            <a:off x="2747635" y="3089900"/>
            <a:ext cx="2728629" cy="6001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Shape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“Shape Area is: ”;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0.0; }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D631DE-C243-3AB4-3B9B-8E8B397642F8}"/>
              </a:ext>
            </a:extLst>
          </p:cNvPr>
          <p:cNvSpPr/>
          <p:nvPr/>
        </p:nvSpPr>
        <p:spPr>
          <a:xfrm>
            <a:off x="9004663" y="2322254"/>
            <a:ext cx="2283588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L16Ex5b-Abstract.cpp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41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7" grpId="0" animBg="1"/>
      <p:bldP spid="15" grpId="0" animBg="1"/>
      <p:bldP spid="16" grpId="0" animBg="1"/>
      <p:bldP spid="16" grpId="1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422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 for Abstract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6816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Abstract Class</a:t>
            </a:r>
            <a:r>
              <a:rPr lang="en-CA" sz="2200" dirty="0"/>
              <a:t> – </a:t>
            </a:r>
            <a:r>
              <a:rPr lang="en-CA" sz="2200" b="1" dirty="0">
                <a:solidFill>
                  <a:srgbClr val="FF0000"/>
                </a:solidFill>
              </a:rPr>
              <a:t>Incomplete </a:t>
            </a:r>
            <a:r>
              <a:rPr lang="en-CA" sz="2200" dirty="0"/>
              <a:t>Logical Base Class, cannot be instantiated… but WHY??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FF"/>
                </a:solidFill>
              </a:rPr>
              <a:t>Eliminate the chance of misusing incomplete logical base class as a completed physical base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Consider the following two logical classes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Both with incomplete implementation, intended for enforcing </a:t>
            </a:r>
            <a:r>
              <a:rPr lang="en-CA" dirty="0" err="1"/>
              <a:t>getArea</a:t>
            </a:r>
            <a:r>
              <a:rPr lang="en-CA" dirty="0"/>
              <a:t>() on subclasses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CC8B2-0D57-8DC1-0D16-A0CA72577832}"/>
              </a:ext>
            </a:extLst>
          </p:cNvPr>
          <p:cNvSpPr txBox="1"/>
          <p:nvPr/>
        </p:nvSpPr>
        <p:spPr>
          <a:xfrm>
            <a:off x="1611669" y="3240711"/>
            <a:ext cx="3352216" cy="98488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AbstractShape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virtual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68E0D2-52FB-F219-D011-1DE84DD04817}"/>
              </a:ext>
            </a:extLst>
          </p:cNvPr>
          <p:cNvSpPr txBox="1"/>
          <p:nvPr/>
        </p:nvSpPr>
        <p:spPr>
          <a:xfrm>
            <a:off x="1611669" y="4437691"/>
            <a:ext cx="3352216" cy="98488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VirtualShape</a:t>
            </a:r>
            <a:endParaRPr lang="en-US" sz="11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virtual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FF27DD14-F3F8-6F6A-E50D-D1B7EA6FB4CA}"/>
              </a:ext>
            </a:extLst>
          </p:cNvPr>
          <p:cNvSpPr/>
          <p:nvPr/>
        </p:nvSpPr>
        <p:spPr>
          <a:xfrm>
            <a:off x="4750525" y="4054650"/>
            <a:ext cx="1976846" cy="517187"/>
          </a:xfrm>
          <a:prstGeom prst="wedgeRectCallout">
            <a:avLst>
              <a:gd name="adj1" fmla="val -41109"/>
              <a:gd name="adj2" fmla="val -8383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Pure Virtual Function</a:t>
            </a:r>
          </a:p>
          <a:p>
            <a:r>
              <a:rPr lang="en-CA" sz="1600" b="1" dirty="0">
                <a:solidFill>
                  <a:schemeClr val="tx1"/>
                </a:solidFill>
              </a:rPr>
              <a:t>Abstract Class</a:t>
            </a: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F0C1833E-E53C-C8FE-D724-B219E9119174}"/>
              </a:ext>
            </a:extLst>
          </p:cNvPr>
          <p:cNvSpPr/>
          <p:nvPr/>
        </p:nvSpPr>
        <p:spPr>
          <a:xfrm>
            <a:off x="2081639" y="5310493"/>
            <a:ext cx="3657309" cy="517187"/>
          </a:xfrm>
          <a:prstGeom prst="wedgeRectCallout">
            <a:avLst>
              <a:gd name="adj1" fmla="val -456"/>
              <a:gd name="adj2" fmla="val -7372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Virtual Function with no implementation</a:t>
            </a:r>
          </a:p>
          <a:p>
            <a:r>
              <a:rPr lang="en-CA" sz="1600" b="1" dirty="0">
                <a:solidFill>
                  <a:schemeClr val="tx1"/>
                </a:solidFill>
              </a:rPr>
              <a:t>Concrete Class (opposite of Abstract)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FD065E-6F5C-7E8A-F7F2-9980B4C38B1B}"/>
              </a:ext>
            </a:extLst>
          </p:cNvPr>
          <p:cNvSpPr txBox="1"/>
          <p:nvPr/>
        </p:nvSpPr>
        <p:spPr>
          <a:xfrm>
            <a:off x="7054232" y="3474526"/>
            <a:ext cx="3526099" cy="2292935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FR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AbstractShape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s1; </a:t>
            </a:r>
          </a:p>
          <a:p>
            <a:r>
              <a:rPr lang="fr-FR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FR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GOOD, Abstract!!</a:t>
            </a:r>
            <a:endParaRPr lang="fr-FR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FR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VirtualShape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s2; 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OK, not abstract...</a:t>
            </a:r>
          </a:p>
          <a:p>
            <a:r>
              <a:rPr lang="en-CA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… but pointless and error-prone</a:t>
            </a:r>
          </a:p>
          <a:p>
            <a:r>
              <a:rPr lang="en-CA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because the class is incomplete</a:t>
            </a:r>
            <a:endParaRPr lang="en-US" sz="11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2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9086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Pure Virtual Function and Abstract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79841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Pure Virtual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Great for explicitly enforcing the abstractness of a class by syntax support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Tells both the programmer and the compiler how the Abstract Class is intended to be used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contain partial implementation to provide common code in the subclass implementations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Abstract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Great for syntactically enforcing common features among subclasses without a complete definition of the abstract class itself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Organizational Convenience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Keep common codes as close as possible to the root of your OOD hierarchy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9057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8922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Polymorphism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An inheritance-based C++ feature enabling generalized algorithms to be carried out on a base class, but at the same time applicable to all the subclasses with similar but specialized behaviours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Requires dynamic binding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Need Virtual Function + Pass by Reference / Pointer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28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OOD Summary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Advanced OOD Topics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Multiple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Template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Will be delivered based on time availability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29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60542</TotalTime>
  <Words>4102</Words>
  <Application>Microsoft Office PowerPoint</Application>
  <PresentationFormat>Widescreen</PresentationFormat>
  <Paragraphs>831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Algerian</vt:lpstr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PowerPoint Presentation</vt:lpstr>
      <vt:lpstr>Polymorphism Fundamentals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Polymorphism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16 - OOD in C++ Part III - Polymorphism</dc:title>
  <dc:creator>Shahrukh Athar</dc:creator>
  <cp:lastModifiedBy>Shahrukh Athar</cp:lastModifiedBy>
  <cp:revision>839</cp:revision>
  <dcterms:created xsi:type="dcterms:W3CDTF">2018-10-02T00:35:18Z</dcterms:created>
  <dcterms:modified xsi:type="dcterms:W3CDTF">2024-12-02T09:00:26Z</dcterms:modified>
</cp:coreProperties>
</file>