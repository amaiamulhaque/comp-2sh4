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64" r:id="rId3"/>
    <p:sldId id="270" r:id="rId4"/>
    <p:sldId id="433" r:id="rId5"/>
    <p:sldId id="434" r:id="rId6"/>
    <p:sldId id="436" r:id="rId7"/>
    <p:sldId id="438" r:id="rId8"/>
    <p:sldId id="439" r:id="rId9"/>
    <p:sldId id="440" r:id="rId10"/>
    <p:sldId id="441" r:id="rId11"/>
    <p:sldId id="442" r:id="rId12"/>
    <p:sldId id="418" r:id="rId13"/>
    <p:sldId id="378" r:id="rId14"/>
    <p:sldId id="443" r:id="rId15"/>
    <p:sldId id="446" r:id="rId16"/>
    <p:sldId id="445" r:id="rId17"/>
    <p:sldId id="421" r:id="rId18"/>
    <p:sldId id="447" r:id="rId19"/>
    <p:sldId id="377" r:id="rId20"/>
    <p:sldId id="31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BF5"/>
    <a:srgbClr val="7F1F1F"/>
    <a:srgbClr val="FFDDDD"/>
    <a:srgbClr val="A870D2"/>
    <a:srgbClr val="EBF1E9"/>
    <a:srgbClr val="FF7D7D"/>
    <a:srgbClr val="FFC000"/>
    <a:srgbClr val="E8D9F3"/>
    <a:srgbClr val="D1B3E7"/>
    <a:srgbClr val="AF7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49FD1-C801-49A5-8B3B-7E4466140B0B}" type="datetimeFigureOut">
              <a:rPr lang="en-US" smtClean="0"/>
              <a:t>10/2/2024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F8C59-6400-4A47-9B68-202DC97D1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4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There is a deliberate mistake in here... </a:t>
            </a:r>
            <a:r>
              <a:rPr lang="en-CA"/>
              <a:t>Termination Condition?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F8C59-6400-4A47-9B68-202DC97D1AA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51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F0B6A-6EA8-48B1-890E-DBE9F55C9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41BC4-FC72-4C99-A6E3-D36F48E00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7F54-454F-4230-BCD0-7E298954C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61BE9-5CD9-4798-8B28-41A7B3B21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23F6D-6949-4755-9EB3-0B4CF3682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6534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6A-6FB6-43A1-923B-948DA708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2D120-9635-40F5-BD6A-8B18A091E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D18D-D540-45BC-92C8-5C043E6BE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9A943-3396-4512-9E17-E9C48D404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3FB98-9712-4920-84AA-67299297C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7841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FC0B3-F2E8-4150-9C9F-249EA1EE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89AC4-4CCA-41C9-8CD3-FDA4F8BFD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7CB5-DCF0-4F91-A3A4-AC18FA8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0D37-7F5D-4DA2-928A-A46FC161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35497-1021-4F40-B052-5FDB6EA00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171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8113F-9A27-4454-9066-1D4816CBA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B618-A31F-4B60-9C62-B8612EFF3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596AB5-6DB6-442F-A300-81550E203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FC75A-6003-426C-9DB2-9B39A4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B4B50-F363-4912-A26C-0359D566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16A83-7103-44F3-87B3-CEE5D964D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2426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1195-ACB2-4934-8F4E-F2958669E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58A89-F5A9-4F9B-A223-97C13BC23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6795C-363C-48DB-AD3D-2F9C61E1EB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E36750-9C96-4B01-9805-33AC96466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1DC454-D419-49C4-8D63-67A4795D95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43FABF-0142-467C-AE89-DE5CD45B0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B3F96-5224-4C13-AD6F-1105B1ADA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5A20E-F42A-4D9D-B91C-6088C1DC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0123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B7978-81C5-4AE1-8616-9BD6D82E9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3CD8A4-8B49-41C6-B266-DDCE9828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EAF09-62CD-4D41-A12D-7A187B158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16380-B9B6-4A57-92A4-92928B66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8800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50F4B-56DD-47FF-8723-5B8E812D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0A2383-5FD6-4CA9-B869-66F36C29F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04989-A74B-47B9-BBF3-7E03ED0AF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482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E9DE-5FE6-448D-8017-76CEB79B7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F5170-09A8-4802-948A-2FC13424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03ADFF-B73A-409D-B75B-F2CD7B6DD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10021-EAD0-4B81-B79C-468DFF64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38279-373B-4DD6-9B4D-8391BC7BD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7FDA3-5AFE-4A11-A0BE-334D33D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69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59788-A568-4DD7-ADA9-9ABF1663C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FC9A0F-20B9-4F4D-8494-51CC0F0F1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D0EFE-BCFC-4795-81FA-C1868FB99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51377-1691-4253-8517-5C1042A92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94FC9-DA1F-4922-BE56-216E722B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2F70E-C891-4B2C-90E2-48DF1E69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369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1662-B2C5-4D3D-A91F-576556E3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83262-9C38-48C2-92DD-DFF488E74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F95AE-11FE-461F-86AA-DD7226E1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4B16A-019A-4707-B5FE-6A7A4FAA5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9DE2A-7C3E-4387-BD36-F66C7D0C2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9342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34312D-85D8-4F4E-9225-EE35F67774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6A2784-F633-44EE-8524-4C659B6A1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275D-A9E9-4573-A113-62A0D463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BFC9D-8A37-4207-9EED-DA2ABD1734E0}" type="datetimeFigureOut">
              <a:rPr lang="en-CA" smtClean="0"/>
              <a:t>2024-10-02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45AB9-9C02-4C46-A2F5-EA99128AA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DAC47-ACD1-475E-929F-BEA3913C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022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561F7F-5C44-431A-8DF8-3CE3DE3D3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1CD12-5D97-4A00-9D87-C774CAFD4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3DE7A-C95D-4242-B510-AF0B31262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FC9D-8A37-4207-9EED-DA2ABD1734E0}" type="datetimeFigureOut">
              <a:rPr lang="en-CA" smtClean="0"/>
              <a:t>2024-10-02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80F37-BB84-4C94-94FA-DF3238032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C9D4C-3C3D-49C6-9E5A-9FEE72A28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85A8-916E-4330-983D-E7D081D686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09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39D983-FBB4-420A-9D1B-9D486DEE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4" y="0"/>
            <a:ext cx="3158763" cy="18707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2BEA56-DD51-434A-8A58-1499DABCDB67}"/>
              </a:ext>
            </a:extLst>
          </p:cNvPr>
          <p:cNvSpPr txBox="1"/>
          <p:nvPr/>
        </p:nvSpPr>
        <p:spPr>
          <a:xfrm>
            <a:off x="1204056" y="2611819"/>
            <a:ext cx="97839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60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Character Arrays and Strings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2D380-33B6-48EC-8744-F89F20911832}"/>
              </a:ext>
            </a:extLst>
          </p:cNvPr>
          <p:cNvSpPr txBox="1"/>
          <p:nvPr/>
        </p:nvSpPr>
        <p:spPr>
          <a:xfrm>
            <a:off x="3975701" y="1867574"/>
            <a:ext cx="42258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COMPENG 2SH4 Topic 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28B07-0383-0496-E92E-DEBDD7987777}"/>
              </a:ext>
            </a:extLst>
          </p:cNvPr>
          <p:cNvSpPr txBox="1"/>
          <p:nvPr/>
        </p:nvSpPr>
        <p:spPr>
          <a:xfrm>
            <a:off x="4185188" y="5068547"/>
            <a:ext cx="3821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/>
              <a:t>Dr. Shahrukh Athar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4C8B1-4642-BA52-C66F-AC4BA7487920}"/>
              </a:ext>
            </a:extLst>
          </p:cNvPr>
          <p:cNvSpPr txBox="1"/>
          <p:nvPr/>
        </p:nvSpPr>
        <p:spPr>
          <a:xfrm>
            <a:off x="1388853" y="6596390"/>
            <a:ext cx="108031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Credit: The current version of these slides has been developed by Dr. Scott Chen (2SH4 F23 C02). I am using these slides with his permission and have made only slight modifications.</a:t>
            </a:r>
          </a:p>
        </p:txBody>
      </p:sp>
    </p:spTree>
    <p:extLst>
      <p:ext uri="{BB962C8B-B14F-4D97-AF65-F5344CB8AC3E}">
        <p14:creationId xmlns:p14="http://schemas.microsoft.com/office/powerpoint/2010/main" val="1957787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563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4350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Character Array and String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Character Constants vs. String Literals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Definition and Operations on Strings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Passing Strings into Functions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Console IO with Strings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Character and String Libraries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12" name="Graphic 11" descr="Three circles each containing concentric circles.">
            <a:extLst>
              <a:ext uri="{FF2B5EF4-FFF2-40B4-BE49-F238E27FC236}">
                <a16:creationId xmlns:a16="http://schemas.microsoft.com/office/drawing/2014/main" id="{A4D28325-1E70-41A7-BF16-E0919AFAD5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8952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C String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and Character Array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3CBC75-9E00-FFC9-4337-D4DA16713A8F}"/>
              </a:ext>
            </a:extLst>
          </p:cNvPr>
          <p:cNvSpPr txBox="1"/>
          <p:nvPr/>
        </p:nvSpPr>
        <p:spPr>
          <a:xfrm>
            <a:off x="831850" y="551471"/>
            <a:ext cx="52641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Watch Before Lecture:</a:t>
            </a:r>
          </a:p>
          <a:p>
            <a:r>
              <a:rPr lang="en-CA" sz="2000" b="1" dirty="0">
                <a:solidFill>
                  <a:srgbClr val="7F1F1F"/>
                </a:solidFill>
              </a:rPr>
              <a:t>[PLV 5-1] Strings</a:t>
            </a:r>
            <a:endParaRPr lang="en-US" sz="2000" b="1" dirty="0">
              <a:solidFill>
                <a:srgbClr val="7F1F1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92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33913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Review - Char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Character – 1 Byte (8 bits) Integer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Refer to ASCII Table for integer-character correspondence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Range of values – Machine Dependent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[-128, 127] or [0, 255]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Character Constants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single character written within single quotes – Ex. </a:t>
            </a:r>
            <a:r>
              <a:rPr lang="en-CA" dirty="0">
                <a:latin typeface="Courier"/>
              </a:rPr>
              <a:t>‘X’, ‘b’, ‘\n’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Integer value as defined in the ASCII table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Ex. </a:t>
            </a:r>
            <a:r>
              <a:rPr lang="en-CA" dirty="0">
                <a:latin typeface="Courier"/>
              </a:rPr>
              <a:t>‘A’  = 65, ‘a’ = 97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Some characters are written in escape sequence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Ex. </a:t>
            </a:r>
            <a:r>
              <a:rPr lang="en-CA" dirty="0">
                <a:latin typeface="Courier"/>
              </a:rPr>
              <a:t>‘\n’</a:t>
            </a:r>
            <a:r>
              <a:rPr lang="en-CA" dirty="0"/>
              <a:t> for newline, </a:t>
            </a:r>
            <a:r>
              <a:rPr lang="en-CA" dirty="0">
                <a:latin typeface="Courier"/>
              </a:rPr>
              <a:t>‘\t’</a:t>
            </a:r>
            <a:r>
              <a:rPr lang="en-CA" dirty="0"/>
              <a:t> for tab, </a:t>
            </a:r>
            <a:r>
              <a:rPr lang="en-CA" dirty="0">
                <a:latin typeface="Courier"/>
              </a:rPr>
              <a:t>‘\0’</a:t>
            </a:r>
            <a:r>
              <a:rPr lang="en-CA" dirty="0"/>
              <a:t> for null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  <a:latin typeface="Algerian" panose="04020705040A02060702" pitchFamily="82" charset="0"/>
              </a:rPr>
              <a:t>GOTCHA!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“A” </a:t>
            </a:r>
            <a:r>
              <a:rPr lang="en-CA" dirty="0"/>
              <a:t>(double quotation) is </a:t>
            </a:r>
            <a:r>
              <a:rPr lang="en-CA" b="1" u="sng" dirty="0"/>
              <a:t>NOT THE SAME</a:t>
            </a:r>
            <a:r>
              <a:rPr lang="en-CA" b="1" dirty="0"/>
              <a:t> </a:t>
            </a:r>
            <a:r>
              <a:rPr lang="en-CA" dirty="0"/>
              <a:t>as </a:t>
            </a:r>
            <a:r>
              <a:rPr lang="en-CA" dirty="0">
                <a:latin typeface="Courier"/>
              </a:rPr>
              <a:t>‘A’</a:t>
            </a:r>
            <a:r>
              <a:rPr lang="en-CA" dirty="0"/>
              <a:t>.  They are VERY DIFFERENT!</a:t>
            </a:r>
            <a:endParaRPr lang="en-CA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4</a:t>
            </a:fld>
            <a:endParaRPr lang="en-CA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F99338E-3372-A453-373A-B1E03443E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795" y="324464"/>
            <a:ext cx="3242510" cy="2652229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B98EFC2-A723-4BA6-5CB9-870183E61326}"/>
              </a:ext>
            </a:extLst>
          </p:cNvPr>
          <p:cNvSpPr/>
          <p:nvPr/>
        </p:nvSpPr>
        <p:spPr>
          <a:xfrm>
            <a:off x="9088165" y="4541564"/>
            <a:ext cx="2124332" cy="40423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ASCII Table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99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98163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String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10169331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b="1" dirty="0"/>
              <a:t>String Constant </a:t>
            </a:r>
            <a:r>
              <a:rPr lang="en-CA" sz="2200" dirty="0"/>
              <a:t>(aka. String Literal)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sequence of characters within double quotes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Ex. </a:t>
            </a:r>
            <a:r>
              <a:rPr lang="en-CA" dirty="0">
                <a:latin typeface="Courier"/>
              </a:rPr>
              <a:t>“Hello”, “76)85_aj;l”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Represented in memory as </a:t>
            </a:r>
            <a:r>
              <a:rPr lang="en-CA" b="1" u="sng" dirty="0"/>
              <a:t>an array of characters</a:t>
            </a:r>
            <a:r>
              <a:rPr lang="en-CA" dirty="0"/>
              <a:t> terminated by </a:t>
            </a:r>
            <a:r>
              <a:rPr lang="en-CA" b="1" u="sng" dirty="0">
                <a:solidFill>
                  <a:srgbClr val="FF0000"/>
                </a:solidFill>
              </a:rPr>
              <a:t>a null character ‘\0’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latin typeface="Courier"/>
              </a:rPr>
              <a:t>“Hello”</a:t>
            </a:r>
            <a:r>
              <a:rPr lang="en-CA" dirty="0"/>
              <a:t> is a 6-character array with elements </a:t>
            </a:r>
            <a:r>
              <a:rPr lang="en-CA" dirty="0">
                <a:latin typeface="Courier"/>
              </a:rPr>
              <a:t>{‘H’, ‘e’, ‘l’, ‘l’, ‘o’, ‘\0’}</a:t>
            </a: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Example (</a:t>
            </a:r>
            <a:r>
              <a:rPr lang="en-CA" b="1" dirty="0">
                <a:solidFill>
                  <a:srgbClr val="FF0000"/>
                </a:solidFill>
                <a:latin typeface="Algerian" panose="04020705040A02060702" pitchFamily="82" charset="0"/>
              </a:rPr>
              <a:t>GOTCHA!</a:t>
            </a:r>
            <a:r>
              <a:rPr lang="en-CA" dirty="0"/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“A”</a:t>
            </a:r>
            <a:r>
              <a:rPr lang="en-CA" dirty="0"/>
              <a:t> is a 2-character array with character constant elements </a:t>
            </a:r>
            <a:r>
              <a:rPr lang="en-CA" dirty="0">
                <a:latin typeface="Courier"/>
              </a:rPr>
              <a:t>{‘A’, ‘\0’}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‘A’</a:t>
            </a:r>
            <a:r>
              <a:rPr lang="en-CA" dirty="0"/>
              <a:t> is just a character constant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Tips for Interpreting String vs. Characters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The same character with different quotation marks are </a:t>
            </a:r>
            <a:r>
              <a:rPr lang="en-CA" b="1" u="sng" dirty="0"/>
              <a:t>DIFFERENT</a:t>
            </a:r>
            <a:r>
              <a:rPr lang="en-CA" dirty="0"/>
              <a:t>!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When with double quotation, always assume an invisible null character attached to the end of the string literal (and one extra byte of memory)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5</a:t>
            </a:fld>
            <a:endParaRPr lang="en-CA" dirty="0"/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00013C4B-84AA-AFBC-3D78-0A67199B7B57}"/>
              </a:ext>
            </a:extLst>
          </p:cNvPr>
          <p:cNvSpPr/>
          <p:nvPr/>
        </p:nvSpPr>
        <p:spPr>
          <a:xfrm>
            <a:off x="7303458" y="915721"/>
            <a:ext cx="3309056" cy="1022109"/>
          </a:xfrm>
          <a:prstGeom prst="wedgeRectCallout">
            <a:avLst>
              <a:gd name="adj1" fmla="val -30662"/>
              <a:gd name="adj2" fmla="val 101981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</a:rPr>
              <a:t>Heed the Differences!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‘\0’ (null)</a:t>
            </a:r>
            <a:r>
              <a:rPr lang="en-US" sz="1600" dirty="0">
                <a:solidFill>
                  <a:schemeClr val="tx1"/>
                </a:solidFill>
              </a:rPr>
              <a:t>	Int Value = 0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‘0’ (digit)	</a:t>
            </a:r>
            <a:r>
              <a:rPr lang="en-US" sz="1600" dirty="0">
                <a:solidFill>
                  <a:schemeClr val="tx1"/>
                </a:solidFill>
              </a:rPr>
              <a:t>Int Value = 48</a:t>
            </a:r>
          </a:p>
          <a:p>
            <a:r>
              <a:rPr lang="en-US" sz="1600" dirty="0">
                <a:solidFill>
                  <a:schemeClr val="tx1"/>
                </a:solidFill>
                <a:latin typeface="Courier"/>
              </a:rPr>
              <a:t>‘ ’ (space)	</a:t>
            </a:r>
            <a:r>
              <a:rPr lang="en-US" sz="1600" dirty="0">
                <a:solidFill>
                  <a:schemeClr val="tx1"/>
                </a:solidFill>
              </a:rPr>
              <a:t>Int Value = 32</a:t>
            </a:r>
            <a:endParaRPr lang="en-US" sz="1600" dirty="0">
              <a:solidFill>
                <a:schemeClr val="tx1"/>
              </a:solidFill>
              <a:latin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424641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Operations on Strings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68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8084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– Computing String Size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97510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Using the iteration methods we’ve learned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200" dirty="0"/>
              <a:t>Method 1 – For Loop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7</a:t>
            </a:fld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EA032-A0E3-6C00-668E-494B59BD36AE}"/>
              </a:ext>
            </a:extLst>
          </p:cNvPr>
          <p:cNvSpPr txBox="1"/>
          <p:nvPr/>
        </p:nvSpPr>
        <p:spPr>
          <a:xfrm>
            <a:off x="2417642" y="2792229"/>
            <a:ext cx="6019760" cy="3046988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b[ ] = “blue”;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size = 0;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string size counting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b[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!= ‘\0’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(“Character #%d is %c\n”,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+ 1, b[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replace with anything that processes character b[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for loop 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(“String Size is %d\n”, size);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main()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CAA858-10AE-D0E0-0F72-FDAAB83C5829}"/>
              </a:ext>
            </a:extLst>
          </p:cNvPr>
          <p:cNvSpPr/>
          <p:nvPr/>
        </p:nvSpPr>
        <p:spPr>
          <a:xfrm>
            <a:off x="8224913" y="3230904"/>
            <a:ext cx="186148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L5Ex3-SizeFor.c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5E0D0B-DE26-05D1-5A31-4EC9CF509272}"/>
              </a:ext>
            </a:extLst>
          </p:cNvPr>
          <p:cNvSpPr txBox="1"/>
          <p:nvPr/>
        </p:nvSpPr>
        <p:spPr>
          <a:xfrm>
            <a:off x="3204347" y="4492050"/>
            <a:ext cx="5020566" cy="3724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urier"/>
              </a:rPr>
              <a:t>size++;</a:t>
            </a:r>
          </a:p>
        </p:txBody>
      </p:sp>
    </p:spTree>
    <p:extLst>
      <p:ext uri="{BB962C8B-B14F-4D97-AF65-F5344CB8AC3E}">
        <p14:creationId xmlns:p14="http://schemas.microsoft.com/office/powerpoint/2010/main" val="538572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8084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– Computing String Size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97510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Using the iteration methods we’ve learned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sz="2200" dirty="0"/>
              <a:t>Method 2 – While Loop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8</a:t>
            </a:fld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EA032-A0E3-6C00-668E-494B59BD36AE}"/>
              </a:ext>
            </a:extLst>
          </p:cNvPr>
          <p:cNvSpPr txBox="1"/>
          <p:nvPr/>
        </p:nvSpPr>
        <p:spPr>
          <a:xfrm>
            <a:off x="2417642" y="2664213"/>
            <a:ext cx="6019760" cy="3231654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b[ ] = “blue”;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size = 0;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string size counting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b[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!= ‘\0’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(“Character #%d is %c\n”,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+ 1, b[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replace with anything that processes character b[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for loop 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(“String Size is %d\n”, size);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main()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CAA858-10AE-D0E0-0F72-FDAAB83C5829}"/>
              </a:ext>
            </a:extLst>
          </p:cNvPr>
          <p:cNvSpPr/>
          <p:nvPr/>
        </p:nvSpPr>
        <p:spPr>
          <a:xfrm>
            <a:off x="8131839" y="3102888"/>
            <a:ext cx="204763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L5Ex4-SizeWhile.c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5E0D0B-DE26-05D1-5A31-4EC9CF509272}"/>
              </a:ext>
            </a:extLst>
          </p:cNvPr>
          <p:cNvSpPr txBox="1"/>
          <p:nvPr/>
        </p:nvSpPr>
        <p:spPr>
          <a:xfrm>
            <a:off x="3197892" y="4365991"/>
            <a:ext cx="5020566" cy="3724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urier"/>
              </a:rPr>
              <a:t>size++;</a:t>
            </a:r>
          </a:p>
        </p:txBody>
      </p:sp>
    </p:spTree>
    <p:extLst>
      <p:ext uri="{BB962C8B-B14F-4D97-AF65-F5344CB8AC3E}">
        <p14:creationId xmlns:p14="http://schemas.microsoft.com/office/powerpoint/2010/main" val="2030035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5222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– Specific Letter Count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975103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Find the number of occurrences of letter ‘m’ or ‘M’ in a string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We will use while loop for solution development.  For loop version is on you.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9</a:t>
            </a:fld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5EA032-A0E3-6C00-668E-494B59BD36AE}"/>
              </a:ext>
            </a:extLst>
          </p:cNvPr>
          <p:cNvSpPr txBox="1"/>
          <p:nvPr/>
        </p:nvSpPr>
        <p:spPr>
          <a:xfrm>
            <a:off x="2417642" y="2298453"/>
            <a:ext cx="6019760" cy="3600986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text[ ] = “Programming at McMaster is fun!”;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 =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counter = 0;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 counting occurrences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text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12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!= ‘\0’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{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process current character text[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if text[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is ‘m’ or ‘M’, increment counter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for loop 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(“Occurrences of m or M is %d\n”, counter);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main()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CAA858-10AE-D0E0-0F72-FDAAB83C5829}"/>
              </a:ext>
            </a:extLst>
          </p:cNvPr>
          <p:cNvSpPr/>
          <p:nvPr/>
        </p:nvSpPr>
        <p:spPr>
          <a:xfrm>
            <a:off x="8284263" y="4936734"/>
            <a:ext cx="247763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L5Ex5-LetterCount.c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5E0D0B-DE26-05D1-5A31-4EC9CF509272}"/>
              </a:ext>
            </a:extLst>
          </p:cNvPr>
          <p:cNvSpPr txBox="1"/>
          <p:nvPr/>
        </p:nvSpPr>
        <p:spPr>
          <a:xfrm>
            <a:off x="3197892" y="3954731"/>
            <a:ext cx="502056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urier"/>
              </a:rPr>
              <a:t>if( text[</a:t>
            </a:r>
            <a:r>
              <a:rPr lang="en-US" sz="1600" b="1" dirty="0" err="1">
                <a:solidFill>
                  <a:srgbClr val="FF0000"/>
                </a:solidFill>
                <a:latin typeface="Courier"/>
              </a:rPr>
              <a:t>i</a:t>
            </a:r>
            <a:r>
              <a:rPr lang="en-US" sz="1600" b="1" dirty="0">
                <a:solidFill>
                  <a:srgbClr val="FF0000"/>
                </a:solidFill>
                <a:latin typeface="Courier"/>
              </a:rPr>
              <a:t>] == ‘m’ || text[</a:t>
            </a:r>
            <a:r>
              <a:rPr lang="en-US" sz="1600" b="1" dirty="0" err="1">
                <a:solidFill>
                  <a:srgbClr val="FF0000"/>
                </a:solidFill>
                <a:latin typeface="Courier"/>
              </a:rPr>
              <a:t>i</a:t>
            </a:r>
            <a:r>
              <a:rPr lang="en-US" sz="1600" b="1" dirty="0">
                <a:solidFill>
                  <a:srgbClr val="FF0000"/>
                </a:solidFill>
                <a:latin typeface="Courier"/>
              </a:rPr>
              <a:t>] == ‘M’ )</a:t>
            </a:r>
          </a:p>
          <a:p>
            <a:r>
              <a:rPr lang="en-US" sz="1600" b="1" dirty="0">
                <a:solidFill>
                  <a:srgbClr val="FF0000"/>
                </a:solidFill>
                <a:latin typeface="Courier"/>
              </a:rPr>
              <a:t>    counter++;</a:t>
            </a:r>
          </a:p>
        </p:txBody>
      </p:sp>
    </p:spTree>
    <p:extLst>
      <p:ext uri="{BB962C8B-B14F-4D97-AF65-F5344CB8AC3E}">
        <p14:creationId xmlns:p14="http://schemas.microsoft.com/office/powerpoint/2010/main" val="222463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73170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Passing String into a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5" y="1563637"/>
            <a:ext cx="9953331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Same as other arrays, passing the name of the string into the function is sufficient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Function can modify the genuine contents in the string (i.e., </a:t>
            </a:r>
            <a:r>
              <a:rPr lang="en-CA" b="1" i="1" dirty="0"/>
              <a:t>Pass-by-Reference</a:t>
            </a:r>
            <a:r>
              <a:rPr lang="en-CA" dirty="0"/>
              <a:t> mode)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prevent string contents from being modified by adding </a:t>
            </a:r>
            <a:r>
              <a:rPr lang="en-CA" b="1" dirty="0">
                <a:solidFill>
                  <a:schemeClr val="accent1"/>
                </a:solidFill>
                <a:latin typeface="Courier"/>
              </a:rPr>
              <a:t>const</a:t>
            </a:r>
            <a:r>
              <a:rPr lang="en-CA" dirty="0"/>
              <a:t> qualifier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Note – It is not necessary to pass the size of the char array – Why?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/>
              <a:t>The null character acts as the termination symbol!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build a String-Reversing function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The function will reverse the </a:t>
            </a:r>
            <a:r>
              <a:rPr lang="en-CA" b="1" i="1" dirty="0"/>
              <a:t>genuine</a:t>
            </a:r>
            <a:r>
              <a:rPr lang="en-CA" dirty="0"/>
              <a:t> contents in the string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b="1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10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F67844-72DE-B25A-96FD-0750127DA917}"/>
              </a:ext>
            </a:extLst>
          </p:cNvPr>
          <p:cNvSpPr txBox="1"/>
          <p:nvPr/>
        </p:nvSpPr>
        <p:spPr>
          <a:xfrm>
            <a:off x="3406045" y="4399647"/>
            <a:ext cx="4604260" cy="138499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reverse_string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x[]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Step 1 – Find the size of the string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Step 2 – Reverse the string    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reverse_string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3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6405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– String Reversing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6" y="1563637"/>
            <a:ext cx="97510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The function will reverse the </a:t>
            </a:r>
            <a:r>
              <a:rPr lang="en-CA" sz="2200" b="1" i="1" dirty="0"/>
              <a:t>genuine</a:t>
            </a:r>
            <a:r>
              <a:rPr lang="en-CA" sz="2200" dirty="0"/>
              <a:t> contents in the string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sz="220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11</a:t>
            </a:fld>
            <a:endParaRPr lang="en-C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72BF58-FCF3-D1C2-7C13-E1B822F9F72D}"/>
              </a:ext>
            </a:extLst>
          </p:cNvPr>
          <p:cNvSpPr txBox="1"/>
          <p:nvPr/>
        </p:nvSpPr>
        <p:spPr>
          <a:xfrm>
            <a:off x="3893998" y="2105424"/>
            <a:ext cx="4404003" cy="378565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reverse_string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x[] 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size =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temp;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Step 1 – Find the size of the string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x[size] != ‘\0’ )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size++;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Step 2 – Reverse the string    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size / 2;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 )</a:t>
            </a:r>
          </a:p>
          <a:p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Deploy the swapping algorithm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temp = x[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x[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] = x[size-1-i];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x[size-1-i] = temp;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end of for loop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end of </a:t>
            </a:r>
            <a:r>
              <a:rPr lang="en-US" sz="1200" b="1" dirty="0" err="1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reverse_string</a:t>
            </a:r>
            <a:r>
              <a:rPr lang="en-US" sz="12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CAA858-10AE-D0E0-0F72-FDAAB83C5829}"/>
              </a:ext>
            </a:extLst>
          </p:cNvPr>
          <p:cNvSpPr/>
          <p:nvPr/>
        </p:nvSpPr>
        <p:spPr>
          <a:xfrm>
            <a:off x="7591054" y="2267820"/>
            <a:ext cx="2477632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L5Ex6-Reverse.c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5653D0DC-D0AD-3505-D8E5-F68270719849}"/>
              </a:ext>
            </a:extLst>
          </p:cNvPr>
          <p:cNvSpPr/>
          <p:nvPr/>
        </p:nvSpPr>
        <p:spPr>
          <a:xfrm>
            <a:off x="1272602" y="2753474"/>
            <a:ext cx="2477631" cy="760508"/>
          </a:xfrm>
          <a:prstGeom prst="wedgeRectCallout">
            <a:avLst>
              <a:gd name="adj1" fmla="val 69459"/>
              <a:gd name="adj2" fmla="val 4851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ourier"/>
              </a:rPr>
              <a:t>size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does NOT include the null character – </a:t>
            </a:r>
            <a:r>
              <a:rPr lang="en-US" sz="1600" b="1" dirty="0">
                <a:solidFill>
                  <a:srgbClr val="FF0000"/>
                </a:solidFill>
              </a:rPr>
              <a:t>How?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E28483C2-7BB1-CF90-014F-F2ADEFA775AA}"/>
              </a:ext>
            </a:extLst>
          </p:cNvPr>
          <p:cNvSpPr/>
          <p:nvPr/>
        </p:nvSpPr>
        <p:spPr>
          <a:xfrm>
            <a:off x="1272602" y="4320171"/>
            <a:ext cx="2477631" cy="760508"/>
          </a:xfrm>
          <a:prstGeom prst="wedgeRectCallout">
            <a:avLst>
              <a:gd name="adj1" fmla="val 79208"/>
              <a:gd name="adj2" fmla="val 3263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Again – Check swapping algorithm correctness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883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5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One solid circle, one ring, and one circle filled with diagonal lines">
            <a:extLst>
              <a:ext uri="{FF2B5EF4-FFF2-40B4-BE49-F238E27FC236}">
                <a16:creationId xmlns:a16="http://schemas.microsoft.com/office/drawing/2014/main" id="{117B1E9F-05A5-4510-8587-80B34F83D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68254" y="747419"/>
            <a:ext cx="5363162" cy="536316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4B5F53-76BB-4185-819B-0CE94A358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Handling Strings</a:t>
            </a:r>
            <a:endParaRPr lang="en-US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699E1B-6ADB-4F72-95A0-4AA7EB020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1EE999-66AE-40DE-9FC3-57D08FF72800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1EEE44-5A53-4177-97CB-790B8F12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068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8210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Handling – Console IO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1016626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Strings can be input/output with </a:t>
            </a:r>
            <a:r>
              <a:rPr lang="en-CA" sz="2200" dirty="0" err="1"/>
              <a:t>scanf</a:t>
            </a:r>
            <a:r>
              <a:rPr lang="en-CA" sz="2200" dirty="0"/>
              <a:t>() / </a:t>
            </a:r>
            <a:r>
              <a:rPr lang="en-CA" sz="2200" dirty="0" err="1"/>
              <a:t>printf</a:t>
            </a:r>
            <a:r>
              <a:rPr lang="en-CA" sz="2200" dirty="0"/>
              <a:t>() through conversion specifier </a:t>
            </a:r>
            <a:r>
              <a:rPr lang="en-CA" sz="2200" b="1" dirty="0">
                <a:solidFill>
                  <a:srgbClr val="FF0000"/>
                </a:solidFill>
                <a:latin typeface="Courier"/>
              </a:rPr>
              <a:t>%s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Using </a:t>
            </a:r>
            <a:r>
              <a:rPr lang="en-CA" sz="2200" dirty="0" err="1"/>
              <a:t>scanf</a:t>
            </a:r>
            <a:r>
              <a:rPr lang="en-CA" sz="2200" dirty="0"/>
              <a:t>() for collecting string inputs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A char array of sufficient size must be allocated to capture the input string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i="1" dirty="0">
                <a:solidFill>
                  <a:srgbClr val="FF0000"/>
                </a:solidFill>
              </a:rPr>
              <a:t>Remember!</a:t>
            </a:r>
            <a:r>
              <a:rPr lang="en-CA" dirty="0"/>
              <a:t> It must be size of the string + 1 (null character)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With </a:t>
            </a:r>
            <a:r>
              <a:rPr lang="en-CA" dirty="0" err="1"/>
              <a:t>scanf</a:t>
            </a:r>
            <a:r>
              <a:rPr lang="en-CA" dirty="0"/>
              <a:t>(), the name of the array is used without &amp;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i="1" dirty="0">
                <a:solidFill>
                  <a:srgbClr val="FF0000"/>
                </a:solidFill>
              </a:rPr>
              <a:t>Remember! </a:t>
            </a:r>
            <a:r>
              <a:rPr lang="en-CA" dirty="0"/>
              <a:t>Variables require &amp;, arrays don’t. 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To specify the max characters to be read in, use </a:t>
            </a:r>
            <a:r>
              <a:rPr lang="en-CA" b="1" dirty="0">
                <a:solidFill>
                  <a:srgbClr val="FF0000"/>
                </a:solidFill>
                <a:latin typeface="Courier"/>
              </a:rPr>
              <a:t>%</a:t>
            </a:r>
            <a:r>
              <a:rPr lang="en-CA" b="1" dirty="0" err="1">
                <a:solidFill>
                  <a:srgbClr val="7030A0"/>
                </a:solidFill>
                <a:latin typeface="Courier"/>
              </a:rPr>
              <a:t>m</a:t>
            </a:r>
            <a:r>
              <a:rPr lang="en-CA" b="1" dirty="0" err="1">
                <a:solidFill>
                  <a:srgbClr val="FF0000"/>
                </a:solidFill>
                <a:latin typeface="Courier"/>
              </a:rPr>
              <a:t>s</a:t>
            </a:r>
            <a:endParaRPr lang="en-CA" b="1" dirty="0">
              <a:solidFill>
                <a:srgbClr val="FF0000"/>
              </a:solidFill>
              <a:latin typeface="Couri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7030A0"/>
                </a:solidFill>
                <a:latin typeface="Courier"/>
              </a:rPr>
              <a:t>m	</a:t>
            </a:r>
            <a:r>
              <a:rPr lang="en-CA" dirty="0"/>
              <a:t> max number of characters </a:t>
            </a:r>
            <a:endParaRPr lang="en-CA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13</a:t>
            </a:fld>
            <a:endParaRPr lang="en-CA" dirty="0"/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E6CCDDAC-A9ED-291C-264C-2C5996E8AC43}"/>
              </a:ext>
            </a:extLst>
          </p:cNvPr>
          <p:cNvSpPr/>
          <p:nvPr/>
        </p:nvSpPr>
        <p:spPr>
          <a:xfrm>
            <a:off x="9124768" y="3123871"/>
            <a:ext cx="1943169" cy="480518"/>
          </a:xfrm>
          <a:prstGeom prst="wedgeRectCallout">
            <a:avLst>
              <a:gd name="adj1" fmla="val -68331"/>
              <a:gd name="adj2" fmla="val -35778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aka. </a:t>
            </a:r>
            <a:r>
              <a:rPr lang="en-US" sz="1600" b="1" dirty="0">
                <a:solidFill>
                  <a:schemeClr val="tx1"/>
                </a:solidFill>
              </a:rPr>
              <a:t>Input Buffer</a:t>
            </a:r>
            <a:endParaRPr lang="en-US" sz="1600" b="1" dirty="0">
              <a:solidFill>
                <a:srgbClr val="FF0000"/>
              </a:solidFill>
            </a:endParaRP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34E57DAA-01E0-72A6-9EF6-AFE560B5034E}"/>
              </a:ext>
            </a:extLst>
          </p:cNvPr>
          <p:cNvSpPr/>
          <p:nvPr/>
        </p:nvSpPr>
        <p:spPr>
          <a:xfrm>
            <a:off x="7542731" y="4316723"/>
            <a:ext cx="2467357" cy="610887"/>
          </a:xfrm>
          <a:prstGeom prst="wedgeRectCallout">
            <a:avLst>
              <a:gd name="adj1" fmla="val -86472"/>
              <a:gd name="adj2" fmla="val -81634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Explanation coming in the next topic </a:t>
            </a:r>
            <a:r>
              <a:rPr lang="en-US" sz="1600" b="1" dirty="0">
                <a:solidFill>
                  <a:schemeClr val="tx1"/>
                </a:solidFill>
              </a:rPr>
              <a:t>“Pointer”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514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F03303-7932-D56A-CFAF-FE1648023354}"/>
              </a:ext>
            </a:extLst>
          </p:cNvPr>
          <p:cNvSpPr txBox="1"/>
          <p:nvPr/>
        </p:nvSpPr>
        <p:spPr>
          <a:xfrm>
            <a:off x="6375657" y="2599826"/>
            <a:ext cx="4236857" cy="181588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aa[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], bb[ 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];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(“Enter a string: ”);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”, aa);  </a:t>
            </a:r>
            <a:r>
              <a:rPr lang="en-US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&amp;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(“Enter another string: ”);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%9s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”, bb); </a:t>
            </a:r>
            <a:r>
              <a:rPr lang="en-US" sz="16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No &amp;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8210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Handling – Console IO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101662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Example – Collecting string input using </a:t>
            </a:r>
            <a:r>
              <a:rPr lang="en-CA" sz="2200" b="1" dirty="0" err="1"/>
              <a:t>scanf</a:t>
            </a:r>
            <a:r>
              <a:rPr lang="en-CA" sz="2200" b="1" dirty="0"/>
              <a:t>()</a:t>
            </a:r>
            <a:endParaRPr lang="en-CA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14</a:t>
            </a:fld>
            <a:endParaRPr lang="en-CA" dirty="0"/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82F26B06-C6DF-5239-C7D4-1D4FE4A2128C}"/>
              </a:ext>
            </a:extLst>
          </p:cNvPr>
          <p:cNvSpPr/>
          <p:nvPr/>
        </p:nvSpPr>
        <p:spPr>
          <a:xfrm>
            <a:off x="1293962" y="2267135"/>
            <a:ext cx="4494363" cy="1054035"/>
          </a:xfrm>
          <a:prstGeom prst="wedgeRectCallout">
            <a:avLst>
              <a:gd name="adj1" fmla="val 64004"/>
              <a:gd name="adj2" fmla="val 58814"/>
            </a:avLst>
          </a:prstGeom>
          <a:solidFill>
            <a:srgbClr val="FFDDDD"/>
          </a:solidFill>
          <a:ln w="28575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Read sequence of characters up to whitespace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Place them in array 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aa[]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Add 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‘\0’</a:t>
            </a:r>
            <a:r>
              <a:rPr lang="en-US" sz="1600" dirty="0">
                <a:solidFill>
                  <a:schemeClr val="tx1"/>
                </a:solidFill>
              </a:rPr>
              <a:t> at the end</a:t>
            </a:r>
            <a:endParaRPr lang="en-CA" sz="1600" dirty="0">
              <a:solidFill>
                <a:schemeClr val="tx1"/>
              </a:solidFill>
            </a:endParaRP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716C22A0-6180-80F5-6FE3-DD2E0C895171}"/>
              </a:ext>
            </a:extLst>
          </p:cNvPr>
          <p:cNvSpPr/>
          <p:nvPr/>
        </p:nvSpPr>
        <p:spPr>
          <a:xfrm>
            <a:off x="1579486" y="3536831"/>
            <a:ext cx="4382219" cy="612880"/>
          </a:xfrm>
          <a:prstGeom prst="wedgeRectCallout">
            <a:avLst>
              <a:gd name="adj1" fmla="val 59564"/>
              <a:gd name="adj2" fmla="val -49600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Algerian" panose="04020705040A02060702" pitchFamily="82" charset="0"/>
              </a:rPr>
              <a:t>CAUTION!</a:t>
            </a:r>
          </a:p>
          <a:p>
            <a:pPr algn="ctr"/>
            <a:r>
              <a:rPr lang="en-US" sz="1600" b="1" dirty="0" err="1">
                <a:solidFill>
                  <a:srgbClr val="FF0000"/>
                </a:solidFill>
                <a:latin typeface="Courier"/>
              </a:rPr>
              <a:t>scanf</a:t>
            </a:r>
            <a:r>
              <a:rPr lang="en-US" sz="1600" b="1" dirty="0">
                <a:solidFill>
                  <a:srgbClr val="FF0000"/>
                </a:solidFill>
                <a:latin typeface="Courier"/>
              </a:rPr>
              <a:t>()</a:t>
            </a:r>
            <a:r>
              <a:rPr lang="en-US" sz="1600" b="1" dirty="0">
                <a:solidFill>
                  <a:srgbClr val="FF0000"/>
                </a:solidFill>
              </a:rPr>
              <a:t> can write beyond the end of </a:t>
            </a:r>
            <a:r>
              <a:rPr lang="en-US" sz="1600" b="1" dirty="0">
                <a:solidFill>
                  <a:srgbClr val="FF0000"/>
                </a:solidFill>
                <a:latin typeface="Courier"/>
              </a:rPr>
              <a:t>aa[]</a:t>
            </a:r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D4A0C81D-5005-AF66-53FF-7763B9484EC9}"/>
              </a:ext>
            </a:extLst>
          </p:cNvPr>
          <p:cNvSpPr/>
          <p:nvPr/>
        </p:nvSpPr>
        <p:spPr>
          <a:xfrm>
            <a:off x="2895968" y="4672378"/>
            <a:ext cx="7628258" cy="1054035"/>
          </a:xfrm>
          <a:prstGeom prst="wedgeRectCallout">
            <a:avLst>
              <a:gd name="adj1" fmla="val 11207"/>
              <a:gd name="adj2" fmla="val -77044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Read sequence of characters up to whitespace </a:t>
            </a:r>
            <a:r>
              <a:rPr lang="en-US" sz="1600" b="1" dirty="0">
                <a:solidFill>
                  <a:schemeClr val="tx1"/>
                </a:solidFill>
              </a:rPr>
              <a:t>OR truncate at the 9</a:t>
            </a:r>
            <a:r>
              <a:rPr lang="en-US" sz="1600" b="1" baseline="30000" dirty="0">
                <a:solidFill>
                  <a:schemeClr val="tx1"/>
                </a:solidFill>
              </a:rPr>
              <a:t>th</a:t>
            </a:r>
            <a:r>
              <a:rPr lang="en-US" sz="1600" b="1" dirty="0">
                <a:solidFill>
                  <a:schemeClr val="tx1"/>
                </a:solidFill>
              </a:rPr>
              <a:t> character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Place them in array 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bb[]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Add </a:t>
            </a:r>
            <a:r>
              <a:rPr lang="en-US" sz="1600" dirty="0">
                <a:solidFill>
                  <a:schemeClr val="tx1"/>
                </a:solidFill>
                <a:latin typeface="Courier"/>
              </a:rPr>
              <a:t>‘\0’</a:t>
            </a:r>
            <a:r>
              <a:rPr lang="en-US" sz="1600" dirty="0">
                <a:solidFill>
                  <a:schemeClr val="tx1"/>
                </a:solidFill>
              </a:rPr>
              <a:t> at the end</a:t>
            </a:r>
            <a:endParaRPr lang="en-CA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06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F03303-7932-D56A-CFAF-FE1648023354}"/>
              </a:ext>
            </a:extLst>
          </p:cNvPr>
          <p:cNvSpPr txBox="1"/>
          <p:nvPr/>
        </p:nvSpPr>
        <p:spPr>
          <a:xfrm>
            <a:off x="7500965" y="1733036"/>
            <a:ext cx="3066394" cy="2862322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a[ ] = “Canada”;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(“%s\n”, a);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(“%4s\n”, a);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(“%12s\n”, a);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(“%.4s\n”, a);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(“%12.4s\n”, a);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(“%-12.4s\n”, a);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8210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Handling – Console IO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439410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Formatting String Output in </a:t>
            </a:r>
            <a:r>
              <a:rPr lang="en-CA" sz="2200" b="1" dirty="0" err="1"/>
              <a:t>printf</a:t>
            </a:r>
            <a:r>
              <a:rPr lang="en-CA" sz="2200" b="1" dirty="0"/>
              <a:t>()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specify the output field width and precision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Field Width</a:t>
            </a:r>
            <a:r>
              <a:rPr lang="en-CA" dirty="0"/>
              <a:t> specification is taken into account only if it indicates a field larger than the number of characters in the string.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Ex. </a:t>
            </a:r>
            <a:r>
              <a:rPr lang="en-CA" sz="1600" dirty="0">
                <a:latin typeface="Courier"/>
              </a:rPr>
              <a:t>%15s  // output field is 15 char-long</a:t>
            </a:r>
            <a:endParaRPr lang="en-CA" dirty="0"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CA" b="1" dirty="0">
              <a:solidFill>
                <a:schemeClr val="accent1"/>
              </a:solidFill>
              <a:latin typeface="Courier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b="1" dirty="0"/>
              <a:t>Precision</a:t>
            </a:r>
            <a:r>
              <a:rPr lang="en-CA" dirty="0"/>
              <a:t> indicates the number of characters to be printed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Ex. </a:t>
            </a:r>
            <a:r>
              <a:rPr lang="en-CA" sz="1600" dirty="0">
                <a:latin typeface="Courier"/>
              </a:rPr>
              <a:t>%.2s  // Will output only 2 characters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Can combine </a:t>
            </a:r>
            <a:r>
              <a:rPr lang="en-CA" b="1" dirty="0"/>
              <a:t>Field Width </a:t>
            </a:r>
            <a:r>
              <a:rPr lang="en-CA" dirty="0"/>
              <a:t>and </a:t>
            </a:r>
            <a:r>
              <a:rPr lang="en-CA" b="1" dirty="0"/>
              <a:t>Precision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Ex. </a:t>
            </a:r>
            <a:r>
              <a:rPr lang="en-CA" dirty="0">
                <a:latin typeface="Courier"/>
              </a:rPr>
              <a:t>%10.6s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10-character field width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Outputs only 6 characters</a:t>
            </a:r>
          </a:p>
          <a:p>
            <a:pPr marL="1714500" lvl="3" indent="-342900">
              <a:buFont typeface="Arial" panose="020B0604020202020204" pitchFamily="34" charset="0"/>
              <a:buChar char="•"/>
            </a:pPr>
            <a:r>
              <a:rPr lang="en-CA" dirty="0"/>
              <a:t>Whitespace-pad the rest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15</a:t>
            </a:fld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F8B571-6318-B719-DAC9-74AEB73C170B}"/>
              </a:ext>
            </a:extLst>
          </p:cNvPr>
          <p:cNvSpPr/>
          <p:nvPr/>
        </p:nvSpPr>
        <p:spPr>
          <a:xfrm>
            <a:off x="8931279" y="4515526"/>
            <a:ext cx="195728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L5Ex7-Format.c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4134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3F03303-7932-D56A-CFAF-FE1648023354}"/>
              </a:ext>
            </a:extLst>
          </p:cNvPr>
          <p:cNvSpPr txBox="1"/>
          <p:nvPr/>
        </p:nvSpPr>
        <p:spPr>
          <a:xfrm>
            <a:off x="6836730" y="2333078"/>
            <a:ext cx="4375767" cy="3046988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2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200" b="1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main(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a[20];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puts(“Provide 5 characters: ”);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gets(a);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(“a[4]=%c(int: %d)\n”, a[4], a[4]);</a:t>
            </a: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(“a[5]=%c(int: %d)\n”, a[5], a[5]);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puts(“The entire string is: ”);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puts(a);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return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0;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68210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Handling – Console IO</a:t>
            </a:r>
            <a:endParaRPr lang="en-CA" sz="4400" b="1" dirty="0">
              <a:solidFill>
                <a:srgbClr val="7F1F1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11160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200" dirty="0"/>
              <a:t>Two other string handling functions from </a:t>
            </a:r>
            <a:r>
              <a:rPr lang="en-CA" sz="2200" dirty="0" err="1"/>
              <a:t>stdio.h</a:t>
            </a:r>
            <a:endParaRPr lang="en-CA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gets(</a:t>
            </a:r>
            <a:r>
              <a:rPr lang="en-CA" b="1" dirty="0">
                <a:solidFill>
                  <a:schemeClr val="accent1"/>
                </a:solidFill>
                <a:latin typeface="Courier"/>
              </a:rPr>
              <a:t>char</a:t>
            </a:r>
            <a:r>
              <a:rPr lang="en-CA" dirty="0">
                <a:latin typeface="Courier"/>
              </a:rPr>
              <a:t> array)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Read the next input line (up to ENTER pressed)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Enter key produces a newline character </a:t>
            </a:r>
            <a:r>
              <a:rPr lang="en-CA" b="1" dirty="0">
                <a:solidFill>
                  <a:schemeClr val="accent1"/>
                </a:solidFill>
                <a:latin typeface="Courier"/>
              </a:rPr>
              <a:t>‘\n’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gets() replaces </a:t>
            </a:r>
            <a:r>
              <a:rPr lang="en-CA" b="1" dirty="0">
                <a:solidFill>
                  <a:schemeClr val="accent1"/>
                </a:solidFill>
                <a:latin typeface="Courier"/>
              </a:rPr>
              <a:t>‘\n’</a:t>
            </a:r>
            <a:r>
              <a:rPr lang="en-CA" dirty="0"/>
              <a:t> with </a:t>
            </a:r>
            <a:r>
              <a:rPr lang="en-CA" b="1" dirty="0">
                <a:solidFill>
                  <a:srgbClr val="FF0000"/>
                </a:solidFill>
                <a:latin typeface="Courier"/>
              </a:rPr>
              <a:t>‘\0’</a:t>
            </a:r>
            <a:r>
              <a:rPr lang="en-CA" dirty="0"/>
              <a:t>, </a:t>
            </a:r>
            <a:br>
              <a:rPr lang="en-CA" dirty="0"/>
            </a:br>
            <a:r>
              <a:rPr lang="en-CA" dirty="0"/>
              <a:t>then stores string into character array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>
                <a:latin typeface="Courier"/>
              </a:rPr>
              <a:t>puts(string)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Print all characters in the string on to screen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dirty="0"/>
              <a:t>Newline character </a:t>
            </a:r>
            <a:r>
              <a:rPr lang="en-CA" b="1" dirty="0">
                <a:solidFill>
                  <a:schemeClr val="accent1"/>
                </a:solidFill>
                <a:latin typeface="Courier"/>
              </a:rPr>
              <a:t>‘\n’</a:t>
            </a:r>
            <a:r>
              <a:rPr lang="en-CA" dirty="0"/>
              <a:t> is appended at the end</a:t>
            </a:r>
            <a:endParaRPr lang="en-CA" b="1" dirty="0">
              <a:solidFill>
                <a:schemeClr val="accent1"/>
              </a:solidFill>
              <a:latin typeface="Courier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CA" b="1" dirty="0">
                <a:solidFill>
                  <a:srgbClr val="FF0000"/>
                </a:solidFill>
                <a:latin typeface="Courier"/>
              </a:rPr>
              <a:t>‘\0’</a:t>
            </a:r>
            <a:r>
              <a:rPr lang="en-CA" dirty="0"/>
              <a:t> will not be printed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16</a:t>
            </a:fld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F8B571-6318-B719-DAC9-74AEB73C170B}"/>
              </a:ext>
            </a:extLst>
          </p:cNvPr>
          <p:cNvSpPr/>
          <p:nvPr/>
        </p:nvSpPr>
        <p:spPr>
          <a:xfrm>
            <a:off x="8810509" y="5177947"/>
            <a:ext cx="1957280" cy="404238"/>
          </a:xfrm>
          <a:prstGeom prst="roundRect">
            <a:avLst/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solidFill>
                  <a:schemeClr val="tx1"/>
                </a:solidFill>
              </a:rPr>
              <a:t>L5Ex8-PutsGets.c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345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86457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 / String Handling Libraries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1016626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&lt;</a:t>
            </a:r>
            <a:r>
              <a:rPr lang="en-US" sz="2200" b="1" dirty="0" err="1"/>
              <a:t>ctype.h</a:t>
            </a:r>
            <a:r>
              <a:rPr lang="en-US" sz="2200" b="1" dirty="0"/>
              <a:t>&gt; </a:t>
            </a:r>
            <a:r>
              <a:rPr lang="en-US" sz="2200" dirty="0"/>
              <a:t> Character Handling Library – functions for manipulating character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</a:t>
            </a:r>
            <a:r>
              <a:rPr lang="en-US" dirty="0" err="1">
                <a:latin typeface="Courier"/>
              </a:rPr>
              <a:t>isdigit</a:t>
            </a:r>
            <a:r>
              <a:rPr lang="en-US" dirty="0">
                <a:latin typeface="Courier"/>
              </a:rPr>
              <a:t>(</a:t>
            </a: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c)</a:t>
            </a:r>
            <a:r>
              <a:rPr lang="en-US" dirty="0"/>
              <a:t>	Determine if c is a digit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</a:t>
            </a:r>
            <a:r>
              <a:rPr lang="en-US" dirty="0" err="1">
                <a:latin typeface="Courier"/>
              </a:rPr>
              <a:t>isalpha</a:t>
            </a:r>
            <a:r>
              <a:rPr lang="en-US" dirty="0">
                <a:latin typeface="Courier"/>
              </a:rPr>
              <a:t>(</a:t>
            </a: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c)</a:t>
            </a:r>
            <a:r>
              <a:rPr lang="en-US" dirty="0"/>
              <a:t>	Determine if c is a letter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</a:t>
            </a:r>
            <a:r>
              <a:rPr lang="en-US" dirty="0" err="1">
                <a:latin typeface="Courier"/>
              </a:rPr>
              <a:t>islower</a:t>
            </a:r>
            <a:r>
              <a:rPr lang="en-US" dirty="0">
                <a:latin typeface="Courier"/>
              </a:rPr>
              <a:t>(</a:t>
            </a: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c)</a:t>
            </a:r>
            <a:r>
              <a:rPr lang="en-US" dirty="0"/>
              <a:t>	Determine if c is a lowercase letter (True) or uppercase letter (False)</a:t>
            </a:r>
            <a:endParaRPr lang="en-US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</a:t>
            </a:r>
            <a:r>
              <a:rPr lang="en-US" dirty="0" err="1">
                <a:latin typeface="Courier"/>
              </a:rPr>
              <a:t>toupper</a:t>
            </a:r>
            <a:r>
              <a:rPr lang="en-US" dirty="0">
                <a:latin typeface="Courier"/>
              </a:rPr>
              <a:t>(</a:t>
            </a: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c)</a:t>
            </a:r>
            <a:r>
              <a:rPr lang="en-US" dirty="0"/>
              <a:t>	Convert c to uppercase letter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</a:t>
            </a:r>
            <a:r>
              <a:rPr lang="en-US" dirty="0" err="1">
                <a:latin typeface="Courier"/>
              </a:rPr>
              <a:t>tolower</a:t>
            </a:r>
            <a:r>
              <a:rPr lang="en-US" dirty="0">
                <a:latin typeface="Courier"/>
              </a:rPr>
              <a:t>(</a:t>
            </a: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c)</a:t>
            </a:r>
            <a:r>
              <a:rPr lang="en-US" dirty="0"/>
              <a:t>	Convert c to lowercase letter</a:t>
            </a:r>
            <a:endParaRPr lang="en-US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</a:t>
            </a:r>
            <a:r>
              <a:rPr lang="en-US" dirty="0" err="1">
                <a:latin typeface="Courier"/>
              </a:rPr>
              <a:t>isxdigit</a:t>
            </a:r>
            <a:r>
              <a:rPr lang="en-US" dirty="0">
                <a:latin typeface="Courier"/>
              </a:rPr>
              <a:t>(</a:t>
            </a:r>
            <a:r>
              <a:rPr lang="en-US" b="1" dirty="0">
                <a:solidFill>
                  <a:schemeClr val="accent1"/>
                </a:solidFill>
                <a:latin typeface="Courier"/>
              </a:rPr>
              <a:t>int</a:t>
            </a:r>
            <a:r>
              <a:rPr lang="en-US" dirty="0">
                <a:latin typeface="Courier"/>
              </a:rPr>
              <a:t> c)</a:t>
            </a:r>
            <a:r>
              <a:rPr lang="en-US" dirty="0"/>
              <a:t>	Determine if c is a hexadecimal digit (A-F, a-f, 0-9)</a:t>
            </a:r>
            <a:endParaRPr lang="en-US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&lt;</a:t>
            </a:r>
            <a:r>
              <a:rPr lang="en-US" sz="2200" b="1" dirty="0" err="1"/>
              <a:t>string.h</a:t>
            </a:r>
            <a:r>
              <a:rPr lang="en-US" sz="2200" b="1" dirty="0"/>
              <a:t>&gt; </a:t>
            </a:r>
            <a:r>
              <a:rPr lang="en-US" sz="2200" dirty="0"/>
              <a:t> String Handling Library – functions for manipulating string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Copying string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Concatenate strings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Comparing strings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Determining the length of a string (</a:t>
            </a:r>
            <a:r>
              <a:rPr lang="en-US" dirty="0" err="1"/>
              <a:t>strlen</a:t>
            </a:r>
            <a:r>
              <a:rPr lang="en-US" dirty="0"/>
              <a:t>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Searching strings for characters and other sub-strings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17</a:t>
            </a:fld>
            <a:endParaRPr lang="en-CA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C7566AB-85BB-52F0-6348-CF10D4E137DA}"/>
              </a:ext>
            </a:extLst>
          </p:cNvPr>
          <p:cNvSpPr/>
          <p:nvPr/>
        </p:nvSpPr>
        <p:spPr>
          <a:xfrm>
            <a:off x="9699346" y="383169"/>
            <a:ext cx="2124332" cy="40423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GNU C Manual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861CE122-2BB1-8E9C-14AD-24D2EE14C318}"/>
              </a:ext>
            </a:extLst>
          </p:cNvPr>
          <p:cNvSpPr/>
          <p:nvPr/>
        </p:nvSpPr>
        <p:spPr>
          <a:xfrm>
            <a:off x="7389845" y="4628597"/>
            <a:ext cx="2600147" cy="871725"/>
          </a:xfrm>
          <a:prstGeom prst="wedgeRectCallout">
            <a:avLst>
              <a:gd name="adj1" fmla="val -85073"/>
              <a:gd name="adj2" fmla="val -40402"/>
            </a:avLst>
          </a:prstGeom>
          <a:solidFill>
            <a:srgbClr val="FFDDDD"/>
          </a:solidFill>
          <a:ln w="38100"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Some functions require the understanding of pointers – We will come back to this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82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102989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 String-Related Standard IO Functions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1016626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Courier"/>
              </a:rPr>
              <a:t>sscanf</a:t>
            </a:r>
            <a:r>
              <a:rPr lang="en-US" sz="2200" dirty="0">
                <a:latin typeface="Courier"/>
              </a:rPr>
              <a:t>()</a:t>
            </a:r>
            <a:r>
              <a:rPr lang="en-US" sz="2200" dirty="0"/>
              <a:t> Obtaining input from another string / character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Use this when acquiring program inputs from an existing string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Ex.  </a:t>
            </a:r>
            <a:r>
              <a:rPr lang="en-US" dirty="0" err="1">
                <a:latin typeface="Courier"/>
              </a:rPr>
              <a:t>sscanf</a:t>
            </a:r>
            <a:r>
              <a:rPr lang="en-US" dirty="0">
                <a:latin typeface="Courier"/>
              </a:rPr>
              <a:t>( </a:t>
            </a:r>
            <a:r>
              <a:rPr lang="en-US" dirty="0" err="1">
                <a:latin typeface="Courier"/>
              </a:rPr>
              <a:t>src_char_array_buffer</a:t>
            </a:r>
            <a:r>
              <a:rPr lang="en-US" dirty="0">
                <a:latin typeface="Courier"/>
              </a:rPr>
              <a:t>, “%c”, &amp;</a:t>
            </a:r>
            <a:r>
              <a:rPr lang="en-US" dirty="0" err="1">
                <a:latin typeface="Courier"/>
              </a:rPr>
              <a:t>my_char</a:t>
            </a:r>
            <a:r>
              <a:rPr lang="en-US" dirty="0">
                <a:latin typeface="Courier"/>
              </a:rPr>
              <a:t>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Courier"/>
              </a:rPr>
              <a:t>sprintf</a:t>
            </a:r>
            <a:r>
              <a:rPr lang="en-US" sz="2200" dirty="0">
                <a:latin typeface="Courier"/>
              </a:rPr>
              <a:t>()</a:t>
            </a:r>
            <a:r>
              <a:rPr lang="en-US" sz="2200" dirty="0"/>
              <a:t> Print output string into another string / character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Use this when printing program output into a string buffer for further processing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Ex.  </a:t>
            </a:r>
            <a:r>
              <a:rPr lang="en-US" dirty="0" err="1">
                <a:latin typeface="Courier"/>
              </a:rPr>
              <a:t>sprintf</a:t>
            </a:r>
            <a:r>
              <a:rPr lang="en-US" dirty="0">
                <a:latin typeface="Courier"/>
              </a:rPr>
              <a:t>( </a:t>
            </a:r>
            <a:r>
              <a:rPr lang="en-US" dirty="0" err="1">
                <a:latin typeface="Courier"/>
              </a:rPr>
              <a:t>dest_char_array_buffer</a:t>
            </a:r>
            <a:r>
              <a:rPr lang="en-US" dirty="0">
                <a:latin typeface="Courier"/>
              </a:rPr>
              <a:t>, “%c”, </a:t>
            </a:r>
            <a:r>
              <a:rPr lang="en-US" dirty="0" err="1">
                <a:latin typeface="Courier"/>
              </a:rPr>
              <a:t>my_char</a:t>
            </a:r>
            <a:r>
              <a:rPr lang="en-US" dirty="0">
                <a:latin typeface="Courier"/>
              </a:rPr>
              <a:t>);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18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7486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6846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8" y="1563637"/>
            <a:ext cx="658922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Strings and Character Arrays are Similar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String specifically is a null-terminated character array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String is a convention, not a data type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String is handled very similarly as other array data types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Null-termination character simplifies things</a:t>
            </a:r>
          </a:p>
          <a:p>
            <a:pPr lvl="1"/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String / Character Handling Libraries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Useful, learn them yourself through GNU C manual</a:t>
            </a:r>
            <a:endParaRPr lang="en-CA" i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More to come on string library</a:t>
            </a:r>
          </a:p>
          <a:p>
            <a:pPr lvl="1"/>
            <a:endParaRPr lang="en-CA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19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11919AF-8647-48EA-A97E-0335F2CD3F58}"/>
              </a:ext>
            </a:extLst>
          </p:cNvPr>
          <p:cNvSpPr/>
          <p:nvPr/>
        </p:nvSpPr>
        <p:spPr>
          <a:xfrm>
            <a:off x="2895968" y="6027937"/>
            <a:ext cx="8316529" cy="207150"/>
          </a:xfrm>
          <a:prstGeom prst="rect">
            <a:avLst/>
          </a:prstGeom>
          <a:solidFill>
            <a:srgbClr val="7F1F1F"/>
          </a:solidFill>
          <a:ln>
            <a:solidFill>
              <a:srgbClr val="7F1F1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178B54-0C2D-4BE7-B7D9-AE8C1902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57" y="5635218"/>
            <a:ext cx="1779345" cy="10496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6FBB96-056B-4408-935B-2D6325B19821}"/>
              </a:ext>
            </a:extLst>
          </p:cNvPr>
          <p:cNvSpPr txBox="1"/>
          <p:nvPr/>
        </p:nvSpPr>
        <p:spPr>
          <a:xfrm>
            <a:off x="832658" y="585288"/>
            <a:ext cx="25591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7F1F1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Upcoming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0D206-E3DF-4911-BD95-937910224DC7}"/>
              </a:ext>
            </a:extLst>
          </p:cNvPr>
          <p:cNvSpPr txBox="1"/>
          <p:nvPr/>
        </p:nvSpPr>
        <p:spPr>
          <a:xfrm>
            <a:off x="832657" y="1563637"/>
            <a:ext cx="69005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b="1" dirty="0"/>
              <a:t>Memory Concepts and C Pointers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Basic Memory Map of a Program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Pointer Basics – Address-Data Duality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Referencing and Dereferencing Operators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Operations with Pointers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Pass-by-Reference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A" dirty="0"/>
              <a:t>Returning Multiple Values from Function – Approach 1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5DC2DF-596F-488B-8933-3F5381A4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0914" y="6371948"/>
            <a:ext cx="2743200" cy="365125"/>
          </a:xfrm>
        </p:spPr>
        <p:txBody>
          <a:bodyPr/>
          <a:lstStyle/>
          <a:p>
            <a:fld id="{D8FC85A8-916E-4330-983D-E7D081D6863C}" type="slidenum">
              <a:rPr lang="en-CA" smtClean="0"/>
              <a:t>20</a:t>
            </a:fld>
            <a:endParaRPr lang="en-CA" dirty="0"/>
          </a:p>
        </p:txBody>
      </p:sp>
      <p:pic>
        <p:nvPicPr>
          <p:cNvPr id="9" name="Graphic 8" descr="Three circles each containing concentric circles.">
            <a:extLst>
              <a:ext uri="{FF2B5EF4-FFF2-40B4-BE49-F238E27FC236}">
                <a16:creationId xmlns:a16="http://schemas.microsoft.com/office/drawing/2014/main" id="{AD0038CC-0843-437C-BFCF-0646F453B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8020" y="776106"/>
            <a:ext cx="5305788" cy="530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05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21758</TotalTime>
  <Words>2118</Words>
  <Application>Microsoft Office PowerPoint</Application>
  <PresentationFormat>Widescreen</PresentationFormat>
  <Paragraphs>318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Algerian</vt:lpstr>
      <vt:lpstr>Arial</vt:lpstr>
      <vt:lpstr>Calibri</vt:lpstr>
      <vt:lpstr>Calibri Light</vt:lpstr>
      <vt:lpstr>Courier</vt:lpstr>
      <vt:lpstr>Courier New</vt:lpstr>
      <vt:lpstr>Office Theme</vt:lpstr>
      <vt:lpstr>PowerPoint Presentation</vt:lpstr>
      <vt:lpstr>PowerPoint Presentation</vt:lpstr>
      <vt:lpstr>C String</vt:lpstr>
      <vt:lpstr>PowerPoint Presentation</vt:lpstr>
      <vt:lpstr>PowerPoint Presentation</vt:lpstr>
      <vt:lpstr>Operations on Strings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Handling Strings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5 - C Character Arrays and Strings</dc:title>
  <dc:creator>Shahrukh Athar</dc:creator>
  <cp:lastModifiedBy>Shahrukh Athar</cp:lastModifiedBy>
  <cp:revision>428</cp:revision>
  <dcterms:created xsi:type="dcterms:W3CDTF">2018-10-02T00:35:18Z</dcterms:created>
  <dcterms:modified xsi:type="dcterms:W3CDTF">2024-10-02T07:20:35Z</dcterms:modified>
</cp:coreProperties>
</file>