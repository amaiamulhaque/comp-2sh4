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sldIdLst>
    <p:sldId id="256" r:id="rId5"/>
    <p:sldId id="264" r:id="rId6"/>
    <p:sldId id="509" r:id="rId7"/>
    <p:sldId id="564" r:id="rId8"/>
    <p:sldId id="629" r:id="rId9"/>
    <p:sldId id="630" r:id="rId10"/>
    <p:sldId id="631" r:id="rId11"/>
    <p:sldId id="632" r:id="rId12"/>
    <p:sldId id="633" r:id="rId13"/>
    <p:sldId id="634" r:id="rId14"/>
    <p:sldId id="635" r:id="rId15"/>
    <p:sldId id="636" r:id="rId16"/>
    <p:sldId id="637" r:id="rId17"/>
    <p:sldId id="638" r:id="rId18"/>
    <p:sldId id="639" r:id="rId19"/>
    <p:sldId id="640" r:id="rId20"/>
    <p:sldId id="599" r:id="rId21"/>
    <p:sldId id="565" r:id="rId22"/>
    <p:sldId id="641" r:id="rId23"/>
    <p:sldId id="642" r:id="rId24"/>
    <p:sldId id="643" r:id="rId25"/>
    <p:sldId id="644" r:id="rId26"/>
    <p:sldId id="645" r:id="rId27"/>
    <p:sldId id="646" r:id="rId28"/>
    <p:sldId id="393" r:id="rId29"/>
    <p:sldId id="394" r:id="rId30"/>
    <p:sldId id="297" r:id="rId31"/>
    <p:sldId id="647" r:id="rId32"/>
    <p:sldId id="37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1F1F"/>
    <a:srgbClr val="FFDDDD"/>
    <a:srgbClr val="FF7D7D"/>
    <a:srgbClr val="FFE699"/>
    <a:srgbClr val="D1B3E7"/>
    <a:srgbClr val="E8D9F3"/>
    <a:srgbClr val="AF7CD6"/>
    <a:srgbClr val="A870D2"/>
    <a:srgbClr val="E9EBF5"/>
    <a:srgbClr val="EBF1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49FD1-C801-49A5-8B3B-7E4466140B0B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F8C59-6400-4A47-9B68-202DC97D1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4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0B6A-6EA8-48B1-890E-DBE9F55C9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41BC4-FC72-4C99-A6E3-D36F48E00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B7F54-454F-4230-BCD0-7E298954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2024-12-29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61BE9-5CD9-4798-8B28-41A7B3B2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23F6D-6949-4755-9EB3-0B4CF368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653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6A-6FB6-43A1-923B-948DA70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2D120-9635-40F5-BD6A-8B18A091E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2D18D-D540-45BC-92C8-5C043E6B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2024-12-29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9A943-3396-4512-9E17-E9C48D40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3FB98-9712-4920-84AA-67299297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84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C0B3-F2E8-4150-9C9F-249EA1EE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89AC4-4CCA-41C9-8CD3-FDA4F8BFD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7CB5-DCF0-4F91-A3A4-AC18FA8D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2024-12-29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D0D37-7F5D-4DA2-928A-A46FC161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5497-1021-4F40-B052-5FDB6EA0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171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113F-9A27-4454-9066-1D4816CB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B618-A31F-4B60-9C62-B8612EFF3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96AB5-6DB6-442F-A300-81550E203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FC75A-6003-426C-9DB2-9B39A4B0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2024-12-29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B4B50-F363-4912-A26C-0359D566C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16A83-7103-44F3-87B3-CEE5D964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426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1195-ACB2-4934-8F4E-F2958669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58A89-F5A9-4F9B-A223-97C13BC23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6795C-363C-48DB-AD3D-2F9C61E1E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36750-9C96-4B01-9805-33AC96466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DC454-D419-49C4-8D63-67A4795D9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3FABF-0142-467C-AE89-DE5CD45B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2024-12-29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B3F96-5224-4C13-AD6F-1105B1AD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5A20E-F42A-4D9D-B91C-6088C1DC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012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7978-81C5-4AE1-8616-9BD6D82E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CD8A4-8B49-41C6-B266-DDCE9828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2024-12-29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EAF09-62CD-4D41-A12D-7A187B15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16380-B9B6-4A57-92A4-92928B66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880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50F4B-56DD-47FF-8723-5B8E812D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2024-12-29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A2383-5FD6-4CA9-B869-66F36C29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04989-A74B-47B9-BBF3-7E03ED0A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482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E9DE-5FE6-448D-8017-76CEB79B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F5170-09A8-4802-948A-2FC13424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3ADFF-B73A-409D-B75B-F2CD7B6DD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10021-EAD0-4B81-B79C-468DFF64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2024-12-29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38279-373B-4DD6-9B4D-8391BC7B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7FDA3-5AFE-4A11-A0BE-334D33D8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694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59788-A568-4DD7-ADA9-9ABF1663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C9A0F-20B9-4F4D-8494-51CC0F0F1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D0EFE-BCFC-4795-81FA-C1868FB99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51377-1691-4253-8517-5C1042A92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2024-12-29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94FC9-DA1F-4922-BE56-216E722B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2F70E-C891-4B2C-90E2-48DF1E69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69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1662-B2C5-4D3D-A91F-576556E3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83262-9C38-48C2-92DD-DFF488E74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F95AE-11FE-461F-86AA-DD7226E11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2024-12-29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4B16A-019A-4707-B5FE-6A7A4FAA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9DE2A-7C3E-4387-BD36-F66C7D0C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934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34312D-85D8-4F4E-9225-EE35F6777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A2784-F633-44EE-8524-4C659B6A1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275D-A9E9-4573-A113-62A0D463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2024-12-29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45AB9-9C02-4C46-A2F5-EA99128A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DAC47-ACD1-475E-929F-BEA3913C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022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61F7F-5C44-431A-8DF8-3CE3DE3D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1CD12-5D97-4A00-9D87-C774CAFD4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3DE7A-C95D-4242-B510-AF0B31262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BFC9D-8A37-4207-9EED-DA2ABD1734E0}" type="datetimeFigureOut">
              <a:rPr lang="en-CA" smtClean="0"/>
              <a:t>2024-12-29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0F37-BB84-4C94-94FA-DF3238032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C9D4C-3C3D-49C6-9E5A-9FEE72A28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709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39D983-FBB4-420A-9D1B-9D486DEE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4" y="0"/>
            <a:ext cx="3158763" cy="1870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2BEA56-DD51-434A-8A58-1499DABCDB67}"/>
              </a:ext>
            </a:extLst>
          </p:cNvPr>
          <p:cNvSpPr txBox="1"/>
          <p:nvPr/>
        </p:nvSpPr>
        <p:spPr>
          <a:xfrm>
            <a:off x="143656" y="2611819"/>
            <a:ext cx="119047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6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OOD Summary, Advanced Topics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2D380-33B6-48EC-8744-F89F20911832}"/>
              </a:ext>
            </a:extLst>
          </p:cNvPr>
          <p:cNvSpPr txBox="1"/>
          <p:nvPr/>
        </p:nvSpPr>
        <p:spPr>
          <a:xfrm>
            <a:off x="3119699" y="1867574"/>
            <a:ext cx="5937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32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COMPENG 2SH4 Topic 17 (Ending)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F15D6-C69F-9AAC-02A5-FEC3DF0354BE}"/>
              </a:ext>
            </a:extLst>
          </p:cNvPr>
          <p:cNvSpPr txBox="1"/>
          <p:nvPr/>
        </p:nvSpPr>
        <p:spPr>
          <a:xfrm>
            <a:off x="4185188" y="5068547"/>
            <a:ext cx="3821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/>
              <a:t>Dr. Shahrukh Athar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4AEF90-8EBD-B626-BE37-C137EDD801FD}"/>
              </a:ext>
            </a:extLst>
          </p:cNvPr>
          <p:cNvSpPr txBox="1"/>
          <p:nvPr/>
        </p:nvSpPr>
        <p:spPr>
          <a:xfrm>
            <a:off x="1388853" y="6596390"/>
            <a:ext cx="10803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Credit: The current version of these slides has been developed by Dr. Scott Chen (2SH4 F23 C02). I am using these slides with his permission and have made only slight modifications.</a:t>
            </a:r>
          </a:p>
        </p:txBody>
      </p:sp>
    </p:spTree>
    <p:extLst>
      <p:ext uri="{BB962C8B-B14F-4D97-AF65-F5344CB8AC3E}">
        <p14:creationId xmlns:p14="http://schemas.microsoft.com/office/powerpoint/2010/main" val="195778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9563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54350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CA" sz="2200" b="1" dirty="0"/>
              <a:t>Piecing Together – OOD Design Process</a:t>
            </a:r>
          </a:p>
          <a:p>
            <a:pPr lvl="1"/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pic>
        <p:nvPicPr>
          <p:cNvPr id="12" name="Graphic 11" descr="Three circles each containing concentric circles.">
            <a:extLst>
              <a:ext uri="{FF2B5EF4-FFF2-40B4-BE49-F238E27FC236}">
                <a16:creationId xmlns:a16="http://schemas.microsoft.com/office/drawing/2014/main" id="{A4D28325-1E70-41A7-BF16-E0919AFAD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5895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379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OOD Principles Review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619115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Encapsulation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Codes and data pertaining to the implementation should be hidden away from external objects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Inheritance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Existing definition of a class should be easily and safely reused to derive the definition of another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Polymorphism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base class can be used to </a:t>
            </a:r>
            <a:r>
              <a:rPr lang="en-US" altLang="zh-CN" dirty="0"/>
              <a:t>ma</a:t>
            </a:r>
            <a:r>
              <a:rPr lang="en-CA" altLang="zh-CN" dirty="0" err="1"/>
              <a:t>ndate</a:t>
            </a:r>
            <a:r>
              <a:rPr lang="en-CA" dirty="0"/>
              <a:t> many </a:t>
            </a:r>
            <a:r>
              <a:rPr lang="en-CA" i="1" u="sng" dirty="0"/>
              <a:t>related</a:t>
            </a:r>
            <a:r>
              <a:rPr lang="en-CA" dirty="0"/>
              <a:t> derived classes to share certain identical behaviours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Abstraction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Classes should be designed such that external programmers can focus on how to interact with the objects rather than how their classes are implemented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28870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OOD Convenience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5756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Define “What”, then “How”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Programmers focus on defining objects and their behaviours (i.e. powered-up libraries)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Then focus on the procedures of how objects interact with each other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Detailed interactions are abstracted by compiler support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Design Procedures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Understand the OOD features provided by your choice of programming language (e.g., C++)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Design and construct classes and class hierarchy to create a set of required compound data types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This is where you’d need all the OOD support to design the “right set of classes” for your tasks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Design program that instantiates your defined types, then facilitate interactions among them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This part is 99% identical as procedural programming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Revisit your class designs, optimize your class hierarchy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Refactoring, reorganizing class hierarchy, improve code-sharing, pave for expandability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UML Diagram becomes </a:t>
            </a:r>
            <a:r>
              <a:rPr lang="en-CA" b="1" dirty="0"/>
              <a:t>Extremely Useful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96317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OOD Example – Enemy (Again)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5756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Define “What”, then “How”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 a game, we need many enemies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Every enemy should be able to 1) move 2) attack player 3) take damage 4) die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We may need up to 20+ enemy types to make the game interesting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At game start, enemies of different varieties should be instantiated to challenge player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</a:t>
            </a:fld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243921-6641-C929-DD2E-B57DD43EAE5A}"/>
              </a:ext>
            </a:extLst>
          </p:cNvPr>
          <p:cNvSpPr/>
          <p:nvPr/>
        </p:nvSpPr>
        <p:spPr>
          <a:xfrm>
            <a:off x="2066057" y="3394764"/>
            <a:ext cx="1353146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Enemy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6B59D2-EDD2-A2CE-FD2C-D2494EEBC5F8}"/>
              </a:ext>
            </a:extLst>
          </p:cNvPr>
          <p:cNvSpPr/>
          <p:nvPr/>
        </p:nvSpPr>
        <p:spPr>
          <a:xfrm>
            <a:off x="1217758" y="4392006"/>
            <a:ext cx="134286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move(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dir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16C6B2-2A38-EA5C-3083-40F428BD8174}"/>
              </a:ext>
            </a:extLst>
          </p:cNvPr>
          <p:cNvSpPr/>
          <p:nvPr/>
        </p:nvSpPr>
        <p:spPr>
          <a:xfrm>
            <a:off x="3003646" y="4033013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- HP, ATK, DEF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93B425-C9C4-A37B-9762-0EBAF5C91610}"/>
              </a:ext>
            </a:extLst>
          </p:cNvPr>
          <p:cNvSpPr/>
          <p:nvPr/>
        </p:nvSpPr>
        <p:spPr>
          <a:xfrm>
            <a:off x="2956838" y="4600350"/>
            <a:ext cx="134286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attack(pl)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31ED01-1232-8214-D302-EC8B2C8B5978}"/>
              </a:ext>
            </a:extLst>
          </p:cNvPr>
          <p:cNvSpPr/>
          <p:nvPr/>
        </p:nvSpPr>
        <p:spPr>
          <a:xfrm>
            <a:off x="1519141" y="4954524"/>
            <a:ext cx="134286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(dm)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4A9A02-CDE9-05E6-6228-9E6C6902181C}"/>
              </a:ext>
            </a:extLst>
          </p:cNvPr>
          <p:cNvSpPr/>
          <p:nvPr/>
        </p:nvSpPr>
        <p:spPr>
          <a:xfrm>
            <a:off x="3003646" y="5237639"/>
            <a:ext cx="134286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688EB8-313F-87FD-D06E-7C2A6C434EBA}"/>
              </a:ext>
            </a:extLst>
          </p:cNvPr>
          <p:cNvSpPr/>
          <p:nvPr/>
        </p:nvSpPr>
        <p:spPr>
          <a:xfrm>
            <a:off x="1331403" y="3873278"/>
            <a:ext cx="134286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Enemy()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179E5CCE-C5D4-5A30-0A6F-429543B73F4B}"/>
              </a:ext>
            </a:extLst>
          </p:cNvPr>
          <p:cNvSpPr/>
          <p:nvPr/>
        </p:nvSpPr>
        <p:spPr>
          <a:xfrm>
            <a:off x="5164183" y="4134492"/>
            <a:ext cx="1149531" cy="5855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8AC80C-77B7-2300-7CB5-96635818FAC8}"/>
              </a:ext>
            </a:extLst>
          </p:cNvPr>
          <p:cNvSpPr/>
          <p:nvPr/>
        </p:nvSpPr>
        <p:spPr>
          <a:xfrm>
            <a:off x="6807872" y="3600797"/>
            <a:ext cx="1500105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Enemy</a:t>
            </a:r>
            <a:endParaRPr lang="en-US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C2053A-F87F-1940-2138-D62B837BBCC0}"/>
              </a:ext>
            </a:extLst>
          </p:cNvPr>
          <p:cNvSpPr/>
          <p:nvPr/>
        </p:nvSpPr>
        <p:spPr>
          <a:xfrm>
            <a:off x="6810103" y="3947819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# HP, ATK, DEF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21064D-CDFE-2E7C-84FB-A7EBA6F080AE}"/>
              </a:ext>
            </a:extLst>
          </p:cNvPr>
          <p:cNvSpPr/>
          <p:nvPr/>
        </p:nvSpPr>
        <p:spPr>
          <a:xfrm>
            <a:off x="6807872" y="4224829"/>
            <a:ext cx="1497873" cy="96367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Enemy()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move(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dir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D93C57-3B90-E401-24E6-0B3811B15731}"/>
              </a:ext>
            </a:extLst>
          </p:cNvPr>
          <p:cNvSpPr/>
          <p:nvPr/>
        </p:nvSpPr>
        <p:spPr>
          <a:xfrm>
            <a:off x="9006788" y="3615693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Goblin</a:t>
            </a:r>
            <a:endParaRPr lang="en-US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EFEB66-A025-C3C8-AE06-6315257B38FE}"/>
              </a:ext>
            </a:extLst>
          </p:cNvPr>
          <p:cNvSpPr/>
          <p:nvPr/>
        </p:nvSpPr>
        <p:spPr>
          <a:xfrm>
            <a:off x="9006788" y="4221172"/>
            <a:ext cx="1500104" cy="33212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Hydra</a:t>
            </a:r>
            <a:endParaRPr lang="en-US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E0C6E0-AA6B-4D69-9A4A-44655F080006}"/>
              </a:ext>
            </a:extLst>
          </p:cNvPr>
          <p:cNvSpPr/>
          <p:nvPr/>
        </p:nvSpPr>
        <p:spPr>
          <a:xfrm>
            <a:off x="9006788" y="4846374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Skeleton</a:t>
            </a:r>
            <a:endParaRPr lang="en-US" b="1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A9C4ED1-EA6F-6E78-CDD2-604EEA2208E0}"/>
              </a:ext>
            </a:extLst>
          </p:cNvPr>
          <p:cNvSpPr/>
          <p:nvPr/>
        </p:nvSpPr>
        <p:spPr>
          <a:xfrm rot="16200000">
            <a:off x="8289355" y="4343805"/>
            <a:ext cx="196286" cy="127132"/>
          </a:xfrm>
          <a:prstGeom prst="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5B9F7AC-3285-ED3D-EBB7-087AC55FFE54}"/>
              </a:ext>
            </a:extLst>
          </p:cNvPr>
          <p:cNvCxnSpPr>
            <a:stCxn id="21" idx="3"/>
          </p:cNvCxnSpPr>
          <p:nvPr/>
        </p:nvCxnSpPr>
        <p:spPr>
          <a:xfrm>
            <a:off x="8451064" y="4407371"/>
            <a:ext cx="55572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425B02C-10A7-DEC9-407B-3D02FBE65B97}"/>
              </a:ext>
            </a:extLst>
          </p:cNvPr>
          <p:cNvCxnSpPr>
            <a:stCxn id="18" idx="1"/>
            <a:endCxn id="21" idx="3"/>
          </p:cNvCxnSpPr>
          <p:nvPr/>
        </p:nvCxnSpPr>
        <p:spPr>
          <a:xfrm rot="10800000" flipV="1">
            <a:off x="8451064" y="3781755"/>
            <a:ext cx="555724" cy="625615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FEF4D68-562E-CD80-C55A-AA5748510AF6}"/>
              </a:ext>
            </a:extLst>
          </p:cNvPr>
          <p:cNvCxnSpPr>
            <a:cxnSpLocks/>
            <a:stCxn id="20" idx="1"/>
            <a:endCxn id="21" idx="3"/>
          </p:cNvCxnSpPr>
          <p:nvPr/>
        </p:nvCxnSpPr>
        <p:spPr>
          <a:xfrm rot="10800000">
            <a:off x="8451064" y="4407371"/>
            <a:ext cx="555724" cy="605066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peech Bubble: Rectangle 28">
            <a:extLst>
              <a:ext uri="{FF2B5EF4-FFF2-40B4-BE49-F238E27FC236}">
                <a16:creationId xmlns:a16="http://schemas.microsoft.com/office/drawing/2014/main" id="{28432F69-C7DB-361B-D3D9-DF20A7512A44}"/>
              </a:ext>
            </a:extLst>
          </p:cNvPr>
          <p:cNvSpPr/>
          <p:nvPr/>
        </p:nvSpPr>
        <p:spPr>
          <a:xfrm>
            <a:off x="4668618" y="3527540"/>
            <a:ext cx="1861392" cy="388245"/>
          </a:xfrm>
          <a:prstGeom prst="wedgeRectCallout">
            <a:avLst>
              <a:gd name="adj1" fmla="val 530"/>
              <a:gd name="adj2" fmla="val 12701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Define a Base Class</a:t>
            </a:r>
          </a:p>
        </p:txBody>
      </p:sp>
      <p:sp>
        <p:nvSpPr>
          <p:cNvPr id="30" name="Speech Bubble: Rectangle 29">
            <a:extLst>
              <a:ext uri="{FF2B5EF4-FFF2-40B4-BE49-F238E27FC236}">
                <a16:creationId xmlns:a16="http://schemas.microsoft.com/office/drawing/2014/main" id="{FAAF3A59-DC53-C667-A64A-D36E86CCFCC1}"/>
              </a:ext>
            </a:extLst>
          </p:cNvPr>
          <p:cNvSpPr/>
          <p:nvPr/>
        </p:nvSpPr>
        <p:spPr>
          <a:xfrm>
            <a:off x="7242001" y="5516924"/>
            <a:ext cx="1861392" cy="388245"/>
          </a:xfrm>
          <a:prstGeom prst="wedgeRectCallout">
            <a:avLst>
              <a:gd name="adj1" fmla="val 31408"/>
              <a:gd name="adj2" fmla="val -16233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Deploy Inheritance</a:t>
            </a:r>
          </a:p>
        </p:txBody>
      </p:sp>
      <p:sp>
        <p:nvSpPr>
          <p:cNvPr id="31" name="Speech Bubble: Rectangle 30">
            <a:extLst>
              <a:ext uri="{FF2B5EF4-FFF2-40B4-BE49-F238E27FC236}">
                <a16:creationId xmlns:a16="http://schemas.microsoft.com/office/drawing/2014/main" id="{E463AF46-CD72-A8E9-7472-AD2415BD0F26}"/>
              </a:ext>
            </a:extLst>
          </p:cNvPr>
          <p:cNvSpPr/>
          <p:nvPr/>
        </p:nvSpPr>
        <p:spPr>
          <a:xfrm>
            <a:off x="9466054" y="3109361"/>
            <a:ext cx="1132277" cy="388245"/>
          </a:xfrm>
          <a:prstGeom prst="wedgeRectCallout">
            <a:avLst>
              <a:gd name="adj1" fmla="val -40173"/>
              <a:gd name="adj2" fmla="val 70940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Specialize!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F4F4FB-2E69-D110-95CD-6C0A61451791}"/>
              </a:ext>
            </a:extLst>
          </p:cNvPr>
          <p:cNvSpPr txBox="1"/>
          <p:nvPr/>
        </p:nvSpPr>
        <p:spPr>
          <a:xfrm>
            <a:off x="7949682" y="210"/>
            <a:ext cx="4242319" cy="67710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b="1" dirty="0"/>
              <a:t>Watch before proceeding further: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16-2] Polymorphism Application</a:t>
            </a:r>
          </a:p>
        </p:txBody>
      </p:sp>
    </p:spTree>
    <p:extLst>
      <p:ext uri="{BB962C8B-B14F-4D97-AF65-F5344CB8AC3E}">
        <p14:creationId xmlns:p14="http://schemas.microsoft.com/office/powerpoint/2010/main" val="360413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9" grpId="0" animBg="1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OOD Example – Enemy (Again)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5756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Design Procedures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Understand the OOD features provided by your choice of programming language (e.g., C++)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Design and construct classes and class hierarchy to create a set of required compound data types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This is where you’d need all the OOD support to design the “right set of classes” for your tasks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</a:t>
            </a:fld>
            <a:endParaRPr lang="en-C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8AC80C-77B7-2300-7CB5-96635818FAC8}"/>
              </a:ext>
            </a:extLst>
          </p:cNvPr>
          <p:cNvSpPr/>
          <p:nvPr/>
        </p:nvSpPr>
        <p:spPr>
          <a:xfrm>
            <a:off x="1195564" y="3555301"/>
            <a:ext cx="1500105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Enemy</a:t>
            </a:r>
            <a:endParaRPr lang="en-US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C2053A-F87F-1940-2138-D62B837BBCC0}"/>
              </a:ext>
            </a:extLst>
          </p:cNvPr>
          <p:cNvSpPr/>
          <p:nvPr/>
        </p:nvSpPr>
        <p:spPr>
          <a:xfrm>
            <a:off x="1197795" y="3902323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# HP, ATK, DEF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21064D-CDFE-2E7C-84FB-A7EBA6F080AE}"/>
              </a:ext>
            </a:extLst>
          </p:cNvPr>
          <p:cNvSpPr/>
          <p:nvPr/>
        </p:nvSpPr>
        <p:spPr>
          <a:xfrm>
            <a:off x="1195564" y="4179333"/>
            <a:ext cx="1497873" cy="96367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Enemy()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move(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dir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D93C57-3B90-E401-24E6-0B3811B15731}"/>
              </a:ext>
            </a:extLst>
          </p:cNvPr>
          <p:cNvSpPr/>
          <p:nvPr/>
        </p:nvSpPr>
        <p:spPr>
          <a:xfrm>
            <a:off x="3394480" y="3544074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Goblin</a:t>
            </a:r>
            <a:endParaRPr lang="en-US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EFEB66-A025-C3C8-AE06-6315257B38FE}"/>
              </a:ext>
            </a:extLst>
          </p:cNvPr>
          <p:cNvSpPr/>
          <p:nvPr/>
        </p:nvSpPr>
        <p:spPr>
          <a:xfrm>
            <a:off x="3394480" y="4428229"/>
            <a:ext cx="1500104" cy="33212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Hydra</a:t>
            </a:r>
            <a:endParaRPr lang="en-US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E0C6E0-AA6B-4D69-9A4A-44655F080006}"/>
              </a:ext>
            </a:extLst>
          </p:cNvPr>
          <p:cNvSpPr/>
          <p:nvPr/>
        </p:nvSpPr>
        <p:spPr>
          <a:xfrm>
            <a:off x="3394480" y="5297274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Skeleton</a:t>
            </a:r>
            <a:endParaRPr lang="en-US" b="1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A9C4ED1-EA6F-6E78-CDD2-604EEA2208E0}"/>
              </a:ext>
            </a:extLst>
          </p:cNvPr>
          <p:cNvSpPr/>
          <p:nvPr/>
        </p:nvSpPr>
        <p:spPr>
          <a:xfrm rot="16200000">
            <a:off x="2677047" y="4298309"/>
            <a:ext cx="196286" cy="127132"/>
          </a:xfrm>
          <a:prstGeom prst="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425B02C-10A7-DEC9-407B-3D02FBE65B97}"/>
              </a:ext>
            </a:extLst>
          </p:cNvPr>
          <p:cNvCxnSpPr>
            <a:stCxn id="18" idx="1"/>
            <a:endCxn id="21" idx="3"/>
          </p:cNvCxnSpPr>
          <p:nvPr/>
        </p:nvCxnSpPr>
        <p:spPr>
          <a:xfrm rot="10800000" flipV="1">
            <a:off x="2838756" y="3710137"/>
            <a:ext cx="555724" cy="651738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FEF4D68-562E-CD80-C55A-AA5748510AF6}"/>
              </a:ext>
            </a:extLst>
          </p:cNvPr>
          <p:cNvCxnSpPr>
            <a:cxnSpLocks/>
            <a:stCxn id="20" idx="1"/>
            <a:endCxn id="21" idx="3"/>
          </p:cNvCxnSpPr>
          <p:nvPr/>
        </p:nvCxnSpPr>
        <p:spPr>
          <a:xfrm rot="10800000">
            <a:off x="2838756" y="4361875"/>
            <a:ext cx="555724" cy="1101462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32AE709-68D1-FE39-E5BB-680717B8A710}"/>
              </a:ext>
            </a:extLst>
          </p:cNvPr>
          <p:cNvSpPr/>
          <p:nvPr/>
        </p:nvSpPr>
        <p:spPr>
          <a:xfrm>
            <a:off x="5593394" y="2978703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GoblinMinor</a:t>
            </a:r>
            <a:endParaRPr lang="en-US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72FDF3-8C56-5B59-6135-BCF2895B8DC3}"/>
              </a:ext>
            </a:extLst>
          </p:cNvPr>
          <p:cNvSpPr/>
          <p:nvPr/>
        </p:nvSpPr>
        <p:spPr>
          <a:xfrm>
            <a:off x="5593394" y="3619573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GoblinMajor</a:t>
            </a:r>
            <a:endParaRPr lang="en-US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6729CC-AA5E-7FF5-4EA7-FF664A772BA6}"/>
              </a:ext>
            </a:extLst>
          </p:cNvPr>
          <p:cNvSpPr/>
          <p:nvPr/>
        </p:nvSpPr>
        <p:spPr>
          <a:xfrm>
            <a:off x="5595624" y="3264415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taunt()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B29DED-0184-A301-2949-7B9D821E19FE}"/>
              </a:ext>
            </a:extLst>
          </p:cNvPr>
          <p:cNvSpPr/>
          <p:nvPr/>
        </p:nvSpPr>
        <p:spPr>
          <a:xfrm>
            <a:off x="5593394" y="3960925"/>
            <a:ext cx="1497874" cy="410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taunt()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summonMinor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CAED5BD-C80B-9E07-6E86-C2AEE2634DE9}"/>
              </a:ext>
            </a:extLst>
          </p:cNvPr>
          <p:cNvSpPr/>
          <p:nvPr/>
        </p:nvSpPr>
        <p:spPr>
          <a:xfrm rot="16200000">
            <a:off x="4860006" y="3646815"/>
            <a:ext cx="196286" cy="127132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2A052AB-A8E0-C11E-9945-D4BBFF71A07B}"/>
              </a:ext>
            </a:extLst>
          </p:cNvPr>
          <p:cNvCxnSpPr>
            <a:stCxn id="24" idx="1"/>
            <a:endCxn id="30" idx="3"/>
          </p:cNvCxnSpPr>
          <p:nvPr/>
        </p:nvCxnSpPr>
        <p:spPr>
          <a:xfrm rot="10800000" flipV="1">
            <a:off x="5021716" y="3144765"/>
            <a:ext cx="571679" cy="565615"/>
          </a:xfrm>
          <a:prstGeom prst="bentConnector3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589B03D1-9123-58BD-48E8-1E71069C5599}"/>
              </a:ext>
            </a:extLst>
          </p:cNvPr>
          <p:cNvCxnSpPr>
            <a:cxnSpLocks/>
            <a:stCxn id="27" idx="1"/>
            <a:endCxn id="30" idx="3"/>
          </p:cNvCxnSpPr>
          <p:nvPr/>
        </p:nvCxnSpPr>
        <p:spPr>
          <a:xfrm rot="10800000">
            <a:off x="5021716" y="3710382"/>
            <a:ext cx="571679" cy="75255"/>
          </a:xfrm>
          <a:prstGeom prst="bentConnector3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ABF17F3-CA8B-8E66-C0C6-819E0F64970D}"/>
              </a:ext>
            </a:extLst>
          </p:cNvPr>
          <p:cNvSpPr/>
          <p:nvPr/>
        </p:nvSpPr>
        <p:spPr>
          <a:xfrm>
            <a:off x="7665177" y="3640696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SwampHydra</a:t>
            </a:r>
            <a:endParaRPr lang="en-US" b="1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C0A6AEF-967B-E3F1-2700-92FA34B85A6C}"/>
              </a:ext>
            </a:extLst>
          </p:cNvPr>
          <p:cNvSpPr/>
          <p:nvPr/>
        </p:nvSpPr>
        <p:spPr>
          <a:xfrm>
            <a:off x="7665177" y="4281566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IceHydra</a:t>
            </a:r>
            <a:endParaRPr lang="en-US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BEE63F-77D8-32E6-0C39-A31E9687FFFF}"/>
              </a:ext>
            </a:extLst>
          </p:cNvPr>
          <p:cNvSpPr/>
          <p:nvPr/>
        </p:nvSpPr>
        <p:spPr>
          <a:xfrm>
            <a:off x="7667407" y="3926408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heal()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45412D-AC9E-6EFC-3C4B-941A138A0060}"/>
              </a:ext>
            </a:extLst>
          </p:cNvPr>
          <p:cNvSpPr/>
          <p:nvPr/>
        </p:nvSpPr>
        <p:spPr>
          <a:xfrm>
            <a:off x="7665177" y="4622918"/>
            <a:ext cx="1497874" cy="410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explode()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revive()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199722A4-4FC4-85A5-1494-3D8E97148901}"/>
              </a:ext>
            </a:extLst>
          </p:cNvPr>
          <p:cNvSpPr/>
          <p:nvPr/>
        </p:nvSpPr>
        <p:spPr>
          <a:xfrm rot="16200000">
            <a:off x="4875961" y="4528904"/>
            <a:ext cx="196286" cy="127132"/>
          </a:xfrm>
          <a:prstGeom prst="triangl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25526E51-575A-F509-357D-50CF00AF3C21}"/>
              </a:ext>
            </a:extLst>
          </p:cNvPr>
          <p:cNvCxnSpPr>
            <a:cxnSpLocks/>
            <a:stCxn id="19" idx="1"/>
            <a:endCxn id="21" idx="3"/>
          </p:cNvCxnSpPr>
          <p:nvPr/>
        </p:nvCxnSpPr>
        <p:spPr>
          <a:xfrm rot="10800000">
            <a:off x="2838756" y="4361876"/>
            <a:ext cx="555724" cy="232417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D95196D-E0F2-8655-2673-640B65560DDF}"/>
              </a:ext>
            </a:extLst>
          </p:cNvPr>
          <p:cNvCxnSpPr>
            <a:cxnSpLocks/>
            <a:stCxn id="40" idx="1"/>
            <a:endCxn id="44" idx="3"/>
          </p:cNvCxnSpPr>
          <p:nvPr/>
        </p:nvCxnSpPr>
        <p:spPr>
          <a:xfrm rot="10800000" flipV="1">
            <a:off x="5037671" y="3806758"/>
            <a:ext cx="2627507" cy="785711"/>
          </a:xfrm>
          <a:prstGeom prst="bentConnector3">
            <a:avLst>
              <a:gd name="adj1" fmla="val 11885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162C036F-C988-AA5A-3A17-5450A7F8DE2C}"/>
              </a:ext>
            </a:extLst>
          </p:cNvPr>
          <p:cNvCxnSpPr>
            <a:cxnSpLocks/>
            <a:stCxn id="41" idx="1"/>
            <a:endCxn id="44" idx="3"/>
          </p:cNvCxnSpPr>
          <p:nvPr/>
        </p:nvCxnSpPr>
        <p:spPr>
          <a:xfrm rot="10800000" flipV="1">
            <a:off x="5037671" y="4447628"/>
            <a:ext cx="2627507" cy="144841"/>
          </a:xfrm>
          <a:prstGeom prst="bentConnector3">
            <a:avLst>
              <a:gd name="adj1" fmla="val 11553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E2045399-7704-3068-F987-B0A01A61A319}"/>
              </a:ext>
            </a:extLst>
          </p:cNvPr>
          <p:cNvSpPr/>
          <p:nvPr/>
        </p:nvSpPr>
        <p:spPr>
          <a:xfrm>
            <a:off x="9685719" y="4163537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SkeleArcher</a:t>
            </a:r>
            <a:endParaRPr lang="en-US" b="1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E040276-B763-939A-4164-6C2B6BFC1402}"/>
              </a:ext>
            </a:extLst>
          </p:cNvPr>
          <p:cNvSpPr/>
          <p:nvPr/>
        </p:nvSpPr>
        <p:spPr>
          <a:xfrm>
            <a:off x="9685719" y="4804407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SkeleSworder</a:t>
            </a:r>
            <a:endParaRPr lang="en-US" b="1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874C36B-2791-1184-161E-B7DEB1D9DAEC}"/>
              </a:ext>
            </a:extLst>
          </p:cNvPr>
          <p:cNvSpPr/>
          <p:nvPr/>
        </p:nvSpPr>
        <p:spPr>
          <a:xfrm>
            <a:off x="9687949" y="4449249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revive()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4D3A83D-35F6-7A3D-A904-A6B08AE9F54F}"/>
              </a:ext>
            </a:extLst>
          </p:cNvPr>
          <p:cNvSpPr/>
          <p:nvPr/>
        </p:nvSpPr>
        <p:spPr>
          <a:xfrm>
            <a:off x="9685719" y="5145759"/>
            <a:ext cx="1497874" cy="410900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revive()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transform()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51D232B1-6145-B18C-CA78-1175DC910B4A}"/>
              </a:ext>
            </a:extLst>
          </p:cNvPr>
          <p:cNvSpPr/>
          <p:nvPr/>
        </p:nvSpPr>
        <p:spPr>
          <a:xfrm rot="16200000">
            <a:off x="4887161" y="5396444"/>
            <a:ext cx="196286" cy="127132"/>
          </a:xfrm>
          <a:prstGeom prst="triangl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92C89886-239D-15D3-9057-1E170C9AB108}"/>
              </a:ext>
            </a:extLst>
          </p:cNvPr>
          <p:cNvCxnSpPr>
            <a:cxnSpLocks/>
            <a:stCxn id="61" idx="1"/>
            <a:endCxn id="65" idx="3"/>
          </p:cNvCxnSpPr>
          <p:nvPr/>
        </p:nvCxnSpPr>
        <p:spPr>
          <a:xfrm rot="10800000" flipV="1">
            <a:off x="5048871" y="4329600"/>
            <a:ext cx="4636849" cy="1130410"/>
          </a:xfrm>
          <a:prstGeom prst="bentConnector3">
            <a:avLst>
              <a:gd name="adj1" fmla="val 5488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3FC5B5D6-FB08-670E-CDFB-9CC5B38B672B}"/>
              </a:ext>
            </a:extLst>
          </p:cNvPr>
          <p:cNvCxnSpPr>
            <a:cxnSpLocks/>
            <a:stCxn id="62" idx="1"/>
            <a:endCxn id="65" idx="3"/>
          </p:cNvCxnSpPr>
          <p:nvPr/>
        </p:nvCxnSpPr>
        <p:spPr>
          <a:xfrm rot="10800000" flipV="1">
            <a:off x="5048871" y="4970470"/>
            <a:ext cx="4636849" cy="489540"/>
          </a:xfrm>
          <a:prstGeom prst="bentConnector3">
            <a:avLst>
              <a:gd name="adj1" fmla="val 5301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Speech Bubble: Rectangle 73">
            <a:extLst>
              <a:ext uri="{FF2B5EF4-FFF2-40B4-BE49-F238E27FC236}">
                <a16:creationId xmlns:a16="http://schemas.microsoft.com/office/drawing/2014/main" id="{36927E51-F397-DEEB-105B-F3223A1860EB}"/>
              </a:ext>
            </a:extLst>
          </p:cNvPr>
          <p:cNvSpPr/>
          <p:nvPr/>
        </p:nvSpPr>
        <p:spPr>
          <a:xfrm>
            <a:off x="7281837" y="2941821"/>
            <a:ext cx="1959077" cy="388245"/>
          </a:xfrm>
          <a:prstGeom prst="wedgeRectCallout">
            <a:avLst>
              <a:gd name="adj1" fmla="val -57954"/>
              <a:gd name="adj2" fmla="val 8439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More Specialization</a:t>
            </a:r>
          </a:p>
        </p:txBody>
      </p:sp>
      <p:sp>
        <p:nvSpPr>
          <p:cNvPr id="75" name="Speech Bubble: Rectangle 74">
            <a:extLst>
              <a:ext uri="{FF2B5EF4-FFF2-40B4-BE49-F238E27FC236}">
                <a16:creationId xmlns:a16="http://schemas.microsoft.com/office/drawing/2014/main" id="{3C96F8B0-0BF2-2D13-1440-0F296E0F4725}"/>
              </a:ext>
            </a:extLst>
          </p:cNvPr>
          <p:cNvSpPr/>
          <p:nvPr/>
        </p:nvSpPr>
        <p:spPr>
          <a:xfrm>
            <a:off x="2429691" y="2955677"/>
            <a:ext cx="2222823" cy="317041"/>
          </a:xfrm>
          <a:prstGeom prst="wedgeRectCallout">
            <a:avLst>
              <a:gd name="adj1" fmla="val 63536"/>
              <a:gd name="adj2" fmla="val 11333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Secondary Inheritance</a:t>
            </a:r>
          </a:p>
        </p:txBody>
      </p:sp>
    </p:spTree>
    <p:extLst>
      <p:ext uri="{BB962C8B-B14F-4D97-AF65-F5344CB8AC3E}">
        <p14:creationId xmlns:p14="http://schemas.microsoft.com/office/powerpoint/2010/main" val="1742307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7" grpId="0" animBg="1"/>
      <p:bldP spid="28" grpId="0" animBg="1"/>
      <p:bldP spid="29" grpId="0" animBg="1"/>
      <p:bldP spid="30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74" grpId="0" animBg="1"/>
      <p:bldP spid="7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OOD Example – Enemy (Again)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5756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Design Procedures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Understand the OOD features provided by your choice of programming language (e.g., C++)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Design and construct classes and class hierarchy to create a set of required compound data types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This is where you’d need all the OOD support to design the “right set of classes” for your tasks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7</a:t>
            </a:fld>
            <a:endParaRPr lang="en-C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8AC80C-77B7-2300-7CB5-96635818FAC8}"/>
              </a:ext>
            </a:extLst>
          </p:cNvPr>
          <p:cNvSpPr/>
          <p:nvPr/>
        </p:nvSpPr>
        <p:spPr>
          <a:xfrm>
            <a:off x="1195564" y="3555301"/>
            <a:ext cx="1500105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Enemy</a:t>
            </a:r>
            <a:endParaRPr lang="en-US" b="1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C2053A-F87F-1940-2138-D62B837BBCC0}"/>
              </a:ext>
            </a:extLst>
          </p:cNvPr>
          <p:cNvSpPr/>
          <p:nvPr/>
        </p:nvSpPr>
        <p:spPr>
          <a:xfrm>
            <a:off x="1197795" y="3902323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# HP, ATK, DEF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21064D-CDFE-2E7C-84FB-A7EBA6F080AE}"/>
              </a:ext>
            </a:extLst>
          </p:cNvPr>
          <p:cNvSpPr/>
          <p:nvPr/>
        </p:nvSpPr>
        <p:spPr>
          <a:xfrm>
            <a:off x="1195564" y="4179333"/>
            <a:ext cx="1497873" cy="96367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Enemy()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move(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dir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i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1100" b="1" i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D93C57-3B90-E401-24E6-0B3811B15731}"/>
              </a:ext>
            </a:extLst>
          </p:cNvPr>
          <p:cNvSpPr/>
          <p:nvPr/>
        </p:nvSpPr>
        <p:spPr>
          <a:xfrm>
            <a:off x="3394480" y="3544074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Goblin</a:t>
            </a:r>
            <a:endParaRPr lang="en-US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EFEB66-A025-C3C8-AE06-6315257B38FE}"/>
              </a:ext>
            </a:extLst>
          </p:cNvPr>
          <p:cNvSpPr/>
          <p:nvPr/>
        </p:nvSpPr>
        <p:spPr>
          <a:xfrm>
            <a:off x="3394480" y="4428229"/>
            <a:ext cx="1500104" cy="33212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Hydra</a:t>
            </a:r>
            <a:endParaRPr lang="en-US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E0C6E0-AA6B-4D69-9A4A-44655F080006}"/>
              </a:ext>
            </a:extLst>
          </p:cNvPr>
          <p:cNvSpPr/>
          <p:nvPr/>
        </p:nvSpPr>
        <p:spPr>
          <a:xfrm>
            <a:off x="3394480" y="5297274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Skeleton</a:t>
            </a:r>
            <a:endParaRPr lang="en-US" b="1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A9C4ED1-EA6F-6E78-CDD2-604EEA2208E0}"/>
              </a:ext>
            </a:extLst>
          </p:cNvPr>
          <p:cNvSpPr/>
          <p:nvPr/>
        </p:nvSpPr>
        <p:spPr>
          <a:xfrm rot="16200000">
            <a:off x="2677047" y="4298309"/>
            <a:ext cx="196286" cy="127132"/>
          </a:xfrm>
          <a:prstGeom prst="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425B02C-10A7-DEC9-407B-3D02FBE65B97}"/>
              </a:ext>
            </a:extLst>
          </p:cNvPr>
          <p:cNvCxnSpPr>
            <a:stCxn id="18" idx="1"/>
            <a:endCxn id="21" idx="3"/>
          </p:cNvCxnSpPr>
          <p:nvPr/>
        </p:nvCxnSpPr>
        <p:spPr>
          <a:xfrm rot="10800000" flipV="1">
            <a:off x="2838756" y="3710137"/>
            <a:ext cx="555724" cy="651738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FEF4D68-562E-CD80-C55A-AA5748510AF6}"/>
              </a:ext>
            </a:extLst>
          </p:cNvPr>
          <p:cNvCxnSpPr>
            <a:cxnSpLocks/>
            <a:stCxn id="20" idx="1"/>
            <a:endCxn id="21" idx="3"/>
          </p:cNvCxnSpPr>
          <p:nvPr/>
        </p:nvCxnSpPr>
        <p:spPr>
          <a:xfrm rot="10800000">
            <a:off x="2838756" y="4361875"/>
            <a:ext cx="555724" cy="1101462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32AE709-68D1-FE39-E5BB-680717B8A710}"/>
              </a:ext>
            </a:extLst>
          </p:cNvPr>
          <p:cNvSpPr/>
          <p:nvPr/>
        </p:nvSpPr>
        <p:spPr>
          <a:xfrm>
            <a:off x="5593394" y="2978703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GoblinMinor</a:t>
            </a:r>
            <a:endParaRPr lang="en-US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72FDF3-8C56-5B59-6135-BCF2895B8DC3}"/>
              </a:ext>
            </a:extLst>
          </p:cNvPr>
          <p:cNvSpPr/>
          <p:nvPr/>
        </p:nvSpPr>
        <p:spPr>
          <a:xfrm>
            <a:off x="5593394" y="3619573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GoblinMajor</a:t>
            </a:r>
            <a:endParaRPr lang="en-US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6729CC-AA5E-7FF5-4EA7-FF664A772BA6}"/>
              </a:ext>
            </a:extLst>
          </p:cNvPr>
          <p:cNvSpPr/>
          <p:nvPr/>
        </p:nvSpPr>
        <p:spPr>
          <a:xfrm>
            <a:off x="5595624" y="3264415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taunt()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B29DED-0184-A301-2949-7B9D821E19FE}"/>
              </a:ext>
            </a:extLst>
          </p:cNvPr>
          <p:cNvSpPr/>
          <p:nvPr/>
        </p:nvSpPr>
        <p:spPr>
          <a:xfrm>
            <a:off x="5593394" y="3960925"/>
            <a:ext cx="1497874" cy="410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taunt()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summonMinor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CAED5BD-C80B-9E07-6E86-C2AEE2634DE9}"/>
              </a:ext>
            </a:extLst>
          </p:cNvPr>
          <p:cNvSpPr/>
          <p:nvPr/>
        </p:nvSpPr>
        <p:spPr>
          <a:xfrm rot="16200000">
            <a:off x="4860006" y="3646815"/>
            <a:ext cx="196286" cy="127132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2A052AB-A8E0-C11E-9945-D4BBFF71A07B}"/>
              </a:ext>
            </a:extLst>
          </p:cNvPr>
          <p:cNvCxnSpPr>
            <a:stCxn id="24" idx="1"/>
            <a:endCxn id="30" idx="3"/>
          </p:cNvCxnSpPr>
          <p:nvPr/>
        </p:nvCxnSpPr>
        <p:spPr>
          <a:xfrm rot="10800000" flipV="1">
            <a:off x="5021716" y="3144765"/>
            <a:ext cx="571679" cy="565615"/>
          </a:xfrm>
          <a:prstGeom prst="bentConnector3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589B03D1-9123-58BD-48E8-1E71069C5599}"/>
              </a:ext>
            </a:extLst>
          </p:cNvPr>
          <p:cNvCxnSpPr>
            <a:cxnSpLocks/>
            <a:stCxn id="27" idx="1"/>
            <a:endCxn id="30" idx="3"/>
          </p:cNvCxnSpPr>
          <p:nvPr/>
        </p:nvCxnSpPr>
        <p:spPr>
          <a:xfrm rot="10800000">
            <a:off x="5021716" y="3710382"/>
            <a:ext cx="571679" cy="75255"/>
          </a:xfrm>
          <a:prstGeom prst="bentConnector3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ABF17F3-CA8B-8E66-C0C6-819E0F64970D}"/>
              </a:ext>
            </a:extLst>
          </p:cNvPr>
          <p:cNvSpPr/>
          <p:nvPr/>
        </p:nvSpPr>
        <p:spPr>
          <a:xfrm>
            <a:off x="7665177" y="3640696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SwampHydra</a:t>
            </a:r>
            <a:endParaRPr lang="en-US" b="1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C0A6AEF-967B-E3F1-2700-92FA34B85A6C}"/>
              </a:ext>
            </a:extLst>
          </p:cNvPr>
          <p:cNvSpPr/>
          <p:nvPr/>
        </p:nvSpPr>
        <p:spPr>
          <a:xfrm>
            <a:off x="7665177" y="4281566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IceHydra</a:t>
            </a:r>
            <a:endParaRPr lang="en-US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BEE63F-77D8-32E6-0C39-A31E9687FFFF}"/>
              </a:ext>
            </a:extLst>
          </p:cNvPr>
          <p:cNvSpPr/>
          <p:nvPr/>
        </p:nvSpPr>
        <p:spPr>
          <a:xfrm>
            <a:off x="7667407" y="3926408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heal()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45412D-AC9E-6EFC-3C4B-941A138A0060}"/>
              </a:ext>
            </a:extLst>
          </p:cNvPr>
          <p:cNvSpPr/>
          <p:nvPr/>
        </p:nvSpPr>
        <p:spPr>
          <a:xfrm>
            <a:off x="7665177" y="4622918"/>
            <a:ext cx="1497874" cy="410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explode()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revive()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199722A4-4FC4-85A5-1494-3D8E97148901}"/>
              </a:ext>
            </a:extLst>
          </p:cNvPr>
          <p:cNvSpPr/>
          <p:nvPr/>
        </p:nvSpPr>
        <p:spPr>
          <a:xfrm rot="16200000">
            <a:off x="4875961" y="4528904"/>
            <a:ext cx="196286" cy="127132"/>
          </a:xfrm>
          <a:prstGeom prst="triangl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25526E51-575A-F509-357D-50CF00AF3C21}"/>
              </a:ext>
            </a:extLst>
          </p:cNvPr>
          <p:cNvCxnSpPr>
            <a:cxnSpLocks/>
            <a:stCxn id="19" idx="1"/>
            <a:endCxn id="21" idx="3"/>
          </p:cNvCxnSpPr>
          <p:nvPr/>
        </p:nvCxnSpPr>
        <p:spPr>
          <a:xfrm rot="10800000">
            <a:off x="2838756" y="4361876"/>
            <a:ext cx="555724" cy="232417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D95196D-E0F2-8655-2673-640B65560DDF}"/>
              </a:ext>
            </a:extLst>
          </p:cNvPr>
          <p:cNvCxnSpPr>
            <a:cxnSpLocks/>
            <a:stCxn id="40" idx="1"/>
            <a:endCxn id="44" idx="3"/>
          </p:cNvCxnSpPr>
          <p:nvPr/>
        </p:nvCxnSpPr>
        <p:spPr>
          <a:xfrm rot="10800000" flipV="1">
            <a:off x="5037671" y="3806758"/>
            <a:ext cx="2627507" cy="785711"/>
          </a:xfrm>
          <a:prstGeom prst="bentConnector3">
            <a:avLst>
              <a:gd name="adj1" fmla="val 11885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162C036F-C988-AA5A-3A17-5450A7F8DE2C}"/>
              </a:ext>
            </a:extLst>
          </p:cNvPr>
          <p:cNvCxnSpPr>
            <a:cxnSpLocks/>
            <a:stCxn id="41" idx="1"/>
            <a:endCxn id="44" idx="3"/>
          </p:cNvCxnSpPr>
          <p:nvPr/>
        </p:nvCxnSpPr>
        <p:spPr>
          <a:xfrm rot="10800000" flipV="1">
            <a:off x="5037671" y="4447628"/>
            <a:ext cx="2627507" cy="144841"/>
          </a:xfrm>
          <a:prstGeom prst="bentConnector3">
            <a:avLst>
              <a:gd name="adj1" fmla="val 11553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E2045399-7704-3068-F987-B0A01A61A319}"/>
              </a:ext>
            </a:extLst>
          </p:cNvPr>
          <p:cNvSpPr/>
          <p:nvPr/>
        </p:nvSpPr>
        <p:spPr>
          <a:xfrm>
            <a:off x="9685719" y="4163537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SkeleArcher</a:t>
            </a:r>
            <a:endParaRPr lang="en-US" b="1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E040276-B763-939A-4164-6C2B6BFC1402}"/>
              </a:ext>
            </a:extLst>
          </p:cNvPr>
          <p:cNvSpPr/>
          <p:nvPr/>
        </p:nvSpPr>
        <p:spPr>
          <a:xfrm>
            <a:off x="9685719" y="4804407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SkeleSworder</a:t>
            </a:r>
            <a:endParaRPr lang="en-US" b="1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874C36B-2791-1184-161E-B7DEB1D9DAEC}"/>
              </a:ext>
            </a:extLst>
          </p:cNvPr>
          <p:cNvSpPr/>
          <p:nvPr/>
        </p:nvSpPr>
        <p:spPr>
          <a:xfrm>
            <a:off x="9687949" y="4449249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revive()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4D3A83D-35F6-7A3D-A904-A6B08AE9F54F}"/>
              </a:ext>
            </a:extLst>
          </p:cNvPr>
          <p:cNvSpPr/>
          <p:nvPr/>
        </p:nvSpPr>
        <p:spPr>
          <a:xfrm>
            <a:off x="9685719" y="5145759"/>
            <a:ext cx="1497874" cy="410900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revive()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transform()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51D232B1-6145-B18C-CA78-1175DC910B4A}"/>
              </a:ext>
            </a:extLst>
          </p:cNvPr>
          <p:cNvSpPr/>
          <p:nvPr/>
        </p:nvSpPr>
        <p:spPr>
          <a:xfrm rot="16200000">
            <a:off x="4887161" y="5396444"/>
            <a:ext cx="196286" cy="127132"/>
          </a:xfrm>
          <a:prstGeom prst="triangl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92C89886-239D-15D3-9057-1E170C9AB108}"/>
              </a:ext>
            </a:extLst>
          </p:cNvPr>
          <p:cNvCxnSpPr>
            <a:cxnSpLocks/>
            <a:stCxn id="61" idx="1"/>
            <a:endCxn id="65" idx="3"/>
          </p:cNvCxnSpPr>
          <p:nvPr/>
        </p:nvCxnSpPr>
        <p:spPr>
          <a:xfrm rot="10800000" flipV="1">
            <a:off x="5048871" y="4329600"/>
            <a:ext cx="4636849" cy="1130410"/>
          </a:xfrm>
          <a:prstGeom prst="bentConnector3">
            <a:avLst>
              <a:gd name="adj1" fmla="val 5488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3FC5B5D6-FB08-670E-CDFB-9CC5B38B672B}"/>
              </a:ext>
            </a:extLst>
          </p:cNvPr>
          <p:cNvCxnSpPr>
            <a:cxnSpLocks/>
            <a:stCxn id="62" idx="1"/>
            <a:endCxn id="65" idx="3"/>
          </p:cNvCxnSpPr>
          <p:nvPr/>
        </p:nvCxnSpPr>
        <p:spPr>
          <a:xfrm rot="10800000" flipV="1">
            <a:off x="5048871" y="4970470"/>
            <a:ext cx="4636849" cy="489540"/>
          </a:xfrm>
          <a:prstGeom prst="bentConnector3">
            <a:avLst>
              <a:gd name="adj1" fmla="val 5301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2350D54C-D665-0968-8785-76BF9908B17A}"/>
              </a:ext>
            </a:extLst>
          </p:cNvPr>
          <p:cNvSpPr/>
          <p:nvPr/>
        </p:nvSpPr>
        <p:spPr>
          <a:xfrm>
            <a:off x="916789" y="2843448"/>
            <a:ext cx="2222823" cy="565900"/>
          </a:xfrm>
          <a:prstGeom prst="wedgeRectCallout">
            <a:avLst>
              <a:gd name="adj1" fmla="val -29708"/>
              <a:gd name="adj2" fmla="val 74859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Enforce Polymorphism and Dynamic Binding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F3D62A-E6D8-7636-BF8C-6A003EC03959}"/>
              </a:ext>
            </a:extLst>
          </p:cNvPr>
          <p:cNvSpPr/>
          <p:nvPr/>
        </p:nvSpPr>
        <p:spPr>
          <a:xfrm>
            <a:off x="3396005" y="3841091"/>
            <a:ext cx="1500104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8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8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8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8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8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8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3FA2C6-CFA1-C05C-7D7D-B6FA89FFBA2E}"/>
              </a:ext>
            </a:extLst>
          </p:cNvPr>
          <p:cNvSpPr/>
          <p:nvPr/>
        </p:nvSpPr>
        <p:spPr>
          <a:xfrm>
            <a:off x="3402457" y="4752609"/>
            <a:ext cx="1500104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8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8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8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8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8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8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6D3C42-499A-EB29-FCFB-FD2D1ED707F1}"/>
              </a:ext>
            </a:extLst>
          </p:cNvPr>
          <p:cNvSpPr/>
          <p:nvPr/>
        </p:nvSpPr>
        <p:spPr>
          <a:xfrm>
            <a:off x="3409009" y="5598179"/>
            <a:ext cx="1500104" cy="3839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8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8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8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8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8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800" b="1" dirty="0">
              <a:solidFill>
                <a:schemeClr val="accent1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078942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OOD Example – Enemy (Again)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5756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Design Procedures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Understand the OOD features provided by your choice of programming language (e.g., C++)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Design and construct classes and class hierarchy to create a set of required compound data types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This is where you’d need all the OOD support to design the “right set of classes” for your tasks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8</a:t>
            </a:fld>
            <a:endParaRPr lang="en-C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8AC80C-77B7-2300-7CB5-96635818FAC8}"/>
              </a:ext>
            </a:extLst>
          </p:cNvPr>
          <p:cNvSpPr/>
          <p:nvPr/>
        </p:nvSpPr>
        <p:spPr>
          <a:xfrm>
            <a:off x="1195564" y="3555301"/>
            <a:ext cx="1500105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Enemy</a:t>
            </a:r>
            <a:endParaRPr lang="en-US" b="1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C2053A-F87F-1940-2138-D62B837BBCC0}"/>
              </a:ext>
            </a:extLst>
          </p:cNvPr>
          <p:cNvSpPr/>
          <p:nvPr/>
        </p:nvSpPr>
        <p:spPr>
          <a:xfrm>
            <a:off x="1197795" y="3902323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# HP, ATK, DEF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21064D-CDFE-2E7C-84FB-A7EBA6F080AE}"/>
              </a:ext>
            </a:extLst>
          </p:cNvPr>
          <p:cNvSpPr/>
          <p:nvPr/>
        </p:nvSpPr>
        <p:spPr>
          <a:xfrm>
            <a:off x="1195564" y="4179333"/>
            <a:ext cx="1497873" cy="96367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Enemy()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move(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dir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i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1100" b="1" i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D93C57-3B90-E401-24E6-0B3811B15731}"/>
              </a:ext>
            </a:extLst>
          </p:cNvPr>
          <p:cNvSpPr/>
          <p:nvPr/>
        </p:nvSpPr>
        <p:spPr>
          <a:xfrm>
            <a:off x="3394480" y="3544074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Goblin</a:t>
            </a:r>
            <a:endParaRPr lang="en-US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EFEB66-A025-C3C8-AE06-6315257B38FE}"/>
              </a:ext>
            </a:extLst>
          </p:cNvPr>
          <p:cNvSpPr/>
          <p:nvPr/>
        </p:nvSpPr>
        <p:spPr>
          <a:xfrm>
            <a:off x="3394480" y="4428229"/>
            <a:ext cx="1500104" cy="33212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Hydra</a:t>
            </a:r>
            <a:endParaRPr lang="en-US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E0C6E0-AA6B-4D69-9A4A-44655F080006}"/>
              </a:ext>
            </a:extLst>
          </p:cNvPr>
          <p:cNvSpPr/>
          <p:nvPr/>
        </p:nvSpPr>
        <p:spPr>
          <a:xfrm>
            <a:off x="3394480" y="5297274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Skeleton</a:t>
            </a:r>
            <a:endParaRPr lang="en-US" b="1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A9C4ED1-EA6F-6E78-CDD2-604EEA2208E0}"/>
              </a:ext>
            </a:extLst>
          </p:cNvPr>
          <p:cNvSpPr/>
          <p:nvPr/>
        </p:nvSpPr>
        <p:spPr>
          <a:xfrm rot="16200000">
            <a:off x="2677047" y="4298309"/>
            <a:ext cx="196286" cy="127132"/>
          </a:xfrm>
          <a:prstGeom prst="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425B02C-10A7-DEC9-407B-3D02FBE65B97}"/>
              </a:ext>
            </a:extLst>
          </p:cNvPr>
          <p:cNvCxnSpPr>
            <a:stCxn id="18" idx="1"/>
            <a:endCxn id="21" idx="3"/>
          </p:cNvCxnSpPr>
          <p:nvPr/>
        </p:nvCxnSpPr>
        <p:spPr>
          <a:xfrm rot="10800000" flipV="1">
            <a:off x="2838756" y="3710137"/>
            <a:ext cx="555724" cy="651738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FEF4D68-562E-CD80-C55A-AA5748510AF6}"/>
              </a:ext>
            </a:extLst>
          </p:cNvPr>
          <p:cNvCxnSpPr>
            <a:cxnSpLocks/>
            <a:stCxn id="20" idx="1"/>
            <a:endCxn id="21" idx="3"/>
          </p:cNvCxnSpPr>
          <p:nvPr/>
        </p:nvCxnSpPr>
        <p:spPr>
          <a:xfrm rot="10800000">
            <a:off x="2838756" y="4361875"/>
            <a:ext cx="555724" cy="1101462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32AE709-68D1-FE39-E5BB-680717B8A710}"/>
              </a:ext>
            </a:extLst>
          </p:cNvPr>
          <p:cNvSpPr/>
          <p:nvPr/>
        </p:nvSpPr>
        <p:spPr>
          <a:xfrm>
            <a:off x="5593394" y="2978703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GoblinMinor</a:t>
            </a:r>
            <a:endParaRPr lang="en-US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72FDF3-8C56-5B59-6135-BCF2895B8DC3}"/>
              </a:ext>
            </a:extLst>
          </p:cNvPr>
          <p:cNvSpPr/>
          <p:nvPr/>
        </p:nvSpPr>
        <p:spPr>
          <a:xfrm>
            <a:off x="5593394" y="3619573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GoblinMajor</a:t>
            </a:r>
            <a:endParaRPr lang="en-US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6729CC-AA5E-7FF5-4EA7-FF664A772BA6}"/>
              </a:ext>
            </a:extLst>
          </p:cNvPr>
          <p:cNvSpPr/>
          <p:nvPr/>
        </p:nvSpPr>
        <p:spPr>
          <a:xfrm>
            <a:off x="5595624" y="3264415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taunt()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B29DED-0184-A301-2949-7B9D821E19FE}"/>
              </a:ext>
            </a:extLst>
          </p:cNvPr>
          <p:cNvSpPr/>
          <p:nvPr/>
        </p:nvSpPr>
        <p:spPr>
          <a:xfrm>
            <a:off x="5593394" y="3960925"/>
            <a:ext cx="1497874" cy="410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taunt()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summonMinor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CAED5BD-C80B-9E07-6E86-C2AEE2634DE9}"/>
              </a:ext>
            </a:extLst>
          </p:cNvPr>
          <p:cNvSpPr/>
          <p:nvPr/>
        </p:nvSpPr>
        <p:spPr>
          <a:xfrm rot="16200000">
            <a:off x="4860006" y="3646815"/>
            <a:ext cx="196286" cy="127132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2A052AB-A8E0-C11E-9945-D4BBFF71A07B}"/>
              </a:ext>
            </a:extLst>
          </p:cNvPr>
          <p:cNvCxnSpPr>
            <a:stCxn id="24" idx="1"/>
            <a:endCxn id="30" idx="3"/>
          </p:cNvCxnSpPr>
          <p:nvPr/>
        </p:nvCxnSpPr>
        <p:spPr>
          <a:xfrm rot="10800000" flipV="1">
            <a:off x="5021716" y="3144765"/>
            <a:ext cx="571679" cy="565615"/>
          </a:xfrm>
          <a:prstGeom prst="bentConnector3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589B03D1-9123-58BD-48E8-1E71069C5599}"/>
              </a:ext>
            </a:extLst>
          </p:cNvPr>
          <p:cNvCxnSpPr>
            <a:cxnSpLocks/>
            <a:stCxn id="27" idx="1"/>
            <a:endCxn id="30" idx="3"/>
          </p:cNvCxnSpPr>
          <p:nvPr/>
        </p:nvCxnSpPr>
        <p:spPr>
          <a:xfrm rot="10800000">
            <a:off x="5021716" y="3710382"/>
            <a:ext cx="571679" cy="75255"/>
          </a:xfrm>
          <a:prstGeom prst="bentConnector3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ABF17F3-CA8B-8E66-C0C6-819E0F64970D}"/>
              </a:ext>
            </a:extLst>
          </p:cNvPr>
          <p:cNvSpPr/>
          <p:nvPr/>
        </p:nvSpPr>
        <p:spPr>
          <a:xfrm>
            <a:off x="7665177" y="3640696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SwampHydra</a:t>
            </a:r>
            <a:endParaRPr lang="en-US" b="1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C0A6AEF-967B-E3F1-2700-92FA34B85A6C}"/>
              </a:ext>
            </a:extLst>
          </p:cNvPr>
          <p:cNvSpPr/>
          <p:nvPr/>
        </p:nvSpPr>
        <p:spPr>
          <a:xfrm>
            <a:off x="7665177" y="4281566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IceHydra</a:t>
            </a:r>
            <a:endParaRPr lang="en-US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BEE63F-77D8-32E6-0C39-A31E9687FFFF}"/>
              </a:ext>
            </a:extLst>
          </p:cNvPr>
          <p:cNvSpPr/>
          <p:nvPr/>
        </p:nvSpPr>
        <p:spPr>
          <a:xfrm>
            <a:off x="7667407" y="3926408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heal()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45412D-AC9E-6EFC-3C4B-941A138A0060}"/>
              </a:ext>
            </a:extLst>
          </p:cNvPr>
          <p:cNvSpPr/>
          <p:nvPr/>
        </p:nvSpPr>
        <p:spPr>
          <a:xfrm>
            <a:off x="7665177" y="4622918"/>
            <a:ext cx="1497874" cy="410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explode()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revive()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199722A4-4FC4-85A5-1494-3D8E97148901}"/>
              </a:ext>
            </a:extLst>
          </p:cNvPr>
          <p:cNvSpPr/>
          <p:nvPr/>
        </p:nvSpPr>
        <p:spPr>
          <a:xfrm rot="16200000">
            <a:off x="4875961" y="4528904"/>
            <a:ext cx="196286" cy="127132"/>
          </a:xfrm>
          <a:prstGeom prst="triangl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25526E51-575A-F509-357D-50CF00AF3C21}"/>
              </a:ext>
            </a:extLst>
          </p:cNvPr>
          <p:cNvCxnSpPr>
            <a:cxnSpLocks/>
            <a:stCxn id="19" idx="1"/>
            <a:endCxn id="21" idx="3"/>
          </p:cNvCxnSpPr>
          <p:nvPr/>
        </p:nvCxnSpPr>
        <p:spPr>
          <a:xfrm rot="10800000">
            <a:off x="2838756" y="4361876"/>
            <a:ext cx="555724" cy="232417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D95196D-E0F2-8655-2673-640B65560DDF}"/>
              </a:ext>
            </a:extLst>
          </p:cNvPr>
          <p:cNvCxnSpPr>
            <a:cxnSpLocks/>
            <a:stCxn id="40" idx="1"/>
            <a:endCxn id="44" idx="3"/>
          </p:cNvCxnSpPr>
          <p:nvPr/>
        </p:nvCxnSpPr>
        <p:spPr>
          <a:xfrm rot="10800000" flipV="1">
            <a:off x="5037671" y="3806758"/>
            <a:ext cx="2627507" cy="785711"/>
          </a:xfrm>
          <a:prstGeom prst="bentConnector3">
            <a:avLst>
              <a:gd name="adj1" fmla="val 11885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162C036F-C988-AA5A-3A17-5450A7F8DE2C}"/>
              </a:ext>
            </a:extLst>
          </p:cNvPr>
          <p:cNvCxnSpPr>
            <a:cxnSpLocks/>
            <a:stCxn id="41" idx="1"/>
            <a:endCxn id="44" idx="3"/>
          </p:cNvCxnSpPr>
          <p:nvPr/>
        </p:nvCxnSpPr>
        <p:spPr>
          <a:xfrm rot="10800000" flipV="1">
            <a:off x="5037671" y="4447628"/>
            <a:ext cx="2627507" cy="144841"/>
          </a:xfrm>
          <a:prstGeom prst="bentConnector3">
            <a:avLst>
              <a:gd name="adj1" fmla="val 11553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E2045399-7704-3068-F987-B0A01A61A319}"/>
              </a:ext>
            </a:extLst>
          </p:cNvPr>
          <p:cNvSpPr/>
          <p:nvPr/>
        </p:nvSpPr>
        <p:spPr>
          <a:xfrm>
            <a:off x="9685719" y="4163537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SkeleArcher</a:t>
            </a:r>
            <a:endParaRPr lang="en-US" b="1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E040276-B763-939A-4164-6C2B6BFC1402}"/>
              </a:ext>
            </a:extLst>
          </p:cNvPr>
          <p:cNvSpPr/>
          <p:nvPr/>
        </p:nvSpPr>
        <p:spPr>
          <a:xfrm>
            <a:off x="9685719" y="4804407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SkeleSworder</a:t>
            </a:r>
            <a:endParaRPr lang="en-US" b="1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874C36B-2791-1184-161E-B7DEB1D9DAEC}"/>
              </a:ext>
            </a:extLst>
          </p:cNvPr>
          <p:cNvSpPr/>
          <p:nvPr/>
        </p:nvSpPr>
        <p:spPr>
          <a:xfrm>
            <a:off x="9687949" y="4449249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revive()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4D3A83D-35F6-7A3D-A904-A6B08AE9F54F}"/>
              </a:ext>
            </a:extLst>
          </p:cNvPr>
          <p:cNvSpPr/>
          <p:nvPr/>
        </p:nvSpPr>
        <p:spPr>
          <a:xfrm>
            <a:off x="9685719" y="5145759"/>
            <a:ext cx="1497874" cy="410900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revive()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transform()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51D232B1-6145-B18C-CA78-1175DC910B4A}"/>
              </a:ext>
            </a:extLst>
          </p:cNvPr>
          <p:cNvSpPr/>
          <p:nvPr/>
        </p:nvSpPr>
        <p:spPr>
          <a:xfrm rot="16200000">
            <a:off x="4887161" y="5396444"/>
            <a:ext cx="196286" cy="127132"/>
          </a:xfrm>
          <a:prstGeom prst="triangl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92C89886-239D-15D3-9057-1E170C9AB108}"/>
              </a:ext>
            </a:extLst>
          </p:cNvPr>
          <p:cNvCxnSpPr>
            <a:cxnSpLocks/>
            <a:stCxn id="61" idx="1"/>
            <a:endCxn id="65" idx="3"/>
          </p:cNvCxnSpPr>
          <p:nvPr/>
        </p:nvCxnSpPr>
        <p:spPr>
          <a:xfrm rot="10800000" flipV="1">
            <a:off x="5048871" y="4329600"/>
            <a:ext cx="4636849" cy="1130410"/>
          </a:xfrm>
          <a:prstGeom prst="bentConnector3">
            <a:avLst>
              <a:gd name="adj1" fmla="val 5488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3FC5B5D6-FB08-670E-CDFB-9CC5B38B672B}"/>
              </a:ext>
            </a:extLst>
          </p:cNvPr>
          <p:cNvCxnSpPr>
            <a:cxnSpLocks/>
            <a:stCxn id="62" idx="1"/>
            <a:endCxn id="65" idx="3"/>
          </p:cNvCxnSpPr>
          <p:nvPr/>
        </p:nvCxnSpPr>
        <p:spPr>
          <a:xfrm rot="10800000" flipV="1">
            <a:off x="5048871" y="4970470"/>
            <a:ext cx="4636849" cy="489540"/>
          </a:xfrm>
          <a:prstGeom prst="bentConnector3">
            <a:avLst>
              <a:gd name="adj1" fmla="val 5301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2350D54C-D665-0968-8785-76BF9908B17A}"/>
              </a:ext>
            </a:extLst>
          </p:cNvPr>
          <p:cNvSpPr/>
          <p:nvPr/>
        </p:nvSpPr>
        <p:spPr>
          <a:xfrm>
            <a:off x="5452092" y="4900192"/>
            <a:ext cx="2222823" cy="1003907"/>
          </a:xfrm>
          <a:prstGeom prst="wedgeRectCallout">
            <a:avLst>
              <a:gd name="adj1" fmla="val -73195"/>
              <a:gd name="adj2" fmla="val -121673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Push implementation down to terminal subclasses for physical specialization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F3D62A-E6D8-7636-BF8C-6A003EC03959}"/>
              </a:ext>
            </a:extLst>
          </p:cNvPr>
          <p:cNvSpPr/>
          <p:nvPr/>
        </p:nvSpPr>
        <p:spPr>
          <a:xfrm>
            <a:off x="3396005" y="3841091"/>
            <a:ext cx="1500104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8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8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8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8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8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8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3FA2C6-CFA1-C05C-7D7D-B6FA89FFBA2E}"/>
              </a:ext>
            </a:extLst>
          </p:cNvPr>
          <p:cNvSpPr/>
          <p:nvPr/>
        </p:nvSpPr>
        <p:spPr>
          <a:xfrm>
            <a:off x="3402457" y="4752609"/>
            <a:ext cx="1500104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8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8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8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8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8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8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6D3C42-499A-EB29-FCFB-FD2D1ED707F1}"/>
              </a:ext>
            </a:extLst>
          </p:cNvPr>
          <p:cNvSpPr/>
          <p:nvPr/>
        </p:nvSpPr>
        <p:spPr>
          <a:xfrm>
            <a:off x="3409009" y="5598179"/>
            <a:ext cx="1500104" cy="3839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8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8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8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8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8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8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C102A1-7BEC-05A3-8E21-1A6DBB762455}"/>
              </a:ext>
            </a:extLst>
          </p:cNvPr>
          <p:cNvSpPr/>
          <p:nvPr/>
        </p:nvSpPr>
        <p:spPr>
          <a:xfrm>
            <a:off x="6958136" y="3067772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F2597B-0398-CF79-31A1-3ED5D1FE4D78}"/>
              </a:ext>
            </a:extLst>
          </p:cNvPr>
          <p:cNvSpPr/>
          <p:nvPr/>
        </p:nvSpPr>
        <p:spPr>
          <a:xfrm>
            <a:off x="6400083" y="4317000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2E2260-EE96-87A7-530D-261B17EE5A13}"/>
              </a:ext>
            </a:extLst>
          </p:cNvPr>
          <p:cNvSpPr/>
          <p:nvPr/>
        </p:nvSpPr>
        <p:spPr>
          <a:xfrm>
            <a:off x="9095386" y="3572364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2648F1-69D1-20F4-BFB4-E3877A618D10}"/>
              </a:ext>
            </a:extLst>
          </p:cNvPr>
          <p:cNvSpPr/>
          <p:nvPr/>
        </p:nvSpPr>
        <p:spPr>
          <a:xfrm>
            <a:off x="8381100" y="4977942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DCC21C-0648-E5D9-307A-884A129B17E4}"/>
              </a:ext>
            </a:extLst>
          </p:cNvPr>
          <p:cNvSpPr/>
          <p:nvPr/>
        </p:nvSpPr>
        <p:spPr>
          <a:xfrm>
            <a:off x="10348852" y="3822637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4157D8-B7B2-7144-020A-E26D05561DBE}"/>
              </a:ext>
            </a:extLst>
          </p:cNvPr>
          <p:cNvSpPr/>
          <p:nvPr/>
        </p:nvSpPr>
        <p:spPr>
          <a:xfrm>
            <a:off x="10348851" y="5532915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480615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9" grpId="0" animBg="1"/>
      <p:bldP spid="11" grpId="0" animBg="1"/>
      <p:bldP spid="12" grpId="0" animBg="1"/>
      <p:bldP spid="14" grpId="0" animBg="1"/>
      <p:bldP spid="22" grpId="0" animBg="1"/>
      <p:bldP spid="23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OOD Example – Enemy (Again)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5756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Design Procedures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Understand the OOD features provided by your choice of programming language (e.g., C++)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Design and construct classes and class hierarchy to create a set of required compound data types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This is where you’d need all the OOD support to design the “right set of classes” for your tasks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9</a:t>
            </a:fld>
            <a:endParaRPr lang="en-C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8AC80C-77B7-2300-7CB5-96635818FAC8}"/>
              </a:ext>
            </a:extLst>
          </p:cNvPr>
          <p:cNvSpPr/>
          <p:nvPr/>
        </p:nvSpPr>
        <p:spPr>
          <a:xfrm>
            <a:off x="1195564" y="3555301"/>
            <a:ext cx="1500105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Enemy</a:t>
            </a:r>
            <a:endParaRPr lang="en-US" b="1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C2053A-F87F-1940-2138-D62B837BBCC0}"/>
              </a:ext>
            </a:extLst>
          </p:cNvPr>
          <p:cNvSpPr/>
          <p:nvPr/>
        </p:nvSpPr>
        <p:spPr>
          <a:xfrm>
            <a:off x="1197795" y="3902323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# HP, ATK, DEF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21064D-CDFE-2E7C-84FB-A7EBA6F080AE}"/>
              </a:ext>
            </a:extLst>
          </p:cNvPr>
          <p:cNvSpPr/>
          <p:nvPr/>
        </p:nvSpPr>
        <p:spPr>
          <a:xfrm>
            <a:off x="1195564" y="4179333"/>
            <a:ext cx="1497873" cy="96367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Enemy()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move(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dir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i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1100" b="1" i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D93C57-3B90-E401-24E6-0B3811B15731}"/>
              </a:ext>
            </a:extLst>
          </p:cNvPr>
          <p:cNvSpPr/>
          <p:nvPr/>
        </p:nvSpPr>
        <p:spPr>
          <a:xfrm>
            <a:off x="3394480" y="3544074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Goblin</a:t>
            </a:r>
            <a:endParaRPr lang="en-US" b="1" i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EFEB66-A025-C3C8-AE06-6315257B38FE}"/>
              </a:ext>
            </a:extLst>
          </p:cNvPr>
          <p:cNvSpPr/>
          <p:nvPr/>
        </p:nvSpPr>
        <p:spPr>
          <a:xfrm>
            <a:off x="3394480" y="4428229"/>
            <a:ext cx="1500104" cy="33212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Hydra</a:t>
            </a:r>
            <a:endParaRPr lang="en-US" b="1" i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E0C6E0-AA6B-4D69-9A4A-44655F080006}"/>
              </a:ext>
            </a:extLst>
          </p:cNvPr>
          <p:cNvSpPr/>
          <p:nvPr/>
        </p:nvSpPr>
        <p:spPr>
          <a:xfrm>
            <a:off x="3394480" y="5297274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Skeleton</a:t>
            </a:r>
            <a:endParaRPr lang="en-US" b="1" i="1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A9C4ED1-EA6F-6E78-CDD2-604EEA2208E0}"/>
              </a:ext>
            </a:extLst>
          </p:cNvPr>
          <p:cNvSpPr/>
          <p:nvPr/>
        </p:nvSpPr>
        <p:spPr>
          <a:xfrm rot="16200000">
            <a:off x="2677047" y="4298309"/>
            <a:ext cx="196286" cy="127132"/>
          </a:xfrm>
          <a:prstGeom prst="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425B02C-10A7-DEC9-407B-3D02FBE65B97}"/>
              </a:ext>
            </a:extLst>
          </p:cNvPr>
          <p:cNvCxnSpPr>
            <a:stCxn id="18" idx="1"/>
            <a:endCxn id="21" idx="3"/>
          </p:cNvCxnSpPr>
          <p:nvPr/>
        </p:nvCxnSpPr>
        <p:spPr>
          <a:xfrm rot="10800000" flipV="1">
            <a:off x="2838756" y="3710137"/>
            <a:ext cx="555724" cy="651738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FEF4D68-562E-CD80-C55A-AA5748510AF6}"/>
              </a:ext>
            </a:extLst>
          </p:cNvPr>
          <p:cNvCxnSpPr>
            <a:cxnSpLocks/>
            <a:stCxn id="20" idx="1"/>
            <a:endCxn id="21" idx="3"/>
          </p:cNvCxnSpPr>
          <p:nvPr/>
        </p:nvCxnSpPr>
        <p:spPr>
          <a:xfrm rot="10800000">
            <a:off x="2838756" y="4361875"/>
            <a:ext cx="555724" cy="1101462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32AE709-68D1-FE39-E5BB-680717B8A710}"/>
              </a:ext>
            </a:extLst>
          </p:cNvPr>
          <p:cNvSpPr/>
          <p:nvPr/>
        </p:nvSpPr>
        <p:spPr>
          <a:xfrm>
            <a:off x="5593394" y="2978703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GoblinMinor</a:t>
            </a:r>
            <a:endParaRPr lang="en-US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72FDF3-8C56-5B59-6135-BCF2895B8DC3}"/>
              </a:ext>
            </a:extLst>
          </p:cNvPr>
          <p:cNvSpPr/>
          <p:nvPr/>
        </p:nvSpPr>
        <p:spPr>
          <a:xfrm>
            <a:off x="5593394" y="3619573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GoblinMajor</a:t>
            </a:r>
            <a:endParaRPr lang="en-US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6729CC-AA5E-7FF5-4EA7-FF664A772BA6}"/>
              </a:ext>
            </a:extLst>
          </p:cNvPr>
          <p:cNvSpPr/>
          <p:nvPr/>
        </p:nvSpPr>
        <p:spPr>
          <a:xfrm>
            <a:off x="5595624" y="3264415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taunt()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B29DED-0184-A301-2949-7B9D821E19FE}"/>
              </a:ext>
            </a:extLst>
          </p:cNvPr>
          <p:cNvSpPr/>
          <p:nvPr/>
        </p:nvSpPr>
        <p:spPr>
          <a:xfrm>
            <a:off x="5593394" y="3960925"/>
            <a:ext cx="1497874" cy="410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taunt()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summonMinor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CAED5BD-C80B-9E07-6E86-C2AEE2634DE9}"/>
              </a:ext>
            </a:extLst>
          </p:cNvPr>
          <p:cNvSpPr/>
          <p:nvPr/>
        </p:nvSpPr>
        <p:spPr>
          <a:xfrm rot="16200000">
            <a:off x="4860006" y="3646815"/>
            <a:ext cx="196286" cy="127132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2A052AB-A8E0-C11E-9945-D4BBFF71A07B}"/>
              </a:ext>
            </a:extLst>
          </p:cNvPr>
          <p:cNvCxnSpPr>
            <a:stCxn id="24" idx="1"/>
            <a:endCxn id="30" idx="3"/>
          </p:cNvCxnSpPr>
          <p:nvPr/>
        </p:nvCxnSpPr>
        <p:spPr>
          <a:xfrm rot="10800000" flipV="1">
            <a:off x="5021716" y="3144765"/>
            <a:ext cx="571679" cy="565615"/>
          </a:xfrm>
          <a:prstGeom prst="bentConnector3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589B03D1-9123-58BD-48E8-1E71069C5599}"/>
              </a:ext>
            </a:extLst>
          </p:cNvPr>
          <p:cNvCxnSpPr>
            <a:cxnSpLocks/>
            <a:stCxn id="27" idx="1"/>
            <a:endCxn id="30" idx="3"/>
          </p:cNvCxnSpPr>
          <p:nvPr/>
        </p:nvCxnSpPr>
        <p:spPr>
          <a:xfrm rot="10800000">
            <a:off x="5021716" y="3710382"/>
            <a:ext cx="571679" cy="75255"/>
          </a:xfrm>
          <a:prstGeom prst="bentConnector3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ABF17F3-CA8B-8E66-C0C6-819E0F64970D}"/>
              </a:ext>
            </a:extLst>
          </p:cNvPr>
          <p:cNvSpPr/>
          <p:nvPr/>
        </p:nvSpPr>
        <p:spPr>
          <a:xfrm>
            <a:off x="7665177" y="3640696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SwampHydra</a:t>
            </a:r>
            <a:endParaRPr lang="en-US" b="1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C0A6AEF-967B-E3F1-2700-92FA34B85A6C}"/>
              </a:ext>
            </a:extLst>
          </p:cNvPr>
          <p:cNvSpPr/>
          <p:nvPr/>
        </p:nvSpPr>
        <p:spPr>
          <a:xfrm>
            <a:off x="7665177" y="4281566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IceHydra</a:t>
            </a:r>
            <a:endParaRPr lang="en-US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BEE63F-77D8-32E6-0C39-A31E9687FFFF}"/>
              </a:ext>
            </a:extLst>
          </p:cNvPr>
          <p:cNvSpPr/>
          <p:nvPr/>
        </p:nvSpPr>
        <p:spPr>
          <a:xfrm>
            <a:off x="7667407" y="3926408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heal()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45412D-AC9E-6EFC-3C4B-941A138A0060}"/>
              </a:ext>
            </a:extLst>
          </p:cNvPr>
          <p:cNvSpPr/>
          <p:nvPr/>
        </p:nvSpPr>
        <p:spPr>
          <a:xfrm>
            <a:off x="7665177" y="4622918"/>
            <a:ext cx="1497874" cy="410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explode()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revive()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199722A4-4FC4-85A5-1494-3D8E97148901}"/>
              </a:ext>
            </a:extLst>
          </p:cNvPr>
          <p:cNvSpPr/>
          <p:nvPr/>
        </p:nvSpPr>
        <p:spPr>
          <a:xfrm rot="16200000">
            <a:off x="4875961" y="4528904"/>
            <a:ext cx="196286" cy="127132"/>
          </a:xfrm>
          <a:prstGeom prst="triangl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25526E51-575A-F509-357D-50CF00AF3C21}"/>
              </a:ext>
            </a:extLst>
          </p:cNvPr>
          <p:cNvCxnSpPr>
            <a:cxnSpLocks/>
            <a:stCxn id="19" idx="1"/>
            <a:endCxn id="21" idx="3"/>
          </p:cNvCxnSpPr>
          <p:nvPr/>
        </p:nvCxnSpPr>
        <p:spPr>
          <a:xfrm rot="10800000">
            <a:off x="2838756" y="4361876"/>
            <a:ext cx="555724" cy="232417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D95196D-E0F2-8655-2673-640B65560DDF}"/>
              </a:ext>
            </a:extLst>
          </p:cNvPr>
          <p:cNvCxnSpPr>
            <a:cxnSpLocks/>
            <a:stCxn id="40" idx="1"/>
            <a:endCxn id="44" idx="3"/>
          </p:cNvCxnSpPr>
          <p:nvPr/>
        </p:nvCxnSpPr>
        <p:spPr>
          <a:xfrm rot="10800000" flipV="1">
            <a:off x="5037671" y="3806758"/>
            <a:ext cx="2627507" cy="785711"/>
          </a:xfrm>
          <a:prstGeom prst="bentConnector3">
            <a:avLst>
              <a:gd name="adj1" fmla="val 11885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162C036F-C988-AA5A-3A17-5450A7F8DE2C}"/>
              </a:ext>
            </a:extLst>
          </p:cNvPr>
          <p:cNvCxnSpPr>
            <a:cxnSpLocks/>
            <a:stCxn id="41" idx="1"/>
            <a:endCxn id="44" idx="3"/>
          </p:cNvCxnSpPr>
          <p:nvPr/>
        </p:nvCxnSpPr>
        <p:spPr>
          <a:xfrm rot="10800000" flipV="1">
            <a:off x="5037671" y="4447628"/>
            <a:ext cx="2627507" cy="144841"/>
          </a:xfrm>
          <a:prstGeom prst="bentConnector3">
            <a:avLst>
              <a:gd name="adj1" fmla="val 11553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E2045399-7704-3068-F987-B0A01A61A319}"/>
              </a:ext>
            </a:extLst>
          </p:cNvPr>
          <p:cNvSpPr/>
          <p:nvPr/>
        </p:nvSpPr>
        <p:spPr>
          <a:xfrm>
            <a:off x="9685719" y="4163537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SkeleArcher</a:t>
            </a:r>
            <a:endParaRPr lang="en-US" b="1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E040276-B763-939A-4164-6C2B6BFC1402}"/>
              </a:ext>
            </a:extLst>
          </p:cNvPr>
          <p:cNvSpPr/>
          <p:nvPr/>
        </p:nvSpPr>
        <p:spPr>
          <a:xfrm>
            <a:off x="9685719" y="4804407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SkeleSworder</a:t>
            </a:r>
            <a:endParaRPr lang="en-US" b="1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874C36B-2791-1184-161E-B7DEB1D9DAEC}"/>
              </a:ext>
            </a:extLst>
          </p:cNvPr>
          <p:cNvSpPr/>
          <p:nvPr/>
        </p:nvSpPr>
        <p:spPr>
          <a:xfrm>
            <a:off x="9687949" y="4449249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revive()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4D3A83D-35F6-7A3D-A904-A6B08AE9F54F}"/>
              </a:ext>
            </a:extLst>
          </p:cNvPr>
          <p:cNvSpPr/>
          <p:nvPr/>
        </p:nvSpPr>
        <p:spPr>
          <a:xfrm>
            <a:off x="9685719" y="5145759"/>
            <a:ext cx="1497874" cy="410900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revive()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transform()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51D232B1-6145-B18C-CA78-1175DC910B4A}"/>
              </a:ext>
            </a:extLst>
          </p:cNvPr>
          <p:cNvSpPr/>
          <p:nvPr/>
        </p:nvSpPr>
        <p:spPr>
          <a:xfrm rot="16200000">
            <a:off x="4887161" y="5396444"/>
            <a:ext cx="196286" cy="127132"/>
          </a:xfrm>
          <a:prstGeom prst="triangl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92C89886-239D-15D3-9057-1E170C9AB108}"/>
              </a:ext>
            </a:extLst>
          </p:cNvPr>
          <p:cNvCxnSpPr>
            <a:cxnSpLocks/>
            <a:stCxn id="61" idx="1"/>
            <a:endCxn id="65" idx="3"/>
          </p:cNvCxnSpPr>
          <p:nvPr/>
        </p:nvCxnSpPr>
        <p:spPr>
          <a:xfrm rot="10800000" flipV="1">
            <a:off x="5048871" y="4329600"/>
            <a:ext cx="4636849" cy="1130410"/>
          </a:xfrm>
          <a:prstGeom prst="bentConnector3">
            <a:avLst>
              <a:gd name="adj1" fmla="val 5488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3FC5B5D6-FB08-670E-CDFB-9CC5B38B672B}"/>
              </a:ext>
            </a:extLst>
          </p:cNvPr>
          <p:cNvCxnSpPr>
            <a:cxnSpLocks/>
            <a:stCxn id="62" idx="1"/>
            <a:endCxn id="65" idx="3"/>
          </p:cNvCxnSpPr>
          <p:nvPr/>
        </p:nvCxnSpPr>
        <p:spPr>
          <a:xfrm rot="10800000" flipV="1">
            <a:off x="5048871" y="4970470"/>
            <a:ext cx="4636849" cy="489540"/>
          </a:xfrm>
          <a:prstGeom prst="bentConnector3">
            <a:avLst>
              <a:gd name="adj1" fmla="val 5301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9C102A1-7BEC-05A3-8E21-1A6DBB762455}"/>
              </a:ext>
            </a:extLst>
          </p:cNvPr>
          <p:cNvSpPr/>
          <p:nvPr/>
        </p:nvSpPr>
        <p:spPr>
          <a:xfrm>
            <a:off x="6958136" y="3067772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F2597B-0398-CF79-31A1-3ED5D1FE4D78}"/>
              </a:ext>
            </a:extLst>
          </p:cNvPr>
          <p:cNvSpPr/>
          <p:nvPr/>
        </p:nvSpPr>
        <p:spPr>
          <a:xfrm>
            <a:off x="6400083" y="4317000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2E2260-EE96-87A7-530D-261B17EE5A13}"/>
              </a:ext>
            </a:extLst>
          </p:cNvPr>
          <p:cNvSpPr/>
          <p:nvPr/>
        </p:nvSpPr>
        <p:spPr>
          <a:xfrm>
            <a:off x="9095386" y="3572364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2648F1-69D1-20F4-BFB4-E3877A618D10}"/>
              </a:ext>
            </a:extLst>
          </p:cNvPr>
          <p:cNvSpPr/>
          <p:nvPr/>
        </p:nvSpPr>
        <p:spPr>
          <a:xfrm>
            <a:off x="8381100" y="4977942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DCC21C-0648-E5D9-307A-884A129B17E4}"/>
              </a:ext>
            </a:extLst>
          </p:cNvPr>
          <p:cNvSpPr/>
          <p:nvPr/>
        </p:nvSpPr>
        <p:spPr>
          <a:xfrm>
            <a:off x="10348852" y="3822637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4157D8-B7B2-7144-020A-E26D05561DBE}"/>
              </a:ext>
            </a:extLst>
          </p:cNvPr>
          <p:cNvSpPr/>
          <p:nvPr/>
        </p:nvSpPr>
        <p:spPr>
          <a:xfrm>
            <a:off x="10348851" y="5532915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BEACC6A2-8824-7F48-08FA-86BDFA3A7203}"/>
              </a:ext>
            </a:extLst>
          </p:cNvPr>
          <p:cNvSpPr/>
          <p:nvPr/>
        </p:nvSpPr>
        <p:spPr>
          <a:xfrm>
            <a:off x="5046642" y="4789020"/>
            <a:ext cx="2442705" cy="532163"/>
          </a:xfrm>
          <a:prstGeom prst="wedgeRectCallout">
            <a:avLst>
              <a:gd name="adj1" fmla="val -53943"/>
              <a:gd name="adj2" fmla="val -141310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Abstract Classes</a:t>
            </a:r>
          </a:p>
          <a:p>
            <a:r>
              <a:rPr lang="en-CA" sz="1600" b="1" dirty="0">
                <a:solidFill>
                  <a:schemeClr val="tx1"/>
                </a:solidFill>
              </a:rPr>
              <a:t>Polymorphism at its best</a:t>
            </a:r>
          </a:p>
        </p:txBody>
      </p:sp>
    </p:spTree>
    <p:extLst>
      <p:ext uri="{BB962C8B-B14F-4D97-AF65-F5344CB8AC3E}">
        <p14:creationId xmlns:p14="http://schemas.microsoft.com/office/powerpoint/2010/main" val="861480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7" presetClass="emph" presetSubtype="0" fill="remove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7" presetClass="emph" presetSubtype="0" fill="remove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OOD Example – Enemy (Again)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5756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Design Procedures</a:t>
            </a:r>
          </a:p>
          <a:p>
            <a:pPr marL="800100" lvl="1" indent="-342900">
              <a:buFont typeface="+mj-lt"/>
              <a:buAutoNum type="arabicPeriod" startAt="3"/>
            </a:pPr>
            <a:r>
              <a:rPr lang="en-CA" dirty="0"/>
              <a:t>Design program that instantiates your defined types, then facilitate interactions among them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This part is 99% identical as procedural programming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10</a:t>
            </a:fld>
            <a:endParaRPr lang="en-CA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2AE709-68D1-FE39-E5BB-680717B8A710}"/>
              </a:ext>
            </a:extLst>
          </p:cNvPr>
          <p:cNvSpPr/>
          <p:nvPr/>
        </p:nvSpPr>
        <p:spPr>
          <a:xfrm>
            <a:off x="2026728" y="2956265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GoblinMinor</a:t>
            </a:r>
            <a:endParaRPr lang="en-US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72FDF3-8C56-5B59-6135-BCF2895B8DC3}"/>
              </a:ext>
            </a:extLst>
          </p:cNvPr>
          <p:cNvSpPr/>
          <p:nvPr/>
        </p:nvSpPr>
        <p:spPr>
          <a:xfrm>
            <a:off x="2026728" y="3357601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GoblinMajor</a:t>
            </a:r>
            <a:endParaRPr lang="en-US" b="1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ABF17F3-CA8B-8E66-C0C6-819E0F64970D}"/>
              </a:ext>
            </a:extLst>
          </p:cNvPr>
          <p:cNvSpPr/>
          <p:nvPr/>
        </p:nvSpPr>
        <p:spPr>
          <a:xfrm>
            <a:off x="2026728" y="3758937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SwampHydra</a:t>
            </a:r>
            <a:endParaRPr lang="en-US" b="1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C0A6AEF-967B-E3F1-2700-92FA34B85A6C}"/>
              </a:ext>
            </a:extLst>
          </p:cNvPr>
          <p:cNvSpPr/>
          <p:nvPr/>
        </p:nvSpPr>
        <p:spPr>
          <a:xfrm>
            <a:off x="2026728" y="4161856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IceHydra</a:t>
            </a:r>
            <a:endParaRPr lang="en-US" b="1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2045399-7704-3068-F987-B0A01A61A319}"/>
              </a:ext>
            </a:extLst>
          </p:cNvPr>
          <p:cNvSpPr/>
          <p:nvPr/>
        </p:nvSpPr>
        <p:spPr>
          <a:xfrm>
            <a:off x="2026728" y="4564775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SkeleArcher</a:t>
            </a:r>
            <a:endParaRPr lang="en-US" b="1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E040276-B763-939A-4164-6C2B6BFC1402}"/>
              </a:ext>
            </a:extLst>
          </p:cNvPr>
          <p:cNvSpPr/>
          <p:nvPr/>
        </p:nvSpPr>
        <p:spPr>
          <a:xfrm>
            <a:off x="2026728" y="4967694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SkeleSworder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D958B2-BC2D-CCDE-1408-946AAB662779}"/>
              </a:ext>
            </a:extLst>
          </p:cNvPr>
          <p:cNvSpPr txBox="1"/>
          <p:nvPr/>
        </p:nvSpPr>
        <p:spPr>
          <a:xfrm>
            <a:off x="4020415" y="2853114"/>
            <a:ext cx="5886704" cy="2631490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Game Logic (</a:t>
            </a:r>
            <a:r>
              <a:rPr lang="en-US" sz="11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PseudoCode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fr-FR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Spawn Player on Heap;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Spawn many different enemies at different map locations on Heap;   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CA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GameLoop</a:t>
            </a:r>
            <a:r>
              <a:rPr lang="en-CA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repeat forever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Update Player Status / Movements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Instruct all enemies to move towards Player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Instruct all enemies in range of the Player to attack player</a:t>
            </a:r>
          </a:p>
          <a:p>
            <a:r>
              <a:rPr lang="en-CA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…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A0D9621A-14FE-35BC-A958-7EFB2C0AB9CD}"/>
              </a:ext>
            </a:extLst>
          </p:cNvPr>
          <p:cNvSpPr/>
          <p:nvPr/>
        </p:nvSpPr>
        <p:spPr>
          <a:xfrm>
            <a:off x="6505304" y="3149029"/>
            <a:ext cx="766354" cy="281438"/>
          </a:xfrm>
          <a:prstGeom prst="wedgeRectCallout">
            <a:avLst>
              <a:gd name="adj1" fmla="val -45566"/>
              <a:gd name="adj2" fmla="val 130989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>
                <a:solidFill>
                  <a:schemeClr val="tx1"/>
                </a:solidFill>
              </a:rPr>
              <a:t>DMA!</a:t>
            </a:r>
            <a:endParaRPr lang="en-CA" sz="1600" b="1" dirty="0">
              <a:solidFill>
                <a:schemeClr val="tx1"/>
              </a:solidFill>
            </a:endParaRP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DBE50751-8636-D92B-174D-522A61F562FD}"/>
              </a:ext>
            </a:extLst>
          </p:cNvPr>
          <p:cNvSpPr/>
          <p:nvPr/>
        </p:nvSpPr>
        <p:spPr>
          <a:xfrm>
            <a:off x="8143634" y="4003855"/>
            <a:ext cx="1644800" cy="525415"/>
          </a:xfrm>
          <a:prstGeom prst="wedgeRectCallout">
            <a:avLst>
              <a:gd name="adj1" fmla="val -52449"/>
              <a:gd name="adj2" fmla="val 11441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Dynamic Binding Polymorphism</a:t>
            </a:r>
          </a:p>
        </p:txBody>
      </p:sp>
    </p:spTree>
    <p:extLst>
      <p:ext uri="{BB962C8B-B14F-4D97-AF65-F5344CB8AC3E}">
        <p14:creationId xmlns:p14="http://schemas.microsoft.com/office/powerpoint/2010/main" val="303904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OOD Example – Enemy (Again)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5756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Design Procedures – Method PULL UP</a:t>
            </a:r>
          </a:p>
          <a:p>
            <a:pPr marL="800100" lvl="1" indent="-342900">
              <a:buFont typeface="+mj-lt"/>
              <a:buAutoNum type="arabicPeriod" startAt="4"/>
            </a:pPr>
            <a:r>
              <a:rPr lang="en-CA" dirty="0"/>
              <a:t>Revisit your class designs, optimize your class hierarchy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Refactoring, reorganizing class hierarchy, improve code-sharing, pave for expandability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11</a:t>
            </a:fld>
            <a:endParaRPr lang="en-C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8AC80C-77B7-2300-7CB5-96635818FAC8}"/>
              </a:ext>
            </a:extLst>
          </p:cNvPr>
          <p:cNvSpPr/>
          <p:nvPr/>
        </p:nvSpPr>
        <p:spPr>
          <a:xfrm>
            <a:off x="1195564" y="3555301"/>
            <a:ext cx="1500105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Enemy</a:t>
            </a:r>
            <a:endParaRPr lang="en-US" b="1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C2053A-F87F-1940-2138-D62B837BBCC0}"/>
              </a:ext>
            </a:extLst>
          </p:cNvPr>
          <p:cNvSpPr/>
          <p:nvPr/>
        </p:nvSpPr>
        <p:spPr>
          <a:xfrm>
            <a:off x="1197795" y="3902323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# HP, ATK, DEF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21064D-CDFE-2E7C-84FB-A7EBA6F080AE}"/>
              </a:ext>
            </a:extLst>
          </p:cNvPr>
          <p:cNvSpPr/>
          <p:nvPr/>
        </p:nvSpPr>
        <p:spPr>
          <a:xfrm>
            <a:off x="1195564" y="4179333"/>
            <a:ext cx="1497873" cy="96367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Enemy()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move(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dir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i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1100" b="1" i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D93C57-3B90-E401-24E6-0B3811B15731}"/>
              </a:ext>
            </a:extLst>
          </p:cNvPr>
          <p:cNvSpPr/>
          <p:nvPr/>
        </p:nvSpPr>
        <p:spPr>
          <a:xfrm>
            <a:off x="3394480" y="3544074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Goblin</a:t>
            </a:r>
            <a:endParaRPr lang="en-US" b="1" i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EFEB66-A025-C3C8-AE06-6315257B38FE}"/>
              </a:ext>
            </a:extLst>
          </p:cNvPr>
          <p:cNvSpPr/>
          <p:nvPr/>
        </p:nvSpPr>
        <p:spPr>
          <a:xfrm>
            <a:off x="3394480" y="4428229"/>
            <a:ext cx="1500104" cy="33212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Hydra</a:t>
            </a:r>
            <a:endParaRPr lang="en-US" b="1" i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E0C6E0-AA6B-4D69-9A4A-44655F080006}"/>
              </a:ext>
            </a:extLst>
          </p:cNvPr>
          <p:cNvSpPr/>
          <p:nvPr/>
        </p:nvSpPr>
        <p:spPr>
          <a:xfrm>
            <a:off x="3394480" y="5297274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Skeleton</a:t>
            </a:r>
            <a:endParaRPr lang="en-US" b="1" i="1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A9C4ED1-EA6F-6E78-CDD2-604EEA2208E0}"/>
              </a:ext>
            </a:extLst>
          </p:cNvPr>
          <p:cNvSpPr/>
          <p:nvPr/>
        </p:nvSpPr>
        <p:spPr>
          <a:xfrm rot="16200000">
            <a:off x="2677047" y="4298309"/>
            <a:ext cx="196286" cy="127132"/>
          </a:xfrm>
          <a:prstGeom prst="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425B02C-10A7-DEC9-407B-3D02FBE65B97}"/>
              </a:ext>
            </a:extLst>
          </p:cNvPr>
          <p:cNvCxnSpPr>
            <a:stCxn id="18" idx="1"/>
            <a:endCxn id="21" idx="3"/>
          </p:cNvCxnSpPr>
          <p:nvPr/>
        </p:nvCxnSpPr>
        <p:spPr>
          <a:xfrm rot="10800000" flipV="1">
            <a:off x="2838756" y="3710137"/>
            <a:ext cx="555724" cy="651738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FEF4D68-562E-CD80-C55A-AA5748510AF6}"/>
              </a:ext>
            </a:extLst>
          </p:cNvPr>
          <p:cNvCxnSpPr>
            <a:cxnSpLocks/>
            <a:stCxn id="20" idx="1"/>
            <a:endCxn id="21" idx="3"/>
          </p:cNvCxnSpPr>
          <p:nvPr/>
        </p:nvCxnSpPr>
        <p:spPr>
          <a:xfrm rot="10800000">
            <a:off x="2838756" y="4361875"/>
            <a:ext cx="555724" cy="1101462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32AE709-68D1-FE39-E5BB-680717B8A710}"/>
              </a:ext>
            </a:extLst>
          </p:cNvPr>
          <p:cNvSpPr/>
          <p:nvPr/>
        </p:nvSpPr>
        <p:spPr>
          <a:xfrm>
            <a:off x="5593394" y="2978703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GoblinMinor</a:t>
            </a:r>
            <a:endParaRPr lang="en-US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72FDF3-8C56-5B59-6135-BCF2895B8DC3}"/>
              </a:ext>
            </a:extLst>
          </p:cNvPr>
          <p:cNvSpPr/>
          <p:nvPr/>
        </p:nvSpPr>
        <p:spPr>
          <a:xfrm>
            <a:off x="5593394" y="3619573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GoblinMajor</a:t>
            </a:r>
            <a:endParaRPr lang="en-US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6729CC-AA5E-7FF5-4EA7-FF664A772BA6}"/>
              </a:ext>
            </a:extLst>
          </p:cNvPr>
          <p:cNvSpPr/>
          <p:nvPr/>
        </p:nvSpPr>
        <p:spPr>
          <a:xfrm>
            <a:off x="5595624" y="3264415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taunt()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B29DED-0184-A301-2949-7B9D821E19FE}"/>
              </a:ext>
            </a:extLst>
          </p:cNvPr>
          <p:cNvSpPr/>
          <p:nvPr/>
        </p:nvSpPr>
        <p:spPr>
          <a:xfrm>
            <a:off x="5593394" y="3960925"/>
            <a:ext cx="1497874" cy="410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taunt()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summonMinor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CAED5BD-C80B-9E07-6E86-C2AEE2634DE9}"/>
              </a:ext>
            </a:extLst>
          </p:cNvPr>
          <p:cNvSpPr/>
          <p:nvPr/>
        </p:nvSpPr>
        <p:spPr>
          <a:xfrm rot="16200000">
            <a:off x="4860006" y="3646815"/>
            <a:ext cx="196286" cy="127132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2A052AB-A8E0-C11E-9945-D4BBFF71A07B}"/>
              </a:ext>
            </a:extLst>
          </p:cNvPr>
          <p:cNvCxnSpPr>
            <a:stCxn id="24" idx="1"/>
            <a:endCxn id="30" idx="3"/>
          </p:cNvCxnSpPr>
          <p:nvPr/>
        </p:nvCxnSpPr>
        <p:spPr>
          <a:xfrm rot="10800000" flipV="1">
            <a:off x="5021716" y="3144765"/>
            <a:ext cx="571679" cy="565615"/>
          </a:xfrm>
          <a:prstGeom prst="bentConnector3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589B03D1-9123-58BD-48E8-1E71069C5599}"/>
              </a:ext>
            </a:extLst>
          </p:cNvPr>
          <p:cNvCxnSpPr>
            <a:cxnSpLocks/>
            <a:stCxn id="27" idx="1"/>
            <a:endCxn id="30" idx="3"/>
          </p:cNvCxnSpPr>
          <p:nvPr/>
        </p:nvCxnSpPr>
        <p:spPr>
          <a:xfrm rot="10800000">
            <a:off x="5021716" y="3710382"/>
            <a:ext cx="571679" cy="75255"/>
          </a:xfrm>
          <a:prstGeom prst="bentConnector3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ABF17F3-CA8B-8E66-C0C6-819E0F64970D}"/>
              </a:ext>
            </a:extLst>
          </p:cNvPr>
          <p:cNvSpPr/>
          <p:nvPr/>
        </p:nvSpPr>
        <p:spPr>
          <a:xfrm>
            <a:off x="7665177" y="3640696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SwampHydra</a:t>
            </a:r>
            <a:endParaRPr lang="en-US" b="1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C0A6AEF-967B-E3F1-2700-92FA34B85A6C}"/>
              </a:ext>
            </a:extLst>
          </p:cNvPr>
          <p:cNvSpPr/>
          <p:nvPr/>
        </p:nvSpPr>
        <p:spPr>
          <a:xfrm>
            <a:off x="7665177" y="4281566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IceHydra</a:t>
            </a:r>
            <a:endParaRPr lang="en-US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BEE63F-77D8-32E6-0C39-A31E9687FFFF}"/>
              </a:ext>
            </a:extLst>
          </p:cNvPr>
          <p:cNvSpPr/>
          <p:nvPr/>
        </p:nvSpPr>
        <p:spPr>
          <a:xfrm>
            <a:off x="7667407" y="3926408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heal()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45412D-AC9E-6EFC-3C4B-941A138A0060}"/>
              </a:ext>
            </a:extLst>
          </p:cNvPr>
          <p:cNvSpPr/>
          <p:nvPr/>
        </p:nvSpPr>
        <p:spPr>
          <a:xfrm>
            <a:off x="7665177" y="4622918"/>
            <a:ext cx="1497874" cy="410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explode()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revive()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199722A4-4FC4-85A5-1494-3D8E97148901}"/>
              </a:ext>
            </a:extLst>
          </p:cNvPr>
          <p:cNvSpPr/>
          <p:nvPr/>
        </p:nvSpPr>
        <p:spPr>
          <a:xfrm rot="16200000">
            <a:off x="4875961" y="4528904"/>
            <a:ext cx="196286" cy="127132"/>
          </a:xfrm>
          <a:prstGeom prst="triangl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25526E51-575A-F509-357D-50CF00AF3C21}"/>
              </a:ext>
            </a:extLst>
          </p:cNvPr>
          <p:cNvCxnSpPr>
            <a:cxnSpLocks/>
            <a:stCxn id="19" idx="1"/>
            <a:endCxn id="21" idx="3"/>
          </p:cNvCxnSpPr>
          <p:nvPr/>
        </p:nvCxnSpPr>
        <p:spPr>
          <a:xfrm rot="10800000">
            <a:off x="2838756" y="4361876"/>
            <a:ext cx="555724" cy="232417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D95196D-E0F2-8655-2673-640B65560DDF}"/>
              </a:ext>
            </a:extLst>
          </p:cNvPr>
          <p:cNvCxnSpPr>
            <a:cxnSpLocks/>
            <a:stCxn id="40" idx="1"/>
            <a:endCxn id="44" idx="3"/>
          </p:cNvCxnSpPr>
          <p:nvPr/>
        </p:nvCxnSpPr>
        <p:spPr>
          <a:xfrm rot="10800000" flipV="1">
            <a:off x="5037671" y="3806758"/>
            <a:ext cx="2627507" cy="785711"/>
          </a:xfrm>
          <a:prstGeom prst="bentConnector3">
            <a:avLst>
              <a:gd name="adj1" fmla="val 11885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162C036F-C988-AA5A-3A17-5450A7F8DE2C}"/>
              </a:ext>
            </a:extLst>
          </p:cNvPr>
          <p:cNvCxnSpPr>
            <a:cxnSpLocks/>
            <a:stCxn id="41" idx="1"/>
            <a:endCxn id="44" idx="3"/>
          </p:cNvCxnSpPr>
          <p:nvPr/>
        </p:nvCxnSpPr>
        <p:spPr>
          <a:xfrm rot="10800000" flipV="1">
            <a:off x="5037671" y="4447628"/>
            <a:ext cx="2627507" cy="144841"/>
          </a:xfrm>
          <a:prstGeom prst="bentConnector3">
            <a:avLst>
              <a:gd name="adj1" fmla="val 11553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E2045399-7704-3068-F987-B0A01A61A319}"/>
              </a:ext>
            </a:extLst>
          </p:cNvPr>
          <p:cNvSpPr/>
          <p:nvPr/>
        </p:nvSpPr>
        <p:spPr>
          <a:xfrm>
            <a:off x="9685719" y="4163537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SkeleArcher</a:t>
            </a:r>
            <a:endParaRPr lang="en-US" b="1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E040276-B763-939A-4164-6C2B6BFC1402}"/>
              </a:ext>
            </a:extLst>
          </p:cNvPr>
          <p:cNvSpPr/>
          <p:nvPr/>
        </p:nvSpPr>
        <p:spPr>
          <a:xfrm>
            <a:off x="9685719" y="4804407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SkeleSworder</a:t>
            </a:r>
            <a:endParaRPr lang="en-US" b="1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874C36B-2791-1184-161E-B7DEB1D9DAEC}"/>
              </a:ext>
            </a:extLst>
          </p:cNvPr>
          <p:cNvSpPr/>
          <p:nvPr/>
        </p:nvSpPr>
        <p:spPr>
          <a:xfrm>
            <a:off x="9687949" y="4449249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revive()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4D3A83D-35F6-7A3D-A904-A6B08AE9F54F}"/>
              </a:ext>
            </a:extLst>
          </p:cNvPr>
          <p:cNvSpPr/>
          <p:nvPr/>
        </p:nvSpPr>
        <p:spPr>
          <a:xfrm>
            <a:off x="9685719" y="5145759"/>
            <a:ext cx="1497874" cy="410900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revive()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transform()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51D232B1-6145-B18C-CA78-1175DC910B4A}"/>
              </a:ext>
            </a:extLst>
          </p:cNvPr>
          <p:cNvSpPr/>
          <p:nvPr/>
        </p:nvSpPr>
        <p:spPr>
          <a:xfrm rot="16200000">
            <a:off x="4887161" y="5396444"/>
            <a:ext cx="196286" cy="127132"/>
          </a:xfrm>
          <a:prstGeom prst="triangl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92C89886-239D-15D3-9057-1E170C9AB108}"/>
              </a:ext>
            </a:extLst>
          </p:cNvPr>
          <p:cNvCxnSpPr>
            <a:cxnSpLocks/>
            <a:stCxn id="61" idx="1"/>
            <a:endCxn id="65" idx="3"/>
          </p:cNvCxnSpPr>
          <p:nvPr/>
        </p:nvCxnSpPr>
        <p:spPr>
          <a:xfrm rot="10800000" flipV="1">
            <a:off x="5048871" y="4329600"/>
            <a:ext cx="4636849" cy="1130410"/>
          </a:xfrm>
          <a:prstGeom prst="bentConnector3">
            <a:avLst>
              <a:gd name="adj1" fmla="val 5488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3FC5B5D6-FB08-670E-CDFB-9CC5B38B672B}"/>
              </a:ext>
            </a:extLst>
          </p:cNvPr>
          <p:cNvCxnSpPr>
            <a:cxnSpLocks/>
            <a:stCxn id="62" idx="1"/>
            <a:endCxn id="65" idx="3"/>
          </p:cNvCxnSpPr>
          <p:nvPr/>
        </p:nvCxnSpPr>
        <p:spPr>
          <a:xfrm rot="10800000" flipV="1">
            <a:off x="5048871" y="4970470"/>
            <a:ext cx="4636849" cy="489540"/>
          </a:xfrm>
          <a:prstGeom prst="bentConnector3">
            <a:avLst>
              <a:gd name="adj1" fmla="val 5301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9C102A1-7BEC-05A3-8E21-1A6DBB762455}"/>
              </a:ext>
            </a:extLst>
          </p:cNvPr>
          <p:cNvSpPr/>
          <p:nvPr/>
        </p:nvSpPr>
        <p:spPr>
          <a:xfrm>
            <a:off x="6958136" y="3067772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F2597B-0398-CF79-31A1-3ED5D1FE4D78}"/>
              </a:ext>
            </a:extLst>
          </p:cNvPr>
          <p:cNvSpPr/>
          <p:nvPr/>
        </p:nvSpPr>
        <p:spPr>
          <a:xfrm>
            <a:off x="6400083" y="4317000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2E2260-EE96-87A7-530D-261B17EE5A13}"/>
              </a:ext>
            </a:extLst>
          </p:cNvPr>
          <p:cNvSpPr/>
          <p:nvPr/>
        </p:nvSpPr>
        <p:spPr>
          <a:xfrm>
            <a:off x="9095386" y="3572364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2648F1-69D1-20F4-BFB4-E3877A618D10}"/>
              </a:ext>
            </a:extLst>
          </p:cNvPr>
          <p:cNvSpPr/>
          <p:nvPr/>
        </p:nvSpPr>
        <p:spPr>
          <a:xfrm>
            <a:off x="8381100" y="4977942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DCC21C-0648-E5D9-307A-884A129B17E4}"/>
              </a:ext>
            </a:extLst>
          </p:cNvPr>
          <p:cNvSpPr/>
          <p:nvPr/>
        </p:nvSpPr>
        <p:spPr>
          <a:xfrm>
            <a:off x="10348852" y="3822637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4157D8-B7B2-7144-020A-E26D05561DBE}"/>
              </a:ext>
            </a:extLst>
          </p:cNvPr>
          <p:cNvSpPr/>
          <p:nvPr/>
        </p:nvSpPr>
        <p:spPr>
          <a:xfrm>
            <a:off x="10348851" y="5532915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B7519C-32D3-FE75-5D5C-FD9B33101EA5}"/>
              </a:ext>
            </a:extLst>
          </p:cNvPr>
          <p:cNvSpPr/>
          <p:nvPr/>
        </p:nvSpPr>
        <p:spPr>
          <a:xfrm>
            <a:off x="3397328" y="3837140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taunt()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A989B391-8D6B-CAB6-3E14-952693823153}"/>
              </a:ext>
            </a:extLst>
          </p:cNvPr>
          <p:cNvSpPr/>
          <p:nvPr/>
        </p:nvSpPr>
        <p:spPr>
          <a:xfrm>
            <a:off x="1288869" y="2873959"/>
            <a:ext cx="3326963" cy="281438"/>
          </a:xfrm>
          <a:prstGeom prst="wedgeRectCallout">
            <a:avLst>
              <a:gd name="adj1" fmla="val 40290"/>
              <a:gd name="adj2" fmla="val 183593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“Pull Up” to encourage code sharing</a:t>
            </a:r>
          </a:p>
        </p:txBody>
      </p:sp>
    </p:spTree>
    <p:extLst>
      <p:ext uri="{BB962C8B-B14F-4D97-AF65-F5344CB8AC3E}">
        <p14:creationId xmlns:p14="http://schemas.microsoft.com/office/powerpoint/2010/main" val="123963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OOD Example – Enemy (Again)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5756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Design Procedures – Method PULL UP</a:t>
            </a:r>
          </a:p>
          <a:p>
            <a:pPr marL="800100" lvl="1" indent="-342900">
              <a:buFont typeface="+mj-lt"/>
              <a:buAutoNum type="arabicPeriod" startAt="4"/>
            </a:pPr>
            <a:r>
              <a:rPr lang="en-CA" dirty="0"/>
              <a:t>Revisit your class designs, optimize your class hierarchy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Refactoring, reorganizing class hierarchy, improve code-sharing, pave for expandability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12</a:t>
            </a:fld>
            <a:endParaRPr lang="en-C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8AC80C-77B7-2300-7CB5-96635818FAC8}"/>
              </a:ext>
            </a:extLst>
          </p:cNvPr>
          <p:cNvSpPr/>
          <p:nvPr/>
        </p:nvSpPr>
        <p:spPr>
          <a:xfrm>
            <a:off x="1195564" y="3555301"/>
            <a:ext cx="1500105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Enemy</a:t>
            </a:r>
            <a:endParaRPr lang="en-US" b="1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C2053A-F87F-1940-2138-D62B837BBCC0}"/>
              </a:ext>
            </a:extLst>
          </p:cNvPr>
          <p:cNvSpPr/>
          <p:nvPr/>
        </p:nvSpPr>
        <p:spPr>
          <a:xfrm>
            <a:off x="1197795" y="3902323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# HP, ATK, DEF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21064D-CDFE-2E7C-84FB-A7EBA6F080AE}"/>
              </a:ext>
            </a:extLst>
          </p:cNvPr>
          <p:cNvSpPr/>
          <p:nvPr/>
        </p:nvSpPr>
        <p:spPr>
          <a:xfrm>
            <a:off x="1195564" y="4179333"/>
            <a:ext cx="1497873" cy="96367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Enemy()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move(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dir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i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1100" b="1" i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D93C57-3B90-E401-24E6-0B3811B15731}"/>
              </a:ext>
            </a:extLst>
          </p:cNvPr>
          <p:cNvSpPr/>
          <p:nvPr/>
        </p:nvSpPr>
        <p:spPr>
          <a:xfrm>
            <a:off x="3394480" y="3544074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Goblin</a:t>
            </a:r>
            <a:endParaRPr lang="en-US" b="1" i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EFEB66-A025-C3C8-AE06-6315257B38FE}"/>
              </a:ext>
            </a:extLst>
          </p:cNvPr>
          <p:cNvSpPr/>
          <p:nvPr/>
        </p:nvSpPr>
        <p:spPr>
          <a:xfrm>
            <a:off x="3394480" y="4428229"/>
            <a:ext cx="1500104" cy="33212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Hydra</a:t>
            </a:r>
            <a:endParaRPr lang="en-US" b="1" i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E0C6E0-AA6B-4D69-9A4A-44655F080006}"/>
              </a:ext>
            </a:extLst>
          </p:cNvPr>
          <p:cNvSpPr/>
          <p:nvPr/>
        </p:nvSpPr>
        <p:spPr>
          <a:xfrm>
            <a:off x="3394480" y="5297274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Skeleton</a:t>
            </a:r>
            <a:endParaRPr lang="en-US" b="1" i="1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A9C4ED1-EA6F-6E78-CDD2-604EEA2208E0}"/>
              </a:ext>
            </a:extLst>
          </p:cNvPr>
          <p:cNvSpPr/>
          <p:nvPr/>
        </p:nvSpPr>
        <p:spPr>
          <a:xfrm rot="16200000">
            <a:off x="2677047" y="4298309"/>
            <a:ext cx="196286" cy="127132"/>
          </a:xfrm>
          <a:prstGeom prst="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425B02C-10A7-DEC9-407B-3D02FBE65B97}"/>
              </a:ext>
            </a:extLst>
          </p:cNvPr>
          <p:cNvCxnSpPr>
            <a:stCxn id="18" idx="1"/>
            <a:endCxn id="21" idx="3"/>
          </p:cNvCxnSpPr>
          <p:nvPr/>
        </p:nvCxnSpPr>
        <p:spPr>
          <a:xfrm rot="10800000" flipV="1">
            <a:off x="2838756" y="3710137"/>
            <a:ext cx="555724" cy="651738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FEF4D68-562E-CD80-C55A-AA5748510AF6}"/>
              </a:ext>
            </a:extLst>
          </p:cNvPr>
          <p:cNvCxnSpPr>
            <a:cxnSpLocks/>
            <a:stCxn id="20" idx="1"/>
            <a:endCxn id="21" idx="3"/>
          </p:cNvCxnSpPr>
          <p:nvPr/>
        </p:nvCxnSpPr>
        <p:spPr>
          <a:xfrm rot="10800000">
            <a:off x="2838756" y="4361875"/>
            <a:ext cx="555724" cy="1101462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32AE709-68D1-FE39-E5BB-680717B8A710}"/>
              </a:ext>
            </a:extLst>
          </p:cNvPr>
          <p:cNvSpPr/>
          <p:nvPr/>
        </p:nvSpPr>
        <p:spPr>
          <a:xfrm>
            <a:off x="5593394" y="2978703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GoblinMinor</a:t>
            </a:r>
            <a:endParaRPr lang="en-US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72FDF3-8C56-5B59-6135-BCF2895B8DC3}"/>
              </a:ext>
            </a:extLst>
          </p:cNvPr>
          <p:cNvSpPr/>
          <p:nvPr/>
        </p:nvSpPr>
        <p:spPr>
          <a:xfrm>
            <a:off x="5593394" y="3619573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GoblinMajor</a:t>
            </a:r>
            <a:endParaRPr lang="en-US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6729CC-AA5E-7FF5-4EA7-FF664A772BA6}"/>
              </a:ext>
            </a:extLst>
          </p:cNvPr>
          <p:cNvSpPr/>
          <p:nvPr/>
        </p:nvSpPr>
        <p:spPr>
          <a:xfrm>
            <a:off x="5595624" y="3264415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revive()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B29DED-0184-A301-2949-7B9D821E19FE}"/>
              </a:ext>
            </a:extLst>
          </p:cNvPr>
          <p:cNvSpPr/>
          <p:nvPr/>
        </p:nvSpPr>
        <p:spPr>
          <a:xfrm>
            <a:off x="5593394" y="3960925"/>
            <a:ext cx="1497874" cy="410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revive()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summonMinor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CAED5BD-C80B-9E07-6E86-C2AEE2634DE9}"/>
              </a:ext>
            </a:extLst>
          </p:cNvPr>
          <p:cNvSpPr/>
          <p:nvPr/>
        </p:nvSpPr>
        <p:spPr>
          <a:xfrm rot="16200000">
            <a:off x="4860006" y="3646815"/>
            <a:ext cx="196286" cy="127132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2A052AB-A8E0-C11E-9945-D4BBFF71A07B}"/>
              </a:ext>
            </a:extLst>
          </p:cNvPr>
          <p:cNvCxnSpPr>
            <a:stCxn id="24" idx="1"/>
            <a:endCxn id="30" idx="3"/>
          </p:cNvCxnSpPr>
          <p:nvPr/>
        </p:nvCxnSpPr>
        <p:spPr>
          <a:xfrm rot="10800000" flipV="1">
            <a:off x="5021716" y="3144765"/>
            <a:ext cx="571679" cy="565615"/>
          </a:xfrm>
          <a:prstGeom prst="bentConnector3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589B03D1-9123-58BD-48E8-1E71069C5599}"/>
              </a:ext>
            </a:extLst>
          </p:cNvPr>
          <p:cNvCxnSpPr>
            <a:cxnSpLocks/>
            <a:stCxn id="27" idx="1"/>
            <a:endCxn id="30" idx="3"/>
          </p:cNvCxnSpPr>
          <p:nvPr/>
        </p:nvCxnSpPr>
        <p:spPr>
          <a:xfrm rot="10800000">
            <a:off x="5021716" y="3710382"/>
            <a:ext cx="571679" cy="75255"/>
          </a:xfrm>
          <a:prstGeom prst="bentConnector3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ABF17F3-CA8B-8E66-C0C6-819E0F64970D}"/>
              </a:ext>
            </a:extLst>
          </p:cNvPr>
          <p:cNvSpPr/>
          <p:nvPr/>
        </p:nvSpPr>
        <p:spPr>
          <a:xfrm>
            <a:off x="7665177" y="3562317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SwampHydra</a:t>
            </a:r>
            <a:endParaRPr lang="en-US" b="1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C0A6AEF-967B-E3F1-2700-92FA34B85A6C}"/>
              </a:ext>
            </a:extLst>
          </p:cNvPr>
          <p:cNvSpPr/>
          <p:nvPr/>
        </p:nvSpPr>
        <p:spPr>
          <a:xfrm>
            <a:off x="7665177" y="4281566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IceHydra</a:t>
            </a:r>
            <a:endParaRPr lang="en-US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BEE63F-77D8-32E6-0C39-A31E9687FFFF}"/>
              </a:ext>
            </a:extLst>
          </p:cNvPr>
          <p:cNvSpPr/>
          <p:nvPr/>
        </p:nvSpPr>
        <p:spPr>
          <a:xfrm>
            <a:off x="7667407" y="3848028"/>
            <a:ext cx="1497874" cy="368463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revive()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heal()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45412D-AC9E-6EFC-3C4B-941A138A0060}"/>
              </a:ext>
            </a:extLst>
          </p:cNvPr>
          <p:cNvSpPr/>
          <p:nvPr/>
        </p:nvSpPr>
        <p:spPr>
          <a:xfrm>
            <a:off x="7665177" y="4622918"/>
            <a:ext cx="1497874" cy="410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explode()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revive()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199722A4-4FC4-85A5-1494-3D8E97148901}"/>
              </a:ext>
            </a:extLst>
          </p:cNvPr>
          <p:cNvSpPr/>
          <p:nvPr/>
        </p:nvSpPr>
        <p:spPr>
          <a:xfrm rot="16200000">
            <a:off x="4875961" y="4528904"/>
            <a:ext cx="196286" cy="127132"/>
          </a:xfrm>
          <a:prstGeom prst="triangl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25526E51-575A-F509-357D-50CF00AF3C21}"/>
              </a:ext>
            </a:extLst>
          </p:cNvPr>
          <p:cNvCxnSpPr>
            <a:cxnSpLocks/>
            <a:stCxn id="19" idx="1"/>
            <a:endCxn id="21" idx="3"/>
          </p:cNvCxnSpPr>
          <p:nvPr/>
        </p:nvCxnSpPr>
        <p:spPr>
          <a:xfrm rot="10800000">
            <a:off x="2838756" y="4361876"/>
            <a:ext cx="555724" cy="232417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D95196D-E0F2-8655-2673-640B65560DDF}"/>
              </a:ext>
            </a:extLst>
          </p:cNvPr>
          <p:cNvCxnSpPr>
            <a:cxnSpLocks/>
            <a:stCxn id="40" idx="1"/>
            <a:endCxn id="44" idx="3"/>
          </p:cNvCxnSpPr>
          <p:nvPr/>
        </p:nvCxnSpPr>
        <p:spPr>
          <a:xfrm rot="10800000" flipV="1">
            <a:off x="5037671" y="3728380"/>
            <a:ext cx="2627507" cy="864090"/>
          </a:xfrm>
          <a:prstGeom prst="bentConnector3">
            <a:avLst>
              <a:gd name="adj1" fmla="val 11885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162C036F-C988-AA5A-3A17-5450A7F8DE2C}"/>
              </a:ext>
            </a:extLst>
          </p:cNvPr>
          <p:cNvCxnSpPr>
            <a:cxnSpLocks/>
            <a:stCxn id="41" idx="1"/>
            <a:endCxn id="44" idx="3"/>
          </p:cNvCxnSpPr>
          <p:nvPr/>
        </p:nvCxnSpPr>
        <p:spPr>
          <a:xfrm rot="10800000" flipV="1">
            <a:off x="5037671" y="4447628"/>
            <a:ext cx="2627507" cy="144841"/>
          </a:xfrm>
          <a:prstGeom prst="bentConnector3">
            <a:avLst>
              <a:gd name="adj1" fmla="val 11553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E2045399-7704-3068-F987-B0A01A61A319}"/>
              </a:ext>
            </a:extLst>
          </p:cNvPr>
          <p:cNvSpPr/>
          <p:nvPr/>
        </p:nvSpPr>
        <p:spPr>
          <a:xfrm>
            <a:off x="9685719" y="4163537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SkeleArcher</a:t>
            </a:r>
            <a:endParaRPr lang="en-US" b="1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E040276-B763-939A-4164-6C2B6BFC1402}"/>
              </a:ext>
            </a:extLst>
          </p:cNvPr>
          <p:cNvSpPr/>
          <p:nvPr/>
        </p:nvSpPr>
        <p:spPr>
          <a:xfrm>
            <a:off x="9685719" y="4804407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SkeleSworder</a:t>
            </a:r>
            <a:endParaRPr lang="en-US" b="1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874C36B-2791-1184-161E-B7DEB1D9DAEC}"/>
              </a:ext>
            </a:extLst>
          </p:cNvPr>
          <p:cNvSpPr/>
          <p:nvPr/>
        </p:nvSpPr>
        <p:spPr>
          <a:xfrm>
            <a:off x="9687949" y="4449249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revive()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4D3A83D-35F6-7A3D-A904-A6B08AE9F54F}"/>
              </a:ext>
            </a:extLst>
          </p:cNvPr>
          <p:cNvSpPr/>
          <p:nvPr/>
        </p:nvSpPr>
        <p:spPr>
          <a:xfrm>
            <a:off x="9685719" y="5145759"/>
            <a:ext cx="1497874" cy="410900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revive()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transform()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51D232B1-6145-B18C-CA78-1175DC910B4A}"/>
              </a:ext>
            </a:extLst>
          </p:cNvPr>
          <p:cNvSpPr/>
          <p:nvPr/>
        </p:nvSpPr>
        <p:spPr>
          <a:xfrm rot="16200000">
            <a:off x="4887161" y="5396444"/>
            <a:ext cx="196286" cy="127132"/>
          </a:xfrm>
          <a:prstGeom prst="triangl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92C89886-239D-15D3-9057-1E170C9AB108}"/>
              </a:ext>
            </a:extLst>
          </p:cNvPr>
          <p:cNvCxnSpPr>
            <a:cxnSpLocks/>
            <a:stCxn id="61" idx="1"/>
            <a:endCxn id="65" idx="3"/>
          </p:cNvCxnSpPr>
          <p:nvPr/>
        </p:nvCxnSpPr>
        <p:spPr>
          <a:xfrm rot="10800000" flipV="1">
            <a:off x="5048871" y="4329600"/>
            <a:ext cx="4636849" cy="1130410"/>
          </a:xfrm>
          <a:prstGeom prst="bentConnector3">
            <a:avLst>
              <a:gd name="adj1" fmla="val 5488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3FC5B5D6-FB08-670E-CDFB-9CC5B38B672B}"/>
              </a:ext>
            </a:extLst>
          </p:cNvPr>
          <p:cNvCxnSpPr>
            <a:cxnSpLocks/>
            <a:stCxn id="62" idx="1"/>
            <a:endCxn id="65" idx="3"/>
          </p:cNvCxnSpPr>
          <p:nvPr/>
        </p:nvCxnSpPr>
        <p:spPr>
          <a:xfrm rot="10800000" flipV="1">
            <a:off x="5048871" y="4970470"/>
            <a:ext cx="4636849" cy="489540"/>
          </a:xfrm>
          <a:prstGeom prst="bentConnector3">
            <a:avLst>
              <a:gd name="adj1" fmla="val 5301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9C102A1-7BEC-05A3-8E21-1A6DBB762455}"/>
              </a:ext>
            </a:extLst>
          </p:cNvPr>
          <p:cNvSpPr/>
          <p:nvPr/>
        </p:nvSpPr>
        <p:spPr>
          <a:xfrm>
            <a:off x="6958136" y="3067772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F2597B-0398-CF79-31A1-3ED5D1FE4D78}"/>
              </a:ext>
            </a:extLst>
          </p:cNvPr>
          <p:cNvSpPr/>
          <p:nvPr/>
        </p:nvSpPr>
        <p:spPr>
          <a:xfrm>
            <a:off x="6400083" y="4317000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2E2260-EE96-87A7-530D-261B17EE5A13}"/>
              </a:ext>
            </a:extLst>
          </p:cNvPr>
          <p:cNvSpPr/>
          <p:nvPr/>
        </p:nvSpPr>
        <p:spPr>
          <a:xfrm>
            <a:off x="9095386" y="3493985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2648F1-69D1-20F4-BFB4-E3877A618D10}"/>
              </a:ext>
            </a:extLst>
          </p:cNvPr>
          <p:cNvSpPr/>
          <p:nvPr/>
        </p:nvSpPr>
        <p:spPr>
          <a:xfrm>
            <a:off x="8381100" y="4977942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DCC21C-0648-E5D9-307A-884A129B17E4}"/>
              </a:ext>
            </a:extLst>
          </p:cNvPr>
          <p:cNvSpPr/>
          <p:nvPr/>
        </p:nvSpPr>
        <p:spPr>
          <a:xfrm>
            <a:off x="10348852" y="3822637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4157D8-B7B2-7144-020A-E26D05561DBE}"/>
              </a:ext>
            </a:extLst>
          </p:cNvPr>
          <p:cNvSpPr/>
          <p:nvPr/>
        </p:nvSpPr>
        <p:spPr>
          <a:xfrm>
            <a:off x="10348851" y="5532915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B7519C-32D3-FE75-5D5C-FD9B33101EA5}"/>
              </a:ext>
            </a:extLst>
          </p:cNvPr>
          <p:cNvSpPr/>
          <p:nvPr/>
        </p:nvSpPr>
        <p:spPr>
          <a:xfrm>
            <a:off x="3397328" y="3837140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taunt()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A989B391-8D6B-CAB6-3E14-952693823153}"/>
              </a:ext>
            </a:extLst>
          </p:cNvPr>
          <p:cNvSpPr/>
          <p:nvPr/>
        </p:nvSpPr>
        <p:spPr>
          <a:xfrm>
            <a:off x="8022238" y="2647088"/>
            <a:ext cx="2326614" cy="576970"/>
          </a:xfrm>
          <a:prstGeom prst="wedgeRectCallout">
            <a:avLst>
              <a:gd name="adj1" fmla="val -45575"/>
              <a:gd name="adj2" fmla="val 8850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Realizing nice features to share with all subclasses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7533A7-5A85-641F-A932-B34806202E36}"/>
              </a:ext>
            </a:extLst>
          </p:cNvPr>
          <p:cNvSpPr/>
          <p:nvPr/>
        </p:nvSpPr>
        <p:spPr>
          <a:xfrm>
            <a:off x="1313727" y="5113694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revive()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08CF04D0-BCB8-8749-22C5-9A5468979421}"/>
              </a:ext>
            </a:extLst>
          </p:cNvPr>
          <p:cNvSpPr/>
          <p:nvPr/>
        </p:nvSpPr>
        <p:spPr>
          <a:xfrm>
            <a:off x="2103475" y="2709037"/>
            <a:ext cx="2326614" cy="576970"/>
          </a:xfrm>
          <a:prstGeom prst="wedgeRectCallout">
            <a:avLst>
              <a:gd name="adj1" fmla="val -45575"/>
              <a:gd name="adj2" fmla="val 8850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Two-Level Pull Up</a:t>
            </a:r>
          </a:p>
          <a:p>
            <a:r>
              <a:rPr lang="en-CA" sz="1600" b="1" dirty="0">
                <a:solidFill>
                  <a:schemeClr val="tx1"/>
                </a:solidFill>
              </a:rPr>
              <a:t>For Wider Code Sharing</a:t>
            </a:r>
          </a:p>
        </p:txBody>
      </p:sp>
    </p:spTree>
    <p:extLst>
      <p:ext uri="{BB962C8B-B14F-4D97-AF65-F5344CB8AC3E}">
        <p14:creationId xmlns:p14="http://schemas.microsoft.com/office/powerpoint/2010/main" val="908937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8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4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7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0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0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OOD Example – Enemy (Again)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5756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Design Procedures – Method PULL UP</a:t>
            </a:r>
          </a:p>
          <a:p>
            <a:pPr marL="800100" lvl="1" indent="-342900">
              <a:buFont typeface="+mj-lt"/>
              <a:buAutoNum type="arabicPeriod" startAt="4"/>
            </a:pPr>
            <a:r>
              <a:rPr lang="en-CA" dirty="0"/>
              <a:t>Revisit your class designs, optimize your class hierarchy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Refactoring, reorganizing class hierarchy, improve code-sharing, pave for expandability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13</a:t>
            </a:fld>
            <a:endParaRPr lang="en-C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8AC80C-77B7-2300-7CB5-96635818FAC8}"/>
              </a:ext>
            </a:extLst>
          </p:cNvPr>
          <p:cNvSpPr/>
          <p:nvPr/>
        </p:nvSpPr>
        <p:spPr>
          <a:xfrm>
            <a:off x="1195564" y="3555301"/>
            <a:ext cx="1500105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Enemy</a:t>
            </a:r>
            <a:endParaRPr lang="en-US" b="1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C2053A-F87F-1940-2138-D62B837BBCC0}"/>
              </a:ext>
            </a:extLst>
          </p:cNvPr>
          <p:cNvSpPr/>
          <p:nvPr/>
        </p:nvSpPr>
        <p:spPr>
          <a:xfrm>
            <a:off x="1197795" y="3902323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# HP, ATK, DEF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21064D-CDFE-2E7C-84FB-A7EBA6F080AE}"/>
              </a:ext>
            </a:extLst>
          </p:cNvPr>
          <p:cNvSpPr/>
          <p:nvPr/>
        </p:nvSpPr>
        <p:spPr>
          <a:xfrm>
            <a:off x="1195564" y="4179333"/>
            <a:ext cx="1497873" cy="137732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Enemy()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move(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dir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i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1100" b="1" i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killed()</a:t>
            </a:r>
          </a:p>
          <a:p>
            <a:endParaRPr lang="en-CA" sz="1100" b="1" i="1" dirty="0">
              <a:solidFill>
                <a:schemeClr val="tx1"/>
              </a:solidFill>
              <a:latin typeface="Courier"/>
            </a:endParaRPr>
          </a:p>
          <a:p>
            <a:r>
              <a:rPr lang="en-US" sz="1100" b="1" i="1" dirty="0">
                <a:solidFill>
                  <a:schemeClr val="tx1"/>
                </a:solidFill>
                <a:latin typeface="Courier"/>
              </a:rPr>
              <a:t>+ revive()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D93C57-3B90-E401-24E6-0B3811B15731}"/>
              </a:ext>
            </a:extLst>
          </p:cNvPr>
          <p:cNvSpPr/>
          <p:nvPr/>
        </p:nvSpPr>
        <p:spPr>
          <a:xfrm>
            <a:off x="3394480" y="3544074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Goblin</a:t>
            </a:r>
            <a:endParaRPr lang="en-US" b="1" i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EFEB66-A025-C3C8-AE06-6315257B38FE}"/>
              </a:ext>
            </a:extLst>
          </p:cNvPr>
          <p:cNvSpPr/>
          <p:nvPr/>
        </p:nvSpPr>
        <p:spPr>
          <a:xfrm>
            <a:off x="3394480" y="4428229"/>
            <a:ext cx="1500104" cy="33212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Hydra</a:t>
            </a:r>
            <a:endParaRPr lang="en-US" b="1" i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E0C6E0-AA6B-4D69-9A4A-44655F080006}"/>
              </a:ext>
            </a:extLst>
          </p:cNvPr>
          <p:cNvSpPr/>
          <p:nvPr/>
        </p:nvSpPr>
        <p:spPr>
          <a:xfrm>
            <a:off x="3394480" y="5297274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Skeleton</a:t>
            </a:r>
            <a:endParaRPr lang="en-US" b="1" i="1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A9C4ED1-EA6F-6E78-CDD2-604EEA2208E0}"/>
              </a:ext>
            </a:extLst>
          </p:cNvPr>
          <p:cNvSpPr/>
          <p:nvPr/>
        </p:nvSpPr>
        <p:spPr>
          <a:xfrm rot="16200000">
            <a:off x="2677047" y="4298309"/>
            <a:ext cx="196286" cy="127132"/>
          </a:xfrm>
          <a:prstGeom prst="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425B02C-10A7-DEC9-407B-3D02FBE65B97}"/>
              </a:ext>
            </a:extLst>
          </p:cNvPr>
          <p:cNvCxnSpPr>
            <a:stCxn id="18" idx="1"/>
            <a:endCxn id="21" idx="3"/>
          </p:cNvCxnSpPr>
          <p:nvPr/>
        </p:nvCxnSpPr>
        <p:spPr>
          <a:xfrm rot="10800000" flipV="1">
            <a:off x="2838756" y="3710137"/>
            <a:ext cx="555724" cy="651738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FEF4D68-562E-CD80-C55A-AA5748510AF6}"/>
              </a:ext>
            </a:extLst>
          </p:cNvPr>
          <p:cNvCxnSpPr>
            <a:cxnSpLocks/>
            <a:stCxn id="20" idx="1"/>
            <a:endCxn id="21" idx="3"/>
          </p:cNvCxnSpPr>
          <p:nvPr/>
        </p:nvCxnSpPr>
        <p:spPr>
          <a:xfrm rot="10800000">
            <a:off x="2838756" y="4361875"/>
            <a:ext cx="555724" cy="1101462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32AE709-68D1-FE39-E5BB-680717B8A710}"/>
              </a:ext>
            </a:extLst>
          </p:cNvPr>
          <p:cNvSpPr/>
          <p:nvPr/>
        </p:nvSpPr>
        <p:spPr>
          <a:xfrm>
            <a:off x="5593394" y="2978703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GoblinMinor</a:t>
            </a:r>
            <a:endParaRPr lang="en-US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72FDF3-8C56-5B59-6135-BCF2895B8DC3}"/>
              </a:ext>
            </a:extLst>
          </p:cNvPr>
          <p:cNvSpPr/>
          <p:nvPr/>
        </p:nvSpPr>
        <p:spPr>
          <a:xfrm>
            <a:off x="5593394" y="3619573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GoblinMajor</a:t>
            </a:r>
            <a:endParaRPr lang="en-US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B29DED-0184-A301-2949-7B9D821E19FE}"/>
              </a:ext>
            </a:extLst>
          </p:cNvPr>
          <p:cNvSpPr/>
          <p:nvPr/>
        </p:nvSpPr>
        <p:spPr>
          <a:xfrm>
            <a:off x="5593394" y="3960925"/>
            <a:ext cx="1497874" cy="24130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summonMinor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CAED5BD-C80B-9E07-6E86-C2AEE2634DE9}"/>
              </a:ext>
            </a:extLst>
          </p:cNvPr>
          <p:cNvSpPr/>
          <p:nvPr/>
        </p:nvSpPr>
        <p:spPr>
          <a:xfrm rot="16200000">
            <a:off x="4860006" y="3646815"/>
            <a:ext cx="196286" cy="127132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2A052AB-A8E0-C11E-9945-D4BBFF71A07B}"/>
              </a:ext>
            </a:extLst>
          </p:cNvPr>
          <p:cNvCxnSpPr>
            <a:stCxn id="24" idx="1"/>
            <a:endCxn id="30" idx="3"/>
          </p:cNvCxnSpPr>
          <p:nvPr/>
        </p:nvCxnSpPr>
        <p:spPr>
          <a:xfrm rot="10800000" flipV="1">
            <a:off x="5021716" y="3144765"/>
            <a:ext cx="571679" cy="565615"/>
          </a:xfrm>
          <a:prstGeom prst="bentConnector3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589B03D1-9123-58BD-48E8-1E71069C5599}"/>
              </a:ext>
            </a:extLst>
          </p:cNvPr>
          <p:cNvCxnSpPr>
            <a:cxnSpLocks/>
            <a:stCxn id="27" idx="1"/>
            <a:endCxn id="30" idx="3"/>
          </p:cNvCxnSpPr>
          <p:nvPr/>
        </p:nvCxnSpPr>
        <p:spPr>
          <a:xfrm rot="10800000">
            <a:off x="5021716" y="3710382"/>
            <a:ext cx="571679" cy="75255"/>
          </a:xfrm>
          <a:prstGeom prst="bentConnector3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ABF17F3-CA8B-8E66-C0C6-819E0F64970D}"/>
              </a:ext>
            </a:extLst>
          </p:cNvPr>
          <p:cNvSpPr/>
          <p:nvPr/>
        </p:nvSpPr>
        <p:spPr>
          <a:xfrm>
            <a:off x="7665177" y="3562317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SwampHydra</a:t>
            </a:r>
            <a:endParaRPr lang="en-US" b="1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C0A6AEF-967B-E3F1-2700-92FA34B85A6C}"/>
              </a:ext>
            </a:extLst>
          </p:cNvPr>
          <p:cNvSpPr/>
          <p:nvPr/>
        </p:nvSpPr>
        <p:spPr>
          <a:xfrm>
            <a:off x="7665177" y="4281566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IceHydra</a:t>
            </a:r>
            <a:endParaRPr lang="en-US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BEE63F-77D8-32E6-0C39-A31E9687FFFF}"/>
              </a:ext>
            </a:extLst>
          </p:cNvPr>
          <p:cNvSpPr/>
          <p:nvPr/>
        </p:nvSpPr>
        <p:spPr>
          <a:xfrm>
            <a:off x="7667407" y="3848029"/>
            <a:ext cx="1497874" cy="24453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heal()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45412D-AC9E-6EFC-3C4B-941A138A0060}"/>
              </a:ext>
            </a:extLst>
          </p:cNvPr>
          <p:cNvSpPr/>
          <p:nvPr/>
        </p:nvSpPr>
        <p:spPr>
          <a:xfrm>
            <a:off x="7665177" y="4622918"/>
            <a:ext cx="1497874" cy="26424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explode()</a:t>
            </a: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199722A4-4FC4-85A5-1494-3D8E97148901}"/>
              </a:ext>
            </a:extLst>
          </p:cNvPr>
          <p:cNvSpPr/>
          <p:nvPr/>
        </p:nvSpPr>
        <p:spPr>
          <a:xfrm rot="16200000">
            <a:off x="4875961" y="4528904"/>
            <a:ext cx="196286" cy="127132"/>
          </a:xfrm>
          <a:prstGeom prst="triangl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25526E51-575A-F509-357D-50CF00AF3C21}"/>
              </a:ext>
            </a:extLst>
          </p:cNvPr>
          <p:cNvCxnSpPr>
            <a:cxnSpLocks/>
            <a:stCxn id="19" idx="1"/>
            <a:endCxn id="21" idx="3"/>
          </p:cNvCxnSpPr>
          <p:nvPr/>
        </p:nvCxnSpPr>
        <p:spPr>
          <a:xfrm rot="10800000">
            <a:off x="2838756" y="4361876"/>
            <a:ext cx="555724" cy="232417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D95196D-E0F2-8655-2673-640B65560DDF}"/>
              </a:ext>
            </a:extLst>
          </p:cNvPr>
          <p:cNvCxnSpPr>
            <a:cxnSpLocks/>
            <a:stCxn id="40" idx="1"/>
            <a:endCxn id="44" idx="3"/>
          </p:cNvCxnSpPr>
          <p:nvPr/>
        </p:nvCxnSpPr>
        <p:spPr>
          <a:xfrm rot="10800000" flipV="1">
            <a:off x="5037671" y="3728380"/>
            <a:ext cx="2627507" cy="864090"/>
          </a:xfrm>
          <a:prstGeom prst="bentConnector3">
            <a:avLst>
              <a:gd name="adj1" fmla="val 11885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162C036F-C988-AA5A-3A17-5450A7F8DE2C}"/>
              </a:ext>
            </a:extLst>
          </p:cNvPr>
          <p:cNvCxnSpPr>
            <a:cxnSpLocks/>
            <a:stCxn id="41" idx="1"/>
            <a:endCxn id="44" idx="3"/>
          </p:cNvCxnSpPr>
          <p:nvPr/>
        </p:nvCxnSpPr>
        <p:spPr>
          <a:xfrm rot="10800000" flipV="1">
            <a:off x="5037671" y="4447628"/>
            <a:ext cx="2627507" cy="144841"/>
          </a:xfrm>
          <a:prstGeom prst="bentConnector3">
            <a:avLst>
              <a:gd name="adj1" fmla="val 11553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E2045399-7704-3068-F987-B0A01A61A319}"/>
              </a:ext>
            </a:extLst>
          </p:cNvPr>
          <p:cNvSpPr/>
          <p:nvPr/>
        </p:nvSpPr>
        <p:spPr>
          <a:xfrm>
            <a:off x="9685719" y="4163537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SkeleArcher</a:t>
            </a:r>
            <a:endParaRPr lang="en-US" b="1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E040276-B763-939A-4164-6C2B6BFC1402}"/>
              </a:ext>
            </a:extLst>
          </p:cNvPr>
          <p:cNvSpPr/>
          <p:nvPr/>
        </p:nvSpPr>
        <p:spPr>
          <a:xfrm>
            <a:off x="9685719" y="4804407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SkeleSworder</a:t>
            </a:r>
            <a:endParaRPr lang="en-US" b="1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4D3A83D-35F6-7A3D-A904-A6B08AE9F54F}"/>
              </a:ext>
            </a:extLst>
          </p:cNvPr>
          <p:cNvSpPr/>
          <p:nvPr/>
        </p:nvSpPr>
        <p:spPr>
          <a:xfrm>
            <a:off x="9685719" y="5145759"/>
            <a:ext cx="1497874" cy="2644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transform()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51D232B1-6145-B18C-CA78-1175DC910B4A}"/>
              </a:ext>
            </a:extLst>
          </p:cNvPr>
          <p:cNvSpPr/>
          <p:nvPr/>
        </p:nvSpPr>
        <p:spPr>
          <a:xfrm rot="16200000">
            <a:off x="4887161" y="5396444"/>
            <a:ext cx="196286" cy="127132"/>
          </a:xfrm>
          <a:prstGeom prst="triangl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92C89886-239D-15D3-9057-1E170C9AB108}"/>
              </a:ext>
            </a:extLst>
          </p:cNvPr>
          <p:cNvCxnSpPr>
            <a:cxnSpLocks/>
            <a:stCxn id="61" idx="1"/>
            <a:endCxn id="65" idx="3"/>
          </p:cNvCxnSpPr>
          <p:nvPr/>
        </p:nvCxnSpPr>
        <p:spPr>
          <a:xfrm rot="10800000" flipV="1">
            <a:off x="5048871" y="4329600"/>
            <a:ext cx="4636849" cy="1130410"/>
          </a:xfrm>
          <a:prstGeom prst="bentConnector3">
            <a:avLst>
              <a:gd name="adj1" fmla="val 5488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3FC5B5D6-FB08-670E-CDFB-9CC5B38B672B}"/>
              </a:ext>
            </a:extLst>
          </p:cNvPr>
          <p:cNvCxnSpPr>
            <a:cxnSpLocks/>
            <a:stCxn id="62" idx="1"/>
            <a:endCxn id="65" idx="3"/>
          </p:cNvCxnSpPr>
          <p:nvPr/>
        </p:nvCxnSpPr>
        <p:spPr>
          <a:xfrm rot="10800000" flipV="1">
            <a:off x="5048871" y="4970470"/>
            <a:ext cx="4636849" cy="489540"/>
          </a:xfrm>
          <a:prstGeom prst="bentConnector3">
            <a:avLst>
              <a:gd name="adj1" fmla="val 5301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9C102A1-7BEC-05A3-8E21-1A6DBB762455}"/>
              </a:ext>
            </a:extLst>
          </p:cNvPr>
          <p:cNvSpPr/>
          <p:nvPr/>
        </p:nvSpPr>
        <p:spPr>
          <a:xfrm>
            <a:off x="6958136" y="3067772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F2597B-0398-CF79-31A1-3ED5D1FE4D78}"/>
              </a:ext>
            </a:extLst>
          </p:cNvPr>
          <p:cNvSpPr/>
          <p:nvPr/>
        </p:nvSpPr>
        <p:spPr>
          <a:xfrm>
            <a:off x="6415419" y="4167301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2E2260-EE96-87A7-530D-261B17EE5A13}"/>
              </a:ext>
            </a:extLst>
          </p:cNvPr>
          <p:cNvSpPr/>
          <p:nvPr/>
        </p:nvSpPr>
        <p:spPr>
          <a:xfrm>
            <a:off x="9095386" y="3493985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2648F1-69D1-20F4-BFB4-E3877A618D10}"/>
              </a:ext>
            </a:extLst>
          </p:cNvPr>
          <p:cNvSpPr/>
          <p:nvPr/>
        </p:nvSpPr>
        <p:spPr>
          <a:xfrm>
            <a:off x="8367228" y="4847843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DCC21C-0648-E5D9-307A-884A129B17E4}"/>
              </a:ext>
            </a:extLst>
          </p:cNvPr>
          <p:cNvSpPr/>
          <p:nvPr/>
        </p:nvSpPr>
        <p:spPr>
          <a:xfrm>
            <a:off x="10348852" y="3822637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4157D8-B7B2-7144-020A-E26D05561DBE}"/>
              </a:ext>
            </a:extLst>
          </p:cNvPr>
          <p:cNvSpPr/>
          <p:nvPr/>
        </p:nvSpPr>
        <p:spPr>
          <a:xfrm>
            <a:off x="10348851" y="5386807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B7519C-32D3-FE75-5D5C-FD9B33101EA5}"/>
              </a:ext>
            </a:extLst>
          </p:cNvPr>
          <p:cNvSpPr/>
          <p:nvPr/>
        </p:nvSpPr>
        <p:spPr>
          <a:xfrm>
            <a:off x="3397328" y="3837140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taunt()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A989B391-8D6B-CAB6-3E14-952693823153}"/>
              </a:ext>
            </a:extLst>
          </p:cNvPr>
          <p:cNvSpPr/>
          <p:nvPr/>
        </p:nvSpPr>
        <p:spPr>
          <a:xfrm>
            <a:off x="2103475" y="2709037"/>
            <a:ext cx="2326614" cy="576970"/>
          </a:xfrm>
          <a:prstGeom prst="wedgeRectCallout">
            <a:avLst>
              <a:gd name="adj1" fmla="val -45575"/>
              <a:gd name="adj2" fmla="val 8850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Two-Level Pull Up</a:t>
            </a:r>
          </a:p>
          <a:p>
            <a:r>
              <a:rPr lang="en-CA" sz="1600" b="1" dirty="0">
                <a:solidFill>
                  <a:schemeClr val="tx1"/>
                </a:solidFill>
              </a:rPr>
              <a:t>For Wider Code Sharing</a:t>
            </a:r>
          </a:p>
        </p:txBody>
      </p:sp>
    </p:spTree>
    <p:extLst>
      <p:ext uri="{BB962C8B-B14F-4D97-AF65-F5344CB8AC3E}">
        <p14:creationId xmlns:p14="http://schemas.microsoft.com/office/powerpoint/2010/main" val="2109920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OOD Example – Enemy (Again)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5756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Design Procedures – Method PUSH DOWN</a:t>
            </a:r>
          </a:p>
          <a:p>
            <a:pPr marL="800100" lvl="1" indent="-342900">
              <a:buFont typeface="+mj-lt"/>
              <a:buAutoNum type="arabicPeriod" startAt="4"/>
            </a:pPr>
            <a:r>
              <a:rPr lang="en-CA" dirty="0"/>
              <a:t>Revisit your class designs, optimize your class hierarchy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Refactoring, reorganizing class hierarchy, improve code-sharing, pave for expandability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14</a:t>
            </a:fld>
            <a:endParaRPr lang="en-C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8AC80C-77B7-2300-7CB5-96635818FAC8}"/>
              </a:ext>
            </a:extLst>
          </p:cNvPr>
          <p:cNvSpPr/>
          <p:nvPr/>
        </p:nvSpPr>
        <p:spPr>
          <a:xfrm>
            <a:off x="1195564" y="3555301"/>
            <a:ext cx="1500105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Enemy</a:t>
            </a:r>
            <a:endParaRPr lang="en-US" b="1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C2053A-F87F-1940-2138-D62B837BBCC0}"/>
              </a:ext>
            </a:extLst>
          </p:cNvPr>
          <p:cNvSpPr/>
          <p:nvPr/>
        </p:nvSpPr>
        <p:spPr>
          <a:xfrm>
            <a:off x="1197795" y="3902323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# HP, ATK, DEF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21064D-CDFE-2E7C-84FB-A7EBA6F080AE}"/>
              </a:ext>
            </a:extLst>
          </p:cNvPr>
          <p:cNvSpPr/>
          <p:nvPr/>
        </p:nvSpPr>
        <p:spPr>
          <a:xfrm>
            <a:off x="1195564" y="4179333"/>
            <a:ext cx="1497873" cy="159139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Enemy()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move(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dir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i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1100" b="1" i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killed()</a:t>
            </a:r>
          </a:p>
          <a:p>
            <a:r>
              <a:rPr lang="en-US" sz="1100" b="1" i="1" dirty="0">
                <a:solidFill>
                  <a:schemeClr val="tx1"/>
                </a:solidFill>
                <a:latin typeface="Courier"/>
              </a:rPr>
              <a:t>+ revive()</a:t>
            </a:r>
          </a:p>
          <a:p>
            <a:endParaRPr lang="en-US" sz="1100" b="1" dirty="0">
              <a:solidFill>
                <a:schemeClr val="tx1"/>
              </a:solidFill>
              <a:latin typeface="Courier"/>
            </a:endParaRPr>
          </a:p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+ guard()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D93C57-3B90-E401-24E6-0B3811B15731}"/>
              </a:ext>
            </a:extLst>
          </p:cNvPr>
          <p:cNvSpPr/>
          <p:nvPr/>
        </p:nvSpPr>
        <p:spPr>
          <a:xfrm>
            <a:off x="3394480" y="3544074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Goblin</a:t>
            </a:r>
            <a:endParaRPr lang="en-US" b="1" i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EFEB66-A025-C3C8-AE06-6315257B38FE}"/>
              </a:ext>
            </a:extLst>
          </p:cNvPr>
          <p:cNvSpPr/>
          <p:nvPr/>
        </p:nvSpPr>
        <p:spPr>
          <a:xfrm>
            <a:off x="3394480" y="4428229"/>
            <a:ext cx="1500104" cy="33212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Hydra</a:t>
            </a:r>
            <a:endParaRPr lang="en-US" b="1" i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E0C6E0-AA6B-4D69-9A4A-44655F080006}"/>
              </a:ext>
            </a:extLst>
          </p:cNvPr>
          <p:cNvSpPr/>
          <p:nvPr/>
        </p:nvSpPr>
        <p:spPr>
          <a:xfrm>
            <a:off x="3394480" y="5297274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Skeleton</a:t>
            </a:r>
            <a:endParaRPr lang="en-US" b="1" i="1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A9C4ED1-EA6F-6E78-CDD2-604EEA2208E0}"/>
              </a:ext>
            </a:extLst>
          </p:cNvPr>
          <p:cNvSpPr/>
          <p:nvPr/>
        </p:nvSpPr>
        <p:spPr>
          <a:xfrm rot="16200000">
            <a:off x="2677047" y="4298309"/>
            <a:ext cx="196286" cy="127132"/>
          </a:xfrm>
          <a:prstGeom prst="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425B02C-10A7-DEC9-407B-3D02FBE65B97}"/>
              </a:ext>
            </a:extLst>
          </p:cNvPr>
          <p:cNvCxnSpPr>
            <a:stCxn id="18" idx="1"/>
            <a:endCxn id="21" idx="3"/>
          </p:cNvCxnSpPr>
          <p:nvPr/>
        </p:nvCxnSpPr>
        <p:spPr>
          <a:xfrm rot="10800000" flipV="1">
            <a:off x="2838756" y="3710137"/>
            <a:ext cx="555724" cy="651738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FEF4D68-562E-CD80-C55A-AA5748510AF6}"/>
              </a:ext>
            </a:extLst>
          </p:cNvPr>
          <p:cNvCxnSpPr>
            <a:cxnSpLocks/>
            <a:stCxn id="20" idx="1"/>
            <a:endCxn id="21" idx="3"/>
          </p:cNvCxnSpPr>
          <p:nvPr/>
        </p:nvCxnSpPr>
        <p:spPr>
          <a:xfrm rot="10800000">
            <a:off x="2838756" y="4361875"/>
            <a:ext cx="555724" cy="1101462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32AE709-68D1-FE39-E5BB-680717B8A710}"/>
              </a:ext>
            </a:extLst>
          </p:cNvPr>
          <p:cNvSpPr/>
          <p:nvPr/>
        </p:nvSpPr>
        <p:spPr>
          <a:xfrm>
            <a:off x="5593394" y="2978703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GoblinMinor</a:t>
            </a:r>
            <a:endParaRPr lang="en-US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72FDF3-8C56-5B59-6135-BCF2895B8DC3}"/>
              </a:ext>
            </a:extLst>
          </p:cNvPr>
          <p:cNvSpPr/>
          <p:nvPr/>
        </p:nvSpPr>
        <p:spPr>
          <a:xfrm>
            <a:off x="5593394" y="3619573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GoblinMajor</a:t>
            </a:r>
            <a:endParaRPr lang="en-US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B29DED-0184-A301-2949-7B9D821E19FE}"/>
              </a:ext>
            </a:extLst>
          </p:cNvPr>
          <p:cNvSpPr/>
          <p:nvPr/>
        </p:nvSpPr>
        <p:spPr>
          <a:xfrm>
            <a:off x="5593394" y="3960925"/>
            <a:ext cx="1497874" cy="24130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summonMinor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CAED5BD-C80B-9E07-6E86-C2AEE2634DE9}"/>
              </a:ext>
            </a:extLst>
          </p:cNvPr>
          <p:cNvSpPr/>
          <p:nvPr/>
        </p:nvSpPr>
        <p:spPr>
          <a:xfrm rot="16200000">
            <a:off x="4860006" y="3646815"/>
            <a:ext cx="196286" cy="127132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2A052AB-A8E0-C11E-9945-D4BBFF71A07B}"/>
              </a:ext>
            </a:extLst>
          </p:cNvPr>
          <p:cNvCxnSpPr>
            <a:stCxn id="24" idx="1"/>
            <a:endCxn id="30" idx="3"/>
          </p:cNvCxnSpPr>
          <p:nvPr/>
        </p:nvCxnSpPr>
        <p:spPr>
          <a:xfrm rot="10800000" flipV="1">
            <a:off x="5021716" y="3144765"/>
            <a:ext cx="571679" cy="565615"/>
          </a:xfrm>
          <a:prstGeom prst="bentConnector3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589B03D1-9123-58BD-48E8-1E71069C5599}"/>
              </a:ext>
            </a:extLst>
          </p:cNvPr>
          <p:cNvCxnSpPr>
            <a:cxnSpLocks/>
            <a:stCxn id="27" idx="1"/>
            <a:endCxn id="30" idx="3"/>
          </p:cNvCxnSpPr>
          <p:nvPr/>
        </p:nvCxnSpPr>
        <p:spPr>
          <a:xfrm rot="10800000">
            <a:off x="5021716" y="3710382"/>
            <a:ext cx="571679" cy="75255"/>
          </a:xfrm>
          <a:prstGeom prst="bentConnector3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ABF17F3-CA8B-8E66-C0C6-819E0F64970D}"/>
              </a:ext>
            </a:extLst>
          </p:cNvPr>
          <p:cNvSpPr/>
          <p:nvPr/>
        </p:nvSpPr>
        <p:spPr>
          <a:xfrm>
            <a:off x="7665177" y="3562317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SwampHydra</a:t>
            </a:r>
            <a:endParaRPr lang="en-US" b="1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C0A6AEF-967B-E3F1-2700-92FA34B85A6C}"/>
              </a:ext>
            </a:extLst>
          </p:cNvPr>
          <p:cNvSpPr/>
          <p:nvPr/>
        </p:nvSpPr>
        <p:spPr>
          <a:xfrm>
            <a:off x="7665177" y="4281566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IceHydra</a:t>
            </a:r>
            <a:endParaRPr lang="en-US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BEE63F-77D8-32E6-0C39-A31E9687FFFF}"/>
              </a:ext>
            </a:extLst>
          </p:cNvPr>
          <p:cNvSpPr/>
          <p:nvPr/>
        </p:nvSpPr>
        <p:spPr>
          <a:xfrm>
            <a:off x="7667407" y="3848029"/>
            <a:ext cx="1497874" cy="24453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heal()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45412D-AC9E-6EFC-3C4B-941A138A0060}"/>
              </a:ext>
            </a:extLst>
          </p:cNvPr>
          <p:cNvSpPr/>
          <p:nvPr/>
        </p:nvSpPr>
        <p:spPr>
          <a:xfrm>
            <a:off x="7665177" y="4622918"/>
            <a:ext cx="1497874" cy="26424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explode()</a:t>
            </a: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199722A4-4FC4-85A5-1494-3D8E97148901}"/>
              </a:ext>
            </a:extLst>
          </p:cNvPr>
          <p:cNvSpPr/>
          <p:nvPr/>
        </p:nvSpPr>
        <p:spPr>
          <a:xfrm rot="16200000">
            <a:off x="4875961" y="4528904"/>
            <a:ext cx="196286" cy="127132"/>
          </a:xfrm>
          <a:prstGeom prst="triangl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25526E51-575A-F509-357D-50CF00AF3C21}"/>
              </a:ext>
            </a:extLst>
          </p:cNvPr>
          <p:cNvCxnSpPr>
            <a:cxnSpLocks/>
            <a:stCxn id="19" idx="1"/>
            <a:endCxn id="21" idx="3"/>
          </p:cNvCxnSpPr>
          <p:nvPr/>
        </p:nvCxnSpPr>
        <p:spPr>
          <a:xfrm rot="10800000">
            <a:off x="2838756" y="4361876"/>
            <a:ext cx="555724" cy="232417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D95196D-E0F2-8655-2673-640B65560DDF}"/>
              </a:ext>
            </a:extLst>
          </p:cNvPr>
          <p:cNvCxnSpPr>
            <a:cxnSpLocks/>
            <a:stCxn id="40" idx="1"/>
            <a:endCxn id="44" idx="3"/>
          </p:cNvCxnSpPr>
          <p:nvPr/>
        </p:nvCxnSpPr>
        <p:spPr>
          <a:xfrm rot="10800000" flipV="1">
            <a:off x="5037671" y="3728380"/>
            <a:ext cx="2627507" cy="864090"/>
          </a:xfrm>
          <a:prstGeom prst="bentConnector3">
            <a:avLst>
              <a:gd name="adj1" fmla="val 11885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162C036F-C988-AA5A-3A17-5450A7F8DE2C}"/>
              </a:ext>
            </a:extLst>
          </p:cNvPr>
          <p:cNvCxnSpPr>
            <a:cxnSpLocks/>
            <a:stCxn id="41" idx="1"/>
            <a:endCxn id="44" idx="3"/>
          </p:cNvCxnSpPr>
          <p:nvPr/>
        </p:nvCxnSpPr>
        <p:spPr>
          <a:xfrm rot="10800000" flipV="1">
            <a:off x="5037671" y="4447628"/>
            <a:ext cx="2627507" cy="144841"/>
          </a:xfrm>
          <a:prstGeom prst="bentConnector3">
            <a:avLst>
              <a:gd name="adj1" fmla="val 11553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E2045399-7704-3068-F987-B0A01A61A319}"/>
              </a:ext>
            </a:extLst>
          </p:cNvPr>
          <p:cNvSpPr/>
          <p:nvPr/>
        </p:nvSpPr>
        <p:spPr>
          <a:xfrm>
            <a:off x="9685719" y="4163537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SkeleArcher</a:t>
            </a:r>
            <a:endParaRPr lang="en-US" b="1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E040276-B763-939A-4164-6C2B6BFC1402}"/>
              </a:ext>
            </a:extLst>
          </p:cNvPr>
          <p:cNvSpPr/>
          <p:nvPr/>
        </p:nvSpPr>
        <p:spPr>
          <a:xfrm>
            <a:off x="9685719" y="4804407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SkeleSworder</a:t>
            </a:r>
            <a:endParaRPr lang="en-US" b="1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4D3A83D-35F6-7A3D-A904-A6B08AE9F54F}"/>
              </a:ext>
            </a:extLst>
          </p:cNvPr>
          <p:cNvSpPr/>
          <p:nvPr/>
        </p:nvSpPr>
        <p:spPr>
          <a:xfrm>
            <a:off x="9685719" y="5145759"/>
            <a:ext cx="1497874" cy="2644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transform()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51D232B1-6145-B18C-CA78-1175DC910B4A}"/>
              </a:ext>
            </a:extLst>
          </p:cNvPr>
          <p:cNvSpPr/>
          <p:nvPr/>
        </p:nvSpPr>
        <p:spPr>
          <a:xfrm rot="16200000">
            <a:off x="4887161" y="5396444"/>
            <a:ext cx="196286" cy="127132"/>
          </a:xfrm>
          <a:prstGeom prst="triangl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92C89886-239D-15D3-9057-1E170C9AB108}"/>
              </a:ext>
            </a:extLst>
          </p:cNvPr>
          <p:cNvCxnSpPr>
            <a:cxnSpLocks/>
            <a:stCxn id="61" idx="1"/>
            <a:endCxn id="65" idx="3"/>
          </p:cNvCxnSpPr>
          <p:nvPr/>
        </p:nvCxnSpPr>
        <p:spPr>
          <a:xfrm rot="10800000" flipV="1">
            <a:off x="5048871" y="4329600"/>
            <a:ext cx="4636849" cy="1130410"/>
          </a:xfrm>
          <a:prstGeom prst="bentConnector3">
            <a:avLst>
              <a:gd name="adj1" fmla="val 5488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3FC5B5D6-FB08-670E-CDFB-9CC5B38B672B}"/>
              </a:ext>
            </a:extLst>
          </p:cNvPr>
          <p:cNvCxnSpPr>
            <a:cxnSpLocks/>
            <a:stCxn id="62" idx="1"/>
            <a:endCxn id="65" idx="3"/>
          </p:cNvCxnSpPr>
          <p:nvPr/>
        </p:nvCxnSpPr>
        <p:spPr>
          <a:xfrm rot="10800000" flipV="1">
            <a:off x="5048871" y="4970470"/>
            <a:ext cx="4636849" cy="489540"/>
          </a:xfrm>
          <a:prstGeom prst="bentConnector3">
            <a:avLst>
              <a:gd name="adj1" fmla="val 5301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9C102A1-7BEC-05A3-8E21-1A6DBB762455}"/>
              </a:ext>
            </a:extLst>
          </p:cNvPr>
          <p:cNvSpPr/>
          <p:nvPr/>
        </p:nvSpPr>
        <p:spPr>
          <a:xfrm>
            <a:off x="6958136" y="3067772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F2597B-0398-CF79-31A1-3ED5D1FE4D78}"/>
              </a:ext>
            </a:extLst>
          </p:cNvPr>
          <p:cNvSpPr/>
          <p:nvPr/>
        </p:nvSpPr>
        <p:spPr>
          <a:xfrm>
            <a:off x="6415419" y="4167301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2E2260-EE96-87A7-530D-261B17EE5A13}"/>
              </a:ext>
            </a:extLst>
          </p:cNvPr>
          <p:cNvSpPr/>
          <p:nvPr/>
        </p:nvSpPr>
        <p:spPr>
          <a:xfrm>
            <a:off x="9095386" y="3493985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2648F1-69D1-20F4-BFB4-E3877A618D10}"/>
              </a:ext>
            </a:extLst>
          </p:cNvPr>
          <p:cNvSpPr/>
          <p:nvPr/>
        </p:nvSpPr>
        <p:spPr>
          <a:xfrm>
            <a:off x="8367228" y="4847843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DCC21C-0648-E5D9-307A-884A129B17E4}"/>
              </a:ext>
            </a:extLst>
          </p:cNvPr>
          <p:cNvSpPr/>
          <p:nvPr/>
        </p:nvSpPr>
        <p:spPr>
          <a:xfrm>
            <a:off x="10348852" y="3822637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4157D8-B7B2-7144-020A-E26D05561DBE}"/>
              </a:ext>
            </a:extLst>
          </p:cNvPr>
          <p:cNvSpPr/>
          <p:nvPr/>
        </p:nvSpPr>
        <p:spPr>
          <a:xfrm>
            <a:off x="10348851" y="5386807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B7519C-32D3-FE75-5D5C-FD9B33101EA5}"/>
              </a:ext>
            </a:extLst>
          </p:cNvPr>
          <p:cNvSpPr/>
          <p:nvPr/>
        </p:nvSpPr>
        <p:spPr>
          <a:xfrm>
            <a:off x="3397328" y="3837140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taunt()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A989B391-8D6B-CAB6-3E14-952693823153}"/>
              </a:ext>
            </a:extLst>
          </p:cNvPr>
          <p:cNvSpPr/>
          <p:nvPr/>
        </p:nvSpPr>
        <p:spPr>
          <a:xfrm>
            <a:off x="2103475" y="2709037"/>
            <a:ext cx="2067931" cy="576970"/>
          </a:xfrm>
          <a:prstGeom prst="wedgeRectCallout">
            <a:avLst>
              <a:gd name="adj1" fmla="val -45575"/>
              <a:gd name="adj2" fmla="val 8850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Come up with </a:t>
            </a:r>
          </a:p>
          <a:p>
            <a:r>
              <a:rPr lang="en-CA" sz="1600" b="1" dirty="0">
                <a:solidFill>
                  <a:schemeClr val="tx1"/>
                </a:solidFill>
              </a:rPr>
              <a:t>Another Nice Feature</a:t>
            </a:r>
          </a:p>
        </p:txBody>
      </p:sp>
    </p:spTree>
    <p:extLst>
      <p:ext uri="{BB962C8B-B14F-4D97-AF65-F5344CB8AC3E}">
        <p14:creationId xmlns:p14="http://schemas.microsoft.com/office/powerpoint/2010/main" val="212037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OOD Example – Enemy (Again)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5756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Design Procedures – Method PUSH DOWN</a:t>
            </a:r>
          </a:p>
          <a:p>
            <a:pPr marL="800100" lvl="1" indent="-342900">
              <a:buFont typeface="+mj-lt"/>
              <a:buAutoNum type="arabicPeriod" startAt="4"/>
            </a:pPr>
            <a:r>
              <a:rPr lang="en-CA" dirty="0"/>
              <a:t>Revisit your class designs, optimize your class hierarchy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Refactoring, reorganizing class hierarchy, improve code-sharing, pave for expandability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15</a:t>
            </a:fld>
            <a:endParaRPr lang="en-C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8AC80C-77B7-2300-7CB5-96635818FAC8}"/>
              </a:ext>
            </a:extLst>
          </p:cNvPr>
          <p:cNvSpPr/>
          <p:nvPr/>
        </p:nvSpPr>
        <p:spPr>
          <a:xfrm>
            <a:off x="1195564" y="3555301"/>
            <a:ext cx="1500105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Enemy</a:t>
            </a:r>
            <a:endParaRPr lang="en-US" b="1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C2053A-F87F-1940-2138-D62B837BBCC0}"/>
              </a:ext>
            </a:extLst>
          </p:cNvPr>
          <p:cNvSpPr/>
          <p:nvPr/>
        </p:nvSpPr>
        <p:spPr>
          <a:xfrm>
            <a:off x="1197795" y="3902323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# HP, ATK, DEF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21064D-CDFE-2E7C-84FB-A7EBA6F080AE}"/>
              </a:ext>
            </a:extLst>
          </p:cNvPr>
          <p:cNvSpPr/>
          <p:nvPr/>
        </p:nvSpPr>
        <p:spPr>
          <a:xfrm>
            <a:off x="1195564" y="4179333"/>
            <a:ext cx="1497873" cy="159139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Enemy()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move(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dir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i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1100" b="1" i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killed()</a:t>
            </a:r>
          </a:p>
          <a:p>
            <a:r>
              <a:rPr lang="en-US" sz="1100" b="1" i="1" dirty="0">
                <a:solidFill>
                  <a:schemeClr val="tx1"/>
                </a:solidFill>
                <a:latin typeface="Courier"/>
              </a:rPr>
              <a:t>+ revive()</a:t>
            </a:r>
          </a:p>
          <a:p>
            <a:endParaRPr lang="en-US" sz="1100" b="1" dirty="0">
              <a:solidFill>
                <a:schemeClr val="tx1"/>
              </a:solidFill>
              <a:latin typeface="Courier"/>
            </a:endParaRPr>
          </a:p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+ guard()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D93C57-3B90-E401-24E6-0B3811B15731}"/>
              </a:ext>
            </a:extLst>
          </p:cNvPr>
          <p:cNvSpPr/>
          <p:nvPr/>
        </p:nvSpPr>
        <p:spPr>
          <a:xfrm>
            <a:off x="3394480" y="3544074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Goblin</a:t>
            </a:r>
            <a:endParaRPr lang="en-US" b="1" i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EFEB66-A025-C3C8-AE06-6315257B38FE}"/>
              </a:ext>
            </a:extLst>
          </p:cNvPr>
          <p:cNvSpPr/>
          <p:nvPr/>
        </p:nvSpPr>
        <p:spPr>
          <a:xfrm>
            <a:off x="3394480" y="4428229"/>
            <a:ext cx="1500104" cy="33212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Hydra</a:t>
            </a:r>
            <a:endParaRPr lang="en-US" b="1" i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E0C6E0-AA6B-4D69-9A4A-44655F080006}"/>
              </a:ext>
            </a:extLst>
          </p:cNvPr>
          <p:cNvSpPr/>
          <p:nvPr/>
        </p:nvSpPr>
        <p:spPr>
          <a:xfrm>
            <a:off x="3394480" y="5297274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Skeleton</a:t>
            </a:r>
            <a:endParaRPr lang="en-US" b="1" i="1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A9C4ED1-EA6F-6E78-CDD2-604EEA2208E0}"/>
              </a:ext>
            </a:extLst>
          </p:cNvPr>
          <p:cNvSpPr/>
          <p:nvPr/>
        </p:nvSpPr>
        <p:spPr>
          <a:xfrm rot="16200000">
            <a:off x="2677047" y="4298309"/>
            <a:ext cx="196286" cy="127132"/>
          </a:xfrm>
          <a:prstGeom prst="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425B02C-10A7-DEC9-407B-3D02FBE65B97}"/>
              </a:ext>
            </a:extLst>
          </p:cNvPr>
          <p:cNvCxnSpPr>
            <a:stCxn id="18" idx="1"/>
            <a:endCxn id="21" idx="3"/>
          </p:cNvCxnSpPr>
          <p:nvPr/>
        </p:nvCxnSpPr>
        <p:spPr>
          <a:xfrm rot="10800000" flipV="1">
            <a:off x="2838756" y="3710137"/>
            <a:ext cx="555724" cy="651738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FEF4D68-562E-CD80-C55A-AA5748510AF6}"/>
              </a:ext>
            </a:extLst>
          </p:cNvPr>
          <p:cNvCxnSpPr>
            <a:cxnSpLocks/>
            <a:stCxn id="20" idx="1"/>
            <a:endCxn id="21" idx="3"/>
          </p:cNvCxnSpPr>
          <p:nvPr/>
        </p:nvCxnSpPr>
        <p:spPr>
          <a:xfrm rot="10800000">
            <a:off x="2838756" y="4361875"/>
            <a:ext cx="555724" cy="1101462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32AE709-68D1-FE39-E5BB-680717B8A710}"/>
              </a:ext>
            </a:extLst>
          </p:cNvPr>
          <p:cNvSpPr/>
          <p:nvPr/>
        </p:nvSpPr>
        <p:spPr>
          <a:xfrm>
            <a:off x="5593394" y="2978703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GoblinMinor</a:t>
            </a:r>
            <a:endParaRPr lang="en-US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72FDF3-8C56-5B59-6135-BCF2895B8DC3}"/>
              </a:ext>
            </a:extLst>
          </p:cNvPr>
          <p:cNvSpPr/>
          <p:nvPr/>
        </p:nvSpPr>
        <p:spPr>
          <a:xfrm>
            <a:off x="5593394" y="3619573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GoblinMajor</a:t>
            </a:r>
            <a:endParaRPr lang="en-US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B29DED-0184-A301-2949-7B9D821E19FE}"/>
              </a:ext>
            </a:extLst>
          </p:cNvPr>
          <p:cNvSpPr/>
          <p:nvPr/>
        </p:nvSpPr>
        <p:spPr>
          <a:xfrm>
            <a:off x="5593394" y="3960925"/>
            <a:ext cx="1497874" cy="24130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summonMinor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CAED5BD-C80B-9E07-6E86-C2AEE2634DE9}"/>
              </a:ext>
            </a:extLst>
          </p:cNvPr>
          <p:cNvSpPr/>
          <p:nvPr/>
        </p:nvSpPr>
        <p:spPr>
          <a:xfrm rot="16200000">
            <a:off x="4860006" y="3646815"/>
            <a:ext cx="196286" cy="127132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2A052AB-A8E0-C11E-9945-D4BBFF71A07B}"/>
              </a:ext>
            </a:extLst>
          </p:cNvPr>
          <p:cNvCxnSpPr>
            <a:stCxn id="24" idx="1"/>
            <a:endCxn id="30" idx="3"/>
          </p:cNvCxnSpPr>
          <p:nvPr/>
        </p:nvCxnSpPr>
        <p:spPr>
          <a:xfrm rot="10800000" flipV="1">
            <a:off x="5021716" y="3144765"/>
            <a:ext cx="571679" cy="565615"/>
          </a:xfrm>
          <a:prstGeom prst="bentConnector3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589B03D1-9123-58BD-48E8-1E71069C5599}"/>
              </a:ext>
            </a:extLst>
          </p:cNvPr>
          <p:cNvCxnSpPr>
            <a:cxnSpLocks/>
            <a:stCxn id="27" idx="1"/>
            <a:endCxn id="30" idx="3"/>
          </p:cNvCxnSpPr>
          <p:nvPr/>
        </p:nvCxnSpPr>
        <p:spPr>
          <a:xfrm rot="10800000">
            <a:off x="5021716" y="3710382"/>
            <a:ext cx="571679" cy="75255"/>
          </a:xfrm>
          <a:prstGeom prst="bentConnector3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ABF17F3-CA8B-8E66-C0C6-819E0F64970D}"/>
              </a:ext>
            </a:extLst>
          </p:cNvPr>
          <p:cNvSpPr/>
          <p:nvPr/>
        </p:nvSpPr>
        <p:spPr>
          <a:xfrm>
            <a:off x="7665177" y="3562317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SwampHydra</a:t>
            </a:r>
            <a:endParaRPr lang="en-US" b="1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C0A6AEF-967B-E3F1-2700-92FA34B85A6C}"/>
              </a:ext>
            </a:extLst>
          </p:cNvPr>
          <p:cNvSpPr/>
          <p:nvPr/>
        </p:nvSpPr>
        <p:spPr>
          <a:xfrm>
            <a:off x="7665177" y="4281566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IceHydra</a:t>
            </a:r>
            <a:endParaRPr lang="en-US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BEE63F-77D8-32E6-0C39-A31E9687FFFF}"/>
              </a:ext>
            </a:extLst>
          </p:cNvPr>
          <p:cNvSpPr/>
          <p:nvPr/>
        </p:nvSpPr>
        <p:spPr>
          <a:xfrm>
            <a:off x="7667407" y="3848029"/>
            <a:ext cx="1497874" cy="24453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heal()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45412D-AC9E-6EFC-3C4B-941A138A0060}"/>
              </a:ext>
            </a:extLst>
          </p:cNvPr>
          <p:cNvSpPr/>
          <p:nvPr/>
        </p:nvSpPr>
        <p:spPr>
          <a:xfrm>
            <a:off x="7665177" y="4622918"/>
            <a:ext cx="1497874" cy="26424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explode()</a:t>
            </a: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199722A4-4FC4-85A5-1494-3D8E97148901}"/>
              </a:ext>
            </a:extLst>
          </p:cNvPr>
          <p:cNvSpPr/>
          <p:nvPr/>
        </p:nvSpPr>
        <p:spPr>
          <a:xfrm rot="16200000">
            <a:off x="4875961" y="4528904"/>
            <a:ext cx="196286" cy="127132"/>
          </a:xfrm>
          <a:prstGeom prst="triangl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25526E51-575A-F509-357D-50CF00AF3C21}"/>
              </a:ext>
            </a:extLst>
          </p:cNvPr>
          <p:cNvCxnSpPr>
            <a:cxnSpLocks/>
            <a:stCxn id="19" idx="1"/>
            <a:endCxn id="21" idx="3"/>
          </p:cNvCxnSpPr>
          <p:nvPr/>
        </p:nvCxnSpPr>
        <p:spPr>
          <a:xfrm rot="10800000">
            <a:off x="2838756" y="4361876"/>
            <a:ext cx="555724" cy="232417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D95196D-E0F2-8655-2673-640B65560DDF}"/>
              </a:ext>
            </a:extLst>
          </p:cNvPr>
          <p:cNvCxnSpPr>
            <a:cxnSpLocks/>
            <a:stCxn id="40" idx="1"/>
            <a:endCxn id="44" idx="3"/>
          </p:cNvCxnSpPr>
          <p:nvPr/>
        </p:nvCxnSpPr>
        <p:spPr>
          <a:xfrm rot="10800000" flipV="1">
            <a:off x="5037671" y="3728380"/>
            <a:ext cx="2627507" cy="864090"/>
          </a:xfrm>
          <a:prstGeom prst="bentConnector3">
            <a:avLst>
              <a:gd name="adj1" fmla="val 11885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162C036F-C988-AA5A-3A17-5450A7F8DE2C}"/>
              </a:ext>
            </a:extLst>
          </p:cNvPr>
          <p:cNvCxnSpPr>
            <a:cxnSpLocks/>
            <a:stCxn id="41" idx="1"/>
            <a:endCxn id="44" idx="3"/>
          </p:cNvCxnSpPr>
          <p:nvPr/>
        </p:nvCxnSpPr>
        <p:spPr>
          <a:xfrm rot="10800000" flipV="1">
            <a:off x="5037671" y="4447628"/>
            <a:ext cx="2627507" cy="144841"/>
          </a:xfrm>
          <a:prstGeom prst="bentConnector3">
            <a:avLst>
              <a:gd name="adj1" fmla="val 11553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E2045399-7704-3068-F987-B0A01A61A319}"/>
              </a:ext>
            </a:extLst>
          </p:cNvPr>
          <p:cNvSpPr/>
          <p:nvPr/>
        </p:nvSpPr>
        <p:spPr>
          <a:xfrm>
            <a:off x="9685719" y="4163537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SkeleArcher</a:t>
            </a:r>
            <a:endParaRPr lang="en-US" b="1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E040276-B763-939A-4164-6C2B6BFC1402}"/>
              </a:ext>
            </a:extLst>
          </p:cNvPr>
          <p:cNvSpPr/>
          <p:nvPr/>
        </p:nvSpPr>
        <p:spPr>
          <a:xfrm>
            <a:off x="9685719" y="4804407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SkeleSworder</a:t>
            </a:r>
            <a:endParaRPr lang="en-US" b="1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4D3A83D-35F6-7A3D-A904-A6B08AE9F54F}"/>
              </a:ext>
            </a:extLst>
          </p:cNvPr>
          <p:cNvSpPr/>
          <p:nvPr/>
        </p:nvSpPr>
        <p:spPr>
          <a:xfrm>
            <a:off x="9685719" y="5145759"/>
            <a:ext cx="1497874" cy="2644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transform()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51D232B1-6145-B18C-CA78-1175DC910B4A}"/>
              </a:ext>
            </a:extLst>
          </p:cNvPr>
          <p:cNvSpPr/>
          <p:nvPr/>
        </p:nvSpPr>
        <p:spPr>
          <a:xfrm rot="16200000">
            <a:off x="4887161" y="5396444"/>
            <a:ext cx="196286" cy="127132"/>
          </a:xfrm>
          <a:prstGeom prst="triangl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92C89886-239D-15D3-9057-1E170C9AB108}"/>
              </a:ext>
            </a:extLst>
          </p:cNvPr>
          <p:cNvCxnSpPr>
            <a:cxnSpLocks/>
            <a:stCxn id="61" idx="1"/>
            <a:endCxn id="65" idx="3"/>
          </p:cNvCxnSpPr>
          <p:nvPr/>
        </p:nvCxnSpPr>
        <p:spPr>
          <a:xfrm rot="10800000" flipV="1">
            <a:off x="5048871" y="4329600"/>
            <a:ext cx="4636849" cy="1130410"/>
          </a:xfrm>
          <a:prstGeom prst="bentConnector3">
            <a:avLst>
              <a:gd name="adj1" fmla="val 5488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3FC5B5D6-FB08-670E-CDFB-9CC5B38B672B}"/>
              </a:ext>
            </a:extLst>
          </p:cNvPr>
          <p:cNvCxnSpPr>
            <a:cxnSpLocks/>
            <a:stCxn id="62" idx="1"/>
            <a:endCxn id="65" idx="3"/>
          </p:cNvCxnSpPr>
          <p:nvPr/>
        </p:nvCxnSpPr>
        <p:spPr>
          <a:xfrm rot="10800000" flipV="1">
            <a:off x="5048871" y="4970470"/>
            <a:ext cx="4636849" cy="489540"/>
          </a:xfrm>
          <a:prstGeom prst="bentConnector3">
            <a:avLst>
              <a:gd name="adj1" fmla="val 5301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9C102A1-7BEC-05A3-8E21-1A6DBB762455}"/>
              </a:ext>
            </a:extLst>
          </p:cNvPr>
          <p:cNvSpPr/>
          <p:nvPr/>
        </p:nvSpPr>
        <p:spPr>
          <a:xfrm>
            <a:off x="6958136" y="3067772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F2597B-0398-CF79-31A1-3ED5D1FE4D78}"/>
              </a:ext>
            </a:extLst>
          </p:cNvPr>
          <p:cNvSpPr/>
          <p:nvPr/>
        </p:nvSpPr>
        <p:spPr>
          <a:xfrm>
            <a:off x="6415419" y="4167301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2E2260-EE96-87A7-530D-261B17EE5A13}"/>
              </a:ext>
            </a:extLst>
          </p:cNvPr>
          <p:cNvSpPr/>
          <p:nvPr/>
        </p:nvSpPr>
        <p:spPr>
          <a:xfrm>
            <a:off x="9095386" y="3493985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2648F1-69D1-20F4-BFB4-E3877A618D10}"/>
              </a:ext>
            </a:extLst>
          </p:cNvPr>
          <p:cNvSpPr/>
          <p:nvPr/>
        </p:nvSpPr>
        <p:spPr>
          <a:xfrm>
            <a:off x="8367228" y="4847843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DCC21C-0648-E5D9-307A-884A129B17E4}"/>
              </a:ext>
            </a:extLst>
          </p:cNvPr>
          <p:cNvSpPr/>
          <p:nvPr/>
        </p:nvSpPr>
        <p:spPr>
          <a:xfrm>
            <a:off x="10348852" y="3822637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4157D8-B7B2-7144-020A-E26D05561DBE}"/>
              </a:ext>
            </a:extLst>
          </p:cNvPr>
          <p:cNvSpPr/>
          <p:nvPr/>
        </p:nvSpPr>
        <p:spPr>
          <a:xfrm>
            <a:off x="10348851" y="5386807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B7519C-32D3-FE75-5D5C-FD9B33101EA5}"/>
              </a:ext>
            </a:extLst>
          </p:cNvPr>
          <p:cNvSpPr/>
          <p:nvPr/>
        </p:nvSpPr>
        <p:spPr>
          <a:xfrm>
            <a:off x="3397328" y="3837140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taunt()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A989B391-8D6B-CAB6-3E14-952693823153}"/>
              </a:ext>
            </a:extLst>
          </p:cNvPr>
          <p:cNvSpPr/>
          <p:nvPr/>
        </p:nvSpPr>
        <p:spPr>
          <a:xfrm>
            <a:off x="1680755" y="2709037"/>
            <a:ext cx="2490652" cy="576970"/>
          </a:xfrm>
          <a:prstGeom prst="wedgeRectCallout">
            <a:avLst>
              <a:gd name="adj1" fmla="val -45575"/>
              <a:gd name="adj2" fmla="val 8850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Realizing guard() is only used by Skeleton in game</a:t>
            </a:r>
          </a:p>
        </p:txBody>
      </p:sp>
    </p:spTree>
    <p:extLst>
      <p:ext uri="{BB962C8B-B14F-4D97-AF65-F5344CB8AC3E}">
        <p14:creationId xmlns:p14="http://schemas.microsoft.com/office/powerpoint/2010/main" val="58304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61" grpId="0" animBg="1"/>
      <p:bldP spid="62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OOD Example – Enemy (Again)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5756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Design Procedures – Method PUSH DOWN</a:t>
            </a:r>
          </a:p>
          <a:p>
            <a:pPr marL="800100" lvl="1" indent="-342900">
              <a:buFont typeface="+mj-lt"/>
              <a:buAutoNum type="arabicPeriod" startAt="4"/>
            </a:pPr>
            <a:r>
              <a:rPr lang="en-CA" dirty="0"/>
              <a:t>Revisit your class designs, optimize your class hierarchy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Refactoring, reorganizing class hierarchy, improve code-sharing, pave for expandability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16</a:t>
            </a:fld>
            <a:endParaRPr lang="en-C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8AC80C-77B7-2300-7CB5-96635818FAC8}"/>
              </a:ext>
            </a:extLst>
          </p:cNvPr>
          <p:cNvSpPr/>
          <p:nvPr/>
        </p:nvSpPr>
        <p:spPr>
          <a:xfrm>
            <a:off x="1195564" y="3555301"/>
            <a:ext cx="1500105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Enemy</a:t>
            </a:r>
            <a:endParaRPr lang="en-US" b="1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C2053A-F87F-1940-2138-D62B837BBCC0}"/>
              </a:ext>
            </a:extLst>
          </p:cNvPr>
          <p:cNvSpPr/>
          <p:nvPr/>
        </p:nvSpPr>
        <p:spPr>
          <a:xfrm>
            <a:off x="1197795" y="3902323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# HP, ATK, DEF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21064D-CDFE-2E7C-84FB-A7EBA6F080AE}"/>
              </a:ext>
            </a:extLst>
          </p:cNvPr>
          <p:cNvSpPr/>
          <p:nvPr/>
        </p:nvSpPr>
        <p:spPr>
          <a:xfrm>
            <a:off x="1195564" y="4179333"/>
            <a:ext cx="1497873" cy="128067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Enemy()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move(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dir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i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1100" b="1" i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killed()</a:t>
            </a:r>
          </a:p>
          <a:p>
            <a:r>
              <a:rPr lang="en-US" sz="1100" b="1" i="1" dirty="0">
                <a:solidFill>
                  <a:schemeClr val="tx1"/>
                </a:solidFill>
                <a:latin typeface="Courier"/>
              </a:rPr>
              <a:t>+ revive()</a:t>
            </a:r>
            <a:endParaRPr lang="en-US" sz="1100" b="1" dirty="0">
              <a:solidFill>
                <a:schemeClr val="tx1"/>
              </a:solidFill>
              <a:latin typeface="Courie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D93C57-3B90-E401-24E6-0B3811B15731}"/>
              </a:ext>
            </a:extLst>
          </p:cNvPr>
          <p:cNvSpPr/>
          <p:nvPr/>
        </p:nvSpPr>
        <p:spPr>
          <a:xfrm>
            <a:off x="3394480" y="3544074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Goblin</a:t>
            </a:r>
            <a:endParaRPr lang="en-US" b="1" i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EFEB66-A025-C3C8-AE06-6315257B38FE}"/>
              </a:ext>
            </a:extLst>
          </p:cNvPr>
          <p:cNvSpPr/>
          <p:nvPr/>
        </p:nvSpPr>
        <p:spPr>
          <a:xfrm>
            <a:off x="3394480" y="4428229"/>
            <a:ext cx="1500104" cy="33212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Hydra</a:t>
            </a:r>
            <a:endParaRPr lang="en-US" b="1" i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E0C6E0-AA6B-4D69-9A4A-44655F080006}"/>
              </a:ext>
            </a:extLst>
          </p:cNvPr>
          <p:cNvSpPr/>
          <p:nvPr/>
        </p:nvSpPr>
        <p:spPr>
          <a:xfrm>
            <a:off x="3394480" y="5297274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i="1" dirty="0"/>
              <a:t>Skeleton</a:t>
            </a:r>
            <a:endParaRPr lang="en-US" b="1" i="1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A9C4ED1-EA6F-6E78-CDD2-604EEA2208E0}"/>
              </a:ext>
            </a:extLst>
          </p:cNvPr>
          <p:cNvSpPr/>
          <p:nvPr/>
        </p:nvSpPr>
        <p:spPr>
          <a:xfrm rot="16200000">
            <a:off x="2677047" y="4298309"/>
            <a:ext cx="196286" cy="127132"/>
          </a:xfrm>
          <a:prstGeom prst="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425B02C-10A7-DEC9-407B-3D02FBE65B97}"/>
              </a:ext>
            </a:extLst>
          </p:cNvPr>
          <p:cNvCxnSpPr>
            <a:stCxn id="18" idx="1"/>
            <a:endCxn id="21" idx="3"/>
          </p:cNvCxnSpPr>
          <p:nvPr/>
        </p:nvCxnSpPr>
        <p:spPr>
          <a:xfrm rot="10800000" flipV="1">
            <a:off x="2838756" y="3710137"/>
            <a:ext cx="555724" cy="651738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FEF4D68-562E-CD80-C55A-AA5748510AF6}"/>
              </a:ext>
            </a:extLst>
          </p:cNvPr>
          <p:cNvCxnSpPr>
            <a:cxnSpLocks/>
            <a:stCxn id="20" idx="1"/>
            <a:endCxn id="21" idx="3"/>
          </p:cNvCxnSpPr>
          <p:nvPr/>
        </p:nvCxnSpPr>
        <p:spPr>
          <a:xfrm rot="10800000">
            <a:off x="2838756" y="4361875"/>
            <a:ext cx="555724" cy="1101462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32AE709-68D1-FE39-E5BB-680717B8A710}"/>
              </a:ext>
            </a:extLst>
          </p:cNvPr>
          <p:cNvSpPr/>
          <p:nvPr/>
        </p:nvSpPr>
        <p:spPr>
          <a:xfrm>
            <a:off x="5593394" y="2978703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GoblinMinor</a:t>
            </a:r>
            <a:endParaRPr lang="en-US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72FDF3-8C56-5B59-6135-BCF2895B8DC3}"/>
              </a:ext>
            </a:extLst>
          </p:cNvPr>
          <p:cNvSpPr/>
          <p:nvPr/>
        </p:nvSpPr>
        <p:spPr>
          <a:xfrm>
            <a:off x="5593394" y="3619573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GoblinMajor</a:t>
            </a:r>
            <a:endParaRPr lang="en-US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B29DED-0184-A301-2949-7B9D821E19FE}"/>
              </a:ext>
            </a:extLst>
          </p:cNvPr>
          <p:cNvSpPr/>
          <p:nvPr/>
        </p:nvSpPr>
        <p:spPr>
          <a:xfrm>
            <a:off x="5593394" y="3960925"/>
            <a:ext cx="1497874" cy="24130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summonMinor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CAED5BD-C80B-9E07-6E86-C2AEE2634DE9}"/>
              </a:ext>
            </a:extLst>
          </p:cNvPr>
          <p:cNvSpPr/>
          <p:nvPr/>
        </p:nvSpPr>
        <p:spPr>
          <a:xfrm rot="16200000">
            <a:off x="4860006" y="3646815"/>
            <a:ext cx="196286" cy="127132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2A052AB-A8E0-C11E-9945-D4BBFF71A07B}"/>
              </a:ext>
            </a:extLst>
          </p:cNvPr>
          <p:cNvCxnSpPr>
            <a:stCxn id="24" idx="1"/>
            <a:endCxn id="30" idx="3"/>
          </p:cNvCxnSpPr>
          <p:nvPr/>
        </p:nvCxnSpPr>
        <p:spPr>
          <a:xfrm rot="10800000" flipV="1">
            <a:off x="5021716" y="3144765"/>
            <a:ext cx="571679" cy="565615"/>
          </a:xfrm>
          <a:prstGeom prst="bentConnector3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589B03D1-9123-58BD-48E8-1E71069C5599}"/>
              </a:ext>
            </a:extLst>
          </p:cNvPr>
          <p:cNvCxnSpPr>
            <a:cxnSpLocks/>
            <a:stCxn id="27" idx="1"/>
            <a:endCxn id="30" idx="3"/>
          </p:cNvCxnSpPr>
          <p:nvPr/>
        </p:nvCxnSpPr>
        <p:spPr>
          <a:xfrm rot="10800000">
            <a:off x="5021716" y="3710382"/>
            <a:ext cx="571679" cy="75255"/>
          </a:xfrm>
          <a:prstGeom prst="bentConnector3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ABF17F3-CA8B-8E66-C0C6-819E0F64970D}"/>
              </a:ext>
            </a:extLst>
          </p:cNvPr>
          <p:cNvSpPr/>
          <p:nvPr/>
        </p:nvSpPr>
        <p:spPr>
          <a:xfrm>
            <a:off x="7665177" y="3562317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SwampHydra</a:t>
            </a:r>
            <a:endParaRPr lang="en-US" b="1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C0A6AEF-967B-E3F1-2700-92FA34B85A6C}"/>
              </a:ext>
            </a:extLst>
          </p:cNvPr>
          <p:cNvSpPr/>
          <p:nvPr/>
        </p:nvSpPr>
        <p:spPr>
          <a:xfrm>
            <a:off x="7665177" y="4281566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IceHydra</a:t>
            </a:r>
            <a:endParaRPr lang="en-US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BEE63F-77D8-32E6-0C39-A31E9687FFFF}"/>
              </a:ext>
            </a:extLst>
          </p:cNvPr>
          <p:cNvSpPr/>
          <p:nvPr/>
        </p:nvSpPr>
        <p:spPr>
          <a:xfrm>
            <a:off x="7667407" y="3848029"/>
            <a:ext cx="1497874" cy="24453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heal()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45412D-AC9E-6EFC-3C4B-941A138A0060}"/>
              </a:ext>
            </a:extLst>
          </p:cNvPr>
          <p:cNvSpPr/>
          <p:nvPr/>
        </p:nvSpPr>
        <p:spPr>
          <a:xfrm>
            <a:off x="7665177" y="4622918"/>
            <a:ext cx="1497874" cy="26424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explode()</a:t>
            </a: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199722A4-4FC4-85A5-1494-3D8E97148901}"/>
              </a:ext>
            </a:extLst>
          </p:cNvPr>
          <p:cNvSpPr/>
          <p:nvPr/>
        </p:nvSpPr>
        <p:spPr>
          <a:xfrm rot="16200000">
            <a:off x="4875961" y="4528904"/>
            <a:ext cx="196286" cy="127132"/>
          </a:xfrm>
          <a:prstGeom prst="triangl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25526E51-575A-F509-357D-50CF00AF3C21}"/>
              </a:ext>
            </a:extLst>
          </p:cNvPr>
          <p:cNvCxnSpPr>
            <a:cxnSpLocks/>
            <a:stCxn id="19" idx="1"/>
            <a:endCxn id="21" idx="3"/>
          </p:cNvCxnSpPr>
          <p:nvPr/>
        </p:nvCxnSpPr>
        <p:spPr>
          <a:xfrm rot="10800000">
            <a:off x="2838756" y="4361876"/>
            <a:ext cx="555724" cy="232417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D95196D-E0F2-8655-2673-640B65560DDF}"/>
              </a:ext>
            </a:extLst>
          </p:cNvPr>
          <p:cNvCxnSpPr>
            <a:cxnSpLocks/>
            <a:stCxn id="40" idx="1"/>
            <a:endCxn id="44" idx="3"/>
          </p:cNvCxnSpPr>
          <p:nvPr/>
        </p:nvCxnSpPr>
        <p:spPr>
          <a:xfrm rot="10800000" flipV="1">
            <a:off x="5037671" y="3728380"/>
            <a:ext cx="2627507" cy="864090"/>
          </a:xfrm>
          <a:prstGeom prst="bentConnector3">
            <a:avLst>
              <a:gd name="adj1" fmla="val 11885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162C036F-C988-AA5A-3A17-5450A7F8DE2C}"/>
              </a:ext>
            </a:extLst>
          </p:cNvPr>
          <p:cNvCxnSpPr>
            <a:cxnSpLocks/>
            <a:stCxn id="41" idx="1"/>
            <a:endCxn id="44" idx="3"/>
          </p:cNvCxnSpPr>
          <p:nvPr/>
        </p:nvCxnSpPr>
        <p:spPr>
          <a:xfrm rot="10800000" flipV="1">
            <a:off x="5037671" y="4447628"/>
            <a:ext cx="2627507" cy="144841"/>
          </a:xfrm>
          <a:prstGeom prst="bentConnector3">
            <a:avLst>
              <a:gd name="adj1" fmla="val 11553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E2045399-7704-3068-F987-B0A01A61A319}"/>
              </a:ext>
            </a:extLst>
          </p:cNvPr>
          <p:cNvSpPr/>
          <p:nvPr/>
        </p:nvSpPr>
        <p:spPr>
          <a:xfrm>
            <a:off x="9685719" y="4163537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SkeleArcher</a:t>
            </a:r>
            <a:endParaRPr lang="en-US" b="1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E040276-B763-939A-4164-6C2B6BFC1402}"/>
              </a:ext>
            </a:extLst>
          </p:cNvPr>
          <p:cNvSpPr/>
          <p:nvPr/>
        </p:nvSpPr>
        <p:spPr>
          <a:xfrm>
            <a:off x="9685719" y="4804407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SkeleSworder</a:t>
            </a:r>
            <a:endParaRPr lang="en-US" b="1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4D3A83D-35F6-7A3D-A904-A6B08AE9F54F}"/>
              </a:ext>
            </a:extLst>
          </p:cNvPr>
          <p:cNvSpPr/>
          <p:nvPr/>
        </p:nvSpPr>
        <p:spPr>
          <a:xfrm>
            <a:off x="9685719" y="5145759"/>
            <a:ext cx="1497874" cy="2644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transform()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51D232B1-6145-B18C-CA78-1175DC910B4A}"/>
              </a:ext>
            </a:extLst>
          </p:cNvPr>
          <p:cNvSpPr/>
          <p:nvPr/>
        </p:nvSpPr>
        <p:spPr>
          <a:xfrm rot="16200000">
            <a:off x="4887161" y="5396444"/>
            <a:ext cx="196286" cy="127132"/>
          </a:xfrm>
          <a:prstGeom prst="triangl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92C89886-239D-15D3-9057-1E170C9AB108}"/>
              </a:ext>
            </a:extLst>
          </p:cNvPr>
          <p:cNvCxnSpPr>
            <a:cxnSpLocks/>
            <a:stCxn id="61" idx="1"/>
            <a:endCxn id="65" idx="3"/>
          </p:cNvCxnSpPr>
          <p:nvPr/>
        </p:nvCxnSpPr>
        <p:spPr>
          <a:xfrm rot="10800000" flipV="1">
            <a:off x="5048871" y="4329600"/>
            <a:ext cx="4636849" cy="1130410"/>
          </a:xfrm>
          <a:prstGeom prst="bentConnector3">
            <a:avLst>
              <a:gd name="adj1" fmla="val 5488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3FC5B5D6-FB08-670E-CDFB-9CC5B38B672B}"/>
              </a:ext>
            </a:extLst>
          </p:cNvPr>
          <p:cNvCxnSpPr>
            <a:cxnSpLocks/>
            <a:stCxn id="62" idx="1"/>
            <a:endCxn id="65" idx="3"/>
          </p:cNvCxnSpPr>
          <p:nvPr/>
        </p:nvCxnSpPr>
        <p:spPr>
          <a:xfrm rot="10800000" flipV="1">
            <a:off x="5048871" y="4970470"/>
            <a:ext cx="4636849" cy="489540"/>
          </a:xfrm>
          <a:prstGeom prst="bentConnector3">
            <a:avLst>
              <a:gd name="adj1" fmla="val 5301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9C102A1-7BEC-05A3-8E21-1A6DBB762455}"/>
              </a:ext>
            </a:extLst>
          </p:cNvPr>
          <p:cNvSpPr/>
          <p:nvPr/>
        </p:nvSpPr>
        <p:spPr>
          <a:xfrm>
            <a:off x="6958136" y="3067772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F2597B-0398-CF79-31A1-3ED5D1FE4D78}"/>
              </a:ext>
            </a:extLst>
          </p:cNvPr>
          <p:cNvSpPr/>
          <p:nvPr/>
        </p:nvSpPr>
        <p:spPr>
          <a:xfrm>
            <a:off x="6415419" y="4167301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2E2260-EE96-87A7-530D-261B17EE5A13}"/>
              </a:ext>
            </a:extLst>
          </p:cNvPr>
          <p:cNvSpPr/>
          <p:nvPr/>
        </p:nvSpPr>
        <p:spPr>
          <a:xfrm>
            <a:off x="9095386" y="3493985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2648F1-69D1-20F4-BFB4-E3877A618D10}"/>
              </a:ext>
            </a:extLst>
          </p:cNvPr>
          <p:cNvSpPr/>
          <p:nvPr/>
        </p:nvSpPr>
        <p:spPr>
          <a:xfrm>
            <a:off x="8367228" y="4847843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DCC21C-0648-E5D9-307A-884A129B17E4}"/>
              </a:ext>
            </a:extLst>
          </p:cNvPr>
          <p:cNvSpPr/>
          <p:nvPr/>
        </p:nvSpPr>
        <p:spPr>
          <a:xfrm>
            <a:off x="10348852" y="3822637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4157D8-B7B2-7144-020A-E26D05561DBE}"/>
              </a:ext>
            </a:extLst>
          </p:cNvPr>
          <p:cNvSpPr/>
          <p:nvPr/>
        </p:nvSpPr>
        <p:spPr>
          <a:xfrm>
            <a:off x="10348851" y="5386807"/>
            <a:ext cx="818317" cy="3839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attack(pl)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600" b="1" dirty="0" err="1">
                <a:solidFill>
                  <a:schemeClr val="tx1"/>
                </a:solidFill>
                <a:latin typeface="Courier"/>
              </a:rPr>
              <a:t>takeDMG</a:t>
            </a:r>
            <a:r>
              <a:rPr lang="en-CA" sz="600" b="1" dirty="0">
                <a:solidFill>
                  <a:schemeClr val="tx1"/>
                </a:solidFill>
                <a:latin typeface="Courier"/>
              </a:rPr>
              <a:t>(dm)</a:t>
            </a:r>
          </a:p>
          <a:p>
            <a:r>
              <a:rPr lang="en-CA" sz="600" b="1" dirty="0">
                <a:solidFill>
                  <a:schemeClr val="tx1"/>
                </a:solidFill>
                <a:latin typeface="Courier"/>
              </a:rPr>
              <a:t>+ killed()</a:t>
            </a:r>
            <a:endParaRPr lang="en-US" sz="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B7519C-32D3-FE75-5D5C-FD9B33101EA5}"/>
              </a:ext>
            </a:extLst>
          </p:cNvPr>
          <p:cNvSpPr/>
          <p:nvPr/>
        </p:nvSpPr>
        <p:spPr>
          <a:xfrm>
            <a:off x="3397328" y="3837140"/>
            <a:ext cx="149787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i="1" dirty="0">
                <a:solidFill>
                  <a:schemeClr val="tx1"/>
                </a:solidFill>
                <a:latin typeface="Courier"/>
              </a:rPr>
              <a:t>+ taunt()</a:t>
            </a:r>
            <a:endParaRPr lang="en-US" sz="1100" b="1" i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A989B391-8D6B-CAB6-3E14-952693823153}"/>
              </a:ext>
            </a:extLst>
          </p:cNvPr>
          <p:cNvSpPr/>
          <p:nvPr/>
        </p:nvSpPr>
        <p:spPr>
          <a:xfrm>
            <a:off x="1680755" y="2709037"/>
            <a:ext cx="1976220" cy="446359"/>
          </a:xfrm>
          <a:prstGeom prst="wedgeRectCallout">
            <a:avLst>
              <a:gd name="adj1" fmla="val -39406"/>
              <a:gd name="adj2" fmla="val 119720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“Push Down” guard()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C72517-8E8E-471B-3287-047CB6A08D92}"/>
              </a:ext>
            </a:extLst>
          </p:cNvPr>
          <p:cNvSpPr/>
          <p:nvPr/>
        </p:nvSpPr>
        <p:spPr>
          <a:xfrm>
            <a:off x="3404923" y="5611762"/>
            <a:ext cx="1497874" cy="26442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guard()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00FEA7EA-02DA-8432-D130-DF5411DE869C}"/>
              </a:ext>
            </a:extLst>
          </p:cNvPr>
          <p:cNvSpPr/>
          <p:nvPr/>
        </p:nvSpPr>
        <p:spPr>
          <a:xfrm>
            <a:off x="8697609" y="694830"/>
            <a:ext cx="2592432" cy="1358763"/>
          </a:xfrm>
          <a:prstGeom prst="wedgeRectCallout">
            <a:avLst>
              <a:gd name="adj1" fmla="val -82538"/>
              <a:gd name="adj2" fmla="val 5572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Dev Team continuously optimizes OOD design using UML diagram analysis</a:t>
            </a:r>
          </a:p>
          <a:p>
            <a:endParaRPr lang="en-CA" sz="1600" b="1" dirty="0">
              <a:solidFill>
                <a:schemeClr val="tx1"/>
              </a:solidFill>
            </a:endParaRPr>
          </a:p>
          <a:p>
            <a:r>
              <a:rPr lang="en-CA" sz="1600" b="1" dirty="0">
                <a:solidFill>
                  <a:schemeClr val="tx1"/>
                </a:solidFill>
              </a:rPr>
              <a:t>Then deploys code to test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4D89FD95-9909-B16C-1CAD-EF7D91C22EAE}"/>
              </a:ext>
            </a:extLst>
          </p:cNvPr>
          <p:cNvSpPr/>
          <p:nvPr/>
        </p:nvSpPr>
        <p:spPr>
          <a:xfrm>
            <a:off x="5337932" y="4760356"/>
            <a:ext cx="2172958" cy="534008"/>
          </a:xfrm>
          <a:prstGeom prst="wedgeRectCallout">
            <a:avLst>
              <a:gd name="adj1" fmla="val -68931"/>
              <a:gd name="adj2" fmla="val 145083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Can be made virtual </a:t>
            </a:r>
            <a:br>
              <a:rPr lang="en-CA" sz="1600" b="1" dirty="0">
                <a:solidFill>
                  <a:schemeClr val="tx1"/>
                </a:solidFill>
              </a:rPr>
            </a:br>
            <a:r>
              <a:rPr lang="en-CA" sz="1600" b="1" dirty="0">
                <a:solidFill>
                  <a:schemeClr val="tx1"/>
                </a:solidFill>
              </a:rPr>
              <a:t>or push down further</a:t>
            </a:r>
          </a:p>
        </p:txBody>
      </p:sp>
    </p:spTree>
    <p:extLst>
      <p:ext uri="{BB962C8B-B14F-4D97-AF65-F5344CB8AC3E}">
        <p14:creationId xmlns:p14="http://schemas.microsoft.com/office/powerpoint/2010/main" val="118372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Advanced Topic:</a:t>
            </a:r>
            <a:b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</a:br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Multiple Inheritance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Conceptual Introduction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887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 Inheritance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7601939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C++ allows one class to be derived from multiple base classes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Python also supports it, but Java and C# don’t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 case of a base class being inherited many times via multiple</a:t>
            </a:r>
            <a:br>
              <a:rPr lang="en-CA" dirty="0"/>
            </a:br>
            <a:r>
              <a:rPr lang="en-CA" dirty="0"/>
              <a:t>inheritance path, C++ compiler will recognize it and ensure only</a:t>
            </a:r>
            <a:br>
              <a:rPr lang="en-CA" dirty="0"/>
            </a:br>
            <a:r>
              <a:rPr lang="en-CA" dirty="0"/>
              <a:t>one copy of the base class is included in the compiled code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This is referred to as </a:t>
            </a:r>
            <a:r>
              <a:rPr lang="en-CA" b="1" i="1" dirty="0"/>
              <a:t>Virtual Inheritance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18</a:t>
            </a:fld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D4670D-93BE-4F07-487A-132A07F9D20F}"/>
              </a:ext>
            </a:extLst>
          </p:cNvPr>
          <p:cNvSpPr txBox="1"/>
          <p:nvPr/>
        </p:nvSpPr>
        <p:spPr>
          <a:xfrm>
            <a:off x="1990402" y="2388294"/>
            <a:ext cx="4415289" cy="1015663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Bear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ZooAnimal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… } 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Panda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public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Bear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public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Endangered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… 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157C1C-2DC1-FAB6-28D7-10E0A27A2314}"/>
              </a:ext>
            </a:extLst>
          </p:cNvPr>
          <p:cNvSpPr/>
          <p:nvPr/>
        </p:nvSpPr>
        <p:spPr>
          <a:xfrm>
            <a:off x="8238309" y="3516122"/>
            <a:ext cx="150010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Bear</a:t>
            </a:r>
            <a:endParaRPr lang="en-US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86E19A-8547-EC99-1FB7-93F29D4C7FBD}"/>
              </a:ext>
            </a:extLst>
          </p:cNvPr>
          <p:cNvSpPr/>
          <p:nvPr/>
        </p:nvSpPr>
        <p:spPr>
          <a:xfrm>
            <a:off x="8861841" y="5244153"/>
            <a:ext cx="1500104" cy="33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Panda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A08C6E-C20D-26E7-08CD-6EDA3C80F764}"/>
              </a:ext>
            </a:extLst>
          </p:cNvPr>
          <p:cNvSpPr/>
          <p:nvPr/>
        </p:nvSpPr>
        <p:spPr>
          <a:xfrm>
            <a:off x="9611893" y="4195993"/>
            <a:ext cx="1500104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Endangered</a:t>
            </a:r>
            <a:endParaRPr lang="en-US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FA4BEA-5CBF-F340-CE2C-A93098E8B79C}"/>
              </a:ext>
            </a:extLst>
          </p:cNvPr>
          <p:cNvSpPr/>
          <p:nvPr/>
        </p:nvSpPr>
        <p:spPr>
          <a:xfrm>
            <a:off x="8238309" y="2588497"/>
            <a:ext cx="1500104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ZooAnimal</a:t>
            </a:r>
            <a:endParaRPr lang="en-US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78FC53-06FC-ADB2-B132-D7324E89A1C2}"/>
              </a:ext>
            </a:extLst>
          </p:cNvPr>
          <p:cNvSpPr/>
          <p:nvPr/>
        </p:nvSpPr>
        <p:spPr>
          <a:xfrm>
            <a:off x="9112410" y="1447784"/>
            <a:ext cx="1500104" cy="33212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Animal</a:t>
            </a:r>
            <a:endParaRPr lang="en-US" b="1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E0F630E7-745C-9DCA-BC6C-08066DAFF42A}"/>
              </a:ext>
            </a:extLst>
          </p:cNvPr>
          <p:cNvSpPr/>
          <p:nvPr/>
        </p:nvSpPr>
        <p:spPr>
          <a:xfrm>
            <a:off x="9513750" y="1789639"/>
            <a:ext cx="196286" cy="127132"/>
          </a:xfrm>
          <a:prstGeom prst="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4CCE1BA5-6767-D951-592D-2EA1170D02A6}"/>
              </a:ext>
            </a:extLst>
          </p:cNvPr>
          <p:cNvCxnSpPr>
            <a:stCxn id="20" idx="3"/>
            <a:endCxn id="18" idx="0"/>
          </p:cNvCxnSpPr>
          <p:nvPr/>
        </p:nvCxnSpPr>
        <p:spPr>
          <a:xfrm rot="5400000">
            <a:off x="8964264" y="1940868"/>
            <a:ext cx="671726" cy="623532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9C1AB89-A64A-045F-2B34-6A1C2A423415}"/>
              </a:ext>
            </a:extLst>
          </p:cNvPr>
          <p:cNvSpPr/>
          <p:nvPr/>
        </p:nvSpPr>
        <p:spPr>
          <a:xfrm>
            <a:off x="8890218" y="2934904"/>
            <a:ext cx="196286" cy="127132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D140E8-EC98-D5D4-F97E-D7127C7E58B1}"/>
              </a:ext>
            </a:extLst>
          </p:cNvPr>
          <p:cNvCxnSpPr>
            <a:stCxn id="23" idx="3"/>
            <a:endCxn id="11" idx="0"/>
          </p:cNvCxnSpPr>
          <p:nvPr/>
        </p:nvCxnSpPr>
        <p:spPr>
          <a:xfrm>
            <a:off x="8988361" y="3062036"/>
            <a:ext cx="0" cy="454086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ABC2440F-4368-2346-C8D9-CAA128F75A16}"/>
              </a:ext>
            </a:extLst>
          </p:cNvPr>
          <p:cNvSpPr/>
          <p:nvPr/>
        </p:nvSpPr>
        <p:spPr>
          <a:xfrm>
            <a:off x="8890218" y="3843076"/>
            <a:ext cx="196286" cy="127132"/>
          </a:xfrm>
          <a:prstGeom prst="triangl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F2CDDA1C-7028-1803-2E78-3BD4C5EA7699}"/>
              </a:ext>
            </a:extLst>
          </p:cNvPr>
          <p:cNvCxnSpPr>
            <a:stCxn id="26" idx="3"/>
          </p:cNvCxnSpPr>
          <p:nvPr/>
        </p:nvCxnSpPr>
        <p:spPr>
          <a:xfrm rot="16200000" flipH="1">
            <a:off x="8478879" y="4479689"/>
            <a:ext cx="1271517" cy="252553"/>
          </a:xfrm>
          <a:prstGeom prst="bentConnector3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5FDC14E9-5090-9524-4AEC-089B5D15CCB0}"/>
              </a:ext>
            </a:extLst>
          </p:cNvPr>
          <p:cNvSpPr/>
          <p:nvPr/>
        </p:nvSpPr>
        <p:spPr>
          <a:xfrm>
            <a:off x="9940996" y="1779910"/>
            <a:ext cx="196286" cy="127132"/>
          </a:xfrm>
          <a:prstGeom prst="triangl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8ABBA89C-92D8-AA2D-D2E3-02223BBA23D9}"/>
              </a:ext>
            </a:extLst>
          </p:cNvPr>
          <p:cNvCxnSpPr>
            <a:stCxn id="38" idx="3"/>
            <a:endCxn id="14" idx="0"/>
          </p:cNvCxnSpPr>
          <p:nvPr/>
        </p:nvCxnSpPr>
        <p:spPr>
          <a:xfrm rot="16200000" flipH="1">
            <a:off x="9056067" y="2890114"/>
            <a:ext cx="2288951" cy="322806"/>
          </a:xfrm>
          <a:prstGeom prst="bentConnector3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8DBC1B1A-7DBD-7017-481F-4C6D3C4CDCFE}"/>
              </a:ext>
            </a:extLst>
          </p:cNvPr>
          <p:cNvSpPr/>
          <p:nvPr/>
        </p:nvSpPr>
        <p:spPr>
          <a:xfrm>
            <a:off x="10263802" y="4525839"/>
            <a:ext cx="196286" cy="127132"/>
          </a:xfrm>
          <a:prstGeom prst="triangl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99DD2495-14E0-0F1E-DCDB-C129C4D7161D}"/>
              </a:ext>
            </a:extLst>
          </p:cNvPr>
          <p:cNvCxnSpPr>
            <a:cxnSpLocks/>
            <a:stCxn id="46" idx="3"/>
          </p:cNvCxnSpPr>
          <p:nvPr/>
        </p:nvCxnSpPr>
        <p:spPr>
          <a:xfrm rot="5400000">
            <a:off x="9906166" y="4785944"/>
            <a:ext cx="588753" cy="322806"/>
          </a:xfrm>
          <a:prstGeom prst="bentConnector3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3BD0454-BDAC-23FD-C8D7-C7E4B311195F}"/>
              </a:ext>
            </a:extLst>
          </p:cNvPr>
          <p:cNvSpPr txBox="1"/>
          <p:nvPr/>
        </p:nvSpPr>
        <p:spPr>
          <a:xfrm>
            <a:off x="2525333" y="4798713"/>
            <a:ext cx="3345425" cy="1015663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ZooAnimal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Animal</a:t>
            </a: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… } 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Endangered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public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Animal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… }</a:t>
            </a:r>
          </a:p>
        </p:txBody>
      </p:sp>
      <p:sp>
        <p:nvSpPr>
          <p:cNvPr id="51" name="Speech Bubble: Rectangle 50">
            <a:extLst>
              <a:ext uri="{FF2B5EF4-FFF2-40B4-BE49-F238E27FC236}">
                <a16:creationId xmlns:a16="http://schemas.microsoft.com/office/drawing/2014/main" id="{64CABB09-5D75-5F4E-2409-D488E91FA4F0}"/>
              </a:ext>
            </a:extLst>
          </p:cNvPr>
          <p:cNvSpPr/>
          <p:nvPr/>
        </p:nvSpPr>
        <p:spPr>
          <a:xfrm>
            <a:off x="6780841" y="4753563"/>
            <a:ext cx="1762479" cy="586891"/>
          </a:xfrm>
          <a:prstGeom prst="wedgeRectCallout">
            <a:avLst>
              <a:gd name="adj1" fmla="val 65695"/>
              <a:gd name="adj2" fmla="val 4978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Will inherit Animal only once!</a:t>
            </a:r>
          </a:p>
        </p:txBody>
      </p:sp>
    </p:spTree>
    <p:extLst>
      <p:ext uri="{BB962C8B-B14F-4D97-AF65-F5344CB8AC3E}">
        <p14:creationId xmlns:p14="http://schemas.microsoft.com/office/powerpoint/2010/main" val="95156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4" grpId="0" animBg="1"/>
      <p:bldP spid="18" grpId="0" animBg="1"/>
      <p:bldP spid="19" grpId="0" animBg="1"/>
      <p:bldP spid="20" grpId="0" animBg="1"/>
      <p:bldP spid="23" grpId="0" animBg="1"/>
      <p:bldP spid="26" grpId="0" animBg="1"/>
      <p:bldP spid="38" grpId="0" animBg="1"/>
      <p:bldP spid="46" grpId="0" animBg="1"/>
      <p:bldP spid="50" grpId="0" animBg="1"/>
      <p:bldP spid="5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 Inheritance - Example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780452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Let’s study the behaviour of classes under Multiple Inheritance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Consider base class A and its subclass B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19</a:t>
            </a:fld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D4670D-93BE-4F07-487A-132A07F9D20F}"/>
              </a:ext>
            </a:extLst>
          </p:cNvPr>
          <p:cNvSpPr txBox="1"/>
          <p:nvPr/>
        </p:nvSpPr>
        <p:spPr>
          <a:xfrm>
            <a:off x="1359370" y="2529110"/>
            <a:ext cx="3748788" cy="144655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A(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 :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~A() 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157C1C-2DC1-FAB6-28D7-10E0A27A2314}"/>
              </a:ext>
            </a:extLst>
          </p:cNvPr>
          <p:cNvSpPr/>
          <p:nvPr/>
        </p:nvSpPr>
        <p:spPr>
          <a:xfrm>
            <a:off x="8891008" y="2920259"/>
            <a:ext cx="699809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B</a:t>
            </a:r>
            <a:endParaRPr lang="en-US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FA4BEA-5CBF-F340-CE2C-A93098E8B79C}"/>
              </a:ext>
            </a:extLst>
          </p:cNvPr>
          <p:cNvSpPr/>
          <p:nvPr/>
        </p:nvSpPr>
        <p:spPr>
          <a:xfrm>
            <a:off x="8891009" y="2196984"/>
            <a:ext cx="699809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A</a:t>
            </a:r>
            <a:endParaRPr lang="en-US" b="1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9C1AB89-A64A-045F-2B34-6A1C2A423415}"/>
              </a:ext>
            </a:extLst>
          </p:cNvPr>
          <p:cNvSpPr/>
          <p:nvPr/>
        </p:nvSpPr>
        <p:spPr>
          <a:xfrm>
            <a:off x="9142770" y="2545347"/>
            <a:ext cx="196286" cy="127132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D140E8-EC98-D5D4-F97E-D7127C7E58B1}"/>
              </a:ext>
            </a:extLst>
          </p:cNvPr>
          <p:cNvCxnSpPr>
            <a:stCxn id="23" idx="3"/>
            <a:endCxn id="11" idx="0"/>
          </p:cNvCxnSpPr>
          <p:nvPr/>
        </p:nvCxnSpPr>
        <p:spPr>
          <a:xfrm>
            <a:off x="9240913" y="2672479"/>
            <a:ext cx="0" cy="24778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5B7A463-F593-F95E-269F-9DF6F47BEB9F}"/>
              </a:ext>
            </a:extLst>
          </p:cNvPr>
          <p:cNvSpPr txBox="1"/>
          <p:nvPr/>
        </p:nvSpPr>
        <p:spPr>
          <a:xfrm>
            <a:off x="1359369" y="4092311"/>
            <a:ext cx="3748788" cy="1446550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nb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: A(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nb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ConB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~B() 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DesB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CE409F-9336-D4CF-7924-EAB1F72C18DA}"/>
              </a:ext>
            </a:extLst>
          </p:cNvPr>
          <p:cNvSpPr txBox="1"/>
          <p:nvPr/>
        </p:nvSpPr>
        <p:spPr>
          <a:xfrm>
            <a:off x="5493146" y="2518368"/>
            <a:ext cx="1489516" cy="1107996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Client Code</a:t>
            </a:r>
          </a:p>
          <a:p>
            <a:endParaRPr lang="fr-FR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 </a:t>
            </a:r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B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b1(2, 3);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8DBA48-D1A3-FB23-5710-7A8A838E4112}"/>
              </a:ext>
            </a:extLst>
          </p:cNvPr>
          <p:cNvSpPr/>
          <p:nvPr/>
        </p:nvSpPr>
        <p:spPr>
          <a:xfrm>
            <a:off x="6879441" y="2904110"/>
            <a:ext cx="714103" cy="916276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 err="1">
                <a:latin typeface="Courier"/>
              </a:rPr>
              <a:t>ConA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ConB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DesB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DesA</a:t>
            </a:r>
            <a:endParaRPr lang="en-US" sz="1400" b="1" dirty="0">
              <a:latin typeface="Courier"/>
            </a:endParaRPr>
          </a:p>
        </p:txBody>
      </p:sp>
      <p:sp>
        <p:nvSpPr>
          <p:cNvPr id="51" name="Speech Bubble: Rectangle 50">
            <a:extLst>
              <a:ext uri="{FF2B5EF4-FFF2-40B4-BE49-F238E27FC236}">
                <a16:creationId xmlns:a16="http://schemas.microsoft.com/office/drawing/2014/main" id="{64CABB09-5D75-5F4E-2409-D488E91FA4F0}"/>
              </a:ext>
            </a:extLst>
          </p:cNvPr>
          <p:cNvSpPr/>
          <p:nvPr/>
        </p:nvSpPr>
        <p:spPr>
          <a:xfrm>
            <a:off x="7236492" y="4282719"/>
            <a:ext cx="3198049" cy="1379634"/>
          </a:xfrm>
          <a:prstGeom prst="wedgeRectCallout">
            <a:avLst>
              <a:gd name="adj1" fmla="val -40770"/>
              <a:gd name="adj2" fmla="val -9146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u="sng" dirty="0">
                <a:solidFill>
                  <a:schemeClr val="tx1"/>
                </a:solidFill>
              </a:rPr>
              <a:t>Order of Execution</a:t>
            </a:r>
          </a:p>
          <a:p>
            <a:pPr marL="285750" indent="-285750">
              <a:buFontTx/>
              <a:buChar char="-"/>
            </a:pPr>
            <a:r>
              <a:rPr lang="en-CA" sz="1600" dirty="0">
                <a:solidFill>
                  <a:schemeClr val="tx1"/>
                </a:solidFill>
              </a:rPr>
              <a:t>Constructors: </a:t>
            </a:r>
            <a:br>
              <a:rPr lang="en-CA" sz="1600" dirty="0">
                <a:solidFill>
                  <a:schemeClr val="tx1"/>
                </a:solidFill>
              </a:rPr>
            </a:br>
            <a:r>
              <a:rPr lang="en-CA" sz="1600" dirty="0">
                <a:solidFill>
                  <a:schemeClr val="tx1"/>
                </a:solidFill>
              </a:rPr>
              <a:t>    Base class first, subclass next</a:t>
            </a:r>
          </a:p>
          <a:p>
            <a:pPr marL="285750" indent="-285750">
              <a:buFontTx/>
              <a:buChar char="-"/>
            </a:pPr>
            <a:r>
              <a:rPr lang="en-CA" sz="1600" dirty="0">
                <a:solidFill>
                  <a:schemeClr val="tx1"/>
                </a:solidFill>
              </a:rPr>
              <a:t>Destructors: </a:t>
            </a:r>
            <a:br>
              <a:rPr lang="en-CA" sz="1600" dirty="0">
                <a:solidFill>
                  <a:schemeClr val="tx1"/>
                </a:solidFill>
              </a:rPr>
            </a:br>
            <a:r>
              <a:rPr lang="en-CA" sz="1600" dirty="0">
                <a:solidFill>
                  <a:schemeClr val="tx1"/>
                </a:solidFill>
              </a:rPr>
              <a:t>    Reverse order of Constructors</a:t>
            </a:r>
          </a:p>
        </p:txBody>
      </p:sp>
    </p:spTree>
    <p:extLst>
      <p:ext uri="{BB962C8B-B14F-4D97-AF65-F5344CB8AC3E}">
        <p14:creationId xmlns:p14="http://schemas.microsoft.com/office/powerpoint/2010/main" val="37560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8" grpId="0" animBg="1"/>
      <p:bldP spid="23" grpId="0" animBg="1"/>
      <p:bldP spid="2" grpId="0" animBg="1"/>
      <p:bldP spid="8" grpId="0" animBg="1"/>
      <p:bldP spid="9" grpId="0" animBg="1"/>
      <p:bldP spid="5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 Inheritance - Example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780452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Let’s study the behaviour of classes under Multiple Inheritance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Then, consider C as the “grandchild” class of A (secondary subclass)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20</a:t>
            </a:fld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D4670D-93BE-4F07-487A-132A07F9D20F}"/>
              </a:ext>
            </a:extLst>
          </p:cNvPr>
          <p:cNvSpPr txBox="1"/>
          <p:nvPr/>
        </p:nvSpPr>
        <p:spPr>
          <a:xfrm>
            <a:off x="1601304" y="2972874"/>
            <a:ext cx="3748788" cy="1785104"/>
          </a:xfrm>
          <a:prstGeom prst="rect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public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cStr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C(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int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nb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b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: B(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nb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cStr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ConC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~C() 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157C1C-2DC1-FAB6-28D7-10E0A27A2314}"/>
              </a:ext>
            </a:extLst>
          </p:cNvPr>
          <p:cNvSpPr/>
          <p:nvPr/>
        </p:nvSpPr>
        <p:spPr>
          <a:xfrm>
            <a:off x="8891008" y="2920259"/>
            <a:ext cx="699809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B</a:t>
            </a:r>
            <a:endParaRPr lang="en-US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FA4BEA-5CBF-F340-CE2C-A93098E8B79C}"/>
              </a:ext>
            </a:extLst>
          </p:cNvPr>
          <p:cNvSpPr/>
          <p:nvPr/>
        </p:nvSpPr>
        <p:spPr>
          <a:xfrm>
            <a:off x="8891009" y="2196984"/>
            <a:ext cx="699809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A</a:t>
            </a:r>
            <a:endParaRPr lang="en-US" b="1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9C1AB89-A64A-045F-2B34-6A1C2A423415}"/>
              </a:ext>
            </a:extLst>
          </p:cNvPr>
          <p:cNvSpPr/>
          <p:nvPr/>
        </p:nvSpPr>
        <p:spPr>
          <a:xfrm>
            <a:off x="9142770" y="2545347"/>
            <a:ext cx="196286" cy="127132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D140E8-EC98-D5D4-F97E-D7127C7E58B1}"/>
              </a:ext>
            </a:extLst>
          </p:cNvPr>
          <p:cNvCxnSpPr>
            <a:stCxn id="23" idx="3"/>
            <a:endCxn id="11" idx="0"/>
          </p:cNvCxnSpPr>
          <p:nvPr/>
        </p:nvCxnSpPr>
        <p:spPr>
          <a:xfrm>
            <a:off x="9240913" y="2672479"/>
            <a:ext cx="0" cy="24778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9CE409F-9336-D4CF-7924-EAB1F72C18DA}"/>
              </a:ext>
            </a:extLst>
          </p:cNvPr>
          <p:cNvSpPr txBox="1"/>
          <p:nvPr/>
        </p:nvSpPr>
        <p:spPr>
          <a:xfrm>
            <a:off x="5781894" y="2964656"/>
            <a:ext cx="2456415" cy="1107996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Client Code</a:t>
            </a:r>
          </a:p>
          <a:p>
            <a:endParaRPr lang="fr-FR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 </a:t>
            </a:r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c1(3, 6,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“Hello”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);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8DBA48-D1A3-FB23-5710-7A8A838E4112}"/>
              </a:ext>
            </a:extLst>
          </p:cNvPr>
          <p:cNvSpPr/>
          <p:nvPr/>
        </p:nvSpPr>
        <p:spPr>
          <a:xfrm>
            <a:off x="7930059" y="3686693"/>
            <a:ext cx="714103" cy="1495658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 err="1">
                <a:latin typeface="Courier"/>
              </a:rPr>
              <a:t>ConA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ConB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ConC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DesC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DesB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DesA</a:t>
            </a:r>
            <a:endParaRPr lang="en-US" sz="1400" b="1" dirty="0">
              <a:latin typeface="Courie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71031D-D823-AE22-3011-07E458CB7930}"/>
              </a:ext>
            </a:extLst>
          </p:cNvPr>
          <p:cNvSpPr/>
          <p:nvPr/>
        </p:nvSpPr>
        <p:spPr>
          <a:xfrm>
            <a:off x="8887897" y="3643782"/>
            <a:ext cx="699809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C</a:t>
            </a:r>
            <a:endParaRPr lang="en-US" b="1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55FF8CA7-AF32-3A1C-90CF-8D8A38764F45}"/>
              </a:ext>
            </a:extLst>
          </p:cNvPr>
          <p:cNvSpPr/>
          <p:nvPr/>
        </p:nvSpPr>
        <p:spPr>
          <a:xfrm>
            <a:off x="9139659" y="3268870"/>
            <a:ext cx="196286" cy="127132"/>
          </a:xfrm>
          <a:prstGeom prst="triangle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37CED-D8EF-3D61-C5A4-5D7DFE2AA759}"/>
              </a:ext>
            </a:extLst>
          </p:cNvPr>
          <p:cNvCxnSpPr>
            <a:cxnSpLocks/>
            <a:stCxn id="14" idx="3"/>
            <a:endCxn id="12" idx="0"/>
          </p:cNvCxnSpPr>
          <p:nvPr/>
        </p:nvCxnSpPr>
        <p:spPr>
          <a:xfrm>
            <a:off x="9237802" y="3396002"/>
            <a:ext cx="0" cy="24778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93BCF7C2-4C8D-D8B5-61F4-E5741BFC7C49}"/>
              </a:ext>
            </a:extLst>
          </p:cNvPr>
          <p:cNvSpPr/>
          <p:nvPr/>
        </p:nvSpPr>
        <p:spPr>
          <a:xfrm>
            <a:off x="5900161" y="4234885"/>
            <a:ext cx="1883498" cy="399275"/>
          </a:xfrm>
          <a:prstGeom prst="wedgeRectCallout">
            <a:avLst>
              <a:gd name="adj1" fmla="val -11361"/>
              <a:gd name="adj2" fmla="val -9714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What’s the Output?</a:t>
            </a:r>
            <a:endParaRPr lang="en-CA" sz="16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8CFEF9E-8EFD-D1B1-1923-EA5683428408}"/>
              </a:ext>
            </a:extLst>
          </p:cNvPr>
          <p:cNvSpPr/>
          <p:nvPr/>
        </p:nvSpPr>
        <p:spPr>
          <a:xfrm>
            <a:off x="8778930" y="5146102"/>
            <a:ext cx="2433567" cy="41037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LEEx1a-SingleInh.cpp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521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9" grpId="0" animBg="1"/>
      <p:bldP spid="12" grpId="0" animBg="1"/>
      <p:bldP spid="14" grpId="0" animBg="1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 Inheritance - Example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780452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Let’s study the behaviour of classes under Multiple Inheritance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Next, Consider two base classes X and Y, and their common subclass Z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21</a:t>
            </a:fld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D4670D-93BE-4F07-487A-132A07F9D20F}"/>
              </a:ext>
            </a:extLst>
          </p:cNvPr>
          <p:cNvSpPr txBox="1"/>
          <p:nvPr/>
        </p:nvSpPr>
        <p:spPr>
          <a:xfrm>
            <a:off x="1232794" y="2363047"/>
            <a:ext cx="3487251" cy="1446550"/>
          </a:xfrm>
          <a:prstGeom prst="rect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xChar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X(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c) :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xChar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ConX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~X() 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DesX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157C1C-2DC1-FAB6-28D7-10E0A27A2314}"/>
              </a:ext>
            </a:extLst>
          </p:cNvPr>
          <p:cNvSpPr/>
          <p:nvPr/>
        </p:nvSpPr>
        <p:spPr>
          <a:xfrm>
            <a:off x="8891008" y="2920259"/>
            <a:ext cx="699809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B</a:t>
            </a:r>
            <a:endParaRPr lang="en-US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FA4BEA-5CBF-F340-CE2C-A93098E8B79C}"/>
              </a:ext>
            </a:extLst>
          </p:cNvPr>
          <p:cNvSpPr/>
          <p:nvPr/>
        </p:nvSpPr>
        <p:spPr>
          <a:xfrm>
            <a:off x="8891009" y="2196984"/>
            <a:ext cx="699809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A</a:t>
            </a:r>
            <a:endParaRPr lang="en-US" b="1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9C1AB89-A64A-045F-2B34-6A1C2A423415}"/>
              </a:ext>
            </a:extLst>
          </p:cNvPr>
          <p:cNvSpPr/>
          <p:nvPr/>
        </p:nvSpPr>
        <p:spPr>
          <a:xfrm>
            <a:off x="9142770" y="2545347"/>
            <a:ext cx="196286" cy="127132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D140E8-EC98-D5D4-F97E-D7127C7E58B1}"/>
              </a:ext>
            </a:extLst>
          </p:cNvPr>
          <p:cNvCxnSpPr>
            <a:stCxn id="23" idx="3"/>
            <a:endCxn id="11" idx="0"/>
          </p:cNvCxnSpPr>
          <p:nvPr/>
        </p:nvCxnSpPr>
        <p:spPr>
          <a:xfrm>
            <a:off x="9240913" y="2672479"/>
            <a:ext cx="0" cy="24778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9CE409F-9336-D4CF-7924-EAB1F72C18DA}"/>
              </a:ext>
            </a:extLst>
          </p:cNvPr>
          <p:cNvSpPr txBox="1"/>
          <p:nvPr/>
        </p:nvSpPr>
        <p:spPr>
          <a:xfrm>
            <a:off x="4934986" y="4079961"/>
            <a:ext cx="2456415" cy="1107996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Client Code</a:t>
            </a:r>
          </a:p>
          <a:p>
            <a:endParaRPr lang="fr-FR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 </a:t>
            </a:r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Z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z1(‘z’, ‘b’,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8DBA48-D1A3-FB23-5710-7A8A838E4112}"/>
              </a:ext>
            </a:extLst>
          </p:cNvPr>
          <p:cNvSpPr/>
          <p:nvPr/>
        </p:nvSpPr>
        <p:spPr>
          <a:xfrm>
            <a:off x="7307770" y="4350338"/>
            <a:ext cx="714103" cy="1495658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 err="1">
                <a:latin typeface="Courier"/>
              </a:rPr>
              <a:t>ConX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ConY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ConZ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DesZ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DesY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DesX</a:t>
            </a:r>
            <a:endParaRPr lang="en-US" sz="1400" b="1" dirty="0">
              <a:latin typeface="Courie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71031D-D823-AE22-3011-07E458CB7930}"/>
              </a:ext>
            </a:extLst>
          </p:cNvPr>
          <p:cNvSpPr/>
          <p:nvPr/>
        </p:nvSpPr>
        <p:spPr>
          <a:xfrm>
            <a:off x="8887897" y="3643782"/>
            <a:ext cx="699809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C</a:t>
            </a:r>
            <a:endParaRPr lang="en-US" b="1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55FF8CA7-AF32-3A1C-90CF-8D8A38764F45}"/>
              </a:ext>
            </a:extLst>
          </p:cNvPr>
          <p:cNvSpPr/>
          <p:nvPr/>
        </p:nvSpPr>
        <p:spPr>
          <a:xfrm>
            <a:off x="9139659" y="3268870"/>
            <a:ext cx="196286" cy="127132"/>
          </a:xfrm>
          <a:prstGeom prst="triangle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37CED-D8EF-3D61-C5A4-5D7DFE2AA759}"/>
              </a:ext>
            </a:extLst>
          </p:cNvPr>
          <p:cNvCxnSpPr>
            <a:cxnSpLocks/>
            <a:stCxn id="14" idx="3"/>
            <a:endCxn id="12" idx="0"/>
          </p:cNvCxnSpPr>
          <p:nvPr/>
        </p:nvCxnSpPr>
        <p:spPr>
          <a:xfrm>
            <a:off x="9237802" y="3396002"/>
            <a:ext cx="0" cy="24778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93BCF7C2-4C8D-D8B5-61F4-E5741BFC7C49}"/>
              </a:ext>
            </a:extLst>
          </p:cNvPr>
          <p:cNvSpPr/>
          <p:nvPr/>
        </p:nvSpPr>
        <p:spPr>
          <a:xfrm>
            <a:off x="5243301" y="5307531"/>
            <a:ext cx="1883498" cy="399275"/>
          </a:xfrm>
          <a:prstGeom prst="wedgeRectCallout">
            <a:avLst>
              <a:gd name="adj1" fmla="val -11361"/>
              <a:gd name="adj2" fmla="val -9714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What’s the Output?</a:t>
            </a:r>
            <a:endParaRPr lang="en-CA" sz="16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A48A7F-8739-C918-16D8-628EA6F36B3C}"/>
              </a:ext>
            </a:extLst>
          </p:cNvPr>
          <p:cNvSpPr txBox="1"/>
          <p:nvPr/>
        </p:nvSpPr>
        <p:spPr>
          <a:xfrm>
            <a:off x="4934986" y="2357963"/>
            <a:ext cx="3487251" cy="144655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yChar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Y(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c) :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yChar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ConY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~Y() 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DesY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F3631F-58B3-F4D4-14F8-9E337546BDE5}"/>
              </a:ext>
            </a:extLst>
          </p:cNvPr>
          <p:cNvSpPr txBox="1"/>
          <p:nvPr/>
        </p:nvSpPr>
        <p:spPr>
          <a:xfrm>
            <a:off x="1232793" y="4055921"/>
            <a:ext cx="3487251" cy="1615827"/>
          </a:xfrm>
          <a:prstGeom prst="rect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public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public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Z(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cx,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cy,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iz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b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: X(cx), Y(cy),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iz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ConZ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~Z() 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DesZ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031DB0-D4F6-A2EC-C32F-CB457F10F2D6}"/>
              </a:ext>
            </a:extLst>
          </p:cNvPr>
          <p:cNvSpPr/>
          <p:nvPr/>
        </p:nvSpPr>
        <p:spPr>
          <a:xfrm>
            <a:off x="9746504" y="2630306"/>
            <a:ext cx="699809" cy="332126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X</a:t>
            </a:r>
            <a:endParaRPr lang="en-US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169E7C-ACA8-D0EE-E14A-BE4989DEFC69}"/>
              </a:ext>
            </a:extLst>
          </p:cNvPr>
          <p:cNvSpPr/>
          <p:nvPr/>
        </p:nvSpPr>
        <p:spPr>
          <a:xfrm>
            <a:off x="10654454" y="2626718"/>
            <a:ext cx="699809" cy="33212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Y</a:t>
            </a:r>
            <a:endParaRPr lang="en-US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144EED-4D8A-2806-283B-FDA48D8AE32C}"/>
              </a:ext>
            </a:extLst>
          </p:cNvPr>
          <p:cNvSpPr/>
          <p:nvPr/>
        </p:nvSpPr>
        <p:spPr>
          <a:xfrm>
            <a:off x="10188330" y="3645223"/>
            <a:ext cx="699809" cy="3321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Z</a:t>
            </a:r>
            <a:endParaRPr lang="en-US" b="1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02325FDC-989E-CDE4-1B42-CB20DEBBFD16}"/>
              </a:ext>
            </a:extLst>
          </p:cNvPr>
          <p:cNvSpPr/>
          <p:nvPr/>
        </p:nvSpPr>
        <p:spPr>
          <a:xfrm>
            <a:off x="9999770" y="2972161"/>
            <a:ext cx="196286" cy="127132"/>
          </a:xfrm>
          <a:prstGeom prst="triangle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DB60237D-9752-A8F0-3240-718660070CD6}"/>
              </a:ext>
            </a:extLst>
          </p:cNvPr>
          <p:cNvSpPr/>
          <p:nvPr/>
        </p:nvSpPr>
        <p:spPr>
          <a:xfrm>
            <a:off x="10906679" y="2968573"/>
            <a:ext cx="196286" cy="127132"/>
          </a:xfrm>
          <a:prstGeom prst="triangle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0DD5EE94-B2AF-5FDD-6649-186EA9DD47BA}"/>
              </a:ext>
            </a:extLst>
          </p:cNvPr>
          <p:cNvCxnSpPr>
            <a:stCxn id="21" idx="3"/>
            <a:endCxn id="20" idx="0"/>
          </p:cNvCxnSpPr>
          <p:nvPr/>
        </p:nvCxnSpPr>
        <p:spPr>
          <a:xfrm rot="16200000" flipH="1">
            <a:off x="10045109" y="3152097"/>
            <a:ext cx="545930" cy="440322"/>
          </a:xfrm>
          <a:prstGeom prst="bentConnector3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2162D03A-CC12-52D4-2997-F4A58353D86B}"/>
              </a:ext>
            </a:extLst>
          </p:cNvPr>
          <p:cNvCxnSpPr>
            <a:cxnSpLocks/>
            <a:stCxn id="22" idx="3"/>
            <a:endCxn id="20" idx="0"/>
          </p:cNvCxnSpPr>
          <p:nvPr/>
        </p:nvCxnSpPr>
        <p:spPr>
          <a:xfrm rot="5400000">
            <a:off x="10496770" y="3137171"/>
            <a:ext cx="549518" cy="466587"/>
          </a:xfrm>
          <a:prstGeom prst="bentConnector3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peech Bubble: Rectangle 29">
            <a:extLst>
              <a:ext uri="{FF2B5EF4-FFF2-40B4-BE49-F238E27FC236}">
                <a16:creationId xmlns:a16="http://schemas.microsoft.com/office/drawing/2014/main" id="{F7F1D3AB-6339-0032-7EA8-8F6ABC3AF8CE}"/>
              </a:ext>
            </a:extLst>
          </p:cNvPr>
          <p:cNvSpPr/>
          <p:nvPr/>
        </p:nvSpPr>
        <p:spPr>
          <a:xfrm>
            <a:off x="8313879" y="4417442"/>
            <a:ext cx="2898618" cy="1444679"/>
          </a:xfrm>
          <a:prstGeom prst="wedgeRectCallout">
            <a:avLst>
              <a:gd name="adj1" fmla="val -62436"/>
              <a:gd name="adj2" fmla="val -2601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u="sng" dirty="0">
                <a:solidFill>
                  <a:schemeClr val="tx1"/>
                </a:solidFill>
              </a:rPr>
              <a:t>Order of Execution</a:t>
            </a:r>
          </a:p>
          <a:p>
            <a:pPr marL="285750" indent="-285750">
              <a:buFontTx/>
              <a:buChar char="-"/>
            </a:pPr>
            <a:r>
              <a:rPr lang="en-CA" sz="1600" dirty="0">
                <a:solidFill>
                  <a:schemeClr val="tx1"/>
                </a:solidFill>
              </a:rPr>
              <a:t>Constructors: </a:t>
            </a:r>
            <a:br>
              <a:rPr lang="en-CA" sz="1600" dirty="0">
                <a:solidFill>
                  <a:schemeClr val="tx1"/>
                </a:solidFill>
              </a:rPr>
            </a:br>
            <a:r>
              <a:rPr lang="en-CA" sz="1600" dirty="0">
                <a:solidFill>
                  <a:schemeClr val="tx1"/>
                </a:solidFill>
              </a:rPr>
              <a:t>    Forward inheritance order</a:t>
            </a:r>
          </a:p>
          <a:p>
            <a:pPr marL="285750" indent="-285750">
              <a:buFontTx/>
              <a:buChar char="-"/>
            </a:pPr>
            <a:r>
              <a:rPr lang="en-CA" sz="1600" dirty="0">
                <a:solidFill>
                  <a:schemeClr val="tx1"/>
                </a:solidFill>
              </a:rPr>
              <a:t>Destructors: </a:t>
            </a:r>
            <a:br>
              <a:rPr lang="en-CA" sz="1600" dirty="0">
                <a:solidFill>
                  <a:schemeClr val="tx1"/>
                </a:solidFill>
              </a:rPr>
            </a:br>
            <a:r>
              <a:rPr lang="en-CA" sz="1600" dirty="0">
                <a:solidFill>
                  <a:schemeClr val="tx1"/>
                </a:solidFill>
              </a:rPr>
              <a:t>    Reverse inheritance order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DBEE86D-B767-9E01-9C12-A2E9891DFAD9}"/>
              </a:ext>
            </a:extLst>
          </p:cNvPr>
          <p:cNvSpPr/>
          <p:nvPr/>
        </p:nvSpPr>
        <p:spPr>
          <a:xfrm>
            <a:off x="2055224" y="4030124"/>
            <a:ext cx="1907177" cy="295327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193BAA6-75DC-A984-3D69-9FE4639C8551}"/>
              </a:ext>
            </a:extLst>
          </p:cNvPr>
          <p:cNvSpPr/>
          <p:nvPr/>
        </p:nvSpPr>
        <p:spPr>
          <a:xfrm>
            <a:off x="8887897" y="1120826"/>
            <a:ext cx="2433567" cy="41037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LEEx1b-MultiInh.cpp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94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2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6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9" grpId="0" animBg="1"/>
      <p:bldP spid="16" grpId="0" animBg="1"/>
      <p:bldP spid="2" grpId="0" animBg="1"/>
      <p:bldP spid="5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30" grpId="0" animBg="1"/>
      <p:bldP spid="34" grpId="0" animBg="1"/>
      <p:bldP spid="34" grpId="1" animBg="1"/>
      <p:bldP spid="34" grpId="2" animBg="1"/>
      <p:bldP spid="3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 Inheritance - Example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780452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Let’s study the behaviour of classes under Multiple Inheritance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/>
              <a:t>Inheritance list order</a:t>
            </a:r>
            <a:r>
              <a:rPr lang="en-CA" dirty="0"/>
              <a:t> affects the order of constructor invocation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22</a:t>
            </a:fld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D4670D-93BE-4F07-487A-132A07F9D20F}"/>
              </a:ext>
            </a:extLst>
          </p:cNvPr>
          <p:cNvSpPr txBox="1"/>
          <p:nvPr/>
        </p:nvSpPr>
        <p:spPr>
          <a:xfrm>
            <a:off x="1232794" y="2363047"/>
            <a:ext cx="3487251" cy="1446550"/>
          </a:xfrm>
          <a:prstGeom prst="rect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xChar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X(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c) :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xChar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ConX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~X() 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DesX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157C1C-2DC1-FAB6-28D7-10E0A27A2314}"/>
              </a:ext>
            </a:extLst>
          </p:cNvPr>
          <p:cNvSpPr/>
          <p:nvPr/>
        </p:nvSpPr>
        <p:spPr>
          <a:xfrm>
            <a:off x="8891008" y="2920259"/>
            <a:ext cx="699809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B</a:t>
            </a:r>
            <a:endParaRPr lang="en-US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FA4BEA-5CBF-F340-CE2C-A93098E8B79C}"/>
              </a:ext>
            </a:extLst>
          </p:cNvPr>
          <p:cNvSpPr/>
          <p:nvPr/>
        </p:nvSpPr>
        <p:spPr>
          <a:xfrm>
            <a:off x="8891009" y="2196984"/>
            <a:ext cx="699809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A</a:t>
            </a:r>
            <a:endParaRPr lang="en-US" b="1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9C1AB89-A64A-045F-2B34-6A1C2A423415}"/>
              </a:ext>
            </a:extLst>
          </p:cNvPr>
          <p:cNvSpPr/>
          <p:nvPr/>
        </p:nvSpPr>
        <p:spPr>
          <a:xfrm>
            <a:off x="9142770" y="2545347"/>
            <a:ext cx="196286" cy="127132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D140E8-EC98-D5D4-F97E-D7127C7E58B1}"/>
              </a:ext>
            </a:extLst>
          </p:cNvPr>
          <p:cNvCxnSpPr>
            <a:stCxn id="23" idx="3"/>
            <a:endCxn id="11" idx="0"/>
          </p:cNvCxnSpPr>
          <p:nvPr/>
        </p:nvCxnSpPr>
        <p:spPr>
          <a:xfrm>
            <a:off x="9240913" y="2672479"/>
            <a:ext cx="0" cy="24778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9CE409F-9336-D4CF-7924-EAB1F72C18DA}"/>
              </a:ext>
            </a:extLst>
          </p:cNvPr>
          <p:cNvSpPr txBox="1"/>
          <p:nvPr/>
        </p:nvSpPr>
        <p:spPr>
          <a:xfrm>
            <a:off x="4934986" y="4079961"/>
            <a:ext cx="2456415" cy="1107996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Client Code</a:t>
            </a:r>
          </a:p>
          <a:p>
            <a:endParaRPr lang="fr-FR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 </a:t>
            </a:r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Z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z1(‘z’, ‘b’,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8DBA48-D1A3-FB23-5710-7A8A838E4112}"/>
              </a:ext>
            </a:extLst>
          </p:cNvPr>
          <p:cNvSpPr/>
          <p:nvPr/>
        </p:nvSpPr>
        <p:spPr>
          <a:xfrm>
            <a:off x="7307770" y="4350338"/>
            <a:ext cx="714103" cy="1495658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 err="1">
                <a:latin typeface="Courier"/>
              </a:rPr>
              <a:t>ConY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ConX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ConZ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DesZ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DesX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DesY</a:t>
            </a:r>
            <a:endParaRPr lang="en-US" sz="1400" b="1" dirty="0">
              <a:latin typeface="Courie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71031D-D823-AE22-3011-07E458CB7930}"/>
              </a:ext>
            </a:extLst>
          </p:cNvPr>
          <p:cNvSpPr/>
          <p:nvPr/>
        </p:nvSpPr>
        <p:spPr>
          <a:xfrm>
            <a:off x="8887897" y="3643782"/>
            <a:ext cx="699809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C</a:t>
            </a:r>
            <a:endParaRPr lang="en-US" b="1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55FF8CA7-AF32-3A1C-90CF-8D8A38764F45}"/>
              </a:ext>
            </a:extLst>
          </p:cNvPr>
          <p:cNvSpPr/>
          <p:nvPr/>
        </p:nvSpPr>
        <p:spPr>
          <a:xfrm>
            <a:off x="9139659" y="3268870"/>
            <a:ext cx="196286" cy="127132"/>
          </a:xfrm>
          <a:prstGeom prst="triangle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37CED-D8EF-3D61-C5A4-5D7DFE2AA759}"/>
              </a:ext>
            </a:extLst>
          </p:cNvPr>
          <p:cNvCxnSpPr>
            <a:cxnSpLocks/>
            <a:stCxn id="14" idx="3"/>
            <a:endCxn id="12" idx="0"/>
          </p:cNvCxnSpPr>
          <p:nvPr/>
        </p:nvCxnSpPr>
        <p:spPr>
          <a:xfrm>
            <a:off x="9237802" y="3396002"/>
            <a:ext cx="0" cy="24778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93BCF7C2-4C8D-D8B5-61F4-E5741BFC7C49}"/>
              </a:ext>
            </a:extLst>
          </p:cNvPr>
          <p:cNvSpPr/>
          <p:nvPr/>
        </p:nvSpPr>
        <p:spPr>
          <a:xfrm>
            <a:off x="5243301" y="5307531"/>
            <a:ext cx="1883498" cy="399275"/>
          </a:xfrm>
          <a:prstGeom prst="wedgeRectCallout">
            <a:avLst>
              <a:gd name="adj1" fmla="val -11361"/>
              <a:gd name="adj2" fmla="val -9714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What’s the Output?</a:t>
            </a:r>
            <a:endParaRPr lang="en-CA" sz="16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A48A7F-8739-C918-16D8-628EA6F36B3C}"/>
              </a:ext>
            </a:extLst>
          </p:cNvPr>
          <p:cNvSpPr txBox="1"/>
          <p:nvPr/>
        </p:nvSpPr>
        <p:spPr>
          <a:xfrm>
            <a:off x="4934986" y="2357963"/>
            <a:ext cx="3487251" cy="144655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yChar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Y(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c) :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yChar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ConY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~Y() 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DesY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F3631F-58B3-F4D4-14F8-9E337546BDE5}"/>
              </a:ext>
            </a:extLst>
          </p:cNvPr>
          <p:cNvSpPr txBox="1"/>
          <p:nvPr/>
        </p:nvSpPr>
        <p:spPr>
          <a:xfrm>
            <a:off x="1232793" y="4055921"/>
            <a:ext cx="3487251" cy="1615827"/>
          </a:xfrm>
          <a:prstGeom prst="rect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public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Y,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public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Z(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cx,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cy,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iz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b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: X(cx), Y(cy),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iz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ConZ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~X() 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DesZ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031DB0-D4F6-A2EC-C32F-CB457F10F2D6}"/>
              </a:ext>
            </a:extLst>
          </p:cNvPr>
          <p:cNvSpPr/>
          <p:nvPr/>
        </p:nvSpPr>
        <p:spPr>
          <a:xfrm>
            <a:off x="9746504" y="2630306"/>
            <a:ext cx="699809" cy="332126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X</a:t>
            </a:r>
            <a:endParaRPr lang="en-US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169E7C-ACA8-D0EE-E14A-BE4989DEFC69}"/>
              </a:ext>
            </a:extLst>
          </p:cNvPr>
          <p:cNvSpPr/>
          <p:nvPr/>
        </p:nvSpPr>
        <p:spPr>
          <a:xfrm>
            <a:off x="10654454" y="2626718"/>
            <a:ext cx="699809" cy="33212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Y</a:t>
            </a:r>
            <a:endParaRPr lang="en-US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144EED-4D8A-2806-283B-FDA48D8AE32C}"/>
              </a:ext>
            </a:extLst>
          </p:cNvPr>
          <p:cNvSpPr/>
          <p:nvPr/>
        </p:nvSpPr>
        <p:spPr>
          <a:xfrm>
            <a:off x="10188330" y="3645223"/>
            <a:ext cx="699809" cy="3321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Z</a:t>
            </a:r>
            <a:endParaRPr lang="en-US" b="1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02325FDC-989E-CDE4-1B42-CB20DEBBFD16}"/>
              </a:ext>
            </a:extLst>
          </p:cNvPr>
          <p:cNvSpPr/>
          <p:nvPr/>
        </p:nvSpPr>
        <p:spPr>
          <a:xfrm>
            <a:off x="9999770" y="2972161"/>
            <a:ext cx="196286" cy="127132"/>
          </a:xfrm>
          <a:prstGeom prst="triangle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DB60237D-9752-A8F0-3240-718660070CD6}"/>
              </a:ext>
            </a:extLst>
          </p:cNvPr>
          <p:cNvSpPr/>
          <p:nvPr/>
        </p:nvSpPr>
        <p:spPr>
          <a:xfrm>
            <a:off x="10906679" y="2968573"/>
            <a:ext cx="196286" cy="127132"/>
          </a:xfrm>
          <a:prstGeom prst="triangle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0DD5EE94-B2AF-5FDD-6649-186EA9DD47BA}"/>
              </a:ext>
            </a:extLst>
          </p:cNvPr>
          <p:cNvCxnSpPr>
            <a:stCxn id="21" idx="3"/>
            <a:endCxn id="20" idx="0"/>
          </p:cNvCxnSpPr>
          <p:nvPr/>
        </p:nvCxnSpPr>
        <p:spPr>
          <a:xfrm rot="16200000" flipH="1">
            <a:off x="10045109" y="3152097"/>
            <a:ext cx="545930" cy="440322"/>
          </a:xfrm>
          <a:prstGeom prst="bentConnector3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2162D03A-CC12-52D4-2997-F4A58353D86B}"/>
              </a:ext>
            </a:extLst>
          </p:cNvPr>
          <p:cNvCxnSpPr>
            <a:cxnSpLocks/>
            <a:stCxn id="22" idx="3"/>
            <a:endCxn id="20" idx="0"/>
          </p:cNvCxnSpPr>
          <p:nvPr/>
        </p:nvCxnSpPr>
        <p:spPr>
          <a:xfrm rot="5400000">
            <a:off x="10496770" y="3137171"/>
            <a:ext cx="549518" cy="466587"/>
          </a:xfrm>
          <a:prstGeom prst="bentConnector3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peech Bubble: Rectangle 29">
            <a:extLst>
              <a:ext uri="{FF2B5EF4-FFF2-40B4-BE49-F238E27FC236}">
                <a16:creationId xmlns:a16="http://schemas.microsoft.com/office/drawing/2014/main" id="{F7F1D3AB-6339-0032-7EA8-8F6ABC3AF8CE}"/>
              </a:ext>
            </a:extLst>
          </p:cNvPr>
          <p:cNvSpPr/>
          <p:nvPr/>
        </p:nvSpPr>
        <p:spPr>
          <a:xfrm>
            <a:off x="8313879" y="4417442"/>
            <a:ext cx="2898618" cy="1444679"/>
          </a:xfrm>
          <a:prstGeom prst="wedgeRectCallout">
            <a:avLst>
              <a:gd name="adj1" fmla="val -62436"/>
              <a:gd name="adj2" fmla="val -2601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u="sng" dirty="0">
                <a:solidFill>
                  <a:schemeClr val="tx1"/>
                </a:solidFill>
              </a:rPr>
              <a:t>Order of Execution</a:t>
            </a:r>
          </a:p>
          <a:p>
            <a:pPr marL="285750" indent="-285750">
              <a:buFontTx/>
              <a:buChar char="-"/>
            </a:pPr>
            <a:r>
              <a:rPr lang="en-CA" sz="1600" dirty="0">
                <a:solidFill>
                  <a:schemeClr val="tx1"/>
                </a:solidFill>
              </a:rPr>
              <a:t>Constructors: </a:t>
            </a:r>
            <a:br>
              <a:rPr lang="en-CA" sz="1600" dirty="0">
                <a:solidFill>
                  <a:schemeClr val="tx1"/>
                </a:solidFill>
              </a:rPr>
            </a:br>
            <a:r>
              <a:rPr lang="en-CA" sz="1600" dirty="0">
                <a:solidFill>
                  <a:schemeClr val="tx1"/>
                </a:solidFill>
              </a:rPr>
              <a:t>    Forward inheritance order</a:t>
            </a:r>
          </a:p>
          <a:p>
            <a:pPr marL="285750" indent="-285750">
              <a:buFontTx/>
              <a:buChar char="-"/>
            </a:pPr>
            <a:r>
              <a:rPr lang="en-CA" sz="1600" dirty="0">
                <a:solidFill>
                  <a:schemeClr val="tx1"/>
                </a:solidFill>
              </a:rPr>
              <a:t>Destructors: </a:t>
            </a:r>
            <a:br>
              <a:rPr lang="en-CA" sz="1600" dirty="0">
                <a:solidFill>
                  <a:schemeClr val="tx1"/>
                </a:solidFill>
              </a:rPr>
            </a:br>
            <a:r>
              <a:rPr lang="en-CA" sz="1600" dirty="0">
                <a:solidFill>
                  <a:schemeClr val="tx1"/>
                </a:solidFill>
              </a:rPr>
              <a:t>    Reverse inheritance order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9E770B-AF6A-37E9-7DA0-9427AA29FAB8}"/>
              </a:ext>
            </a:extLst>
          </p:cNvPr>
          <p:cNvSpPr/>
          <p:nvPr/>
        </p:nvSpPr>
        <p:spPr>
          <a:xfrm>
            <a:off x="2112183" y="4009661"/>
            <a:ext cx="1898469" cy="33212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845774-C56C-F509-832B-C36BCD6DDC06}"/>
              </a:ext>
            </a:extLst>
          </p:cNvPr>
          <p:cNvSpPr txBox="1"/>
          <p:nvPr/>
        </p:nvSpPr>
        <p:spPr>
          <a:xfrm>
            <a:off x="3264032" y="4311832"/>
            <a:ext cx="127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REVERSED!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31F5785-BDAC-743B-9FE8-B1C2ABEB4274}"/>
              </a:ext>
            </a:extLst>
          </p:cNvPr>
          <p:cNvSpPr/>
          <p:nvPr/>
        </p:nvSpPr>
        <p:spPr>
          <a:xfrm>
            <a:off x="8887897" y="1120826"/>
            <a:ext cx="2433567" cy="41037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LEEx1c-MultiInhR.cpp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322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  <p:bldP spid="30" grpId="0" animBg="1"/>
      <p:bldP spid="30" grpId="1" animBg="1"/>
      <p:bldP spid="30" grpId="2" animBg="1"/>
      <p:bldP spid="24" grpId="0" animBg="1"/>
      <p:bldP spid="28" grpId="0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 Inheritance - Example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780452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Let’s study the behaviour of classes under Multiple Inheritance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Finally, consider the great-grandchild class MI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23</a:t>
            </a:fld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D4670D-93BE-4F07-487A-132A07F9D20F}"/>
              </a:ext>
            </a:extLst>
          </p:cNvPr>
          <p:cNvSpPr txBox="1"/>
          <p:nvPr/>
        </p:nvSpPr>
        <p:spPr>
          <a:xfrm>
            <a:off x="1279929" y="2444016"/>
            <a:ext cx="5326316" cy="1615827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miStr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MI(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nb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cx,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cy,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nz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: C(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nb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s), Z(cx, cy,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nz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ConMI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~MI() 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DesMI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157C1C-2DC1-FAB6-28D7-10E0A27A2314}"/>
              </a:ext>
            </a:extLst>
          </p:cNvPr>
          <p:cNvSpPr/>
          <p:nvPr/>
        </p:nvSpPr>
        <p:spPr>
          <a:xfrm>
            <a:off x="8891008" y="2920259"/>
            <a:ext cx="699809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B</a:t>
            </a:r>
            <a:endParaRPr lang="en-US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FA4BEA-5CBF-F340-CE2C-A93098E8B79C}"/>
              </a:ext>
            </a:extLst>
          </p:cNvPr>
          <p:cNvSpPr/>
          <p:nvPr/>
        </p:nvSpPr>
        <p:spPr>
          <a:xfrm>
            <a:off x="8891009" y="2196984"/>
            <a:ext cx="699809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A</a:t>
            </a:r>
            <a:endParaRPr lang="en-US" b="1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9C1AB89-A64A-045F-2B34-6A1C2A423415}"/>
              </a:ext>
            </a:extLst>
          </p:cNvPr>
          <p:cNvSpPr/>
          <p:nvPr/>
        </p:nvSpPr>
        <p:spPr>
          <a:xfrm>
            <a:off x="9142770" y="2545347"/>
            <a:ext cx="196286" cy="127132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D140E8-EC98-D5D4-F97E-D7127C7E58B1}"/>
              </a:ext>
            </a:extLst>
          </p:cNvPr>
          <p:cNvCxnSpPr>
            <a:stCxn id="23" idx="3"/>
            <a:endCxn id="11" idx="0"/>
          </p:cNvCxnSpPr>
          <p:nvPr/>
        </p:nvCxnSpPr>
        <p:spPr>
          <a:xfrm>
            <a:off x="9240913" y="2672479"/>
            <a:ext cx="0" cy="24778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9CE409F-9336-D4CF-7924-EAB1F72C18DA}"/>
              </a:ext>
            </a:extLst>
          </p:cNvPr>
          <p:cNvSpPr txBox="1"/>
          <p:nvPr/>
        </p:nvSpPr>
        <p:spPr>
          <a:xfrm>
            <a:off x="2139165" y="4350208"/>
            <a:ext cx="3303692" cy="1107996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Client Code</a:t>
            </a:r>
          </a:p>
          <a:p>
            <a:endParaRPr lang="fr-FR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 </a:t>
            </a:r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fr-FR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MI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mi1(2, 4,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“Hi”,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‘r’, ‘g’, 92);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8DBA48-D1A3-FB23-5710-7A8A838E4112}"/>
              </a:ext>
            </a:extLst>
          </p:cNvPr>
          <p:cNvSpPr/>
          <p:nvPr/>
        </p:nvSpPr>
        <p:spPr>
          <a:xfrm>
            <a:off x="7097934" y="2436165"/>
            <a:ext cx="813099" cy="3197531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 err="1">
                <a:latin typeface="Courier"/>
              </a:rPr>
              <a:t>ConA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ConB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ConC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ConX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ConY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ConZ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ConMI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DesMI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DesZ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DesY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DesX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DesC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DesB</a:t>
            </a:r>
            <a:endParaRPr lang="en-CA" sz="1400" b="1" dirty="0">
              <a:latin typeface="Courier"/>
            </a:endParaRPr>
          </a:p>
          <a:p>
            <a:r>
              <a:rPr lang="en-CA" sz="1400" b="1" dirty="0" err="1">
                <a:latin typeface="Courier"/>
              </a:rPr>
              <a:t>DesA</a:t>
            </a:r>
            <a:endParaRPr lang="en-US" sz="1400" b="1" dirty="0">
              <a:latin typeface="Courie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71031D-D823-AE22-3011-07E458CB7930}"/>
              </a:ext>
            </a:extLst>
          </p:cNvPr>
          <p:cNvSpPr/>
          <p:nvPr/>
        </p:nvSpPr>
        <p:spPr>
          <a:xfrm>
            <a:off x="8887897" y="3643782"/>
            <a:ext cx="699809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C</a:t>
            </a:r>
            <a:endParaRPr lang="en-US" b="1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55FF8CA7-AF32-3A1C-90CF-8D8A38764F45}"/>
              </a:ext>
            </a:extLst>
          </p:cNvPr>
          <p:cNvSpPr/>
          <p:nvPr/>
        </p:nvSpPr>
        <p:spPr>
          <a:xfrm>
            <a:off x="9139659" y="3268870"/>
            <a:ext cx="196286" cy="127132"/>
          </a:xfrm>
          <a:prstGeom prst="triangle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37CED-D8EF-3D61-C5A4-5D7DFE2AA759}"/>
              </a:ext>
            </a:extLst>
          </p:cNvPr>
          <p:cNvCxnSpPr>
            <a:cxnSpLocks/>
            <a:stCxn id="14" idx="3"/>
            <a:endCxn id="12" idx="0"/>
          </p:cNvCxnSpPr>
          <p:nvPr/>
        </p:nvCxnSpPr>
        <p:spPr>
          <a:xfrm>
            <a:off x="9237802" y="3396002"/>
            <a:ext cx="0" cy="24778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93BCF7C2-4C8D-D8B5-61F4-E5741BFC7C49}"/>
              </a:ext>
            </a:extLst>
          </p:cNvPr>
          <p:cNvSpPr/>
          <p:nvPr/>
        </p:nvSpPr>
        <p:spPr>
          <a:xfrm>
            <a:off x="4337610" y="5424974"/>
            <a:ext cx="1883498" cy="399275"/>
          </a:xfrm>
          <a:prstGeom prst="wedgeRectCallout">
            <a:avLst>
              <a:gd name="adj1" fmla="val -11361"/>
              <a:gd name="adj2" fmla="val -9714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What’s the Output?</a:t>
            </a:r>
            <a:endParaRPr lang="en-CA" sz="16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031DB0-D4F6-A2EC-C32F-CB457F10F2D6}"/>
              </a:ext>
            </a:extLst>
          </p:cNvPr>
          <p:cNvSpPr/>
          <p:nvPr/>
        </p:nvSpPr>
        <p:spPr>
          <a:xfrm>
            <a:off x="9746504" y="2630306"/>
            <a:ext cx="699809" cy="332126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X</a:t>
            </a:r>
            <a:endParaRPr lang="en-US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169E7C-ACA8-D0EE-E14A-BE4989DEFC69}"/>
              </a:ext>
            </a:extLst>
          </p:cNvPr>
          <p:cNvSpPr/>
          <p:nvPr/>
        </p:nvSpPr>
        <p:spPr>
          <a:xfrm>
            <a:off x="10654454" y="2626718"/>
            <a:ext cx="699809" cy="33212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Y</a:t>
            </a:r>
            <a:endParaRPr lang="en-US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144EED-4D8A-2806-283B-FDA48D8AE32C}"/>
              </a:ext>
            </a:extLst>
          </p:cNvPr>
          <p:cNvSpPr/>
          <p:nvPr/>
        </p:nvSpPr>
        <p:spPr>
          <a:xfrm>
            <a:off x="10188330" y="3645223"/>
            <a:ext cx="699809" cy="3321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Z</a:t>
            </a:r>
            <a:endParaRPr lang="en-US" b="1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02325FDC-989E-CDE4-1B42-CB20DEBBFD16}"/>
              </a:ext>
            </a:extLst>
          </p:cNvPr>
          <p:cNvSpPr/>
          <p:nvPr/>
        </p:nvSpPr>
        <p:spPr>
          <a:xfrm>
            <a:off x="9999770" y="2972161"/>
            <a:ext cx="196286" cy="127132"/>
          </a:xfrm>
          <a:prstGeom prst="triangle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DB60237D-9752-A8F0-3240-718660070CD6}"/>
              </a:ext>
            </a:extLst>
          </p:cNvPr>
          <p:cNvSpPr/>
          <p:nvPr/>
        </p:nvSpPr>
        <p:spPr>
          <a:xfrm>
            <a:off x="10906679" y="2968573"/>
            <a:ext cx="196286" cy="127132"/>
          </a:xfrm>
          <a:prstGeom prst="triangle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0DD5EE94-B2AF-5FDD-6649-186EA9DD47BA}"/>
              </a:ext>
            </a:extLst>
          </p:cNvPr>
          <p:cNvCxnSpPr>
            <a:stCxn id="21" idx="3"/>
            <a:endCxn id="20" idx="0"/>
          </p:cNvCxnSpPr>
          <p:nvPr/>
        </p:nvCxnSpPr>
        <p:spPr>
          <a:xfrm rot="16200000" flipH="1">
            <a:off x="10045109" y="3152097"/>
            <a:ext cx="545930" cy="440322"/>
          </a:xfrm>
          <a:prstGeom prst="bentConnector3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2162D03A-CC12-52D4-2997-F4A58353D86B}"/>
              </a:ext>
            </a:extLst>
          </p:cNvPr>
          <p:cNvCxnSpPr>
            <a:cxnSpLocks/>
            <a:stCxn id="22" idx="3"/>
            <a:endCxn id="20" idx="0"/>
          </p:cNvCxnSpPr>
          <p:nvPr/>
        </p:nvCxnSpPr>
        <p:spPr>
          <a:xfrm rot="5400000">
            <a:off x="10496770" y="3137171"/>
            <a:ext cx="549518" cy="466587"/>
          </a:xfrm>
          <a:prstGeom prst="bentConnector3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ABF2932A-8EAF-2A47-A728-C6FA25A2F2CA}"/>
              </a:ext>
            </a:extLst>
          </p:cNvPr>
          <p:cNvSpPr/>
          <p:nvPr/>
        </p:nvSpPr>
        <p:spPr>
          <a:xfrm>
            <a:off x="9506870" y="4737598"/>
            <a:ext cx="699809" cy="3321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M</a:t>
            </a:r>
            <a:endParaRPr lang="en-US" b="1" dirty="0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99A30D4A-B91A-4224-E7D0-D36F84C087B1}"/>
              </a:ext>
            </a:extLst>
          </p:cNvPr>
          <p:cNvSpPr/>
          <p:nvPr/>
        </p:nvSpPr>
        <p:spPr>
          <a:xfrm>
            <a:off x="9115218" y="3971365"/>
            <a:ext cx="196286" cy="127132"/>
          </a:xfrm>
          <a:prstGeom prst="triangle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93E2B132-5B04-2DDB-3454-BDA0AEE1D48C}"/>
              </a:ext>
            </a:extLst>
          </p:cNvPr>
          <p:cNvSpPr/>
          <p:nvPr/>
        </p:nvSpPr>
        <p:spPr>
          <a:xfrm>
            <a:off x="10431414" y="3983060"/>
            <a:ext cx="196286" cy="127132"/>
          </a:xfrm>
          <a:prstGeom prst="triangle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10CB9AA7-C3F0-3C08-A1CE-692581021489}"/>
              </a:ext>
            </a:extLst>
          </p:cNvPr>
          <p:cNvCxnSpPr>
            <a:cxnSpLocks/>
            <a:stCxn id="31" idx="3"/>
            <a:endCxn id="29" idx="0"/>
          </p:cNvCxnSpPr>
          <p:nvPr/>
        </p:nvCxnSpPr>
        <p:spPr>
          <a:xfrm rot="16200000" flipH="1">
            <a:off x="9215518" y="4096340"/>
            <a:ext cx="639101" cy="643414"/>
          </a:xfrm>
          <a:prstGeom prst="bentConnector3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1F107C6D-E5BE-776E-A654-2EFBFB458471}"/>
              </a:ext>
            </a:extLst>
          </p:cNvPr>
          <p:cNvCxnSpPr>
            <a:cxnSpLocks/>
            <a:stCxn id="32" idx="3"/>
            <a:endCxn id="29" idx="0"/>
          </p:cNvCxnSpPr>
          <p:nvPr/>
        </p:nvCxnSpPr>
        <p:spPr>
          <a:xfrm rot="5400000">
            <a:off x="9879463" y="4087504"/>
            <a:ext cx="627406" cy="672782"/>
          </a:xfrm>
          <a:prstGeom prst="bentConnector3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7BDB09C-A428-239C-51F7-3E281F0B7104}"/>
              </a:ext>
            </a:extLst>
          </p:cNvPr>
          <p:cNvSpPr/>
          <p:nvPr/>
        </p:nvSpPr>
        <p:spPr>
          <a:xfrm>
            <a:off x="8887897" y="1120826"/>
            <a:ext cx="2433567" cy="41037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LEEx1d-MultiInhF.cpp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453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9" grpId="0" animBg="1"/>
      <p:bldP spid="16" grpId="0" animBg="1"/>
      <p:bldP spid="29" grpId="0" animBg="1"/>
      <p:bldP spid="31" grpId="0" animBg="1"/>
      <p:bldP spid="32" grpId="0" animBg="1"/>
      <p:bldP spid="3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Advanced Topic:</a:t>
            </a:r>
            <a:b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</a:br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C++ Template Class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Conceptual Introduction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279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379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STL Collections of Useful Classes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379839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C++ includes implementations of popular data-collection classes in the </a:t>
            </a:r>
            <a:r>
              <a:rPr lang="en-CA" sz="2200" b="1" dirty="0"/>
              <a:t>Standard Template Library (STL)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Some examples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vector&lt;E&gt;</a:t>
            </a:r>
            <a:r>
              <a:rPr lang="en-CA" dirty="0"/>
              <a:t>	Simple collection – a group of objects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map&lt;K,V&gt;</a:t>
            </a:r>
            <a:r>
              <a:rPr lang="en-CA" dirty="0"/>
              <a:t>	Paired collection – each value has a mapped key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set&lt;E&gt;</a:t>
            </a:r>
            <a:r>
              <a:rPr lang="en-CA" dirty="0"/>
              <a:t>		A collection with no duplicates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list&lt;E&gt;</a:t>
            </a:r>
            <a:r>
              <a:rPr lang="en-CA" dirty="0"/>
              <a:t>		A continuous and orderly collection – every element has a position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Part I of COE2SI3 is to study the implementations and performances of some of them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25</a:t>
            </a:fld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3A5FB7-0825-6231-B374-C9376AEF2D7B}"/>
              </a:ext>
            </a:extLst>
          </p:cNvPr>
          <p:cNvSpPr txBox="1"/>
          <p:nvPr/>
        </p:nvSpPr>
        <p:spPr>
          <a:xfrm>
            <a:off x="2895968" y="4876700"/>
            <a:ext cx="2373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list&lt;E&gt;</a:t>
            </a:r>
            <a:endParaRPr lang="en-US" sz="2800" b="1" dirty="0"/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20FBDBFF-2B7C-CBF0-C4DF-79714E90D491}"/>
              </a:ext>
            </a:extLst>
          </p:cNvPr>
          <p:cNvSpPr/>
          <p:nvPr/>
        </p:nvSpPr>
        <p:spPr>
          <a:xfrm>
            <a:off x="5269713" y="5017832"/>
            <a:ext cx="1947907" cy="553061"/>
          </a:xfrm>
          <a:prstGeom prst="wedgeRectCallout">
            <a:avLst>
              <a:gd name="adj1" fmla="val -76116"/>
              <a:gd name="adj2" fmla="val -24983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What is this &lt;&gt;?</a:t>
            </a:r>
          </a:p>
        </p:txBody>
      </p:sp>
    </p:spTree>
    <p:extLst>
      <p:ext uri="{BB962C8B-B14F-4D97-AF65-F5344CB8AC3E}">
        <p14:creationId xmlns:p14="http://schemas.microsoft.com/office/powerpoint/2010/main" val="181566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35626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Templates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20981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C++ allows us to develop code blocks with </a:t>
            </a:r>
            <a:r>
              <a:rPr lang="en-CA" sz="2200" b="1" dirty="0"/>
              <a:t>&lt;Placeholder Data Type&gt;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Applicable to both </a:t>
            </a:r>
            <a:r>
              <a:rPr lang="en-CA" b="1" dirty="0"/>
              <a:t>Functions</a:t>
            </a:r>
            <a:r>
              <a:rPr lang="en-CA" dirty="0"/>
              <a:t> and </a:t>
            </a:r>
            <a:r>
              <a:rPr lang="en-CA" b="1" dirty="0"/>
              <a:t>Classes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These are then Function Templates and Class Templates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 single generic definition of function / class can be written first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The design may be applicable to multiple data types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Then, depending on the application purposes in the code design, we can then specify in the client code the specific data type to be applied to the generic template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Compiler is going to do the magic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Programmers can then write the code once instead of duplicating it for different data types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26</a:t>
            </a:fld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7D3B2F-7DB9-797A-6F9B-3F8C0589D6F1}"/>
              </a:ext>
            </a:extLst>
          </p:cNvPr>
          <p:cNvSpPr txBox="1"/>
          <p:nvPr/>
        </p:nvSpPr>
        <p:spPr>
          <a:xfrm>
            <a:off x="985930" y="4534146"/>
            <a:ext cx="2794744" cy="1046440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 Function Template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template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add(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num1,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num2 )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3  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(num1 + num2);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4  }	</a:t>
            </a: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72B83F-3447-85B9-370C-11770E7BDB51}"/>
              </a:ext>
            </a:extLst>
          </p:cNvPr>
          <p:cNvSpPr txBox="1"/>
          <p:nvPr/>
        </p:nvSpPr>
        <p:spPr>
          <a:xfrm>
            <a:off x="3712274" y="4786531"/>
            <a:ext cx="3824599" cy="1015663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Client Code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2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res1 = add&lt;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&gt;(2, 3);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3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res1 = add&lt;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&gt;(2.1, 3.5);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4  }	</a:t>
            </a: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EA5D80-39BA-1C6C-7110-24343657B787}"/>
              </a:ext>
            </a:extLst>
          </p:cNvPr>
          <p:cNvSpPr txBox="1"/>
          <p:nvPr/>
        </p:nvSpPr>
        <p:spPr>
          <a:xfrm>
            <a:off x="7146614" y="4522757"/>
            <a:ext cx="3330686" cy="646331"/>
          </a:xfrm>
          <a:prstGeom prst="rect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add(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num1,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num2 )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2  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(num1 + num2);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3  }	</a:t>
            </a: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B43725-3D6F-027D-7C71-71EE0043EE76}"/>
              </a:ext>
            </a:extLst>
          </p:cNvPr>
          <p:cNvSpPr txBox="1"/>
          <p:nvPr/>
        </p:nvSpPr>
        <p:spPr>
          <a:xfrm>
            <a:off x="7391348" y="5312052"/>
            <a:ext cx="3897907" cy="646331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add(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num1,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num2 )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2  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(num1 + num2);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3  }	</a:t>
            </a: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F7B6EC6-2C57-8BA4-31D7-254FF38F1637}"/>
              </a:ext>
            </a:extLst>
          </p:cNvPr>
          <p:cNvSpPr/>
          <p:nvPr/>
        </p:nvSpPr>
        <p:spPr>
          <a:xfrm>
            <a:off x="5972621" y="4641566"/>
            <a:ext cx="1089891" cy="355013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= int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3129797-0107-B1D8-4B5A-8A92D92F9179}"/>
              </a:ext>
            </a:extLst>
          </p:cNvPr>
          <p:cNvSpPr/>
          <p:nvPr/>
        </p:nvSpPr>
        <p:spPr>
          <a:xfrm>
            <a:off x="5624573" y="5608544"/>
            <a:ext cx="1437939" cy="336283"/>
          </a:xfrm>
          <a:prstGeom prst="round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= float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DAE3F186-1B82-C9ED-9386-91400AC845AB}"/>
              </a:ext>
            </a:extLst>
          </p:cNvPr>
          <p:cNvSpPr/>
          <p:nvPr/>
        </p:nvSpPr>
        <p:spPr>
          <a:xfrm>
            <a:off x="7880668" y="2211997"/>
            <a:ext cx="3161800" cy="725167"/>
          </a:xfrm>
          <a:prstGeom prst="wedgeRectCallout">
            <a:avLst>
              <a:gd name="adj1" fmla="val -47582"/>
              <a:gd name="adj2" fmla="val 8414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For coding convenience only</a:t>
            </a:r>
          </a:p>
          <a:p>
            <a:pPr algn="ctr"/>
            <a:r>
              <a:rPr lang="en-CA" b="1" dirty="0">
                <a:solidFill>
                  <a:schemeClr val="tx1"/>
                </a:solidFill>
              </a:rPr>
              <a:t>No functional differences!</a:t>
            </a:r>
          </a:p>
        </p:txBody>
      </p:sp>
    </p:spTree>
    <p:extLst>
      <p:ext uri="{BB962C8B-B14F-4D97-AF65-F5344CB8AC3E}">
        <p14:creationId xmlns:p14="http://schemas.microsoft.com/office/powerpoint/2010/main" val="132070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35626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Templates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37983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 Class Template:  A generic type for a pair of objects of type K and 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1600" b="1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27</a:t>
            </a:fld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6A6935-E52A-AA2D-832D-A6974F4D4F8C}"/>
              </a:ext>
            </a:extLst>
          </p:cNvPr>
          <p:cNvSpPr txBox="1"/>
          <p:nvPr/>
        </p:nvSpPr>
        <p:spPr>
          <a:xfrm>
            <a:off x="1335168" y="2007873"/>
            <a:ext cx="4687407" cy="3816429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 Class Template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template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class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Pair{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3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4     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key;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5     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value;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6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7      Pair(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v)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8        { key = k; value = v;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9     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getKey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key;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10    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getValue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value;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11     std::string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12       std::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ostringstream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s;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look it up!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13       s &lt;&lt; “[” &lt;&lt; key &lt;&lt; “,” &lt;&lt; value &lt;&lt; “]”;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14   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s.str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15 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16  };	</a:t>
            </a: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F97D4B2A-5648-6D02-F6AD-F1D04FEF5CDE}"/>
              </a:ext>
            </a:extLst>
          </p:cNvPr>
          <p:cNvSpPr/>
          <p:nvPr/>
        </p:nvSpPr>
        <p:spPr>
          <a:xfrm>
            <a:off x="4697173" y="5382212"/>
            <a:ext cx="1947907" cy="553061"/>
          </a:xfrm>
          <a:prstGeom prst="wedgeRectCallout">
            <a:avLst>
              <a:gd name="adj1" fmla="val -76590"/>
              <a:gd name="adj2" fmla="val -6339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K and V are </a:t>
            </a:r>
            <a:br>
              <a:rPr lang="en-CA" b="1" dirty="0">
                <a:solidFill>
                  <a:schemeClr val="tx1"/>
                </a:solidFill>
              </a:rPr>
            </a:br>
            <a:r>
              <a:rPr lang="en-CA" b="1" dirty="0">
                <a:solidFill>
                  <a:schemeClr val="tx1"/>
                </a:solidFill>
              </a:rPr>
              <a:t>type parameters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5D9FAD-4DFD-3EB7-BD18-9F6CFCD33BDE}"/>
              </a:ext>
            </a:extLst>
          </p:cNvPr>
          <p:cNvSpPr txBox="1"/>
          <p:nvPr/>
        </p:nvSpPr>
        <p:spPr>
          <a:xfrm>
            <a:off x="6273832" y="2311154"/>
            <a:ext cx="4687407" cy="1938992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Client Code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2    Pair&lt;std::string,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p1(“height”, 36);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3    Pair&lt;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p2(22574, 145);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4    Pair&lt;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p1(1.336, ‘f’);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5    std::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p1.toString() &lt;&lt; std::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6    std::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p2.toString() &lt;&lt; std::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7    std::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p3.toString() &lt;&lt; std::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8  }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3FBE0BE-E821-56FF-4E09-6FF94D5E9BFB}"/>
              </a:ext>
            </a:extLst>
          </p:cNvPr>
          <p:cNvSpPr/>
          <p:nvPr/>
        </p:nvSpPr>
        <p:spPr>
          <a:xfrm>
            <a:off x="7643581" y="4409233"/>
            <a:ext cx="1947907" cy="124951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[height,36]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[22574,145]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[1.336,f]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302C71-659B-9745-707F-DCFAD19E1CE4}"/>
              </a:ext>
            </a:extLst>
          </p:cNvPr>
          <p:cNvSpPr/>
          <p:nvPr/>
        </p:nvSpPr>
        <p:spPr>
          <a:xfrm>
            <a:off x="8441958" y="747836"/>
            <a:ext cx="2559417" cy="439741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LEEx2-Templates.cpp</a:t>
            </a:r>
          </a:p>
        </p:txBody>
      </p:sp>
    </p:spTree>
    <p:extLst>
      <p:ext uri="{BB962C8B-B14F-4D97-AF65-F5344CB8AC3E}">
        <p14:creationId xmlns:p14="http://schemas.microsoft.com/office/powerpoint/2010/main" val="341522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35626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Templates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37983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Can we make our </a:t>
            </a:r>
            <a:r>
              <a:rPr lang="en-CA" sz="2200" dirty="0" err="1"/>
              <a:t>intArrayList</a:t>
            </a:r>
            <a:r>
              <a:rPr lang="en-CA" sz="2200" dirty="0"/>
              <a:t> a template Array List then?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Let’s try it!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Doable, but with some gotchas </a:t>
            </a:r>
            <a:r>
              <a:rPr lang="en-CA" dirty="0">
                <a:sym typeface="Wingdings" panose="05000000000000000000" pitchFamily="2" charset="2"/>
              </a:rPr>
              <a:t></a:t>
            </a: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1600" b="1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28</a:t>
            </a:fld>
            <a:endParaRPr lang="en-CA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F24F1D-4179-706C-D8FD-7140EC494D95}"/>
              </a:ext>
            </a:extLst>
          </p:cNvPr>
          <p:cNvSpPr/>
          <p:nvPr/>
        </p:nvSpPr>
        <p:spPr>
          <a:xfrm>
            <a:off x="7874664" y="5195477"/>
            <a:ext cx="3337832" cy="439741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LEEx3-ArrayListTemplates.zip</a:t>
            </a:r>
          </a:p>
        </p:txBody>
      </p:sp>
    </p:spTree>
    <p:extLst>
      <p:ext uri="{BB962C8B-B14F-4D97-AF65-F5344CB8AC3E}">
        <p14:creationId xmlns:p14="http://schemas.microsoft.com/office/powerpoint/2010/main" val="42360621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6846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58922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OOD Procedures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Know your programming language + UML diagram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Multiple Inheritance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C++ Template Class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To be continued … in COMPENG 2SI3! </a:t>
            </a:r>
            <a:r>
              <a:rPr lang="en-CA" sz="2200" dirty="0">
                <a:sym typeface="Wingdings" panose="05000000000000000000" pitchFamily="2" charset="2"/>
              </a:rPr>
              <a:t></a:t>
            </a: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29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4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81a7929-897a-47d8-86e4-295cbaac542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96B8254AFCAF4D8F7A14A17E0A03F8" ma:contentTypeVersion="11" ma:contentTypeDescription="Create a new document." ma:contentTypeScope="" ma:versionID="a6baaaa90b230ae4ed45c1d21e243ef7">
  <xsd:schema xmlns:xsd="http://www.w3.org/2001/XMLSchema" xmlns:xs="http://www.w3.org/2001/XMLSchema" xmlns:p="http://schemas.microsoft.com/office/2006/metadata/properties" xmlns:ns2="481a7929-897a-47d8-86e4-295cbaac5427" targetNamespace="http://schemas.microsoft.com/office/2006/metadata/properties" ma:root="true" ma:fieldsID="52333de87c8e174db8e24be1e57c0d7d" ns2:_="">
    <xsd:import namespace="481a7929-897a-47d8-86e4-295cbaac54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1a7929-897a-47d8-86e4-295cbaac54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073764d-e844-48d8-8cbc-d63b9d9528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E7E0217-0424-4DFF-B309-A22C0C48B4EE}">
  <ds:schemaRefs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481a7929-897a-47d8-86e4-295cbaac542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17E6CD1-4EE3-426F-814D-DA7285C842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99869F-3CAE-45DD-86F4-EC1AC0126D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1a7929-897a-47d8-86e4-295cbaac54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59270</TotalTime>
  <Words>4200</Words>
  <Application>Microsoft Office PowerPoint</Application>
  <PresentationFormat>Widescreen</PresentationFormat>
  <Paragraphs>934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Courier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Advanced Topic: Multiple Inheritance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Advanced Topic: C++ Template Class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17 (Ending) - OOD Summary, Advanced Topics</dc:title>
  <dc:creator>Shahrukh Athar</dc:creator>
  <cp:lastModifiedBy>Shahrukh Athar</cp:lastModifiedBy>
  <cp:revision>785</cp:revision>
  <dcterms:created xsi:type="dcterms:W3CDTF">2018-10-02T00:35:18Z</dcterms:created>
  <dcterms:modified xsi:type="dcterms:W3CDTF">2024-12-29T18:46:38Z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0x0101000B96B8254AFCAF4D8F7A14A17E0A03F8</vt:lpwstr>
  </property>
</Properties>
</file>