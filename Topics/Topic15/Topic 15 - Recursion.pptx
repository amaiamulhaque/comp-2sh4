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4" r:id="rId3"/>
    <p:sldId id="270" r:id="rId4"/>
    <p:sldId id="297" r:id="rId5"/>
    <p:sldId id="539" r:id="rId6"/>
    <p:sldId id="540" r:id="rId7"/>
    <p:sldId id="541" r:id="rId8"/>
    <p:sldId id="542" r:id="rId9"/>
    <p:sldId id="543" r:id="rId10"/>
    <p:sldId id="544" r:id="rId11"/>
    <p:sldId id="545" r:id="rId12"/>
    <p:sldId id="546" r:id="rId13"/>
    <p:sldId id="275" r:id="rId14"/>
    <p:sldId id="276" r:id="rId15"/>
    <p:sldId id="277" r:id="rId16"/>
    <p:sldId id="547" r:id="rId17"/>
    <p:sldId id="548" r:id="rId18"/>
    <p:sldId id="377" r:id="rId19"/>
    <p:sldId id="31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F7CD6"/>
    <a:srgbClr val="7F1F1F"/>
    <a:srgbClr val="FFDDDD"/>
    <a:srgbClr val="FF7D7D"/>
    <a:srgbClr val="E8D9F3"/>
    <a:srgbClr val="E9EBF5"/>
    <a:srgbClr val="A870D2"/>
    <a:srgbClr val="EBF1E9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F8C59-6400-4A47-9B68-202DC97D1A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1F819-1106-4002-A3C7-00155340537F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121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1F819-1106-4002-A3C7-00155340537F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4453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1F819-1106-4002-A3C7-00155340537F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3609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4437486" y="2611819"/>
            <a:ext cx="33171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871506" y="1867574"/>
            <a:ext cx="4434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15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378FB8-FEFF-14BC-9D77-948D30E1904B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738BA-3E44-1C1A-B7F3-9F9C0B5A2E2A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only made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Call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Closer look at how function calls take place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How computers track the hierarchy of function calls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Recursion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What happens when a function calls itself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Understand how to analyze recursive function design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Call Stack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5DE399-D54F-EF1E-A8E8-535BB303BED2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15-1] Call Stack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Function Call Happens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29541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When a function is called…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input parameters are copied and “pushed” on to the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control halts at the function invocation statement in the invoker until function finishes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New: </a:t>
            </a:r>
            <a:r>
              <a:rPr lang="en-CA" dirty="0"/>
              <a:t>The “return location” from the function back to the invoker is also </a:t>
            </a:r>
            <a:r>
              <a:rPr lang="en-CA" b="1" i="1" dirty="0"/>
              <a:t>recorded on the stack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New: </a:t>
            </a:r>
            <a:r>
              <a:rPr lang="en-CA" dirty="0"/>
              <a:t>The return value from the function back to the invoker is also </a:t>
            </a:r>
            <a:r>
              <a:rPr lang="en-CA" b="1" i="1" dirty="0"/>
              <a:t>recorded on the stack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EEBA5-52E8-2F24-82DF-462C1FD7BF08}"/>
              </a:ext>
            </a:extLst>
          </p:cNvPr>
          <p:cNvSpPr txBox="1"/>
          <p:nvPr/>
        </p:nvSpPr>
        <p:spPr>
          <a:xfrm>
            <a:off x="2153651" y="4850674"/>
            <a:ext cx="3738192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(“Result: %d”, foo(11, 12));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2153651" y="3974183"/>
            <a:ext cx="3738192" cy="830997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fee(a, b) + a * b;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82ACB-AFFF-D0B6-1B07-541F41FD48B1}"/>
              </a:ext>
            </a:extLst>
          </p:cNvPr>
          <p:cNvSpPr txBox="1"/>
          <p:nvPr/>
        </p:nvSpPr>
        <p:spPr>
          <a:xfrm>
            <a:off x="2153651" y="3100225"/>
            <a:ext cx="3738192" cy="830997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fee(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 % 10 + b % 10;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4141358-A59E-AC5C-9BCC-BE9187DD8553}"/>
              </a:ext>
            </a:extLst>
          </p:cNvPr>
          <p:cNvSpPr/>
          <p:nvPr/>
        </p:nvSpPr>
        <p:spPr>
          <a:xfrm>
            <a:off x="4934309" y="4986069"/>
            <a:ext cx="267419" cy="265163"/>
          </a:xfrm>
          <a:prstGeom prst="down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</a:t>
            </a:r>
            <a:endParaRPr lang="en-CA" sz="1400" b="1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4344E1A-BF43-9817-9D98-3A0EBF9D4FC4}"/>
              </a:ext>
            </a:extLst>
          </p:cNvPr>
          <p:cNvSpPr/>
          <p:nvPr/>
        </p:nvSpPr>
        <p:spPr>
          <a:xfrm>
            <a:off x="3456316" y="4140130"/>
            <a:ext cx="267419" cy="265163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</a:t>
            </a:r>
            <a:endParaRPr lang="en-CA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F9A4C-E792-7552-DEF5-EE99BD1C311D}"/>
              </a:ext>
            </a:extLst>
          </p:cNvPr>
          <p:cNvSpPr/>
          <p:nvPr/>
        </p:nvSpPr>
        <p:spPr>
          <a:xfrm>
            <a:off x="7256029" y="3479783"/>
            <a:ext cx="2832943" cy="23551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FFFFF0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FFFFE0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FFFFDF</a:t>
            </a:r>
          </a:p>
          <a:p>
            <a:pPr algn="ctr"/>
            <a:r>
              <a:rPr lang="en-CA" sz="1200" b="1" dirty="0">
                <a:solidFill>
                  <a:srgbClr val="7F1F1F"/>
                </a:solidFill>
                <a:latin typeface="Courier"/>
              </a:rPr>
              <a:t>…</a:t>
            </a:r>
            <a:endParaRPr lang="en-US" sz="1200" b="1" dirty="0">
              <a:solidFill>
                <a:srgbClr val="7F1F1F"/>
              </a:solidFill>
              <a:latin typeface="Courier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DA88D2-81A0-839F-677B-9D7C26A3608F}"/>
              </a:ext>
            </a:extLst>
          </p:cNvPr>
          <p:cNvSpPr/>
          <p:nvPr/>
        </p:nvSpPr>
        <p:spPr>
          <a:xfrm>
            <a:off x="8350246" y="3603769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F59C90-89D2-E2EE-CA26-77D65D9ACFC5}"/>
              </a:ext>
            </a:extLst>
          </p:cNvPr>
          <p:cNvSpPr/>
          <p:nvPr/>
        </p:nvSpPr>
        <p:spPr>
          <a:xfrm>
            <a:off x="8350246" y="4025685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E3C315-DE26-DC9A-C2EE-213CB2410C3C}"/>
              </a:ext>
            </a:extLst>
          </p:cNvPr>
          <p:cNvSpPr/>
          <p:nvPr/>
        </p:nvSpPr>
        <p:spPr>
          <a:xfrm>
            <a:off x="8359389" y="4241398"/>
            <a:ext cx="1697047" cy="2172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 (a in foo())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F80E4-76ED-356E-91BB-512E629ABF23}"/>
              </a:ext>
            </a:extLst>
          </p:cNvPr>
          <p:cNvSpPr txBox="1"/>
          <p:nvPr/>
        </p:nvSpPr>
        <p:spPr>
          <a:xfrm>
            <a:off x="7934312" y="3078244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tack / Auto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570AB4-4617-C882-50F0-03E7A8805EE3}"/>
              </a:ext>
            </a:extLst>
          </p:cNvPr>
          <p:cNvSpPr/>
          <p:nvPr/>
        </p:nvSpPr>
        <p:spPr>
          <a:xfrm>
            <a:off x="8347372" y="3816551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805C87-3B8A-A62B-4662-0256CCD9C9E0}"/>
              </a:ext>
            </a:extLst>
          </p:cNvPr>
          <p:cNvSpPr/>
          <p:nvPr/>
        </p:nvSpPr>
        <p:spPr>
          <a:xfrm>
            <a:off x="8365142" y="4454183"/>
            <a:ext cx="1697047" cy="2172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 (b in foo())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BF0CB0-D1F9-376B-BC75-8CB48AC26D89}"/>
              </a:ext>
            </a:extLst>
          </p:cNvPr>
          <p:cNvSpPr/>
          <p:nvPr/>
        </p:nvSpPr>
        <p:spPr>
          <a:xfrm>
            <a:off x="8359523" y="4675494"/>
            <a:ext cx="1697047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24A743E-05AF-DAF3-D98C-D460C4AD0E3D}"/>
              </a:ext>
            </a:extLst>
          </p:cNvPr>
          <p:cNvSpPr/>
          <p:nvPr/>
        </p:nvSpPr>
        <p:spPr>
          <a:xfrm>
            <a:off x="8356647" y="4888277"/>
            <a:ext cx="1697047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1"/>
                </a:solidFill>
                <a:latin typeface="Courier"/>
              </a:rPr>
              <a:t>return</a:t>
            </a:r>
            <a:r>
              <a:rPr lang="en-CA" sz="1400" b="1" dirty="0">
                <a:solidFill>
                  <a:schemeClr val="tx1"/>
                </a:solidFill>
              </a:rPr>
              <a:t> 3</a:t>
            </a: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90BA13-A339-3520-00C6-027E4D4ED30E}"/>
              </a:ext>
            </a:extLst>
          </p:cNvPr>
          <p:cNvSpPr txBox="1"/>
          <p:nvPr/>
        </p:nvSpPr>
        <p:spPr>
          <a:xfrm>
            <a:off x="10046028" y="3555592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a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EB62E6-3017-565B-A525-9771B0E732F5}"/>
              </a:ext>
            </a:extLst>
          </p:cNvPr>
          <p:cNvSpPr txBox="1"/>
          <p:nvPr/>
        </p:nvSpPr>
        <p:spPr>
          <a:xfrm>
            <a:off x="10052124" y="3762856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b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FF5BF5-C179-60E6-DC45-345368DE6912}"/>
              </a:ext>
            </a:extLst>
          </p:cNvPr>
          <p:cNvSpPr txBox="1"/>
          <p:nvPr/>
        </p:nvSpPr>
        <p:spPr>
          <a:xfrm>
            <a:off x="10048924" y="4192512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6"/>
                </a:solidFill>
              </a:rPr>
              <a:t>a in fee()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2DEF31-B3CC-EFF7-BA40-BDE8BEF8B0B0}"/>
              </a:ext>
            </a:extLst>
          </p:cNvPr>
          <p:cNvSpPr txBox="1"/>
          <p:nvPr/>
        </p:nvSpPr>
        <p:spPr>
          <a:xfrm>
            <a:off x="10055020" y="4418064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6"/>
                </a:solidFill>
              </a:rPr>
              <a:t>b in fee()</a:t>
            </a:r>
            <a:endParaRPr lang="en-US" sz="1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22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 tmFilter="0, 0; .2, .5; .8, .5; 1, 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250" autoRev="1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  <p:bldP spid="11" grpId="1" animBg="1"/>
      <p:bldP spid="12" grpId="0" animBg="1"/>
      <p:bldP spid="14" grpId="0" animBg="1"/>
      <p:bldP spid="15" grpId="0" animBg="1"/>
      <p:bldP spid="16" grpId="0" animBg="1"/>
      <p:bldP spid="16" grpId="1" animBg="1"/>
      <p:bldP spid="17" grpId="0"/>
      <p:bldP spid="18" grpId="0" animBg="1"/>
      <p:bldP spid="19" grpId="0" animBg="1"/>
      <p:bldP spid="19" grpId="1" animBg="1"/>
      <p:bldP spid="20" grpId="0" animBg="1"/>
      <p:bldP spid="20" grpId="1" animBg="1"/>
      <p:bldP spid="20" grpId="2" animBg="1"/>
      <p:bldP spid="21" grpId="0" animBg="1"/>
      <p:bldP spid="21" grpId="1" animBg="1"/>
      <p:bldP spid="25" grpId="0"/>
      <p:bldP spid="26" grpId="0"/>
      <p:bldP spid="27" grpId="0"/>
      <p:bldP spid="27" grpId="1"/>
      <p:bldP spid="28" grpId="0"/>
      <p:bldP spid="2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Function Call Happens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29541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When a function is called…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input parameters are copied and “pushed” on to the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control halts at the function invocation statement in the invoker until function finishes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New: </a:t>
            </a:r>
            <a:r>
              <a:rPr lang="en-CA" dirty="0"/>
              <a:t>The “return location” from the function back to the invoker is also </a:t>
            </a:r>
            <a:r>
              <a:rPr lang="en-CA" b="1" i="1" dirty="0"/>
              <a:t>recorded on the stack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6"/>
                </a:solidFill>
              </a:rPr>
              <a:t>New: </a:t>
            </a:r>
            <a:r>
              <a:rPr lang="en-CA" dirty="0"/>
              <a:t>The return value from the function back to the invoker is also </a:t>
            </a:r>
            <a:r>
              <a:rPr lang="en-CA" b="1" i="1" dirty="0"/>
              <a:t>recorded on the stack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EEBA5-52E8-2F24-82DF-462C1FD7BF08}"/>
              </a:ext>
            </a:extLst>
          </p:cNvPr>
          <p:cNvSpPr txBox="1"/>
          <p:nvPr/>
        </p:nvSpPr>
        <p:spPr>
          <a:xfrm>
            <a:off x="2153651" y="4850674"/>
            <a:ext cx="3738192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(“Result: %d”, foo(11, 12));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2153651" y="3974183"/>
            <a:ext cx="3738192" cy="830997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fee(a, b) + a * b;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82ACB-AFFF-D0B6-1B07-541F41FD48B1}"/>
              </a:ext>
            </a:extLst>
          </p:cNvPr>
          <p:cNvSpPr txBox="1"/>
          <p:nvPr/>
        </p:nvSpPr>
        <p:spPr>
          <a:xfrm>
            <a:off x="2153651" y="3100225"/>
            <a:ext cx="3738192" cy="830997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fee(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 % 10 + b % 10;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4141358-A59E-AC5C-9BCC-BE9187DD8553}"/>
              </a:ext>
            </a:extLst>
          </p:cNvPr>
          <p:cNvSpPr/>
          <p:nvPr/>
        </p:nvSpPr>
        <p:spPr>
          <a:xfrm>
            <a:off x="4934309" y="4986069"/>
            <a:ext cx="267419" cy="265163"/>
          </a:xfrm>
          <a:prstGeom prst="down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</a:t>
            </a:r>
            <a:endParaRPr lang="en-CA" sz="1400" b="1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4344E1A-BF43-9817-9D98-3A0EBF9D4FC4}"/>
              </a:ext>
            </a:extLst>
          </p:cNvPr>
          <p:cNvSpPr/>
          <p:nvPr/>
        </p:nvSpPr>
        <p:spPr>
          <a:xfrm>
            <a:off x="3456316" y="4140130"/>
            <a:ext cx="267419" cy="265163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</a:t>
            </a:r>
            <a:endParaRPr lang="en-CA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F9A4C-E792-7552-DEF5-EE99BD1C311D}"/>
              </a:ext>
            </a:extLst>
          </p:cNvPr>
          <p:cNvSpPr/>
          <p:nvPr/>
        </p:nvSpPr>
        <p:spPr>
          <a:xfrm>
            <a:off x="7256029" y="3479783"/>
            <a:ext cx="2832943" cy="23551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FFFFF0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FFFFE0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FFFFDF</a:t>
            </a:r>
          </a:p>
          <a:p>
            <a:pPr algn="ctr"/>
            <a:r>
              <a:rPr lang="en-CA" sz="1200" b="1" dirty="0">
                <a:solidFill>
                  <a:srgbClr val="7F1F1F"/>
                </a:solidFill>
                <a:latin typeface="Courier"/>
              </a:rPr>
              <a:t>…</a:t>
            </a:r>
            <a:endParaRPr lang="en-US" sz="1200" b="1" dirty="0">
              <a:solidFill>
                <a:srgbClr val="7F1F1F"/>
              </a:solidFill>
              <a:latin typeface="Courier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DA88D2-81A0-839F-677B-9D7C26A3608F}"/>
              </a:ext>
            </a:extLst>
          </p:cNvPr>
          <p:cNvSpPr/>
          <p:nvPr/>
        </p:nvSpPr>
        <p:spPr>
          <a:xfrm>
            <a:off x="8350246" y="3603769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F59C90-89D2-E2EE-CA26-77D65D9ACFC5}"/>
              </a:ext>
            </a:extLst>
          </p:cNvPr>
          <p:cNvSpPr/>
          <p:nvPr/>
        </p:nvSpPr>
        <p:spPr>
          <a:xfrm>
            <a:off x="8350246" y="4025685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F80E4-76ED-356E-91BB-512E629ABF23}"/>
              </a:ext>
            </a:extLst>
          </p:cNvPr>
          <p:cNvSpPr txBox="1"/>
          <p:nvPr/>
        </p:nvSpPr>
        <p:spPr>
          <a:xfrm>
            <a:off x="7934312" y="3078244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tack / Auto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570AB4-4617-C882-50F0-03E7A8805EE3}"/>
              </a:ext>
            </a:extLst>
          </p:cNvPr>
          <p:cNvSpPr/>
          <p:nvPr/>
        </p:nvSpPr>
        <p:spPr>
          <a:xfrm>
            <a:off x="8347372" y="3816551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FDD9A7E-4943-A855-27A9-710060B7D5AF}"/>
              </a:ext>
            </a:extLst>
          </p:cNvPr>
          <p:cNvSpPr/>
          <p:nvPr/>
        </p:nvSpPr>
        <p:spPr>
          <a:xfrm>
            <a:off x="8351885" y="4244900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1"/>
                </a:solidFill>
                <a:latin typeface="Courier"/>
              </a:rPr>
              <a:t>return</a:t>
            </a:r>
            <a:r>
              <a:rPr lang="en-CA" sz="1400" b="1" dirty="0">
                <a:solidFill>
                  <a:schemeClr val="tx1"/>
                </a:solidFill>
              </a:rPr>
              <a:t> 124</a:t>
            </a: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9438BB9-1159-B800-9640-D540C74ABA24}"/>
              </a:ext>
            </a:extLst>
          </p:cNvPr>
          <p:cNvSpPr/>
          <p:nvPr/>
        </p:nvSpPr>
        <p:spPr>
          <a:xfrm>
            <a:off x="8348756" y="3594087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1"/>
                </a:solidFill>
                <a:latin typeface="Courier"/>
              </a:rPr>
              <a:t>return</a:t>
            </a:r>
            <a:r>
              <a:rPr lang="en-CA" sz="1400" b="1" dirty="0">
                <a:solidFill>
                  <a:schemeClr val="tx1"/>
                </a:solidFill>
              </a:rPr>
              <a:t> 0</a:t>
            </a: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F028E0-8319-B5B2-108F-9B3CA6E8289E}"/>
              </a:ext>
            </a:extLst>
          </p:cNvPr>
          <p:cNvSpPr/>
          <p:nvPr/>
        </p:nvSpPr>
        <p:spPr>
          <a:xfrm>
            <a:off x="4549913" y="5554991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Result: 124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CB0C70-637D-720B-5641-FA0783EC363C}"/>
              </a:ext>
            </a:extLst>
          </p:cNvPr>
          <p:cNvSpPr txBox="1"/>
          <p:nvPr/>
        </p:nvSpPr>
        <p:spPr>
          <a:xfrm>
            <a:off x="10046028" y="3555592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a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9DAA43-745C-CC29-2996-F6BF8BF5F42A}"/>
              </a:ext>
            </a:extLst>
          </p:cNvPr>
          <p:cNvSpPr txBox="1"/>
          <p:nvPr/>
        </p:nvSpPr>
        <p:spPr>
          <a:xfrm>
            <a:off x="10052124" y="3762856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b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78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animBg="1"/>
      <p:bldP spid="14" grpId="1" animBg="1"/>
      <p:bldP spid="15" grpId="1" animBg="1"/>
      <p:bldP spid="15" grpId="2" animBg="1"/>
      <p:bldP spid="18" grpId="1" animBg="1"/>
      <p:bldP spid="22" grpId="0" animBg="1"/>
      <p:bldP spid="22" grpId="1" animBg="1"/>
      <p:bldP spid="23" grpId="0" animBg="1"/>
      <p:bldP spid="5" grpId="0" animBg="1"/>
      <p:bldP spid="24" grpId="1"/>
      <p:bldP spid="2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Function Call Happens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1029541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When a function is called…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At the Beginning </a:t>
            </a:r>
            <a:r>
              <a:rPr lang="en-CA" b="1" dirty="0"/>
              <a:t>Stack Setup (Pushing)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Input parameters are copied onto the stack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Referred to by the input parameter names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location is recorded onto the stack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At the End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value is copied onto the stack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location is used to return the control back</a:t>
            </a:r>
            <a:br>
              <a:rPr lang="en-CA" dirty="0"/>
            </a:br>
            <a:r>
              <a:rPr lang="en-CA" dirty="0"/>
              <a:t>to the blocked statement in the invoker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Stack Cleanup (Popping)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Input parameters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Return values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Return location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EEBA5-52E8-2F24-82DF-462C1FD7BF08}"/>
              </a:ext>
            </a:extLst>
          </p:cNvPr>
          <p:cNvSpPr txBox="1"/>
          <p:nvPr/>
        </p:nvSpPr>
        <p:spPr>
          <a:xfrm>
            <a:off x="7645377" y="2208058"/>
            <a:ext cx="3398356" cy="938719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(“Result: %d”, foo(11, 12));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7645377" y="1395575"/>
            <a:ext cx="3398356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fee(a, b) + a * b;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82ACB-AFFF-D0B6-1B07-541F41FD48B1}"/>
              </a:ext>
            </a:extLst>
          </p:cNvPr>
          <p:cNvSpPr txBox="1"/>
          <p:nvPr/>
        </p:nvSpPr>
        <p:spPr>
          <a:xfrm>
            <a:off x="7645377" y="594769"/>
            <a:ext cx="3398356" cy="769441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fee(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 % 10 + b % 10;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4141358-A59E-AC5C-9BCC-BE9187DD8553}"/>
              </a:ext>
            </a:extLst>
          </p:cNvPr>
          <p:cNvSpPr/>
          <p:nvPr/>
        </p:nvSpPr>
        <p:spPr>
          <a:xfrm>
            <a:off x="10234331" y="2329509"/>
            <a:ext cx="267419" cy="265163"/>
          </a:xfrm>
          <a:prstGeom prst="down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</a:t>
            </a:r>
            <a:endParaRPr lang="en-CA" sz="1400" b="1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4344E1A-BF43-9817-9D98-3A0EBF9D4FC4}"/>
              </a:ext>
            </a:extLst>
          </p:cNvPr>
          <p:cNvSpPr/>
          <p:nvPr/>
        </p:nvSpPr>
        <p:spPr>
          <a:xfrm>
            <a:off x="8795428" y="1524935"/>
            <a:ext cx="267419" cy="265163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</a:t>
            </a:r>
            <a:endParaRPr lang="en-CA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F9A4C-E792-7552-DEF5-EE99BD1C311D}"/>
              </a:ext>
            </a:extLst>
          </p:cNvPr>
          <p:cNvSpPr/>
          <p:nvPr/>
        </p:nvSpPr>
        <p:spPr>
          <a:xfrm>
            <a:off x="7704085" y="3680952"/>
            <a:ext cx="2832943" cy="2118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FFFFF0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FFFFE0</a:t>
            </a:r>
          </a:p>
          <a:p>
            <a:pPr algn="ctr"/>
            <a:r>
              <a:rPr lang="en-CA" sz="1200" b="1" dirty="0">
                <a:solidFill>
                  <a:srgbClr val="7F1F1F"/>
                </a:solidFill>
                <a:latin typeface="Courier"/>
              </a:rPr>
              <a:t>…</a:t>
            </a:r>
            <a:endParaRPr lang="en-US" sz="1200" b="1" dirty="0">
              <a:solidFill>
                <a:srgbClr val="7F1F1F"/>
              </a:solidFill>
              <a:latin typeface="Courier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DA88D2-81A0-839F-677B-9D7C26A3608F}"/>
              </a:ext>
            </a:extLst>
          </p:cNvPr>
          <p:cNvSpPr/>
          <p:nvPr/>
        </p:nvSpPr>
        <p:spPr>
          <a:xfrm>
            <a:off x="8798302" y="3804937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F59C90-89D2-E2EE-CA26-77D65D9ACFC5}"/>
              </a:ext>
            </a:extLst>
          </p:cNvPr>
          <p:cNvSpPr/>
          <p:nvPr/>
        </p:nvSpPr>
        <p:spPr>
          <a:xfrm>
            <a:off x="8798302" y="4226853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E3C315-DE26-DC9A-C2EE-213CB2410C3C}"/>
              </a:ext>
            </a:extLst>
          </p:cNvPr>
          <p:cNvSpPr/>
          <p:nvPr/>
        </p:nvSpPr>
        <p:spPr>
          <a:xfrm>
            <a:off x="8807445" y="4442566"/>
            <a:ext cx="1697047" cy="2172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 (a in foo())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F80E4-76ED-356E-91BB-512E629ABF23}"/>
              </a:ext>
            </a:extLst>
          </p:cNvPr>
          <p:cNvSpPr txBox="1"/>
          <p:nvPr/>
        </p:nvSpPr>
        <p:spPr>
          <a:xfrm>
            <a:off x="8382368" y="3279412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tack / Auto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570AB4-4617-C882-50F0-03E7A8805EE3}"/>
              </a:ext>
            </a:extLst>
          </p:cNvPr>
          <p:cNvSpPr/>
          <p:nvPr/>
        </p:nvSpPr>
        <p:spPr>
          <a:xfrm>
            <a:off x="8795428" y="4017719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805C87-3B8A-A62B-4662-0256CCD9C9E0}"/>
              </a:ext>
            </a:extLst>
          </p:cNvPr>
          <p:cNvSpPr/>
          <p:nvPr/>
        </p:nvSpPr>
        <p:spPr>
          <a:xfrm>
            <a:off x="8813198" y="4655351"/>
            <a:ext cx="1697047" cy="2172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 (b in foo())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BF0CB0-D1F9-376B-BC75-8CB48AC26D89}"/>
              </a:ext>
            </a:extLst>
          </p:cNvPr>
          <p:cNvSpPr/>
          <p:nvPr/>
        </p:nvSpPr>
        <p:spPr>
          <a:xfrm>
            <a:off x="8807579" y="4876662"/>
            <a:ext cx="1697047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24A743E-05AF-DAF3-D98C-D460C4AD0E3D}"/>
              </a:ext>
            </a:extLst>
          </p:cNvPr>
          <p:cNvSpPr/>
          <p:nvPr/>
        </p:nvSpPr>
        <p:spPr>
          <a:xfrm>
            <a:off x="8804703" y="5089445"/>
            <a:ext cx="1697047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1"/>
                </a:solidFill>
                <a:latin typeface="Courier"/>
              </a:rPr>
              <a:t>return</a:t>
            </a:r>
            <a:r>
              <a:rPr lang="en-CA" sz="1400" b="1" dirty="0">
                <a:solidFill>
                  <a:schemeClr val="tx1"/>
                </a:solidFill>
              </a:rPr>
              <a:t> 3</a:t>
            </a: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3FCA6B-5C4B-564C-9D1A-56E137C7AB50}"/>
              </a:ext>
            </a:extLst>
          </p:cNvPr>
          <p:cNvSpPr txBox="1"/>
          <p:nvPr/>
        </p:nvSpPr>
        <p:spPr>
          <a:xfrm>
            <a:off x="10491823" y="3747800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a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F82E2F-C9EF-40C0-87F6-90AA9784901C}"/>
              </a:ext>
            </a:extLst>
          </p:cNvPr>
          <p:cNvSpPr txBox="1"/>
          <p:nvPr/>
        </p:nvSpPr>
        <p:spPr>
          <a:xfrm>
            <a:off x="10497919" y="3955064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b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70AC3E-44D9-E2FD-03F2-AF9E58D63801}"/>
              </a:ext>
            </a:extLst>
          </p:cNvPr>
          <p:cNvSpPr txBox="1"/>
          <p:nvPr/>
        </p:nvSpPr>
        <p:spPr>
          <a:xfrm>
            <a:off x="10494719" y="4384720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6"/>
                </a:solidFill>
              </a:rPr>
              <a:t>a in fee()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65C9F2-AE53-4C0C-7DBE-FCEE763E5BF2}"/>
              </a:ext>
            </a:extLst>
          </p:cNvPr>
          <p:cNvSpPr txBox="1"/>
          <p:nvPr/>
        </p:nvSpPr>
        <p:spPr>
          <a:xfrm>
            <a:off x="10500815" y="4610272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6"/>
                </a:solidFill>
              </a:rPr>
              <a:t>b in fee()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071BBB-10A9-F807-B7B4-A798CC5923D9}"/>
              </a:ext>
            </a:extLst>
          </p:cNvPr>
          <p:cNvSpPr/>
          <p:nvPr/>
        </p:nvSpPr>
        <p:spPr>
          <a:xfrm>
            <a:off x="1778508" y="2751851"/>
            <a:ext cx="4480560" cy="313122"/>
          </a:xfrm>
          <a:prstGeom prst="rect">
            <a:avLst/>
          </a:prstGeom>
          <a:noFill/>
          <a:ln w="28575">
            <a:solidFill>
              <a:srgbClr val="7F1F1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2C867F-1B2D-314D-52BF-68281199696D}"/>
              </a:ext>
            </a:extLst>
          </p:cNvPr>
          <p:cNvSpPr/>
          <p:nvPr/>
        </p:nvSpPr>
        <p:spPr>
          <a:xfrm>
            <a:off x="2104644" y="5207790"/>
            <a:ext cx="2211324" cy="313122"/>
          </a:xfrm>
          <a:prstGeom prst="rect">
            <a:avLst/>
          </a:prstGeom>
          <a:noFill/>
          <a:ln w="28575">
            <a:solidFill>
              <a:srgbClr val="7F1F1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2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78984"/>
            <a:ext cx="1029541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How Computer Tracks Function Call Hierarchy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At the Beginning </a:t>
            </a:r>
            <a:r>
              <a:rPr lang="en-CA" b="1" dirty="0"/>
              <a:t>Stack Setup (Pushing)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location is recorded onto the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At the End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location used to return to the invoker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Stack Cleanup (Popping)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Return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Thus, if only concerning the function calls…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can track the hierarchy</a:t>
            </a:r>
            <a:br>
              <a:rPr lang="en-CA" dirty="0"/>
            </a:br>
            <a:r>
              <a:rPr lang="en-CA" dirty="0"/>
              <a:t>of how functions are called</a:t>
            </a:r>
            <a:br>
              <a:rPr lang="en-CA" dirty="0"/>
            </a:br>
            <a:r>
              <a:rPr lang="en-CA" dirty="0"/>
              <a:t>and returned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EEBA5-52E8-2F24-82DF-462C1FD7BF08}"/>
              </a:ext>
            </a:extLst>
          </p:cNvPr>
          <p:cNvSpPr txBox="1"/>
          <p:nvPr/>
        </p:nvSpPr>
        <p:spPr>
          <a:xfrm>
            <a:off x="7645377" y="2208058"/>
            <a:ext cx="3398356" cy="938719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(“Result: %d”, foo(11, 12));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7645377" y="1395575"/>
            <a:ext cx="3398356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fee(a, b) + a * b;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82ACB-AFFF-D0B6-1B07-541F41FD48B1}"/>
              </a:ext>
            </a:extLst>
          </p:cNvPr>
          <p:cNvSpPr txBox="1"/>
          <p:nvPr/>
        </p:nvSpPr>
        <p:spPr>
          <a:xfrm>
            <a:off x="7645377" y="594769"/>
            <a:ext cx="3398356" cy="769441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fee(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 % 10 + b % 10;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4141358-A59E-AC5C-9BCC-BE9187DD8553}"/>
              </a:ext>
            </a:extLst>
          </p:cNvPr>
          <p:cNvSpPr/>
          <p:nvPr/>
        </p:nvSpPr>
        <p:spPr>
          <a:xfrm>
            <a:off x="10234331" y="2329509"/>
            <a:ext cx="267419" cy="265163"/>
          </a:xfrm>
          <a:prstGeom prst="down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</a:t>
            </a:r>
            <a:endParaRPr lang="en-CA" sz="1400" b="1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4344E1A-BF43-9817-9D98-3A0EBF9D4FC4}"/>
              </a:ext>
            </a:extLst>
          </p:cNvPr>
          <p:cNvSpPr/>
          <p:nvPr/>
        </p:nvSpPr>
        <p:spPr>
          <a:xfrm>
            <a:off x="8795428" y="1524935"/>
            <a:ext cx="267419" cy="265163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</a:t>
            </a:r>
            <a:endParaRPr lang="en-CA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F9A4C-E792-7552-DEF5-EE99BD1C311D}"/>
              </a:ext>
            </a:extLst>
          </p:cNvPr>
          <p:cNvSpPr/>
          <p:nvPr/>
        </p:nvSpPr>
        <p:spPr>
          <a:xfrm>
            <a:off x="7704085" y="3680952"/>
            <a:ext cx="2832943" cy="2118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FFFFF0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FFFFE0</a:t>
            </a:r>
          </a:p>
          <a:p>
            <a:pPr algn="ctr"/>
            <a:r>
              <a:rPr lang="en-CA" sz="1200" b="1" dirty="0">
                <a:solidFill>
                  <a:srgbClr val="7F1F1F"/>
                </a:solidFill>
                <a:latin typeface="Courier"/>
              </a:rPr>
              <a:t>…</a:t>
            </a:r>
            <a:endParaRPr lang="en-US" sz="1200" b="1" dirty="0">
              <a:solidFill>
                <a:srgbClr val="7F1F1F"/>
              </a:solidFill>
              <a:latin typeface="Courier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DA88D2-81A0-839F-677B-9D7C26A3608F}"/>
              </a:ext>
            </a:extLst>
          </p:cNvPr>
          <p:cNvSpPr/>
          <p:nvPr/>
        </p:nvSpPr>
        <p:spPr>
          <a:xfrm>
            <a:off x="8798302" y="3804937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F59C90-89D2-E2EE-CA26-77D65D9ACFC5}"/>
              </a:ext>
            </a:extLst>
          </p:cNvPr>
          <p:cNvSpPr/>
          <p:nvPr/>
        </p:nvSpPr>
        <p:spPr>
          <a:xfrm>
            <a:off x="8798302" y="4226853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E3C315-DE26-DC9A-C2EE-213CB2410C3C}"/>
              </a:ext>
            </a:extLst>
          </p:cNvPr>
          <p:cNvSpPr/>
          <p:nvPr/>
        </p:nvSpPr>
        <p:spPr>
          <a:xfrm>
            <a:off x="8807445" y="4442566"/>
            <a:ext cx="1697047" cy="2172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 (a in foo())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F80E4-76ED-356E-91BB-512E629ABF23}"/>
              </a:ext>
            </a:extLst>
          </p:cNvPr>
          <p:cNvSpPr txBox="1"/>
          <p:nvPr/>
        </p:nvSpPr>
        <p:spPr>
          <a:xfrm>
            <a:off x="8382368" y="3279412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tack / Auto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570AB4-4617-C882-50F0-03E7A8805EE3}"/>
              </a:ext>
            </a:extLst>
          </p:cNvPr>
          <p:cNvSpPr/>
          <p:nvPr/>
        </p:nvSpPr>
        <p:spPr>
          <a:xfrm>
            <a:off x="8795428" y="4017719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805C87-3B8A-A62B-4662-0256CCD9C9E0}"/>
              </a:ext>
            </a:extLst>
          </p:cNvPr>
          <p:cNvSpPr/>
          <p:nvPr/>
        </p:nvSpPr>
        <p:spPr>
          <a:xfrm>
            <a:off x="8813198" y="4655351"/>
            <a:ext cx="1697047" cy="2172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 (b in foo())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BF0CB0-D1F9-376B-BC75-8CB48AC26D89}"/>
              </a:ext>
            </a:extLst>
          </p:cNvPr>
          <p:cNvSpPr/>
          <p:nvPr/>
        </p:nvSpPr>
        <p:spPr>
          <a:xfrm>
            <a:off x="8807579" y="4876662"/>
            <a:ext cx="1697047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3FCA6B-5C4B-564C-9D1A-56E137C7AB50}"/>
              </a:ext>
            </a:extLst>
          </p:cNvPr>
          <p:cNvSpPr txBox="1"/>
          <p:nvPr/>
        </p:nvSpPr>
        <p:spPr>
          <a:xfrm>
            <a:off x="10491823" y="3747800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a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F82E2F-C9EF-40C0-87F6-90AA9784901C}"/>
              </a:ext>
            </a:extLst>
          </p:cNvPr>
          <p:cNvSpPr txBox="1"/>
          <p:nvPr/>
        </p:nvSpPr>
        <p:spPr>
          <a:xfrm>
            <a:off x="10497919" y="3955064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b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70AC3E-44D9-E2FD-03F2-AF9E58D63801}"/>
              </a:ext>
            </a:extLst>
          </p:cNvPr>
          <p:cNvSpPr txBox="1"/>
          <p:nvPr/>
        </p:nvSpPr>
        <p:spPr>
          <a:xfrm>
            <a:off x="10494719" y="4384720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6"/>
                </a:solidFill>
              </a:rPr>
              <a:t>a in fee()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65C9F2-AE53-4C0C-7DBE-FCEE763E5BF2}"/>
              </a:ext>
            </a:extLst>
          </p:cNvPr>
          <p:cNvSpPr txBox="1"/>
          <p:nvPr/>
        </p:nvSpPr>
        <p:spPr>
          <a:xfrm>
            <a:off x="10500815" y="4610272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6"/>
                </a:solidFill>
              </a:rPr>
              <a:t>b in fee()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84A58-7233-B532-C99C-EDA61B0765A0}"/>
              </a:ext>
            </a:extLst>
          </p:cNvPr>
          <p:cNvSpPr/>
          <p:nvPr/>
        </p:nvSpPr>
        <p:spPr>
          <a:xfrm>
            <a:off x="5001927" y="4551759"/>
            <a:ext cx="1856942" cy="12328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0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1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2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3</a:t>
            </a:r>
          </a:p>
          <a:p>
            <a:pPr algn="ctr"/>
            <a:r>
              <a:rPr lang="en-CA" sz="1200" b="1" dirty="0">
                <a:solidFill>
                  <a:schemeClr val="accent5"/>
                </a:solidFill>
                <a:latin typeface="Courier"/>
              </a:rPr>
              <a:t>…</a:t>
            </a:r>
            <a:endParaRPr lang="en-US" sz="1200" b="1" dirty="0">
              <a:solidFill>
                <a:schemeClr val="accent5"/>
              </a:solidFill>
              <a:latin typeface="Couri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A23395-B32C-DE3D-D5CB-CBA9468C5B80}"/>
              </a:ext>
            </a:extLst>
          </p:cNvPr>
          <p:cNvSpPr txBox="1"/>
          <p:nvPr/>
        </p:nvSpPr>
        <p:spPr>
          <a:xfrm>
            <a:off x="4901430" y="4164760"/>
            <a:ext cx="216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(Function) Call S</a:t>
            </a:r>
            <a:r>
              <a:rPr lang="en-CA" b="1" dirty="0">
                <a:solidFill>
                  <a:schemeClr val="accent5"/>
                </a:solidFill>
              </a:rPr>
              <a:t>tack</a:t>
            </a:r>
            <a:endParaRPr lang="en-US" b="1" dirty="0">
              <a:solidFill>
                <a:schemeClr val="accent5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F960D2-0D4D-9819-3808-98A1565307D9}"/>
              </a:ext>
            </a:extLst>
          </p:cNvPr>
          <p:cNvSpPr/>
          <p:nvPr/>
        </p:nvSpPr>
        <p:spPr>
          <a:xfrm>
            <a:off x="5317269" y="4615093"/>
            <a:ext cx="1275016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main(void)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2DE325F-AE9C-78DF-AF7B-CDBD3718A5DD}"/>
              </a:ext>
            </a:extLst>
          </p:cNvPr>
          <p:cNvSpPr/>
          <p:nvPr/>
        </p:nvSpPr>
        <p:spPr>
          <a:xfrm>
            <a:off x="5317268" y="4845390"/>
            <a:ext cx="1275016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foo(11, 12)</a:t>
            </a:r>
            <a:endParaRPr lang="en-CA" sz="1400" b="1" dirty="0">
              <a:solidFill>
                <a:srgbClr val="7F1F1F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9F1715D-0FE9-AFD9-C762-AD714A7EA38B}"/>
              </a:ext>
            </a:extLst>
          </p:cNvPr>
          <p:cNvSpPr/>
          <p:nvPr/>
        </p:nvSpPr>
        <p:spPr>
          <a:xfrm>
            <a:off x="5317267" y="5066152"/>
            <a:ext cx="1275016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fee(11, 12)</a:t>
            </a: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E9082D4C-541B-F0B5-9928-D079586197FE}"/>
              </a:ext>
            </a:extLst>
          </p:cNvPr>
          <p:cNvSpPr/>
          <p:nvPr/>
        </p:nvSpPr>
        <p:spPr>
          <a:xfrm>
            <a:off x="2154277" y="5174763"/>
            <a:ext cx="2425042" cy="639603"/>
          </a:xfrm>
          <a:prstGeom prst="wedgeRectCallout">
            <a:avLst>
              <a:gd name="adj1" fmla="val 63428"/>
              <a:gd name="adj2" fmla="val -4938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Call Stack is for conceptual understanding only!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53924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/>
      <p:bldP spid="23" grpId="0"/>
      <p:bldP spid="24" grpId="0"/>
      <p:bldP spid="25" grpId="0"/>
      <p:bldP spid="5" grpId="0" animBg="1"/>
      <p:bldP spid="26" grpId="0"/>
      <p:bldP spid="27" grpId="0" animBg="1"/>
      <p:bldP spid="28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78984"/>
            <a:ext cx="1029541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How Computer Tracks Function Call Hierarchy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At the Beginning </a:t>
            </a:r>
            <a:r>
              <a:rPr lang="en-CA" b="1" dirty="0"/>
              <a:t>Stack Setup (Pushing)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location is recorded onto the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At the End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location used to return to the invoker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Stack Cleanup (Popping)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Return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Thus, if only concerning the function calls…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can track the hierarchy</a:t>
            </a:r>
            <a:br>
              <a:rPr lang="en-CA" dirty="0"/>
            </a:br>
            <a:r>
              <a:rPr lang="en-CA" dirty="0"/>
              <a:t>of how functions are called</a:t>
            </a:r>
            <a:br>
              <a:rPr lang="en-CA" dirty="0"/>
            </a:br>
            <a:r>
              <a:rPr lang="en-CA" dirty="0"/>
              <a:t>and returned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EEBA5-52E8-2F24-82DF-462C1FD7BF08}"/>
              </a:ext>
            </a:extLst>
          </p:cNvPr>
          <p:cNvSpPr txBox="1"/>
          <p:nvPr/>
        </p:nvSpPr>
        <p:spPr>
          <a:xfrm>
            <a:off x="7645377" y="2208058"/>
            <a:ext cx="3398356" cy="938719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(“Result: %d”, foo(11, 12));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7645377" y="1395575"/>
            <a:ext cx="3398356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fee(a, b) + a * b;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82ACB-AFFF-D0B6-1B07-541F41FD48B1}"/>
              </a:ext>
            </a:extLst>
          </p:cNvPr>
          <p:cNvSpPr txBox="1"/>
          <p:nvPr/>
        </p:nvSpPr>
        <p:spPr>
          <a:xfrm>
            <a:off x="7645377" y="594769"/>
            <a:ext cx="3398356" cy="769441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fee(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 % 10 + b % 10;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4141358-A59E-AC5C-9BCC-BE9187DD8553}"/>
              </a:ext>
            </a:extLst>
          </p:cNvPr>
          <p:cNvSpPr/>
          <p:nvPr/>
        </p:nvSpPr>
        <p:spPr>
          <a:xfrm>
            <a:off x="10234331" y="2329509"/>
            <a:ext cx="267419" cy="265163"/>
          </a:xfrm>
          <a:prstGeom prst="down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</a:t>
            </a:r>
            <a:endParaRPr lang="en-CA" sz="1400" b="1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4344E1A-BF43-9817-9D98-3A0EBF9D4FC4}"/>
              </a:ext>
            </a:extLst>
          </p:cNvPr>
          <p:cNvSpPr/>
          <p:nvPr/>
        </p:nvSpPr>
        <p:spPr>
          <a:xfrm>
            <a:off x="8795428" y="1524935"/>
            <a:ext cx="267419" cy="265163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</a:t>
            </a:r>
            <a:endParaRPr lang="en-CA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F9A4C-E792-7552-DEF5-EE99BD1C311D}"/>
              </a:ext>
            </a:extLst>
          </p:cNvPr>
          <p:cNvSpPr/>
          <p:nvPr/>
        </p:nvSpPr>
        <p:spPr>
          <a:xfrm>
            <a:off x="7704085" y="3680952"/>
            <a:ext cx="2832943" cy="2118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FFFFF0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FFFFE0</a:t>
            </a:r>
          </a:p>
          <a:p>
            <a:pPr algn="ctr"/>
            <a:r>
              <a:rPr lang="en-CA" sz="1200" b="1" dirty="0">
                <a:solidFill>
                  <a:srgbClr val="7F1F1F"/>
                </a:solidFill>
                <a:latin typeface="Courier"/>
              </a:rPr>
              <a:t>…</a:t>
            </a:r>
            <a:endParaRPr lang="en-US" sz="1200" b="1" dirty="0">
              <a:solidFill>
                <a:srgbClr val="7F1F1F"/>
              </a:solidFill>
              <a:latin typeface="Courier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DA88D2-81A0-839F-677B-9D7C26A3608F}"/>
              </a:ext>
            </a:extLst>
          </p:cNvPr>
          <p:cNvSpPr/>
          <p:nvPr/>
        </p:nvSpPr>
        <p:spPr>
          <a:xfrm>
            <a:off x="8798302" y="3804937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F59C90-89D2-E2EE-CA26-77D65D9ACFC5}"/>
              </a:ext>
            </a:extLst>
          </p:cNvPr>
          <p:cNvSpPr/>
          <p:nvPr/>
        </p:nvSpPr>
        <p:spPr>
          <a:xfrm>
            <a:off x="8798302" y="4226853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E3C315-DE26-DC9A-C2EE-213CB2410C3C}"/>
              </a:ext>
            </a:extLst>
          </p:cNvPr>
          <p:cNvSpPr/>
          <p:nvPr/>
        </p:nvSpPr>
        <p:spPr>
          <a:xfrm>
            <a:off x="8807445" y="4442566"/>
            <a:ext cx="1697047" cy="2172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 (a in foo())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F80E4-76ED-356E-91BB-512E629ABF23}"/>
              </a:ext>
            </a:extLst>
          </p:cNvPr>
          <p:cNvSpPr txBox="1"/>
          <p:nvPr/>
        </p:nvSpPr>
        <p:spPr>
          <a:xfrm>
            <a:off x="8382368" y="3279412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tack / Auto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570AB4-4617-C882-50F0-03E7A8805EE3}"/>
              </a:ext>
            </a:extLst>
          </p:cNvPr>
          <p:cNvSpPr/>
          <p:nvPr/>
        </p:nvSpPr>
        <p:spPr>
          <a:xfrm>
            <a:off x="8795428" y="4017719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805C87-3B8A-A62B-4662-0256CCD9C9E0}"/>
              </a:ext>
            </a:extLst>
          </p:cNvPr>
          <p:cNvSpPr/>
          <p:nvPr/>
        </p:nvSpPr>
        <p:spPr>
          <a:xfrm>
            <a:off x="8813198" y="4655351"/>
            <a:ext cx="1697047" cy="21722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 (b in foo())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BF0CB0-D1F9-376B-BC75-8CB48AC26D89}"/>
              </a:ext>
            </a:extLst>
          </p:cNvPr>
          <p:cNvSpPr/>
          <p:nvPr/>
        </p:nvSpPr>
        <p:spPr>
          <a:xfrm>
            <a:off x="8807579" y="4876662"/>
            <a:ext cx="1697047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3FCA6B-5C4B-564C-9D1A-56E137C7AB50}"/>
              </a:ext>
            </a:extLst>
          </p:cNvPr>
          <p:cNvSpPr txBox="1"/>
          <p:nvPr/>
        </p:nvSpPr>
        <p:spPr>
          <a:xfrm>
            <a:off x="10491823" y="3747800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a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F82E2F-C9EF-40C0-87F6-90AA9784901C}"/>
              </a:ext>
            </a:extLst>
          </p:cNvPr>
          <p:cNvSpPr txBox="1"/>
          <p:nvPr/>
        </p:nvSpPr>
        <p:spPr>
          <a:xfrm>
            <a:off x="10497919" y="3955064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b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70AC3E-44D9-E2FD-03F2-AF9E58D63801}"/>
              </a:ext>
            </a:extLst>
          </p:cNvPr>
          <p:cNvSpPr txBox="1"/>
          <p:nvPr/>
        </p:nvSpPr>
        <p:spPr>
          <a:xfrm>
            <a:off x="10494719" y="4384720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6"/>
                </a:solidFill>
              </a:rPr>
              <a:t>a in fee()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65C9F2-AE53-4C0C-7DBE-FCEE763E5BF2}"/>
              </a:ext>
            </a:extLst>
          </p:cNvPr>
          <p:cNvSpPr txBox="1"/>
          <p:nvPr/>
        </p:nvSpPr>
        <p:spPr>
          <a:xfrm>
            <a:off x="10500815" y="4610272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6"/>
                </a:solidFill>
              </a:rPr>
              <a:t>b in fee()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84A58-7233-B532-C99C-EDA61B0765A0}"/>
              </a:ext>
            </a:extLst>
          </p:cNvPr>
          <p:cNvSpPr/>
          <p:nvPr/>
        </p:nvSpPr>
        <p:spPr>
          <a:xfrm>
            <a:off x="5001927" y="4551759"/>
            <a:ext cx="1856942" cy="12328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0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1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2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3</a:t>
            </a:r>
          </a:p>
          <a:p>
            <a:pPr algn="ctr"/>
            <a:r>
              <a:rPr lang="en-CA" sz="1200" b="1" dirty="0">
                <a:solidFill>
                  <a:schemeClr val="accent5"/>
                </a:solidFill>
                <a:latin typeface="Courier"/>
              </a:rPr>
              <a:t>…</a:t>
            </a:r>
            <a:endParaRPr lang="en-US" sz="1200" b="1" dirty="0">
              <a:solidFill>
                <a:schemeClr val="accent5"/>
              </a:solidFill>
              <a:latin typeface="Couri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A23395-B32C-DE3D-D5CB-CBA9468C5B80}"/>
              </a:ext>
            </a:extLst>
          </p:cNvPr>
          <p:cNvSpPr txBox="1"/>
          <p:nvPr/>
        </p:nvSpPr>
        <p:spPr>
          <a:xfrm>
            <a:off x="4901430" y="4164760"/>
            <a:ext cx="216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(Function) Call S</a:t>
            </a:r>
            <a:r>
              <a:rPr lang="en-CA" b="1" dirty="0">
                <a:solidFill>
                  <a:schemeClr val="accent5"/>
                </a:solidFill>
              </a:rPr>
              <a:t>tack</a:t>
            </a:r>
            <a:endParaRPr lang="en-US" b="1" dirty="0">
              <a:solidFill>
                <a:schemeClr val="accent5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F960D2-0D4D-9819-3808-98A1565307D9}"/>
              </a:ext>
            </a:extLst>
          </p:cNvPr>
          <p:cNvSpPr/>
          <p:nvPr/>
        </p:nvSpPr>
        <p:spPr>
          <a:xfrm>
            <a:off x="5317269" y="4615093"/>
            <a:ext cx="1275016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main(void)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2DE325F-AE9C-78DF-AF7B-CDBD3718A5DD}"/>
              </a:ext>
            </a:extLst>
          </p:cNvPr>
          <p:cNvSpPr/>
          <p:nvPr/>
        </p:nvSpPr>
        <p:spPr>
          <a:xfrm>
            <a:off x="5317268" y="4845390"/>
            <a:ext cx="1275016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foo(11, 12)</a:t>
            </a:r>
            <a:endParaRPr lang="en-CA" sz="1400" b="1" dirty="0">
              <a:solidFill>
                <a:srgbClr val="7F1F1F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9F1715D-0FE9-AFD9-C762-AD714A7EA38B}"/>
              </a:ext>
            </a:extLst>
          </p:cNvPr>
          <p:cNvSpPr/>
          <p:nvPr/>
        </p:nvSpPr>
        <p:spPr>
          <a:xfrm>
            <a:off x="5317267" y="5066152"/>
            <a:ext cx="1275016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fee(11, 12)</a:t>
            </a: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E9082D4C-541B-F0B5-9928-D079586197FE}"/>
              </a:ext>
            </a:extLst>
          </p:cNvPr>
          <p:cNvSpPr/>
          <p:nvPr/>
        </p:nvSpPr>
        <p:spPr>
          <a:xfrm>
            <a:off x="2154277" y="5174763"/>
            <a:ext cx="2425042" cy="639603"/>
          </a:xfrm>
          <a:prstGeom prst="wedgeRectCallout">
            <a:avLst>
              <a:gd name="adj1" fmla="val 63428"/>
              <a:gd name="adj2" fmla="val -4938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Call Stack is for conceptual understanding only!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F3D4D8-A504-23A4-1623-8CDF73ACA3A2}"/>
              </a:ext>
            </a:extLst>
          </p:cNvPr>
          <p:cNvSpPr/>
          <p:nvPr/>
        </p:nvSpPr>
        <p:spPr>
          <a:xfrm>
            <a:off x="8804703" y="5089445"/>
            <a:ext cx="1697047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1"/>
                </a:solidFill>
                <a:latin typeface="Courier"/>
              </a:rPr>
              <a:t>return</a:t>
            </a:r>
            <a:r>
              <a:rPr lang="en-CA" sz="1400" b="1" dirty="0">
                <a:solidFill>
                  <a:schemeClr val="tx1"/>
                </a:solidFill>
              </a:rPr>
              <a:t> 3</a:t>
            </a:r>
            <a:endParaRPr lang="en-CA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83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9" grpId="0" animBg="1"/>
      <p:bldP spid="20" grpId="0" animBg="1"/>
      <p:bldP spid="24" grpId="0"/>
      <p:bldP spid="25" grpId="0"/>
      <p:bldP spid="29" grpId="0" animBg="1"/>
      <p:bldP spid="21" grpId="0" animBg="1"/>
      <p:bldP spid="2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6247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478984"/>
            <a:ext cx="1029541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How Computer Tracks Function Call Hierarchy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At the Beginning </a:t>
            </a:r>
            <a:r>
              <a:rPr lang="en-CA" b="1" dirty="0"/>
              <a:t>Stack Setup (Pushing)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location is recorded onto the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At the End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Return location used to return to the invoker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Stack Cleanup (Popping)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Return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Thus, if only concerning the function calls…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can track the hierarchy</a:t>
            </a:r>
            <a:br>
              <a:rPr lang="en-CA" dirty="0"/>
            </a:br>
            <a:r>
              <a:rPr lang="en-CA" dirty="0"/>
              <a:t>of how functions are called</a:t>
            </a:r>
            <a:br>
              <a:rPr lang="en-CA" dirty="0"/>
            </a:br>
            <a:r>
              <a:rPr lang="en-CA" dirty="0"/>
              <a:t>and returned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EEBA5-52E8-2F24-82DF-462C1FD7BF08}"/>
              </a:ext>
            </a:extLst>
          </p:cNvPr>
          <p:cNvSpPr txBox="1"/>
          <p:nvPr/>
        </p:nvSpPr>
        <p:spPr>
          <a:xfrm>
            <a:off x="7645377" y="2208058"/>
            <a:ext cx="3398356" cy="938719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(“Result: %d”, foo(11, 12));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7645377" y="1395575"/>
            <a:ext cx="3398356" cy="769441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foo(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fee(a, b) + a * b;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82ACB-AFFF-D0B6-1B07-541F41FD48B1}"/>
              </a:ext>
            </a:extLst>
          </p:cNvPr>
          <p:cNvSpPr txBox="1"/>
          <p:nvPr/>
        </p:nvSpPr>
        <p:spPr>
          <a:xfrm>
            <a:off x="7645377" y="594769"/>
            <a:ext cx="3398356" cy="769441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fee(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b)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a % 10 + b % 10;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4141358-A59E-AC5C-9BCC-BE9187DD8553}"/>
              </a:ext>
            </a:extLst>
          </p:cNvPr>
          <p:cNvSpPr/>
          <p:nvPr/>
        </p:nvSpPr>
        <p:spPr>
          <a:xfrm>
            <a:off x="10234331" y="2329509"/>
            <a:ext cx="267419" cy="265163"/>
          </a:xfrm>
          <a:prstGeom prst="down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</a:t>
            </a:r>
            <a:endParaRPr lang="en-CA" sz="1400" b="1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4344E1A-BF43-9817-9D98-3A0EBF9D4FC4}"/>
              </a:ext>
            </a:extLst>
          </p:cNvPr>
          <p:cNvSpPr/>
          <p:nvPr/>
        </p:nvSpPr>
        <p:spPr>
          <a:xfrm>
            <a:off x="8795428" y="1524935"/>
            <a:ext cx="267419" cy="265163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</a:t>
            </a:r>
            <a:endParaRPr lang="en-CA" sz="1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F9A4C-E792-7552-DEF5-EE99BD1C311D}"/>
              </a:ext>
            </a:extLst>
          </p:cNvPr>
          <p:cNvSpPr/>
          <p:nvPr/>
        </p:nvSpPr>
        <p:spPr>
          <a:xfrm>
            <a:off x="7704085" y="3680952"/>
            <a:ext cx="2832943" cy="2118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FFFFF0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FFFFE0</a:t>
            </a:r>
          </a:p>
          <a:p>
            <a:pPr algn="ctr"/>
            <a:r>
              <a:rPr lang="en-CA" sz="1200" b="1" dirty="0">
                <a:solidFill>
                  <a:srgbClr val="7F1F1F"/>
                </a:solidFill>
                <a:latin typeface="Courier"/>
              </a:rPr>
              <a:t>…</a:t>
            </a:r>
            <a:endParaRPr lang="en-US" sz="1200" b="1" dirty="0">
              <a:solidFill>
                <a:srgbClr val="7F1F1F"/>
              </a:solidFill>
              <a:latin typeface="Courier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DA88D2-81A0-839F-677B-9D7C26A3608F}"/>
              </a:ext>
            </a:extLst>
          </p:cNvPr>
          <p:cNvSpPr/>
          <p:nvPr/>
        </p:nvSpPr>
        <p:spPr>
          <a:xfrm>
            <a:off x="8798302" y="3804937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11    int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F59C90-89D2-E2EE-CA26-77D65D9ACFC5}"/>
              </a:ext>
            </a:extLst>
          </p:cNvPr>
          <p:cNvSpPr/>
          <p:nvPr/>
        </p:nvSpPr>
        <p:spPr>
          <a:xfrm>
            <a:off x="8798302" y="4226853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rgbClr val="7F1F1F"/>
                </a:solidFill>
              </a:rPr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F80E4-76ED-356E-91BB-512E629ABF23}"/>
              </a:ext>
            </a:extLst>
          </p:cNvPr>
          <p:cNvSpPr txBox="1"/>
          <p:nvPr/>
        </p:nvSpPr>
        <p:spPr>
          <a:xfrm>
            <a:off x="8382368" y="3279412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tack / Auto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570AB4-4617-C882-50F0-03E7A8805EE3}"/>
              </a:ext>
            </a:extLst>
          </p:cNvPr>
          <p:cNvSpPr/>
          <p:nvPr/>
        </p:nvSpPr>
        <p:spPr>
          <a:xfrm>
            <a:off x="8795428" y="4017719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12    int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3FCA6B-5C4B-564C-9D1A-56E137C7AB50}"/>
              </a:ext>
            </a:extLst>
          </p:cNvPr>
          <p:cNvSpPr txBox="1"/>
          <p:nvPr/>
        </p:nvSpPr>
        <p:spPr>
          <a:xfrm>
            <a:off x="10491823" y="3747800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a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F82E2F-C9EF-40C0-87F6-90AA9784901C}"/>
              </a:ext>
            </a:extLst>
          </p:cNvPr>
          <p:cNvSpPr txBox="1"/>
          <p:nvPr/>
        </p:nvSpPr>
        <p:spPr>
          <a:xfrm>
            <a:off x="10497919" y="3955064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b in foo()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84A58-7233-B532-C99C-EDA61B0765A0}"/>
              </a:ext>
            </a:extLst>
          </p:cNvPr>
          <p:cNvSpPr/>
          <p:nvPr/>
        </p:nvSpPr>
        <p:spPr>
          <a:xfrm>
            <a:off x="5001927" y="4551759"/>
            <a:ext cx="1856942" cy="12328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0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1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2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3</a:t>
            </a:r>
          </a:p>
          <a:p>
            <a:pPr algn="ctr"/>
            <a:r>
              <a:rPr lang="en-CA" sz="1200" b="1" dirty="0">
                <a:solidFill>
                  <a:schemeClr val="accent5"/>
                </a:solidFill>
                <a:latin typeface="Courier"/>
              </a:rPr>
              <a:t>…</a:t>
            </a:r>
            <a:endParaRPr lang="en-US" sz="1200" b="1" dirty="0">
              <a:solidFill>
                <a:schemeClr val="accent5"/>
              </a:solidFill>
              <a:latin typeface="Couri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A23395-B32C-DE3D-D5CB-CBA9468C5B80}"/>
              </a:ext>
            </a:extLst>
          </p:cNvPr>
          <p:cNvSpPr txBox="1"/>
          <p:nvPr/>
        </p:nvSpPr>
        <p:spPr>
          <a:xfrm>
            <a:off x="4901430" y="4164760"/>
            <a:ext cx="216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(Function) Call S</a:t>
            </a:r>
            <a:r>
              <a:rPr lang="en-CA" b="1" dirty="0">
                <a:solidFill>
                  <a:schemeClr val="accent5"/>
                </a:solidFill>
              </a:rPr>
              <a:t>tack</a:t>
            </a:r>
            <a:endParaRPr lang="en-US" b="1" dirty="0">
              <a:solidFill>
                <a:schemeClr val="accent5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F960D2-0D4D-9819-3808-98A1565307D9}"/>
              </a:ext>
            </a:extLst>
          </p:cNvPr>
          <p:cNvSpPr/>
          <p:nvPr/>
        </p:nvSpPr>
        <p:spPr>
          <a:xfrm>
            <a:off x="5317269" y="4615093"/>
            <a:ext cx="1275016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main(void)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2DE325F-AE9C-78DF-AF7B-CDBD3718A5DD}"/>
              </a:ext>
            </a:extLst>
          </p:cNvPr>
          <p:cNvSpPr/>
          <p:nvPr/>
        </p:nvSpPr>
        <p:spPr>
          <a:xfrm>
            <a:off x="5317268" y="4845390"/>
            <a:ext cx="1275016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foo(11, 12)</a:t>
            </a:r>
            <a:endParaRPr lang="en-CA" sz="1400" b="1" dirty="0">
              <a:solidFill>
                <a:srgbClr val="7F1F1F"/>
              </a:solidFill>
            </a:endParaRPr>
          </a:p>
        </p:txBody>
      </p:sp>
      <p:sp>
        <p:nvSpPr>
          <p:cNvPr id="30" name="Speech Bubble: Rectangle 29">
            <a:extLst>
              <a:ext uri="{FF2B5EF4-FFF2-40B4-BE49-F238E27FC236}">
                <a16:creationId xmlns:a16="http://schemas.microsoft.com/office/drawing/2014/main" id="{E9082D4C-541B-F0B5-9928-D079586197FE}"/>
              </a:ext>
            </a:extLst>
          </p:cNvPr>
          <p:cNvSpPr/>
          <p:nvPr/>
        </p:nvSpPr>
        <p:spPr>
          <a:xfrm>
            <a:off x="2154277" y="5174763"/>
            <a:ext cx="2425042" cy="639603"/>
          </a:xfrm>
          <a:prstGeom prst="wedgeRectCallout">
            <a:avLst>
              <a:gd name="adj1" fmla="val 63428"/>
              <a:gd name="adj2" fmla="val -4938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Call Stack is for conceptual understanding only!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44EEC2C-C92A-23AE-C73E-846623FD254C}"/>
              </a:ext>
            </a:extLst>
          </p:cNvPr>
          <p:cNvSpPr/>
          <p:nvPr/>
        </p:nvSpPr>
        <p:spPr>
          <a:xfrm>
            <a:off x="8799941" y="4446068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1"/>
                </a:solidFill>
                <a:latin typeface="Courier"/>
              </a:rPr>
              <a:t>return</a:t>
            </a:r>
            <a:r>
              <a:rPr lang="en-CA" sz="1400" b="1" dirty="0">
                <a:solidFill>
                  <a:schemeClr val="tx1"/>
                </a:solidFill>
              </a:rPr>
              <a:t> 124</a:t>
            </a:r>
            <a:endParaRPr lang="en-CA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44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8" grpId="0" animBg="1"/>
      <p:bldP spid="22" grpId="0"/>
      <p:bldP spid="23" grpId="0"/>
      <p:bldP spid="28" grpId="0" animBg="1"/>
      <p:bldP spid="31" grpId="0" animBg="1"/>
      <p:bldP spid="3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Recursion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Visualize with Call Stack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22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239445"/>
            <a:ext cx="42056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775483" y="985858"/>
            <a:ext cx="538239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“When a function calls itself”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Such functions are termed as </a:t>
            </a:r>
            <a:r>
              <a:rPr lang="en-CA" sz="2200" b="1" i="1" dirty="0">
                <a:solidFill>
                  <a:srgbClr val="0000FF"/>
                </a:solidFill>
              </a:rPr>
              <a:t>recursive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Operates by solving smaller versions of a given problem (its subproblems).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Let’s start with an example!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i="1" dirty="0"/>
              <a:t>What is the output of this function?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Takeaway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 recursion, each function call creates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u="sng" dirty="0"/>
              <a:t>New Instance</a:t>
            </a:r>
            <a:r>
              <a:rPr lang="en-US" dirty="0"/>
              <a:t> of itself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b="1" u="sng" dirty="0"/>
              <a:t>Different copies of local variables</a:t>
            </a:r>
            <a:r>
              <a:rPr lang="en-US" dirty="0"/>
              <a:t>  </a:t>
            </a:r>
          </a:p>
          <a:p>
            <a:pPr lvl="1"/>
            <a:endParaRPr lang="en-US" sz="1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These functions are mutually independent, but hierarchically linked through the Call Stack.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EEBA5-52E8-2F24-82DF-462C1FD7BF08}"/>
              </a:ext>
            </a:extLst>
          </p:cNvPr>
          <p:cNvSpPr txBox="1"/>
          <p:nvPr/>
        </p:nvSpPr>
        <p:spPr>
          <a:xfrm>
            <a:off x="6315550" y="2129154"/>
            <a:ext cx="3738192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RecurFunc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(3);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6315550" y="496903"/>
            <a:ext cx="3738192" cy="156966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RecurFunc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input)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(input == 0)	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RecurFunc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(input - 1);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(“Hi from #%d! \n”, input);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F028E0-8319-B5B2-108F-9B3CA6E8289E}"/>
              </a:ext>
            </a:extLst>
          </p:cNvPr>
          <p:cNvSpPr/>
          <p:nvPr/>
        </p:nvSpPr>
        <p:spPr>
          <a:xfrm>
            <a:off x="2716985" y="3042008"/>
            <a:ext cx="1499392" cy="1015663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>
                <a:solidFill>
                  <a:schemeClr val="accent2"/>
                </a:solidFill>
              </a:rPr>
              <a:t>Hi from 1</a:t>
            </a:r>
          </a:p>
          <a:p>
            <a:pPr algn="ctr"/>
            <a:r>
              <a:rPr lang="en-CA" sz="2000" b="1" dirty="0">
                <a:solidFill>
                  <a:schemeClr val="accent6"/>
                </a:solidFill>
              </a:rPr>
              <a:t>Hi from 2</a:t>
            </a:r>
          </a:p>
          <a:p>
            <a:pPr algn="ctr"/>
            <a:r>
              <a:rPr lang="en-CA" sz="2000" b="1" dirty="0">
                <a:solidFill>
                  <a:schemeClr val="accent1"/>
                </a:solidFill>
              </a:rPr>
              <a:t>Hi from 3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6C9774-5D83-EBAA-881B-243B002D2339}"/>
              </a:ext>
            </a:extLst>
          </p:cNvPr>
          <p:cNvSpPr/>
          <p:nvPr/>
        </p:nvSpPr>
        <p:spPr>
          <a:xfrm>
            <a:off x="6315550" y="4175788"/>
            <a:ext cx="1856942" cy="16475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0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1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2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3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4</a:t>
            </a:r>
          </a:p>
          <a:p>
            <a:r>
              <a:rPr lang="en-CA" sz="1400" b="1" dirty="0">
                <a:solidFill>
                  <a:schemeClr val="accent5"/>
                </a:solidFill>
                <a:latin typeface="Courier"/>
              </a:rPr>
              <a:t>5</a:t>
            </a:r>
          </a:p>
          <a:p>
            <a:pPr algn="ctr"/>
            <a:r>
              <a:rPr lang="en-CA" sz="1200" b="1" dirty="0">
                <a:solidFill>
                  <a:schemeClr val="accent5"/>
                </a:solidFill>
                <a:latin typeface="Courier"/>
              </a:rPr>
              <a:t>…</a:t>
            </a:r>
            <a:endParaRPr lang="en-US" sz="1200" b="1" dirty="0">
              <a:solidFill>
                <a:schemeClr val="accent5"/>
              </a:solidFill>
              <a:latin typeface="Couri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6EB66C-8003-4D13-9803-BA4A8980B4DE}"/>
              </a:ext>
            </a:extLst>
          </p:cNvPr>
          <p:cNvSpPr txBox="1"/>
          <p:nvPr/>
        </p:nvSpPr>
        <p:spPr>
          <a:xfrm>
            <a:off x="6215053" y="3788790"/>
            <a:ext cx="216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(Function) Call S</a:t>
            </a:r>
            <a:r>
              <a:rPr lang="en-CA" b="1" dirty="0">
                <a:solidFill>
                  <a:schemeClr val="accent5"/>
                </a:solidFill>
              </a:rPr>
              <a:t>tack</a:t>
            </a:r>
            <a:endParaRPr lang="en-US" b="1" dirty="0">
              <a:solidFill>
                <a:schemeClr val="accent5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26B0DF-ACD3-646F-464F-CBB5A32BC545}"/>
              </a:ext>
            </a:extLst>
          </p:cNvPr>
          <p:cNvSpPr/>
          <p:nvPr/>
        </p:nvSpPr>
        <p:spPr>
          <a:xfrm>
            <a:off x="6630892" y="4239123"/>
            <a:ext cx="1275016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main(void)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CC8D7D0-508B-2250-0D98-DCEE56B39C96}"/>
              </a:ext>
            </a:extLst>
          </p:cNvPr>
          <p:cNvSpPr/>
          <p:nvPr/>
        </p:nvSpPr>
        <p:spPr>
          <a:xfrm>
            <a:off x="6630891" y="4469420"/>
            <a:ext cx="1275016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 err="1">
                <a:solidFill>
                  <a:schemeClr val="tx1"/>
                </a:solidFill>
              </a:rPr>
              <a:t>RecurFunc</a:t>
            </a:r>
            <a:r>
              <a:rPr lang="en-CA" sz="1400" b="1" dirty="0">
                <a:solidFill>
                  <a:schemeClr val="tx1"/>
                </a:solidFill>
              </a:rPr>
              <a:t>(3)</a:t>
            </a:r>
            <a:endParaRPr lang="en-CA" sz="1400" b="1" dirty="0">
              <a:solidFill>
                <a:srgbClr val="7F1F1F"/>
              </a:solidFill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1A4D3BED-9FAA-5A20-B527-4AFE84120F9C}"/>
              </a:ext>
            </a:extLst>
          </p:cNvPr>
          <p:cNvSpPr/>
          <p:nvPr/>
        </p:nvSpPr>
        <p:spPr>
          <a:xfrm>
            <a:off x="7658292" y="2390469"/>
            <a:ext cx="166045" cy="164645"/>
          </a:xfrm>
          <a:prstGeom prst="down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b="1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FE0B32AD-91FB-32B3-732F-9696659CC201}"/>
              </a:ext>
            </a:extLst>
          </p:cNvPr>
          <p:cNvSpPr/>
          <p:nvPr/>
        </p:nvSpPr>
        <p:spPr>
          <a:xfrm>
            <a:off x="8376614" y="1286106"/>
            <a:ext cx="166045" cy="164645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0F81BD5-3C20-7F03-D3EE-2288F1B0720E}"/>
              </a:ext>
            </a:extLst>
          </p:cNvPr>
          <p:cNvSpPr/>
          <p:nvPr/>
        </p:nvSpPr>
        <p:spPr>
          <a:xfrm>
            <a:off x="6636987" y="4694972"/>
            <a:ext cx="1275016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 err="1">
                <a:solidFill>
                  <a:schemeClr val="tx1"/>
                </a:solidFill>
              </a:rPr>
              <a:t>RecurFunc</a:t>
            </a:r>
            <a:r>
              <a:rPr lang="en-CA" sz="1400" b="1" dirty="0">
                <a:solidFill>
                  <a:schemeClr val="tx1"/>
                </a:solidFill>
              </a:rPr>
              <a:t>(2)</a:t>
            </a:r>
            <a:endParaRPr lang="en-CA" sz="1400" b="1" dirty="0">
              <a:solidFill>
                <a:srgbClr val="7F1F1F"/>
              </a:solidFill>
            </a:endParaRP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ECA1BC59-2856-A544-AA8C-3E21A1B2A643}"/>
              </a:ext>
            </a:extLst>
          </p:cNvPr>
          <p:cNvSpPr/>
          <p:nvPr/>
        </p:nvSpPr>
        <p:spPr>
          <a:xfrm>
            <a:off x="8542659" y="1289969"/>
            <a:ext cx="166045" cy="164645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b="1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EEEC10E-3CF6-635C-9A52-FBEBDB305C3C}"/>
              </a:ext>
            </a:extLst>
          </p:cNvPr>
          <p:cNvSpPr/>
          <p:nvPr/>
        </p:nvSpPr>
        <p:spPr>
          <a:xfrm>
            <a:off x="6643083" y="4911380"/>
            <a:ext cx="1275016" cy="21722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 err="1">
                <a:solidFill>
                  <a:schemeClr val="tx1"/>
                </a:solidFill>
              </a:rPr>
              <a:t>RecurFunc</a:t>
            </a:r>
            <a:r>
              <a:rPr lang="en-CA" sz="1400" b="1" dirty="0">
                <a:solidFill>
                  <a:schemeClr val="tx1"/>
                </a:solidFill>
              </a:rPr>
              <a:t>(1)</a:t>
            </a:r>
            <a:endParaRPr lang="en-CA" sz="1400" b="1" dirty="0">
              <a:solidFill>
                <a:srgbClr val="7F1F1F"/>
              </a:solidFill>
            </a:endParaRP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450D401B-5B27-807B-4EC3-5DE1D5192B32}"/>
              </a:ext>
            </a:extLst>
          </p:cNvPr>
          <p:cNvSpPr/>
          <p:nvPr/>
        </p:nvSpPr>
        <p:spPr>
          <a:xfrm>
            <a:off x="8713347" y="1286921"/>
            <a:ext cx="166045" cy="164645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b="1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B24B2E9-06D3-776F-0F4E-3EB9FCAB1462}"/>
              </a:ext>
            </a:extLst>
          </p:cNvPr>
          <p:cNvSpPr/>
          <p:nvPr/>
        </p:nvSpPr>
        <p:spPr>
          <a:xfrm>
            <a:off x="6645732" y="5127981"/>
            <a:ext cx="1275016" cy="217223"/>
          </a:xfrm>
          <a:prstGeom prst="roundRect">
            <a:avLst/>
          </a:prstGeom>
          <a:noFill/>
          <a:ln w="38100">
            <a:solidFill>
              <a:srgbClr val="AF7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 err="1">
                <a:solidFill>
                  <a:schemeClr val="tx1"/>
                </a:solidFill>
              </a:rPr>
              <a:t>RecurFunc</a:t>
            </a:r>
            <a:r>
              <a:rPr lang="en-CA" sz="1400" b="1" dirty="0">
                <a:solidFill>
                  <a:schemeClr val="tx1"/>
                </a:solidFill>
              </a:rPr>
              <a:t>(0)</a:t>
            </a:r>
            <a:endParaRPr lang="en-CA" sz="1400" b="1" dirty="0">
              <a:solidFill>
                <a:srgbClr val="7F1F1F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2AD9CA-D933-2586-B5C7-FA9D4C3DCF6E}"/>
              </a:ext>
            </a:extLst>
          </p:cNvPr>
          <p:cNvSpPr/>
          <p:nvPr/>
        </p:nvSpPr>
        <p:spPr>
          <a:xfrm>
            <a:off x="8379554" y="3704923"/>
            <a:ext cx="2832943" cy="2118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FFFFF0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FFFFEF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FFFFEB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FFFFE7</a:t>
            </a:r>
          </a:p>
          <a:p>
            <a:r>
              <a:rPr lang="en-CA" sz="1400" b="1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0x FFFFE0</a:t>
            </a:r>
          </a:p>
          <a:p>
            <a:pPr algn="ctr"/>
            <a:r>
              <a:rPr lang="en-CA" sz="1200" b="1" dirty="0">
                <a:solidFill>
                  <a:srgbClr val="7F1F1F"/>
                </a:solidFill>
                <a:latin typeface="Courier"/>
              </a:rPr>
              <a:t>…</a:t>
            </a:r>
            <a:endParaRPr lang="en-US" sz="1200" b="1" dirty="0">
              <a:solidFill>
                <a:srgbClr val="7F1F1F"/>
              </a:solidFill>
              <a:latin typeface="Courier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1A33520-F6DD-63E8-3DF8-A3E57C85F182}"/>
              </a:ext>
            </a:extLst>
          </p:cNvPr>
          <p:cNvSpPr/>
          <p:nvPr/>
        </p:nvSpPr>
        <p:spPr>
          <a:xfrm>
            <a:off x="9473771" y="3828908"/>
            <a:ext cx="1697047" cy="217223"/>
          </a:xfrm>
          <a:prstGeom prst="roundRect">
            <a:avLst/>
          </a:prstGeom>
          <a:noFill/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3      int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1A5EC60-CB96-1B74-01B1-6587785031AD}"/>
              </a:ext>
            </a:extLst>
          </p:cNvPr>
          <p:cNvSpPr/>
          <p:nvPr/>
        </p:nvSpPr>
        <p:spPr>
          <a:xfrm>
            <a:off x="9473771" y="4049656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rgbClr val="7F1F1F"/>
                </a:solidFill>
              </a:rPr>
              <a:t>COLOR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804973-AFF9-25C4-FE2E-BEBB88634D3F}"/>
              </a:ext>
            </a:extLst>
          </p:cNvPr>
          <p:cNvSpPr txBox="1"/>
          <p:nvPr/>
        </p:nvSpPr>
        <p:spPr>
          <a:xfrm>
            <a:off x="9057837" y="3303383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tack / Auto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73567E-4F4F-381E-CFCF-5A325F3F2BE1}"/>
              </a:ext>
            </a:extLst>
          </p:cNvPr>
          <p:cNvSpPr txBox="1"/>
          <p:nvPr/>
        </p:nvSpPr>
        <p:spPr>
          <a:xfrm>
            <a:off x="11167292" y="3771771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1"/>
                </a:solidFill>
              </a:rPr>
              <a:t>input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A8E2E83-90DC-41B1-AB03-CA1DCBEE00FC}"/>
              </a:ext>
            </a:extLst>
          </p:cNvPr>
          <p:cNvSpPr/>
          <p:nvPr/>
        </p:nvSpPr>
        <p:spPr>
          <a:xfrm>
            <a:off x="9475410" y="4268871"/>
            <a:ext cx="1697047" cy="2172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2      int </a:t>
            </a: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8B6BD0-66C5-FFC1-E58A-2732A57CF055}"/>
              </a:ext>
            </a:extLst>
          </p:cNvPr>
          <p:cNvSpPr txBox="1"/>
          <p:nvPr/>
        </p:nvSpPr>
        <p:spPr>
          <a:xfrm>
            <a:off x="11175921" y="4235430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6"/>
                </a:solidFill>
              </a:rPr>
              <a:t>input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E14DC81-443D-4A3E-4EAD-AD691DFD4130}"/>
              </a:ext>
            </a:extLst>
          </p:cNvPr>
          <p:cNvSpPr/>
          <p:nvPr/>
        </p:nvSpPr>
        <p:spPr>
          <a:xfrm>
            <a:off x="9479291" y="4476660"/>
            <a:ext cx="1697047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chemeClr val="accent1"/>
                </a:solidFill>
              </a:rPr>
              <a:t>COLOR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EB381FD-4B5E-35A8-727A-CDE11F41590B}"/>
              </a:ext>
            </a:extLst>
          </p:cNvPr>
          <p:cNvSpPr/>
          <p:nvPr/>
        </p:nvSpPr>
        <p:spPr>
          <a:xfrm>
            <a:off x="9479389" y="4685839"/>
            <a:ext cx="1697047" cy="21722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1      int </a:t>
            </a: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01D3CE-9B5C-FD25-05B6-CA7BD683B68E}"/>
              </a:ext>
            </a:extLst>
          </p:cNvPr>
          <p:cNvSpPr txBox="1"/>
          <p:nvPr/>
        </p:nvSpPr>
        <p:spPr>
          <a:xfrm>
            <a:off x="11185065" y="4644061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2"/>
                </a:solidFill>
              </a:rPr>
              <a:t>input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93FE59C-F708-9D71-6E78-48DF551D65AA}"/>
              </a:ext>
            </a:extLst>
          </p:cNvPr>
          <p:cNvSpPr/>
          <p:nvPr/>
        </p:nvSpPr>
        <p:spPr>
          <a:xfrm>
            <a:off x="9485387" y="4903380"/>
            <a:ext cx="1697047" cy="21722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chemeClr val="accent6"/>
                </a:solidFill>
              </a:rPr>
              <a:t>COLOR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2B041A0-E71E-CA39-E908-DD7928A38C8F}"/>
              </a:ext>
            </a:extLst>
          </p:cNvPr>
          <p:cNvSpPr/>
          <p:nvPr/>
        </p:nvSpPr>
        <p:spPr>
          <a:xfrm>
            <a:off x="9482339" y="5119788"/>
            <a:ext cx="1697047" cy="21722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0      int</a:t>
            </a:r>
            <a:endParaRPr lang="en-CA" sz="1400" b="1" dirty="0">
              <a:solidFill>
                <a:schemeClr val="accent2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12B458-9D1F-365B-BCC9-434B31865127}"/>
              </a:ext>
            </a:extLst>
          </p:cNvPr>
          <p:cNvSpPr txBox="1"/>
          <p:nvPr/>
        </p:nvSpPr>
        <p:spPr>
          <a:xfrm>
            <a:off x="11182017" y="5089069"/>
            <a:ext cx="90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rgbClr val="AF7CD6"/>
                </a:solidFill>
              </a:rPr>
              <a:t>input</a:t>
            </a:r>
            <a:endParaRPr lang="en-US" sz="1200" dirty="0">
              <a:solidFill>
                <a:srgbClr val="AF7CD6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13E2AF8-D2EE-5705-813D-0D3A5D59468F}"/>
              </a:ext>
            </a:extLst>
          </p:cNvPr>
          <p:cNvSpPr/>
          <p:nvPr/>
        </p:nvSpPr>
        <p:spPr>
          <a:xfrm>
            <a:off x="9480189" y="5338628"/>
            <a:ext cx="1697047" cy="217223"/>
          </a:xfrm>
          <a:prstGeom prst="roundRect">
            <a:avLst/>
          </a:prstGeom>
          <a:noFill/>
          <a:ln w="38100">
            <a:solidFill>
              <a:srgbClr val="AF7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</a:rPr>
              <a:t>Return Loc: </a:t>
            </a:r>
            <a:r>
              <a:rPr lang="en-CA" sz="1400" b="1" dirty="0">
                <a:solidFill>
                  <a:schemeClr val="accent2"/>
                </a:solidFill>
              </a:rPr>
              <a:t>COLOR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4C68CA2-5697-DAAB-E3A7-A94835CB8809}"/>
              </a:ext>
            </a:extLst>
          </p:cNvPr>
          <p:cNvSpPr/>
          <p:nvPr/>
        </p:nvSpPr>
        <p:spPr>
          <a:xfrm>
            <a:off x="9497860" y="604648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L15Ex1-Recur.c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09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 tmFilter="0, 0; .2, .5; .8, .5; 1, 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250" autoRev="1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 tmFilter="0, 0; .2, .5; .8, .5; 1, 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8" dur="250" autoRev="1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 tmFilter="0, 0; .2, .5; .8, .5; 1, 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3" dur="250" autoRev="1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 tmFilter="0, 0; .2, .5; .8, .5; 1, 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6" dur="250" autoRev="1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 tmFilter="0, 0; .2, .5; .8, .5; 1, 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1" dur="250" autoRev="1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 tmFilter="0, 0; .2, .5; .8, .5; 1, 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4" dur="250" autoRev="1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9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2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4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 tmFilter="0, 0; .2, .5; .8, .5; 1, 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9" dur="250" autoRev="1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6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9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4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 tmFilter="0, 0; .2, .5; .8, .5; 1, 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6" dur="250" autoRev="1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6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4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500" tmFilter="0, 0; .2, .5; .8, .5; 1, 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3" dur="250" autoRev="1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0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3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4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500" tmFilter="0, 0; .2, .5; .8, .5; 1, 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0" dur="250" autoRev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5" grpId="0" animBg="1"/>
      <p:bldP spid="22" grpId="0" animBg="1"/>
      <p:bldP spid="23" grpId="0"/>
      <p:bldP spid="24" grpId="0" animBg="1"/>
      <p:bldP spid="29" grpId="0" animBg="1"/>
      <p:bldP spid="29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4" grpId="0" animBg="1"/>
      <p:bldP spid="34" grpId="1" animBg="1"/>
      <p:bldP spid="34" grpId="2" animBg="1"/>
      <p:bldP spid="35" grpId="0" animBg="1"/>
      <p:bldP spid="35" grpId="1" animBg="1"/>
      <p:bldP spid="37" grpId="0" animBg="1"/>
      <p:bldP spid="37" grpId="1" animBg="1"/>
      <p:bldP spid="37" grpId="2" animBg="1"/>
      <p:bldP spid="38" grpId="0" animBg="1"/>
      <p:bldP spid="38" grpId="2" animBg="1"/>
      <p:bldP spid="39" grpId="0" animBg="1"/>
      <p:bldP spid="40" grpId="0" animBg="1"/>
      <p:bldP spid="40" grpId="1" animBg="1"/>
      <p:bldP spid="41" grpId="0" animBg="1"/>
      <p:bldP spid="41" grpId="1" animBg="1"/>
      <p:bldP spid="41" grpId="2" animBg="1"/>
      <p:bldP spid="42" grpId="0"/>
      <p:bldP spid="44" grpId="0"/>
      <p:bldP spid="44" grpId="1"/>
      <p:bldP spid="46" grpId="0" animBg="1"/>
      <p:bldP spid="46" grpId="1" animBg="1"/>
      <p:bldP spid="47" grpId="0"/>
      <p:bldP spid="47" grpId="1"/>
      <p:bldP spid="48" grpId="0" animBg="1"/>
      <p:bldP spid="48" grpId="1" animBg="1"/>
      <p:bldP spid="48" grpId="2" animBg="1"/>
      <p:bldP spid="49" grpId="0" animBg="1"/>
      <p:bldP spid="49" grpId="1" animBg="1"/>
      <p:bldP spid="50" grpId="0"/>
      <p:bldP spid="50" grpId="1"/>
      <p:bldP spid="51" grpId="0" animBg="1"/>
      <p:bldP spid="51" grpId="1" animBg="1"/>
      <p:bldP spid="51" grpId="2" animBg="1"/>
      <p:bldP spid="52" grpId="0" animBg="1"/>
      <p:bldP spid="52" grpId="1" animBg="1"/>
      <p:bldP spid="53" grpId="0"/>
      <p:bldP spid="53" grpId="2"/>
      <p:bldP spid="54" grpId="0" animBg="1"/>
      <p:bldP spid="54" grpId="1" animBg="1"/>
      <p:bldP spid="54" grpId="2" animBg="1"/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0F854F7-C647-C388-D0A3-9FEB7541BBF7}"/>
              </a:ext>
            </a:extLst>
          </p:cNvPr>
          <p:cNvSpPr txBox="1"/>
          <p:nvPr/>
        </p:nvSpPr>
        <p:spPr>
          <a:xfrm>
            <a:off x="6168705" y="3595509"/>
            <a:ext cx="3738192" cy="1384995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printMany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input)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&lt;= input;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(“Hi from #%d!\n”,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42056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519063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“When a function calls itself”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Feels like Inception (Awesome)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But…there is a problem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Recursion is great when…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Iterating through Structured List (</a:t>
            </a:r>
            <a:r>
              <a:rPr lang="en-CA" b="1" dirty="0"/>
              <a:t>2SI3</a:t>
            </a:r>
            <a:r>
              <a:rPr lang="en-CA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Sorting algorithms (</a:t>
            </a:r>
            <a:r>
              <a:rPr lang="en-CA" b="1" dirty="0"/>
              <a:t>2SI3</a:t>
            </a:r>
            <a:r>
              <a:rPr lang="en-CA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Program size / memory usage restrictions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Faster stack response (hardware dependent)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EEBA5-52E8-2F24-82DF-462C1FD7BF08}"/>
              </a:ext>
            </a:extLst>
          </p:cNvPr>
          <p:cNvSpPr txBox="1"/>
          <p:nvPr/>
        </p:nvSpPr>
        <p:spPr>
          <a:xfrm>
            <a:off x="6168705" y="2517255"/>
            <a:ext cx="3738192" cy="101566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RecurFunc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(3);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6168705" y="885004"/>
            <a:ext cx="3738192" cy="156966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RecurFunc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input)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(input == 0)	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RecurFunc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(input - 1);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(“Hi from #%d! \n”, input);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4C68CA2-5697-DAAB-E3A7-A94835CB8809}"/>
              </a:ext>
            </a:extLst>
          </p:cNvPr>
          <p:cNvSpPr/>
          <p:nvPr/>
        </p:nvSpPr>
        <p:spPr>
          <a:xfrm>
            <a:off x="9094069" y="4593719"/>
            <a:ext cx="2118428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L15Ex1-Normal.c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4CAD3876-56CE-51B1-DB8E-1B371EAB89B4}"/>
              </a:ext>
            </a:extLst>
          </p:cNvPr>
          <p:cNvSpPr/>
          <p:nvPr/>
        </p:nvSpPr>
        <p:spPr>
          <a:xfrm>
            <a:off x="2438063" y="2666270"/>
            <a:ext cx="2425042" cy="872499"/>
          </a:xfrm>
          <a:prstGeom prst="wedgeRectCallout">
            <a:avLst>
              <a:gd name="adj1" fmla="val 98872"/>
              <a:gd name="adj2" fmla="val 7847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 could have just written a normal function to do exactly the same thing!</a:t>
            </a:r>
            <a:endParaRPr lang="en-US" sz="1600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182B54-77C3-E2B2-C089-6D0BD2A87E5B}"/>
              </a:ext>
            </a:extLst>
          </p:cNvPr>
          <p:cNvSpPr/>
          <p:nvPr/>
        </p:nvSpPr>
        <p:spPr>
          <a:xfrm>
            <a:off x="9351015" y="992749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L15Ex1-Recur.c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76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5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40528"/>
            <a:ext cx="10515600" cy="52274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cs typeface="Times New Roman" panose="02020603050405020304" pitchFamily="18" charset="0"/>
              </a:rPr>
              <a:t>The </a:t>
            </a:r>
            <a:r>
              <a:rPr lang="en-US" sz="2400" b="1" i="1" dirty="0">
                <a:cs typeface="Times New Roman" panose="02020603050405020304" pitchFamily="18" charset="0"/>
              </a:rPr>
              <a:t>factorial</a:t>
            </a:r>
            <a:r>
              <a:rPr lang="en-US" sz="2400" dirty="0">
                <a:cs typeface="Times New Roman" panose="02020603050405020304" pitchFamily="18" charset="0"/>
              </a:rPr>
              <a:t> of a non-negative integer </a:t>
            </a:r>
            <a:r>
              <a:rPr lang="en-US" sz="2400" b="1" i="1" dirty="0">
                <a:cs typeface="Times New Roman" panose="02020603050405020304" pitchFamily="18" charset="0"/>
              </a:rPr>
              <a:t>n</a:t>
            </a:r>
            <a:r>
              <a:rPr lang="en-US" sz="2400" dirty="0">
                <a:cs typeface="Times New Roman" panose="02020603050405020304" pitchFamily="18" charset="0"/>
              </a:rPr>
              <a:t> is the product of all positive integers from </a:t>
            </a:r>
            <a:r>
              <a:rPr lang="en-US" sz="2400" b="1" dirty="0">
                <a:cs typeface="Times New Roman" panose="02020603050405020304" pitchFamily="18" charset="0"/>
              </a:rPr>
              <a:t>1</a:t>
            </a:r>
            <a:r>
              <a:rPr lang="en-US" sz="2400" dirty="0">
                <a:cs typeface="Times New Roman" panose="02020603050405020304" pitchFamily="18" charset="0"/>
              </a:rPr>
              <a:t> to </a:t>
            </a:r>
            <a:r>
              <a:rPr lang="en-US" sz="2400" b="1" i="1" dirty="0">
                <a:cs typeface="Times New Roman" panose="02020603050405020304" pitchFamily="18" charset="0"/>
              </a:rPr>
              <a:t>n</a:t>
            </a:r>
            <a:r>
              <a:rPr lang="en-US" sz="2400" dirty="0"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25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n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!</a:t>
            </a:r>
            <a:r>
              <a:rPr lang="en-US" dirty="0">
                <a:cs typeface="Times New Roman" panose="02020603050405020304" pitchFamily="18" charset="0"/>
              </a:rPr>
              <a:t> = 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× (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– 1) × (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– 2) × (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– 3) × … × 3 × 2 × 1</a:t>
            </a:r>
          </a:p>
          <a:p>
            <a:pPr lvl="1">
              <a:lnSpc>
                <a:spcPct val="250000"/>
              </a:lnSpc>
              <a:spcBef>
                <a:spcPts val="0"/>
              </a:spcBef>
            </a:pPr>
            <a:r>
              <a:rPr lang="en-US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n</a:t>
            </a:r>
            <a:r>
              <a:rPr 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!</a:t>
            </a:r>
            <a:r>
              <a:rPr lang="en-US" b="1" dirty="0">
                <a:cs typeface="Times New Roman" panose="02020603050405020304" pitchFamily="18" charset="0"/>
              </a:rPr>
              <a:t> = </a:t>
            </a:r>
            <a:r>
              <a:rPr lang="en-US" b="1" i="1" dirty="0">
                <a:cs typeface="Times New Roman" panose="02020603050405020304" pitchFamily="18" charset="0"/>
              </a:rPr>
              <a:t>n</a:t>
            </a:r>
            <a:r>
              <a:rPr lang="en-US" b="1" dirty="0">
                <a:cs typeface="Times New Roman" panose="02020603050405020304" pitchFamily="18" charset="0"/>
              </a:rPr>
              <a:t> × (</a:t>
            </a:r>
            <a:r>
              <a:rPr lang="en-US" b="1" i="1" dirty="0">
                <a:cs typeface="Times New Roman" panose="02020603050405020304" pitchFamily="18" charset="0"/>
              </a:rPr>
              <a:t>n</a:t>
            </a:r>
            <a:r>
              <a:rPr lang="en-US" b="1" dirty="0">
                <a:cs typeface="Times New Roman" panose="02020603050405020304" pitchFamily="18" charset="0"/>
              </a:rPr>
              <a:t> – 1)!</a:t>
            </a:r>
          </a:p>
          <a:p>
            <a:pPr lvl="1">
              <a:lnSpc>
                <a:spcPct val="250000"/>
              </a:lnSpc>
              <a:spcBef>
                <a:spcPts val="0"/>
              </a:spcBef>
            </a:pPr>
            <a:r>
              <a:rPr lang="en-US" dirty="0">
                <a:cs typeface="Times New Roman" panose="02020603050405020304" pitchFamily="18" charset="0"/>
              </a:rPr>
              <a:t>0!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F5CF5-028E-172D-D167-85E1143C6D95}"/>
              </a:ext>
            </a:extLst>
          </p:cNvPr>
          <p:cNvSpPr txBox="1"/>
          <p:nvPr/>
        </p:nvSpPr>
        <p:spPr>
          <a:xfrm>
            <a:off x="838200" y="442472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 Example: Factorial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A5174CEE-08B2-3262-0BFA-39B773600EEC}"/>
              </a:ext>
            </a:extLst>
          </p:cNvPr>
          <p:cNvSpPr/>
          <p:nvPr/>
        </p:nvSpPr>
        <p:spPr>
          <a:xfrm flipH="1">
            <a:off x="5911006" y="3703106"/>
            <a:ext cx="4071194" cy="644607"/>
          </a:xfrm>
          <a:prstGeom prst="wedgeRectCallout">
            <a:avLst>
              <a:gd name="adj1" fmla="val 106894"/>
              <a:gd name="adj2" fmla="val -17776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cs typeface="Times New Roman" panose="02020603050405020304" pitchFamily="18" charset="0"/>
              </a:rPr>
              <a:t>The definition of factorial includes factorial, albeit on a smaller subproblem </a:t>
            </a:r>
            <a:r>
              <a:rPr lang="en-US" sz="1600" b="1" dirty="0">
                <a:solidFill>
                  <a:schemeClr val="tx1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Recursion</a:t>
            </a:r>
            <a:endParaRPr lang="en-US" sz="1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8C8DD3-7E4C-D2F5-83BC-C53E0DCB9203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206430-1682-2A2C-5A57-FEB7EC16D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16" name="Slide Number Placeholder 12">
            <a:extLst>
              <a:ext uri="{FF2B5EF4-FFF2-40B4-BE49-F238E27FC236}">
                <a16:creationId xmlns:a16="http://schemas.microsoft.com/office/drawing/2014/main" id="{25532918-F6F4-4B53-0464-88B0A740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468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1F52C36-89EA-4C8D-BC56-FB659D62971D}"/>
              </a:ext>
            </a:extLst>
          </p:cNvPr>
          <p:cNvSpPr txBox="1">
            <a:spLocks/>
          </p:cNvSpPr>
          <p:nvPr/>
        </p:nvSpPr>
        <p:spPr>
          <a:xfrm>
            <a:off x="832658" y="2805697"/>
            <a:ext cx="10379840" cy="2829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cs typeface="Times New Roman" panose="02020603050405020304" pitchFamily="18" charset="0"/>
              </a:rPr>
              <a:t>Would the above code work?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cs typeface="Times New Roman" panose="02020603050405020304" pitchFamily="18" charset="0"/>
              </a:rPr>
              <a:t>No, it will not. Recursive calls to </a:t>
            </a:r>
            <a:r>
              <a:rPr lang="en-US" sz="1800" i="1" dirty="0">
                <a:cs typeface="Times New Roman" panose="02020603050405020304" pitchFamily="18" charset="0"/>
              </a:rPr>
              <a:t>factorial</a:t>
            </a:r>
            <a:r>
              <a:rPr lang="en-US" sz="1800" dirty="0">
                <a:cs typeface="Times New Roman" panose="02020603050405020304" pitchFamily="18" charset="0"/>
              </a:rPr>
              <a:t> continue with smaller and smaller numbers, all the way down to 0 but do not stop there.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cs typeface="Times New Roman" panose="02020603050405020304" pitchFamily="18" charset="0"/>
              </a:rPr>
              <a:t>Eventually </a:t>
            </a:r>
            <a:r>
              <a:rPr lang="en-US" sz="1800" i="1" dirty="0">
                <a:cs typeface="Times New Roman" panose="02020603050405020304" pitchFamily="18" charset="0"/>
              </a:rPr>
              <a:t>factorial</a:t>
            </a:r>
            <a:r>
              <a:rPr lang="en-US" sz="1800" dirty="0">
                <a:cs typeface="Times New Roman" panose="02020603050405020304" pitchFamily="18" charset="0"/>
              </a:rPr>
              <a:t> starts getting called with negative numbers </a:t>
            </a:r>
            <a:r>
              <a:rPr lang="en-US" sz="1800" dirty="0">
                <a:cs typeface="Times New Roman" panose="02020603050405020304" pitchFamily="18" charset="0"/>
                <a:sym typeface="Wingdings" panose="05000000000000000000" pitchFamily="2" charset="2"/>
              </a:rPr>
              <a:t> Infinite Recursion</a:t>
            </a:r>
            <a:endParaRPr lang="en-US" sz="1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cs typeface="Times New Roman" panose="02020603050405020304" pitchFamily="18" charset="0"/>
              </a:rPr>
              <a:t>What can we do to fix this?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cs typeface="Times New Roman" panose="02020603050405020304" pitchFamily="18" charset="0"/>
              </a:rPr>
              <a:t>Use a </a:t>
            </a:r>
            <a:r>
              <a:rPr lang="en-US" sz="1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Base Case </a:t>
            </a:r>
            <a:r>
              <a:rPr lang="en-US" sz="1800" dirty="0">
                <a:cs typeface="Times New Roman" panose="02020603050405020304" pitchFamily="18" charset="0"/>
              </a:rPr>
              <a:t>or</a:t>
            </a:r>
            <a:r>
              <a:rPr lang="en-US" sz="1800" b="1" dirty="0"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Termination Clause</a:t>
            </a:r>
            <a:endParaRPr lang="en-US" sz="1800" i="1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0495C-FF6B-EAEB-B662-97639656AFA5}"/>
              </a:ext>
            </a:extLst>
          </p:cNvPr>
          <p:cNvSpPr txBox="1"/>
          <p:nvPr/>
        </p:nvSpPr>
        <p:spPr>
          <a:xfrm>
            <a:off x="838200" y="442472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try to write a recursive C code for factorial</a:t>
            </a:r>
            <a:endParaRPr lang="en-CA" sz="40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F7700-F86C-ADB3-FFC7-8D82F655E368}"/>
              </a:ext>
            </a:extLst>
          </p:cNvPr>
          <p:cNvSpPr txBox="1"/>
          <p:nvPr/>
        </p:nvSpPr>
        <p:spPr>
          <a:xfrm>
            <a:off x="3538569" y="1316308"/>
            <a:ext cx="5114862" cy="1323439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Recursive implementation of Factorial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 * factorial(n-1));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AE873B-53A8-7760-6199-3C8F35E44A2F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0451D9-5634-6C0F-FFA0-55062183D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15" name="Slide Number Placeholder 12">
            <a:extLst>
              <a:ext uri="{FF2B5EF4-FFF2-40B4-BE49-F238E27FC236}">
                <a16:creationId xmlns:a16="http://schemas.microsoft.com/office/drawing/2014/main" id="{517F692E-A448-3B88-EB5C-AB1BE801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3930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340528"/>
            <a:ext cx="10515600" cy="52274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 dirty="0">
                <a:cs typeface="Times New Roman" panose="02020603050405020304" pitchFamily="18" charset="0"/>
              </a:rPr>
              <a:t>A case in which the function will not recurse is known as the </a:t>
            </a: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base case (termination clause)</a:t>
            </a:r>
            <a:r>
              <a:rPr lang="en-US" sz="2000" b="1" dirty="0"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cs typeface="Times New Roman" panose="02020603050405020304" pitchFamily="18" charset="0"/>
              </a:rPr>
              <a:t>Achieved by using conditional statements.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A recursive function needs at least one base case to avoid going into indefinite recursion.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cs typeface="Times New Roman" panose="02020603050405020304" pitchFamily="18" charset="0"/>
              </a:rPr>
              <a:t>What can be a base case for our </a:t>
            </a:r>
            <a:r>
              <a:rPr lang="en-US" sz="2000" i="1" dirty="0">
                <a:cs typeface="Times New Roman" panose="02020603050405020304" pitchFamily="18" charset="0"/>
              </a:rPr>
              <a:t>Factorial </a:t>
            </a:r>
            <a:r>
              <a:rPr lang="en-US" sz="2000" dirty="0">
                <a:cs typeface="Times New Roman" panose="02020603050405020304" pitchFamily="18" charset="0"/>
              </a:rPr>
              <a:t>example?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cs typeface="Times New Roman" panose="02020603050405020304" pitchFamily="18" charset="0"/>
              </a:rPr>
              <a:t>Remember the definition of factorial: n! = n × (n – 1)!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cs typeface="Times New Roman" panose="02020603050405020304" pitchFamily="18" charset="0"/>
              </a:rPr>
              <a:t>And: 0! = 1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000" dirty="0"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BAD556-2983-A43E-CE4A-D3258BF6654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7578EE-12E2-0FE6-B4DC-E9E96AF89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01CBF3-B0DA-991B-8663-30765AEC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F437EF-BF7C-DB57-3BC5-46AC1E13B18D}"/>
              </a:ext>
            </a:extLst>
          </p:cNvPr>
          <p:cNvSpPr txBox="1"/>
          <p:nvPr/>
        </p:nvSpPr>
        <p:spPr>
          <a:xfrm>
            <a:off x="838200" y="442472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 – Base Case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370A73B1-C3B6-8F9C-39DD-2C8DED2CFFF4}"/>
              </a:ext>
            </a:extLst>
          </p:cNvPr>
          <p:cNvSpPr/>
          <p:nvPr/>
        </p:nvSpPr>
        <p:spPr>
          <a:xfrm flipH="1">
            <a:off x="1722329" y="4700733"/>
            <a:ext cx="1525214" cy="553235"/>
          </a:xfrm>
          <a:prstGeom prst="wedgeRectCallout">
            <a:avLst>
              <a:gd name="adj1" fmla="val 15315"/>
              <a:gd name="adj2" fmla="val -15481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cs typeface="Times New Roman" panose="02020603050405020304" pitchFamily="18" charset="0"/>
              </a:rPr>
              <a:t>This can be the Base Case.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23E5FF-C7E0-5C32-F1F1-BA3DFAB509B6}"/>
              </a:ext>
            </a:extLst>
          </p:cNvPr>
          <p:cNvSpPr txBox="1"/>
          <p:nvPr/>
        </p:nvSpPr>
        <p:spPr>
          <a:xfrm>
            <a:off x="4686889" y="3796709"/>
            <a:ext cx="6525608" cy="2062103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Revised Recursive implementation of Factorial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(n==0)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 	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Base Case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 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 	</a:t>
            </a: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(n*Factorial(n-1));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Recursive Call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1CFBB9-1D5B-ED04-8AE9-AA214BDF6A5F}"/>
              </a:ext>
            </a:extLst>
          </p:cNvPr>
          <p:cNvSpPr/>
          <p:nvPr/>
        </p:nvSpPr>
        <p:spPr>
          <a:xfrm>
            <a:off x="9043104" y="4175684"/>
            <a:ext cx="216939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L15Ex2-Fact_Recur.c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87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0F854F7-C647-C388-D0A3-9FEB7541BBF7}"/>
              </a:ext>
            </a:extLst>
          </p:cNvPr>
          <p:cNvSpPr txBox="1"/>
          <p:nvPr/>
        </p:nvSpPr>
        <p:spPr>
          <a:xfrm>
            <a:off x="6415091" y="2510886"/>
            <a:ext cx="3738192" cy="2031325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Non-Recursive Equivalence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myFactorial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result = 1;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 0;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result *=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result;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72127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 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505607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What does the following function do?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1269544" y="2520200"/>
            <a:ext cx="4182304" cy="224676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Recursive Implementation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mysteryFunc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(n == 0)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(n == 1)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 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mysteryFunc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(n - 1);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4C68CA2-5697-DAAB-E3A7-A94835CB8809}"/>
              </a:ext>
            </a:extLst>
          </p:cNvPr>
          <p:cNvSpPr/>
          <p:nvPr/>
        </p:nvSpPr>
        <p:spPr>
          <a:xfrm>
            <a:off x="8675293" y="4274834"/>
            <a:ext cx="2441233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L15Ex2-Fact_Normal.c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DA418BFA-EE5C-9A08-149F-EBCAC37FB755}"/>
              </a:ext>
            </a:extLst>
          </p:cNvPr>
          <p:cNvSpPr/>
          <p:nvPr/>
        </p:nvSpPr>
        <p:spPr>
          <a:xfrm>
            <a:off x="2895968" y="5011880"/>
            <a:ext cx="2425042" cy="748507"/>
          </a:xfrm>
          <a:prstGeom prst="wedgeRectCallout">
            <a:avLst>
              <a:gd name="adj1" fmla="val -27822"/>
              <a:gd name="adj2" fmla="val -10799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Computes N!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i.e., Factorial of N</a:t>
            </a:r>
          </a:p>
        </p:txBody>
      </p:sp>
    </p:spTree>
    <p:extLst>
      <p:ext uri="{BB962C8B-B14F-4D97-AF65-F5344CB8AC3E}">
        <p14:creationId xmlns:p14="http://schemas.microsoft.com/office/powerpoint/2010/main" val="241875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55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72127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Recursion 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505607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What does the following function do?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76C92C-1B12-A0EF-CDA5-A2D8AFED4AE0}"/>
              </a:ext>
            </a:extLst>
          </p:cNvPr>
          <p:cNvSpPr txBox="1"/>
          <p:nvPr/>
        </p:nvSpPr>
        <p:spPr>
          <a:xfrm>
            <a:off x="1269544" y="2520200"/>
            <a:ext cx="4182304" cy="2462213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Recursive Implementation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mysteryFunc2(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(n == 0)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(n == 1)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mysteryFunc2(n - 1) 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+ mysteryFunc2(n – 2);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182B54-77C3-E2B2-C089-6D0BD2A87E5B}"/>
              </a:ext>
            </a:extLst>
          </p:cNvPr>
          <p:cNvSpPr/>
          <p:nvPr/>
        </p:nvSpPr>
        <p:spPr>
          <a:xfrm>
            <a:off x="3808810" y="3006061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L15Ex3-Fibo.c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DA418BFA-EE5C-9A08-149F-EBCAC37FB755}"/>
              </a:ext>
            </a:extLst>
          </p:cNvPr>
          <p:cNvSpPr/>
          <p:nvPr/>
        </p:nvSpPr>
        <p:spPr>
          <a:xfrm>
            <a:off x="2111957" y="5124897"/>
            <a:ext cx="3339891" cy="559049"/>
          </a:xfrm>
          <a:prstGeom prst="wedgeRectCallout">
            <a:avLst>
              <a:gd name="adj1" fmla="val -27822"/>
              <a:gd name="adj2" fmla="val -10799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Computes N</a:t>
            </a:r>
            <a:r>
              <a:rPr lang="en-US" b="1" baseline="30000" dirty="0">
                <a:solidFill>
                  <a:schemeClr val="tx1"/>
                </a:solidFill>
              </a:rPr>
              <a:t>th</a:t>
            </a:r>
            <a:r>
              <a:rPr lang="en-US" b="1" dirty="0">
                <a:solidFill>
                  <a:schemeClr val="tx1"/>
                </a:solidFill>
              </a:rPr>
              <a:t> Fibonacci Number</a:t>
            </a:r>
            <a:endParaRPr lang="en-US" b="1" dirty="0">
              <a:solidFill>
                <a:schemeClr val="tx1"/>
              </a:solidFill>
              <a:latin typeface="Couri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DFC040-0FBA-6260-264F-93629A5640DC}"/>
              </a:ext>
            </a:extLst>
          </p:cNvPr>
          <p:cNvSpPr txBox="1"/>
          <p:nvPr/>
        </p:nvSpPr>
        <p:spPr>
          <a:xfrm>
            <a:off x="6303264" y="667525"/>
            <a:ext cx="50560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0000FF"/>
                </a:solidFill>
              </a:rPr>
              <a:t>Design a Recursive Function that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Takes in 1 positive integer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Generates the following output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AF7440-AB0F-4ABC-9B4F-8CA0BF219A14}"/>
              </a:ext>
            </a:extLst>
          </p:cNvPr>
          <p:cNvSpPr txBox="1"/>
          <p:nvPr/>
        </p:nvSpPr>
        <p:spPr>
          <a:xfrm>
            <a:off x="6602992" y="1713965"/>
            <a:ext cx="2394704" cy="1815882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Assume input = 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 = -3…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 = -2…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 = -1…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LIFT OFF!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 = +1…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 = +2…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 = +3…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06852D-16AD-27B7-B43D-F66DEEAFFE58}"/>
              </a:ext>
            </a:extLst>
          </p:cNvPr>
          <p:cNvSpPr txBox="1"/>
          <p:nvPr/>
        </p:nvSpPr>
        <p:spPr>
          <a:xfrm>
            <a:off x="7453223" y="3220542"/>
            <a:ext cx="3759273" cy="2677656"/>
          </a:xfrm>
          <a:prstGeom prst="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Recursion Design Guideline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Recursive_Function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Termination Clause / Base Case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(test_condition1)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value 1;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(test_condition2)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value 2;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Pre-Termination Operations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recursive calls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Post-Termination Operations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1721C1-722D-1FF2-6743-B83D60184A89}"/>
              </a:ext>
            </a:extLst>
          </p:cNvPr>
          <p:cNvSpPr/>
          <p:nvPr/>
        </p:nvSpPr>
        <p:spPr>
          <a:xfrm>
            <a:off x="8831303" y="2129463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L15Ex4-Timer.c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16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5" grpId="0" animBg="1"/>
      <p:bldP spid="2" grpId="0"/>
      <p:bldP spid="12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468387"/>
            <a:ext cx="6725138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Call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Every level of function call is linked to its invoker via the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Conceptually helpful for understanding recursion</a:t>
            </a:r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Recursion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FF"/>
                </a:solidFill>
              </a:rPr>
              <a:t>Function calling itself within the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Every call creates a </a:t>
            </a:r>
            <a:r>
              <a:rPr lang="en-US" b="1" dirty="0"/>
              <a:t>new instance</a:t>
            </a:r>
            <a:r>
              <a:rPr lang="en-US" dirty="0"/>
              <a:t> of the function with </a:t>
            </a:r>
            <a:r>
              <a:rPr lang="en-US" b="1" dirty="0"/>
              <a:t>different copies of local variables</a:t>
            </a:r>
            <a:r>
              <a:rPr lang="en-US" dirty="0"/>
              <a:t> on the Stack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</a:rPr>
              <a:t>Recursion takes the advantage of Call Stack creation and destruction to </a:t>
            </a:r>
            <a:r>
              <a:rPr lang="en-US" b="1" dirty="0">
                <a:solidFill>
                  <a:srgbClr val="FF0000"/>
                </a:solidFill>
              </a:rPr>
              <a:t>facilitate repetition without using loops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Recursion needs a </a:t>
            </a:r>
            <a:r>
              <a:rPr lang="en-US" b="1" dirty="0"/>
              <a:t>base case</a:t>
            </a:r>
            <a:r>
              <a:rPr lang="en-US" dirty="0"/>
              <a:t> or </a:t>
            </a:r>
            <a:r>
              <a:rPr lang="en-US" b="1" dirty="0"/>
              <a:t>termination clause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Though Recursion is not an impactful tool for beginners, it will prove its worthiness in future courses</a:t>
            </a: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OOD – Polymorphism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Static vs. Late Binding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Virtual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Polymorphism and OOD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34596</TotalTime>
  <Words>2538</Words>
  <Application>Microsoft Office PowerPoint</Application>
  <PresentationFormat>Widescreen</PresentationFormat>
  <Paragraphs>544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</vt:lpstr>
      <vt:lpstr>Courier New</vt:lpstr>
      <vt:lpstr>Times New Roman</vt:lpstr>
      <vt:lpstr>Office Theme</vt:lpstr>
      <vt:lpstr>PowerPoint Presentation</vt:lpstr>
      <vt:lpstr>PowerPoint Presentation</vt:lpstr>
      <vt:lpstr>Call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15 - Recursion</dc:title>
  <dc:creator>Shahrukh Athar</dc:creator>
  <cp:lastModifiedBy>Shahrukh Athar</cp:lastModifiedBy>
  <cp:revision>697</cp:revision>
  <dcterms:created xsi:type="dcterms:W3CDTF">2018-10-02T00:35:18Z</dcterms:created>
  <dcterms:modified xsi:type="dcterms:W3CDTF">2024-11-23T19:04:58Z</dcterms:modified>
</cp:coreProperties>
</file>