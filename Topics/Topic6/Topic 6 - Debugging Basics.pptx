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468" r:id="rId5"/>
    <p:sldId id="264" r:id="rId6"/>
    <p:sldId id="270" r:id="rId7"/>
    <p:sldId id="469" r:id="rId8"/>
    <p:sldId id="470" r:id="rId9"/>
    <p:sldId id="447" r:id="rId10"/>
    <p:sldId id="453" r:id="rId11"/>
    <p:sldId id="448" r:id="rId12"/>
    <p:sldId id="449" r:id="rId13"/>
    <p:sldId id="450" r:id="rId14"/>
    <p:sldId id="451" r:id="rId15"/>
    <p:sldId id="467" r:id="rId16"/>
    <p:sldId id="454" r:id="rId17"/>
    <p:sldId id="455" r:id="rId18"/>
    <p:sldId id="457" r:id="rId19"/>
    <p:sldId id="461" r:id="rId20"/>
    <p:sldId id="459" r:id="rId21"/>
    <p:sldId id="462" r:id="rId22"/>
    <p:sldId id="463" r:id="rId23"/>
    <p:sldId id="464" r:id="rId24"/>
    <p:sldId id="465" r:id="rId25"/>
    <p:sldId id="46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7F1F1F"/>
    <a:srgbClr val="FFDDDD"/>
    <a:srgbClr val="A870D2"/>
    <a:srgbClr val="E9EBF5"/>
    <a:srgbClr val="EBF1E9"/>
    <a:srgbClr val="FF7D7D"/>
    <a:srgbClr val="FFC000"/>
    <a:srgbClr val="E8D9F3"/>
    <a:srgbClr val="D1B3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49FD1-C801-49A5-8B3B-7E4466140B0B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F8C59-6400-4A47-9B68-202DC97D1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41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0B6A-6EA8-48B1-890E-DBE9F55C9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041BC4-FC72-4C99-A6E3-D36F48E00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B7F54-454F-4230-BCD0-7E298954C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61BE9-5CD9-4798-8B28-41A7B3B21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23F6D-6949-4755-9EB3-0B4CF3682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6534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C3B6A-6FB6-43A1-923B-948DA708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2D120-9635-40F5-BD6A-8B18A091E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2D18D-D540-45BC-92C8-5C043E6BE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9A943-3396-4512-9E17-E9C48D40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3FB98-9712-4920-84AA-67299297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7841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C0B3-F2E8-4150-9C9F-249EA1EE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89AC4-4CCA-41C9-8CD3-FDA4F8BFD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67CB5-DCF0-4F91-A3A4-AC18FA8D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D0D37-7F5D-4DA2-928A-A46FC161A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35497-1021-4F40-B052-5FDB6EA00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1710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8113F-9A27-4454-9066-1D4816CBA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7B618-A31F-4B60-9C62-B8612EFF3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96AB5-6DB6-442F-A300-81550E203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FC75A-6003-426C-9DB2-9B39A4B0D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B4B50-F363-4912-A26C-0359D566C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16A83-7103-44F3-87B3-CEE5D964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4262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81195-ACB2-4934-8F4E-F2958669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58A89-F5A9-4F9B-A223-97C13BC23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6795C-363C-48DB-AD3D-2F9C61E1E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E36750-9C96-4B01-9805-33AC96466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1DC454-D419-49C4-8D63-67A4795D95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43FABF-0142-467C-AE89-DE5CD45B0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DB3F96-5224-4C13-AD6F-1105B1ADA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A5A20E-F42A-4D9D-B91C-6088C1DC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012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B7978-81C5-4AE1-8616-9BD6D82E9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3CD8A4-8B49-41C6-B266-DDCE9828A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EAF09-62CD-4D41-A12D-7A187B15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16380-B9B6-4A57-92A4-92928B666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8800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50F4B-56DD-47FF-8723-5B8E812DB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0A2383-5FD6-4CA9-B869-66F36C29F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04989-A74B-47B9-BBF3-7E03ED0AF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4822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FE9DE-5FE6-448D-8017-76CEB79B7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F5170-09A8-4802-948A-2FC134249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3ADFF-B73A-409D-B75B-F2CD7B6DD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10021-EAD0-4B81-B79C-468DFF64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38279-373B-4DD6-9B4D-8391BC7B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7FDA3-5AFE-4A11-A0BE-334D33D8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6948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59788-A568-4DD7-ADA9-9ABF1663C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FC9A0F-20B9-4F4D-8494-51CC0F0F15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3D0EFE-BCFC-4795-81FA-C1868FB99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51377-1691-4253-8517-5C1042A92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94FC9-DA1F-4922-BE56-216E722B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2F70E-C891-4B2C-90E2-48DF1E698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696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1662-B2C5-4D3D-A91F-576556E3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83262-9C38-48C2-92DD-DFF488E74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F95AE-11FE-461F-86AA-DD7226E11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4B16A-019A-4707-B5FE-6A7A4FAA5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9DE2A-7C3E-4387-BD36-F66C7D0C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9342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34312D-85D8-4F4E-9225-EE35F6777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A2784-F633-44EE-8524-4C659B6A1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275D-A9E9-4573-A113-62A0D463E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45AB9-9C02-4C46-A2F5-EA99128AA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DAC47-ACD1-475E-929F-BEA3913CD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022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61F7F-5C44-431A-8DF8-3CE3DE3D3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1CD12-5D97-4A00-9D87-C774CAFD4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3DE7A-C95D-4242-B510-AF0B312622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BFC9D-8A37-4207-9EED-DA2ABD1734E0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80F37-BB84-4C94-94FA-DF32380325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C9D4C-3C3D-49C6-9E5A-9FEE72A28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709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39D983-FBB4-420A-9D1B-9D486DEE0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4" y="0"/>
            <a:ext cx="3158763" cy="18707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2BEA56-DD51-434A-8A58-1499DABCDB67}"/>
              </a:ext>
            </a:extLst>
          </p:cNvPr>
          <p:cNvSpPr txBox="1"/>
          <p:nvPr/>
        </p:nvSpPr>
        <p:spPr>
          <a:xfrm>
            <a:off x="3245739" y="2611819"/>
            <a:ext cx="570060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60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Debugging Basics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32D380-33B6-48EC-8744-F89F20911832}"/>
              </a:ext>
            </a:extLst>
          </p:cNvPr>
          <p:cNvSpPr txBox="1"/>
          <p:nvPr/>
        </p:nvSpPr>
        <p:spPr>
          <a:xfrm>
            <a:off x="3975707" y="1867574"/>
            <a:ext cx="4225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32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COMPENG 2SH4 Topic 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B2A7AD-26D4-5644-133F-FD12A25A1B0C}"/>
              </a:ext>
            </a:extLst>
          </p:cNvPr>
          <p:cNvSpPr txBox="1"/>
          <p:nvPr/>
        </p:nvSpPr>
        <p:spPr>
          <a:xfrm>
            <a:off x="4185188" y="5068547"/>
            <a:ext cx="3821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/>
              <a:t>Dr. Shahrukh Athar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F5F47E-81E9-363D-B55C-96BF1531A2B3}"/>
              </a:ext>
            </a:extLst>
          </p:cNvPr>
          <p:cNvSpPr txBox="1"/>
          <p:nvPr/>
        </p:nvSpPr>
        <p:spPr>
          <a:xfrm>
            <a:off x="1388853" y="6596390"/>
            <a:ext cx="108031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Credit: The current version of these slides has been developed by Dr. Scott Chen (2SH4 F23 C02). I am using these slides with his permission and have made only slight modifications.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4ECF82-2639-5079-8859-EEDDD7EA5A1C}"/>
              </a:ext>
            </a:extLst>
          </p:cNvPr>
          <p:cNvSpPr txBox="1"/>
          <p:nvPr/>
        </p:nvSpPr>
        <p:spPr>
          <a:xfrm>
            <a:off x="433010" y="5970968"/>
            <a:ext cx="11311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Download both pieces of source code from “</a:t>
            </a:r>
            <a:r>
              <a:rPr lang="en-CA" b="1" dirty="0">
                <a:solidFill>
                  <a:srgbClr val="FF0000"/>
                </a:solidFill>
              </a:rPr>
              <a:t>Codes for Debugging</a:t>
            </a:r>
            <a:r>
              <a:rPr lang="en-CA" dirty="0">
                <a:solidFill>
                  <a:srgbClr val="FF0000"/>
                </a:solidFill>
              </a:rPr>
              <a:t>” and </a:t>
            </a:r>
            <a:r>
              <a:rPr lang="en-CA" b="1" dirty="0" err="1">
                <a:solidFill>
                  <a:srgbClr val="FF0000"/>
                </a:solidFill>
              </a:rPr>
              <a:t>launch.json</a:t>
            </a:r>
            <a:r>
              <a:rPr lang="en-CA" dirty="0">
                <a:solidFill>
                  <a:srgbClr val="FF0000"/>
                </a:solidFill>
              </a:rPr>
              <a:t> file under Topic 6 folder on Avenue.</a:t>
            </a:r>
          </a:p>
        </p:txBody>
      </p:sp>
    </p:spTree>
    <p:extLst>
      <p:ext uri="{BB962C8B-B14F-4D97-AF65-F5344CB8AC3E}">
        <p14:creationId xmlns:p14="http://schemas.microsoft.com/office/powerpoint/2010/main" val="3013533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9563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6543502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Debugging Basics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Common Bug Types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Tool 1 – Debugging Messages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Tool 2 – </a:t>
            </a:r>
            <a:r>
              <a:rPr lang="en-CA" dirty="0" err="1"/>
              <a:t>VSCode</a:t>
            </a:r>
            <a:r>
              <a:rPr lang="en-CA" dirty="0"/>
              <a:t> Debugger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Debugging Practice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Fibonacci Sequence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Segmentation Failure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Generating Debug Report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pic>
        <p:nvPicPr>
          <p:cNvPr id="12" name="Graphic 11" descr="Three circles each containing concentric circles.">
            <a:extLst>
              <a:ext uri="{FF2B5EF4-FFF2-40B4-BE49-F238E27FC236}">
                <a16:creationId xmlns:a16="http://schemas.microsoft.com/office/drawing/2014/main" id="{A4D28325-1E70-41A7-BF16-E0919AFAD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5895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Debugging Basics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DF26665-7471-B603-5B26-16B639078778}"/>
              </a:ext>
            </a:extLst>
          </p:cNvPr>
          <p:cNvSpPr txBox="1"/>
          <p:nvPr/>
        </p:nvSpPr>
        <p:spPr>
          <a:xfrm>
            <a:off x="831850" y="551471"/>
            <a:ext cx="526415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Watch Before Lecture:</a:t>
            </a:r>
          </a:p>
          <a:p>
            <a:r>
              <a:rPr lang="en-US" sz="2000" b="1" dirty="0">
                <a:solidFill>
                  <a:srgbClr val="7F1F1F"/>
                </a:solidFill>
              </a:rPr>
              <a:t>[PLV 6-1] Introduction to Debugging Tools</a:t>
            </a:r>
          </a:p>
        </p:txBody>
      </p:sp>
    </p:spTree>
    <p:extLst>
      <p:ext uri="{BB962C8B-B14F-4D97-AF65-F5344CB8AC3E}">
        <p14:creationId xmlns:p14="http://schemas.microsoft.com/office/powerpoint/2010/main" val="751927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47916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Common Bug Types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Syntactic Bug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Easy fix (relatively speaking)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Can fix 99% of syntactic bugs just by following the compiler messages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Semantic Bug (Behaviour Bug)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Your program compiles but behaves incorrectly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Logic Flaws, Careless Mistakes, Assuming correct intermediate output without validation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This is where the Debugging Tools will help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Memory Bug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Your programs may run correctly, but unstable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Segmentation Fault, Memory Leakage, Stack Overflow, Unexpected Crashes, etc.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This is where the Memory Profiler will help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Sporadic Bug / Race Condition (out of scope)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4</a:t>
            </a:fld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B1CAFC-1A38-AAD9-08BC-19C44F4FFFAD}"/>
              </a:ext>
            </a:extLst>
          </p:cNvPr>
          <p:cNvSpPr/>
          <p:nvPr/>
        </p:nvSpPr>
        <p:spPr>
          <a:xfrm>
            <a:off x="670560" y="2611120"/>
            <a:ext cx="9113520" cy="1351280"/>
          </a:xfrm>
          <a:prstGeom prst="rect">
            <a:avLst/>
          </a:prstGeom>
          <a:noFill/>
          <a:ln w="38100">
            <a:solidFill>
              <a:srgbClr val="7F1F1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46240BFF-18C1-41C3-1ECD-7BCC14DE7593}"/>
              </a:ext>
            </a:extLst>
          </p:cNvPr>
          <p:cNvSpPr/>
          <p:nvPr/>
        </p:nvSpPr>
        <p:spPr>
          <a:xfrm>
            <a:off x="8441149" y="1651649"/>
            <a:ext cx="2171365" cy="435730"/>
          </a:xfrm>
          <a:prstGeom prst="wedgeRectCallout">
            <a:avLst>
              <a:gd name="adj1" fmla="val -33321"/>
              <a:gd name="adj2" fmla="val 149751"/>
            </a:avLst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This is our focus</a:t>
            </a:r>
            <a:endParaRPr lang="en-CA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442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3966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Debugging Tool 1 – printf()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Debug Message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The quick-and-simple approach to validating intermediate program outputs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No external debugging tools required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Typical Usages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Put down printf() statements at the end of each small algorithm block for validation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Remove the printf() statements once validated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Put down printf() statements around the suspected bug location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Compare outputs against expected ones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Analyze the bug mechanism and fix the bug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Validate the fix using the same printf() statements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Remove the printf() statements once validated</a:t>
            </a:r>
          </a:p>
          <a:p>
            <a:pPr lvl="2"/>
            <a:endParaRPr lang="en-CA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1600" dirty="0"/>
              <a:t>Discussed in detail in the Pre-Lecture Video [PLV 6-1]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9551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90569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Debugging Tool 2 – IDE Debugger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37984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Slow Down the Program for the Best WYSIWYG Experience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We will focus on the setup and usages of </a:t>
            </a:r>
            <a:r>
              <a:rPr lang="en-CA" sz="1600" b="1" dirty="0" err="1">
                <a:solidFill>
                  <a:srgbClr val="0000FF"/>
                </a:solidFill>
              </a:rPr>
              <a:t>VSCode</a:t>
            </a:r>
            <a:r>
              <a:rPr lang="en-CA" sz="1600" b="1" dirty="0">
                <a:solidFill>
                  <a:srgbClr val="0000FF"/>
                </a:solidFill>
              </a:rPr>
              <a:t> IDE debugger </a:t>
            </a:r>
            <a:r>
              <a:rPr lang="en-CA" sz="1600" dirty="0"/>
              <a:t>(GNU Debugger, GDB, in the background)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Most C debuggers are GDB or LLDB in the background.  Knowledge 100% transferrable.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Basic Debugger Commands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Breakpoint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Line, Function, Watchpoints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Start / Execute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Stop / Terminate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Continue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Step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Step, Step Over, Step Into, Step Out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Print Variable Values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6</a:t>
            </a:fld>
            <a:endParaRPr lang="en-CA" dirty="0"/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E12AEA53-BED2-8E19-E0ED-10D62BEB2F9E}"/>
              </a:ext>
            </a:extLst>
          </p:cNvPr>
          <p:cNvSpPr/>
          <p:nvPr/>
        </p:nvSpPr>
        <p:spPr>
          <a:xfrm>
            <a:off x="6521277" y="3548796"/>
            <a:ext cx="4238768" cy="870804"/>
          </a:xfrm>
          <a:prstGeom prst="wedgeRectCallout">
            <a:avLst>
              <a:gd name="adj1" fmla="val -55373"/>
              <a:gd name="adj2" fmla="val 100748"/>
            </a:avLst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Let’s use the same </a:t>
            </a:r>
            <a:r>
              <a:rPr lang="en-US" sz="2000" b="1" dirty="0" err="1">
                <a:solidFill>
                  <a:schemeClr val="tx1"/>
                </a:solidFill>
              </a:rPr>
              <a:t>Fibo.c</a:t>
            </a:r>
            <a:r>
              <a:rPr lang="en-US" sz="2000" b="1" dirty="0">
                <a:solidFill>
                  <a:schemeClr val="tx1"/>
                </a:solidFill>
              </a:rPr>
              <a:t> in PLV 6-1 to demonstrate the usages of GDB</a:t>
            </a:r>
            <a:endParaRPr lang="en-CA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3588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4600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 err="1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VSCode</a:t>
            </a:r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IDE Debugger - Preparation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Prepare for </a:t>
            </a:r>
            <a:r>
              <a:rPr lang="en-CA" sz="2200" dirty="0" err="1"/>
              <a:t>VSCode</a:t>
            </a:r>
            <a:r>
              <a:rPr lang="en-CA" sz="2200" dirty="0"/>
              <a:t> Debugging Session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 err="1"/>
              <a:t>VSCode</a:t>
            </a:r>
            <a:r>
              <a:rPr lang="en-CA" sz="1600" dirty="0"/>
              <a:t> debugger requires the workspace to be set to the folder containing the code / project to be debugged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Close current workspace: </a:t>
            </a:r>
            <a:r>
              <a:rPr lang="en-CA" sz="1600" dirty="0">
                <a:solidFill>
                  <a:srgbClr val="0000FF"/>
                </a:solidFill>
              </a:rPr>
              <a:t>File </a:t>
            </a:r>
            <a:r>
              <a:rPr lang="en-CA" sz="1600" dirty="0">
                <a:solidFill>
                  <a:srgbClr val="0000FF"/>
                </a:solidFill>
                <a:sym typeface="Wingdings" panose="05000000000000000000" pitchFamily="2" charset="2"/>
              </a:rPr>
              <a:t> Close Folder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Then select </a:t>
            </a:r>
            <a:r>
              <a:rPr lang="en-CA" sz="1600" dirty="0">
                <a:solidFill>
                  <a:srgbClr val="0000FF"/>
                </a:solidFill>
              </a:rPr>
              <a:t>File </a:t>
            </a:r>
            <a:r>
              <a:rPr lang="en-CA" sz="1600" dirty="0">
                <a:solidFill>
                  <a:srgbClr val="0000FF"/>
                </a:solidFill>
                <a:sym typeface="Wingdings" panose="05000000000000000000" pitchFamily="2" charset="2"/>
              </a:rPr>
              <a:t> Open Folder </a:t>
            </a:r>
            <a:r>
              <a:rPr lang="en-CA" sz="1600" dirty="0">
                <a:sym typeface="Wingdings" panose="05000000000000000000" pitchFamily="2" charset="2"/>
              </a:rPr>
              <a:t>(This sets your </a:t>
            </a:r>
            <a:r>
              <a:rPr lang="en-CA" sz="1600" dirty="0" err="1">
                <a:sym typeface="Wingdings" panose="05000000000000000000" pitchFamily="2" charset="2"/>
              </a:rPr>
              <a:t>VSCode</a:t>
            </a:r>
            <a:r>
              <a:rPr lang="en-CA" sz="1600" dirty="0">
                <a:sym typeface="Wingdings" panose="05000000000000000000" pitchFamily="2" charset="2"/>
              </a:rPr>
              <a:t> workspace to the respective folder)</a:t>
            </a: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Locate and open the folder containing the downloaded code to be debugged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Create the </a:t>
            </a:r>
            <a:r>
              <a:rPr lang="en-CA" sz="1600" dirty="0">
                <a:solidFill>
                  <a:srgbClr val="0000FF"/>
                </a:solidFill>
              </a:rPr>
              <a:t>.</a:t>
            </a:r>
            <a:r>
              <a:rPr lang="en-CA" sz="1600" dirty="0" err="1">
                <a:solidFill>
                  <a:srgbClr val="0000FF"/>
                </a:solidFill>
              </a:rPr>
              <a:t>vscode</a:t>
            </a:r>
            <a:r>
              <a:rPr lang="en-CA" sz="1600" dirty="0">
                <a:solidFill>
                  <a:srgbClr val="0000FF"/>
                </a:solidFill>
              </a:rPr>
              <a:t> </a:t>
            </a:r>
            <a:r>
              <a:rPr lang="en-CA" sz="1600" dirty="0"/>
              <a:t>folder inside the current workspace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Then place </a:t>
            </a:r>
            <a:r>
              <a:rPr lang="en-CA" sz="1600" dirty="0" err="1">
                <a:solidFill>
                  <a:srgbClr val="0000FF"/>
                </a:solidFill>
              </a:rPr>
              <a:t>launch.json</a:t>
            </a:r>
            <a:r>
              <a:rPr lang="en-CA" sz="1600" dirty="0">
                <a:solidFill>
                  <a:srgbClr val="0000FF"/>
                </a:solidFill>
              </a:rPr>
              <a:t> </a:t>
            </a:r>
            <a:r>
              <a:rPr lang="en-CA" sz="1600" dirty="0"/>
              <a:t>script that configures your </a:t>
            </a:r>
            <a:r>
              <a:rPr lang="en-CA" sz="1600" dirty="0" err="1"/>
              <a:t>VSCode</a:t>
            </a:r>
            <a:r>
              <a:rPr lang="en-CA" sz="1600" dirty="0"/>
              <a:t> for C/C++ debugging in this folder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Once done, compile the source code with </a:t>
            </a:r>
            <a:r>
              <a:rPr lang="en-CA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–g</a:t>
            </a:r>
            <a:r>
              <a:rPr lang="en-CA" sz="1600" dirty="0"/>
              <a:t> switch to compile the program with debugger features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gcc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example.c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–o </a:t>
            </a:r>
            <a:r>
              <a:rPr lang="en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example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Open </a:t>
            </a:r>
            <a:r>
              <a:rPr lang="en-CA" sz="1600" dirty="0" err="1">
                <a:solidFill>
                  <a:srgbClr val="0000FF"/>
                </a:solidFill>
              </a:rPr>
              <a:t>launch.json</a:t>
            </a:r>
            <a:r>
              <a:rPr lang="en-CA" sz="1600" dirty="0">
                <a:solidFill>
                  <a:srgbClr val="0000FF"/>
                </a:solidFill>
              </a:rPr>
              <a:t> </a:t>
            </a:r>
            <a:r>
              <a:rPr lang="en-CA" sz="1600" dirty="0"/>
              <a:t>under the </a:t>
            </a:r>
            <a:r>
              <a:rPr lang="en-CA" sz="1600" dirty="0">
                <a:solidFill>
                  <a:srgbClr val="0000FF"/>
                </a:solidFill>
              </a:rPr>
              <a:t>.</a:t>
            </a:r>
            <a:r>
              <a:rPr lang="en-CA" sz="1600" dirty="0" err="1">
                <a:solidFill>
                  <a:srgbClr val="0000FF"/>
                </a:solidFill>
              </a:rPr>
              <a:t>vscode</a:t>
            </a:r>
            <a:r>
              <a:rPr lang="en-CA" sz="1600" dirty="0">
                <a:solidFill>
                  <a:srgbClr val="0000FF"/>
                </a:solidFill>
              </a:rPr>
              <a:t> </a:t>
            </a:r>
            <a:r>
              <a:rPr lang="en-CA" sz="1600" dirty="0"/>
              <a:t>folder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Set the property 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“program”: “${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workspaceFolder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}/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example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sz="1600" dirty="0"/>
              <a:t>(where </a:t>
            </a:r>
            <a:r>
              <a:rPr lang="en-CA" sz="1600" b="1" dirty="0"/>
              <a:t>example</a:t>
            </a:r>
            <a:r>
              <a:rPr lang="en-CA" sz="1600" dirty="0"/>
              <a:t> is the executable file name that you want to debug)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If you have console IO involved, Set the property 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externalConsole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”: </a:t>
            </a:r>
            <a:r>
              <a:rPr lang="en-CA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endParaRPr lang="en-CA" sz="16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7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16876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6118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 err="1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VSCode</a:t>
            </a:r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IDE Debugger – Breakpoints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305607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Setting Up your Code for Debugging: </a:t>
            </a:r>
            <a:r>
              <a:rPr lang="en-CA" sz="2200" b="1" dirty="0"/>
              <a:t>Breakpoints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A breakpoint can be inserted at a selected statement in your program such that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When Debugger executes your program, it </a:t>
            </a:r>
            <a:r>
              <a:rPr lang="en-CA" sz="1600" b="1" i="1" dirty="0"/>
              <a:t>halts the execution</a:t>
            </a:r>
            <a:r>
              <a:rPr lang="en-CA" sz="1600" dirty="0"/>
              <a:t> at the statement with the breakpoint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It enables the debugger to atomically step through your program statement-by-statement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It also enables you to examine the values in all the variables of your interest at every statement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You can almost think about breakpoint as a printf() statement during debugging stage, except more powerful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b="1" dirty="0">
                <a:solidFill>
                  <a:srgbClr val="FF0000"/>
                </a:solidFill>
              </a:rPr>
              <a:t>[WARNING] Without breakpoints, Debugger will run your program at normal speed without showing you any execution information.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b="1" dirty="0"/>
              <a:t>Insert a Breakpoint</a:t>
            </a:r>
            <a:br>
              <a:rPr lang="en-CA" sz="1600" dirty="0"/>
            </a:br>
            <a:r>
              <a:rPr lang="en-CA" sz="1600" dirty="0"/>
              <a:t>Click on the left side of the line number to insert a “red dot”.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b="1" dirty="0"/>
              <a:t>Remove a breakpoint</a:t>
            </a:r>
            <a:br>
              <a:rPr lang="en-CA" sz="1600" dirty="0"/>
            </a:br>
            <a:r>
              <a:rPr lang="en-CA" sz="1600" dirty="0"/>
              <a:t>Click on the red dot to toggle it off.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8</a:t>
            </a:fld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26FEE4-AAC7-112C-94BB-536287322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3240" y="4585547"/>
            <a:ext cx="3305859" cy="10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274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00604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 err="1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VSCode</a:t>
            </a:r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IDE Debugger – High Level Control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458196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Start / Execute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Launch the IDE debugger session by </a:t>
            </a:r>
            <a:r>
              <a:rPr lang="en-CA" sz="1600" b="1" dirty="0"/>
              <a:t>Run </a:t>
            </a:r>
            <a:r>
              <a:rPr lang="en-CA" sz="1600" b="1" dirty="0">
                <a:sym typeface="Wingdings" panose="05000000000000000000" pitchFamily="2" charset="2"/>
              </a:rPr>
              <a:t> </a:t>
            </a:r>
            <a:r>
              <a:rPr lang="en-CA" sz="1600" b="1" dirty="0"/>
              <a:t>Start Debugging </a:t>
            </a:r>
            <a:r>
              <a:rPr lang="en-CA" sz="1600" dirty="0"/>
              <a:t>(or F5 as the shortcut)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The program will halt at the first breakpoint it encounters.  If no breakpoint, it will execute all the way to the end.</a:t>
            </a:r>
          </a:p>
          <a:p>
            <a:pPr lvl="1"/>
            <a:endParaRPr lang="en-CA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Stop / Terminate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Click on this button to terminate the debugging session anytime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Continue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Instruct the debugger to end the halted state and continue </a:t>
            </a:r>
            <a:br>
              <a:rPr lang="en-CA" sz="1600" dirty="0"/>
            </a:br>
            <a:r>
              <a:rPr lang="en-CA" sz="1600" dirty="0"/>
              <a:t>executing the program until the next breakpoint is encountered.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Restart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Restart the debugging session from the beginning of the program</a:t>
            </a:r>
            <a:endParaRPr lang="en-CA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9</a:t>
            </a:fld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326D8B-E546-E5A9-5734-8B7B0C7A3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10" y="2991532"/>
            <a:ext cx="2124075" cy="381000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E91D048F-4EB2-A0EA-7B94-1B075A8F8608}"/>
              </a:ext>
            </a:extLst>
          </p:cNvPr>
          <p:cNvSpPr/>
          <p:nvPr/>
        </p:nvSpPr>
        <p:spPr>
          <a:xfrm>
            <a:off x="9399104" y="2559705"/>
            <a:ext cx="351586" cy="441766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DE35A9-21C9-76DB-3CB4-864633B48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10" y="3983798"/>
            <a:ext cx="2124075" cy="381000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94C8518F-4661-6254-D74B-D64006CD1230}"/>
              </a:ext>
            </a:extLst>
          </p:cNvPr>
          <p:cNvSpPr/>
          <p:nvPr/>
        </p:nvSpPr>
        <p:spPr>
          <a:xfrm>
            <a:off x="7908234" y="3551971"/>
            <a:ext cx="351586" cy="441766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00121B9-3E53-6088-73F2-40594D450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10" y="4965205"/>
            <a:ext cx="2124075" cy="381000"/>
          </a:xfrm>
          <a:prstGeom prst="rect">
            <a:avLst/>
          </a:prstGeom>
        </p:spPr>
      </p:pic>
      <p:sp>
        <p:nvSpPr>
          <p:cNvPr id="17" name="Arrow: Down 16">
            <a:extLst>
              <a:ext uri="{FF2B5EF4-FFF2-40B4-BE49-F238E27FC236}">
                <a16:creationId xmlns:a16="http://schemas.microsoft.com/office/drawing/2014/main" id="{C0AFDDB6-4E97-4C9C-D98B-6E7EEFE1927C}"/>
              </a:ext>
            </a:extLst>
          </p:cNvPr>
          <p:cNvSpPr/>
          <p:nvPr/>
        </p:nvSpPr>
        <p:spPr>
          <a:xfrm>
            <a:off x="9114816" y="4533378"/>
            <a:ext cx="351586" cy="441766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781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8678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 err="1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VSCode</a:t>
            </a:r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IDE Debugger – Atomic Execution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Stepping – Execute the code </a:t>
            </a:r>
            <a:r>
              <a:rPr lang="en-CA" sz="2200" b="1" i="1" dirty="0"/>
              <a:t>Line-by-Line</a:t>
            </a:r>
            <a:r>
              <a:rPr lang="en-CA" sz="2200" dirty="0"/>
              <a:t> under </a:t>
            </a:r>
            <a:r>
              <a:rPr lang="en-CA" sz="2200" b="1" dirty="0"/>
              <a:t>Halted Mode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Once halted, use one of the following stepping commands to execute the code line-by-line accordingly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b="1" dirty="0"/>
              <a:t>Step Over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Simply execute the next statement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If the next statement contains a function call but you do not wish to </a:t>
            </a:r>
            <a:br>
              <a:rPr lang="en-CA" sz="1600" dirty="0"/>
            </a:br>
            <a:r>
              <a:rPr lang="en-CA" sz="1600" dirty="0"/>
              <a:t>inspect the function implementation, you can instruct the debugger </a:t>
            </a:r>
            <a:br>
              <a:rPr lang="en-CA" sz="1600" dirty="0"/>
            </a:br>
            <a:r>
              <a:rPr lang="en-CA" sz="1600" dirty="0"/>
              <a:t>to execute the function call like a simple statement.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b="1" dirty="0"/>
              <a:t>Step Into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If the next statement contains a function call, debugger should go into </a:t>
            </a:r>
            <a:br>
              <a:rPr lang="en-CA" sz="1600" dirty="0"/>
            </a:br>
            <a:r>
              <a:rPr lang="en-CA" sz="1600" dirty="0"/>
              <a:t>the function and continue with line-by-line execution in halted state.  </a:t>
            </a:r>
            <a:br>
              <a:rPr lang="en-CA" sz="1600" dirty="0"/>
            </a:br>
            <a:r>
              <a:rPr lang="en-CA" sz="1600" dirty="0"/>
              <a:t>Use this to inspect the function execution.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b="1" dirty="0"/>
              <a:t>Step Out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If you are halted in a function and wish to execute the rest of the function </a:t>
            </a:r>
            <a:br>
              <a:rPr lang="en-CA" sz="1600" dirty="0"/>
            </a:br>
            <a:r>
              <a:rPr lang="en-CA" sz="1600" dirty="0"/>
              <a:t>in one-shot so to get back to the invocation statement above, use this command.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16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10</a:t>
            </a:fld>
            <a:endParaRPr lang="en-CA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919BDA-D201-AA3F-2C05-FC37B0625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7912" y="2991532"/>
            <a:ext cx="2124075" cy="381000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7BEA95E5-6F29-5112-657E-9155F96CBF18}"/>
              </a:ext>
            </a:extLst>
          </p:cNvPr>
          <p:cNvSpPr/>
          <p:nvPr/>
        </p:nvSpPr>
        <p:spPr>
          <a:xfrm>
            <a:off x="9368254" y="2559705"/>
            <a:ext cx="351586" cy="441766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5DE6F7-24F5-31D6-6288-AF13A4DA8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7912" y="4227865"/>
            <a:ext cx="2124075" cy="381000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F904137D-37F9-E2B2-FC5B-F9728B39374F}"/>
              </a:ext>
            </a:extLst>
          </p:cNvPr>
          <p:cNvSpPr/>
          <p:nvPr/>
        </p:nvSpPr>
        <p:spPr>
          <a:xfrm>
            <a:off x="9699962" y="3796038"/>
            <a:ext cx="351586" cy="441766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39273B-E604-9F6A-7B55-C203BA13F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7912" y="5365245"/>
            <a:ext cx="2124075" cy="381000"/>
          </a:xfrm>
          <a:prstGeom prst="rect">
            <a:avLst/>
          </a:prstGeom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D9FF6EA8-F5AE-4216-6A1A-268264BB6555}"/>
              </a:ext>
            </a:extLst>
          </p:cNvPr>
          <p:cNvSpPr/>
          <p:nvPr/>
        </p:nvSpPr>
        <p:spPr>
          <a:xfrm>
            <a:off x="10008304" y="4933418"/>
            <a:ext cx="351586" cy="441766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853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3512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 err="1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VSCode</a:t>
            </a:r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IDE Debugger – Program States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48845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Tracking All In-Scope Variables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In halted state, the values of all in-scope </a:t>
            </a:r>
            <a:br>
              <a:rPr lang="en-CA" sz="1600" dirty="0"/>
            </a:br>
            <a:r>
              <a:rPr lang="en-CA" sz="1600" dirty="0"/>
              <a:t>variables will be displayed in </a:t>
            </a:r>
            <a:r>
              <a:rPr lang="en-CA" sz="1600" b="1" dirty="0"/>
              <a:t>Variables</a:t>
            </a:r>
            <a:r>
              <a:rPr lang="en-CA" sz="1600" dirty="0"/>
              <a:t> panel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Don’t worry about Registers.  Learn in 2DI4/2DX3.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16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11</a:t>
            </a:fld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254D44-4F22-2D91-CACC-0FD510E86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266" y="3017281"/>
            <a:ext cx="3979443" cy="28199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C0ED13C-C492-9FD9-9D01-399E41F6C4D9}"/>
              </a:ext>
            </a:extLst>
          </p:cNvPr>
          <p:cNvSpPr txBox="1"/>
          <p:nvPr/>
        </p:nvSpPr>
        <p:spPr>
          <a:xfrm>
            <a:off x="5966502" y="1563637"/>
            <a:ext cx="53928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Watch Additional 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Can also place watches on other non-local 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Even out-of-scope ones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Select the variable, right click, select “add to Watch”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B44276A-902B-52AC-651A-AFC3F5A353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292" y="3453773"/>
            <a:ext cx="3574342" cy="1834409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CDD7A0E-7F4B-F02F-BA71-A2D64CD85DD3}"/>
              </a:ext>
            </a:extLst>
          </p:cNvPr>
          <p:cNvCxnSpPr/>
          <p:nvPr/>
        </p:nvCxnSpPr>
        <p:spPr>
          <a:xfrm flipH="1">
            <a:off x="7759083" y="4181383"/>
            <a:ext cx="1481831" cy="8788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4F72F2E-BFEE-DEB3-6004-BD905DA64D60}"/>
              </a:ext>
            </a:extLst>
          </p:cNvPr>
          <p:cNvCxnSpPr/>
          <p:nvPr/>
        </p:nvCxnSpPr>
        <p:spPr>
          <a:xfrm flipH="1">
            <a:off x="2265285" y="3247369"/>
            <a:ext cx="1481831" cy="8788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4F6086A-9E73-F926-843F-6A8F641FFA22}"/>
              </a:ext>
            </a:extLst>
          </p:cNvPr>
          <p:cNvCxnSpPr>
            <a:cxnSpLocks/>
          </p:cNvCxnSpPr>
          <p:nvPr/>
        </p:nvCxnSpPr>
        <p:spPr>
          <a:xfrm flipH="1">
            <a:off x="2121763" y="3429000"/>
            <a:ext cx="1690453" cy="199652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639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3512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 err="1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VSCode</a:t>
            </a:r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IDE Debugger – Program States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94476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Call Stack – Tracking All Related Function Calls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Use this panel to track all the function call relationships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We will not use this until the topic of </a:t>
            </a:r>
            <a:r>
              <a:rPr lang="en-CA" sz="1600" b="1" i="1" dirty="0"/>
              <a:t>Recursion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16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12</a:t>
            </a:fld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9F5F84-57C5-B646-ABF8-7EB673B0C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123" y="3575320"/>
            <a:ext cx="2572109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908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81685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Debugging Tool 2 – </a:t>
            </a:r>
            <a:r>
              <a:rPr lang="en-CA" sz="4400" b="1" dirty="0" err="1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VSCode</a:t>
            </a:r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IDE Debugger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4592784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Example – Fix The Same Program</a:t>
            </a: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+mj-lt"/>
              <a:buAutoNum type="arabicPeriod"/>
            </a:pPr>
            <a:r>
              <a:rPr lang="en-CA" sz="1600" dirty="0"/>
              <a:t>Compile in Debugger mode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sz="1600" dirty="0"/>
              <a:t>Modify </a:t>
            </a:r>
            <a:r>
              <a:rPr lang="en-CA" sz="1600" dirty="0" err="1"/>
              <a:t>launch.json</a:t>
            </a:r>
            <a:r>
              <a:rPr lang="en-CA" sz="1600" dirty="0"/>
              <a:t> with new executable, set </a:t>
            </a:r>
            <a:r>
              <a:rPr lang="en-CA" sz="1600" dirty="0" err="1"/>
              <a:t>externalConsole</a:t>
            </a:r>
            <a:r>
              <a:rPr lang="en-CA" sz="1600" dirty="0"/>
              <a:t> to true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sz="1600" dirty="0"/>
              <a:t>Set up breakpoints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sz="1600" dirty="0"/>
              <a:t>Run program under debugger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sz="1600" dirty="0"/>
              <a:t>Examine variable values at first breakpoint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sz="1600" dirty="0"/>
              <a:t>Step through the statements and inspect variable values at every meaningful spot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sz="1600" dirty="0"/>
              <a:t>Confirm bug, propose fix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sz="1600" dirty="0"/>
              <a:t>Repeat 5-7 for validation until bug is fixed.</a:t>
            </a:r>
          </a:p>
          <a:p>
            <a:pPr marL="800100" lvl="1" indent="-342900">
              <a:buFont typeface="+mj-lt"/>
              <a:buAutoNum type="arabicPeriod"/>
            </a:pPr>
            <a:endParaRPr lang="en-CA" sz="1600" dirty="0"/>
          </a:p>
          <a:p>
            <a:pPr marL="800100" lvl="1" indent="-342900">
              <a:buFont typeface="+mj-lt"/>
              <a:buAutoNum type="arabicPeriod"/>
            </a:pPr>
            <a:endParaRPr lang="en-CA" sz="16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13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DA15A1-7715-1A57-386B-BF2FA90F08E2}"/>
              </a:ext>
            </a:extLst>
          </p:cNvPr>
          <p:cNvSpPr txBox="1"/>
          <p:nvPr/>
        </p:nvSpPr>
        <p:spPr>
          <a:xfrm>
            <a:off x="5425440" y="1514231"/>
            <a:ext cx="5776848" cy="4708981"/>
          </a:xfrm>
          <a:prstGeom prst="rect">
            <a:avLst/>
          </a:prstGeom>
          <a:ln w="28575">
            <a:solidFill>
              <a:srgbClr val="7F1F1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findFibo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prevTerm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1;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currTerm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1;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temp =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&lt;= N;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temp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currTerm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currTerm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prevTerm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prevTerm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temp;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currTerm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input;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(“Which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Fibo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term? &gt;&gt; 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(“%d”, &amp;input);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Fibo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Term %d = %d\n”, input,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findFibo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(input));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2415B82-D62C-17BE-C650-D812D9E197E6}"/>
              </a:ext>
            </a:extLst>
          </p:cNvPr>
          <p:cNvSpPr/>
          <p:nvPr/>
        </p:nvSpPr>
        <p:spPr>
          <a:xfrm>
            <a:off x="8752114" y="1389465"/>
            <a:ext cx="1741714" cy="348343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L6Ex1-FiboBug.c</a:t>
            </a:r>
          </a:p>
        </p:txBody>
      </p:sp>
    </p:spTree>
    <p:extLst>
      <p:ext uri="{BB962C8B-B14F-4D97-AF65-F5344CB8AC3E}">
        <p14:creationId xmlns:p14="http://schemas.microsoft.com/office/powerpoint/2010/main" val="3914866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2450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Debugging Tools - Comparison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5263344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Debugging Message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Quick and simple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No external tools needed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Great for incremental validation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FF0000"/>
                </a:solidFill>
              </a:rPr>
              <a:t>“Lava Code” - unneeded code left in compilation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FF0000"/>
                </a:solidFill>
              </a:rPr>
              <a:t>Limited scope for monitoring 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FF0000"/>
                </a:solidFill>
              </a:rPr>
              <a:t>No statement-by-statement analysis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FF0000"/>
                </a:solidFill>
              </a:rPr>
              <a:t>Falling short in tracing down more complex bugs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16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14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24857D-60A3-6DC3-4863-BCFF3C7C4548}"/>
              </a:ext>
            </a:extLst>
          </p:cNvPr>
          <p:cNvSpPr txBox="1"/>
          <p:nvPr/>
        </p:nvSpPr>
        <p:spPr>
          <a:xfrm>
            <a:off x="5949153" y="1563637"/>
            <a:ext cx="5263344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IDE Debugger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Structured debugging process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Versatile statement stepping analysis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Monitoring all in-scope variables at ease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Capable of tracing down more complex bugs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FF0000"/>
                </a:solidFill>
              </a:rPr>
              <a:t>Steeper learning curve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FF0000"/>
                </a:solidFill>
              </a:rPr>
              <a:t>Setup can be very different (and tricky) among IDEs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val="91272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Debugging Practice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Infinite Loop and Seg Fault Analysis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785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499620" y="580794"/>
            <a:ext cx="1104590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Debugging Practice – Segmentation (Seg) Fault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414989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Apply debugging tools to fix this code.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Read the comments in the uploaded code to see how this code is </a:t>
            </a:r>
            <a:r>
              <a:rPr lang="en-CA" sz="2200" b="1" dirty="0">
                <a:solidFill>
                  <a:srgbClr val="0000FF"/>
                </a:solidFill>
              </a:rPr>
              <a:t>“supposed” </a:t>
            </a:r>
            <a:r>
              <a:rPr lang="en-CA" sz="2200" dirty="0"/>
              <a:t>to work.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+mj-lt"/>
              <a:buAutoNum type="arabicPeriod"/>
            </a:pPr>
            <a:endParaRPr lang="en-CA" sz="1600" dirty="0"/>
          </a:p>
          <a:p>
            <a:pPr marL="800100" lvl="1" indent="-342900">
              <a:buFont typeface="+mj-lt"/>
              <a:buAutoNum type="arabicPeriod"/>
            </a:pPr>
            <a:endParaRPr lang="en-CA" sz="16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16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DA15A1-7715-1A57-386B-BF2FA90F08E2}"/>
              </a:ext>
            </a:extLst>
          </p:cNvPr>
          <p:cNvSpPr txBox="1"/>
          <p:nvPr/>
        </p:nvSpPr>
        <p:spPr>
          <a:xfrm>
            <a:off x="5425441" y="2089000"/>
            <a:ext cx="5776848" cy="3785652"/>
          </a:xfrm>
          <a:prstGeom prst="rect">
            <a:avLst/>
          </a:prstGeom>
          <a:ln w="28575">
            <a:solidFill>
              <a:srgbClr val="7F1F1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data[20] = {1, 2, 5, 91, 7, 4, 2, 7, 45, 7, \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2, 12, 8, 59, 41, 5, 83, 13, 25, 6};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input;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0;    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(“Give me an integer &gt;&gt; 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(“%d”, &amp;input);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isLarger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(input, data[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]))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data[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= input * 2;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isSmaller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(input, data[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]))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data[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= input / 2;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(data[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++] = input);   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D12A53-8D9E-7C6F-31EB-00B3E76C1467}"/>
              </a:ext>
            </a:extLst>
          </p:cNvPr>
          <p:cNvSpPr txBox="1"/>
          <p:nvPr/>
        </p:nvSpPr>
        <p:spPr>
          <a:xfrm>
            <a:off x="1935507" y="3683725"/>
            <a:ext cx="3122254" cy="954107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isLarger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a,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a &gt; b;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8E9F18-21B5-28F1-9892-DCE49138B36F}"/>
              </a:ext>
            </a:extLst>
          </p:cNvPr>
          <p:cNvSpPr txBox="1"/>
          <p:nvPr/>
        </p:nvSpPr>
        <p:spPr>
          <a:xfrm>
            <a:off x="1935507" y="4920545"/>
            <a:ext cx="3122254" cy="954107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isSmaller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a,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a &lt; b;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5BA5C6B-610B-F71E-4D30-FECAD48DF16B}"/>
              </a:ext>
            </a:extLst>
          </p:cNvPr>
          <p:cNvSpPr/>
          <p:nvPr/>
        </p:nvSpPr>
        <p:spPr>
          <a:xfrm>
            <a:off x="8778240" y="1872343"/>
            <a:ext cx="1741714" cy="348343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L6Ex2-SegFault.c</a:t>
            </a:r>
          </a:p>
        </p:txBody>
      </p:sp>
    </p:spTree>
    <p:extLst>
      <p:ext uri="{BB962C8B-B14F-4D97-AF65-F5344CB8AC3E}">
        <p14:creationId xmlns:p14="http://schemas.microsoft.com/office/powerpoint/2010/main" val="3147735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Debugging Report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538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342087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Debug Report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10379841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Unless in training / review, debug report is typically optional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But you are engineers under training, so do it </a:t>
            </a:r>
            <a:r>
              <a:rPr lang="en-CA" dirty="0">
                <a:sym typeface="Wingdings" panose="05000000000000000000" pitchFamily="2" charset="2"/>
              </a:rPr>
              <a:t>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Part of your Engineering Journal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Must-Have Elements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Identification of bug location and mechanism, supported by debugger info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Proposal of bug fix and the underlying mechanism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Validation of bug fix, supported by debugger info</a:t>
            </a:r>
          </a:p>
          <a:p>
            <a:pPr marL="800100" lvl="1" indent="-342900">
              <a:buFont typeface="+mj-lt"/>
              <a:buAutoNum type="arabicPeriod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Detailed mechanism explanation may be optional</a:t>
            </a:r>
            <a:endParaRPr lang="en-CA" sz="1600" dirty="0"/>
          </a:p>
          <a:p>
            <a:pPr marL="800100" lvl="1" indent="-342900">
              <a:buFont typeface="+mj-lt"/>
              <a:buAutoNum type="arabicPeriod"/>
            </a:pPr>
            <a:endParaRPr lang="en-CA" sz="16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18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91152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0615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Sample Debug Report for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10379841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Bug Observation 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Program fails to stop when input equals data element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Input = 7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Expected to stop at element 4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Actual outcome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sz="1600" dirty="0"/>
              <a:t>Program stuck in infinite loop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Debugger Analysis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Breakpoint placed at line 23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Debugger indicates the program failed to recognize</a:t>
            </a:r>
            <a:br>
              <a:rPr lang="en-CA" sz="1600" dirty="0"/>
            </a:br>
            <a:r>
              <a:rPr lang="en-CA" sz="1600" dirty="0"/>
              <a:t>input == data[4]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It also overwrites all data by input value, rather </a:t>
            </a:r>
            <a:br>
              <a:rPr lang="en-CA" sz="1600" dirty="0"/>
            </a:br>
            <a:r>
              <a:rPr lang="en-CA" sz="1600" dirty="0"/>
              <a:t>than assigning input*2 or input/2 accordingly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Possible Root Cause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Line 27 comparison is written incorrectly as assignment.  It should be != instead.</a:t>
            </a:r>
          </a:p>
          <a:p>
            <a:pPr marL="800100" lvl="1" indent="-342900">
              <a:buFont typeface="+mj-lt"/>
              <a:buAutoNum type="arabicPeriod"/>
            </a:pPr>
            <a:endParaRPr lang="en-CA" sz="1600" dirty="0"/>
          </a:p>
          <a:p>
            <a:pPr marL="800100" lvl="1" indent="-342900">
              <a:buFont typeface="+mj-lt"/>
              <a:buAutoNum type="arabicPeriod"/>
            </a:pPr>
            <a:endParaRPr lang="en-CA" sz="16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19</a:t>
            </a:fld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5EA14A-3815-28E0-D510-EE87B07F8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138" y="1875453"/>
            <a:ext cx="5006320" cy="353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758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0615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Sample Debug Report for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1037984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Bug Fix Validation 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Line 27 corrected as </a:t>
            </a:r>
            <a:r>
              <a:rPr lang="en-US" sz="18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(data[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++] 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input);</a:t>
            </a: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Input = 7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Expected to stop at element 4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sz="1600" dirty="0" err="1"/>
              <a:t>i</a:t>
            </a:r>
            <a:r>
              <a:rPr lang="en-CA" sz="1600" dirty="0"/>
              <a:t> = 5 breaks do-while loop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Actual outcome matched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+mj-lt"/>
              <a:buAutoNum type="arabicPeriod"/>
            </a:pPr>
            <a:endParaRPr lang="en-CA" sz="16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20</a:t>
            </a:fld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8D1974-F7A3-C207-FD53-0DFA44807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670" y="2380198"/>
            <a:ext cx="5232583" cy="353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8575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0615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Sample Debug Report for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10379841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Bug Observation 2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Program fails to stop at element 19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Input = 1000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Expected to stop at </a:t>
            </a:r>
            <a:r>
              <a:rPr lang="en-CA" sz="1600" dirty="0" err="1"/>
              <a:t>i</a:t>
            </a:r>
            <a:r>
              <a:rPr lang="en-CA" sz="1600" dirty="0"/>
              <a:t> = 19 with no match found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Actual outcome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sz="1600" dirty="0"/>
              <a:t>Program SEGFAULT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Debugger Analysis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Breakpoint placed at line 27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The program did not stop after </a:t>
            </a:r>
            <a:r>
              <a:rPr lang="en-CA" sz="1600" dirty="0" err="1"/>
              <a:t>i</a:t>
            </a:r>
            <a:r>
              <a:rPr lang="en-CA" sz="1600" dirty="0"/>
              <a:t> = 19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Seg-faulted because it continued on and overwrote </a:t>
            </a:r>
            <a:br>
              <a:rPr lang="en-CA" sz="1600" dirty="0"/>
            </a:br>
            <a:r>
              <a:rPr lang="en-CA" sz="1600" dirty="0"/>
              <a:t>up to element 500 (out of bound)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Segmentation Fault at </a:t>
            </a:r>
            <a:r>
              <a:rPr lang="en-CA" sz="1600" dirty="0" err="1"/>
              <a:t>i</a:t>
            </a:r>
            <a:r>
              <a:rPr lang="en-CA" sz="1600" dirty="0"/>
              <a:t> = 501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Possible Root Cause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Line 27 comparison is missing one additional condition  </a:t>
            </a:r>
            <a:r>
              <a:rPr lang="en-CA" sz="1600" dirty="0" err="1"/>
              <a:t>i</a:t>
            </a:r>
            <a:r>
              <a:rPr lang="en-CA" sz="1600" dirty="0"/>
              <a:t> &lt; 20.</a:t>
            </a:r>
          </a:p>
          <a:p>
            <a:pPr marL="800100" lvl="1" indent="-342900">
              <a:buFont typeface="+mj-lt"/>
              <a:buAutoNum type="arabicPeriod"/>
            </a:pPr>
            <a:endParaRPr lang="en-CA" sz="1600" dirty="0"/>
          </a:p>
          <a:p>
            <a:pPr marL="800100" lvl="1" indent="-342900">
              <a:buFont typeface="+mj-lt"/>
              <a:buAutoNum type="arabicPeriod"/>
            </a:pPr>
            <a:endParaRPr lang="en-CA" sz="16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21</a:t>
            </a:fld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6D190-A35D-464D-E0B4-6F989A665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451" y="1953650"/>
            <a:ext cx="4917045" cy="302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748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0615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Sample Debug Report for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1037984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Bug Fix Validation 2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Line 27 corrected as </a:t>
            </a:r>
            <a:r>
              <a:rPr lang="en-US" sz="18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(data[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++]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put 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&amp;&amp;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20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Input = 1000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Expected to stop at element 19 (</a:t>
            </a:r>
            <a:r>
              <a:rPr lang="en-CA" sz="1600" dirty="0" err="1"/>
              <a:t>i</a:t>
            </a:r>
            <a:r>
              <a:rPr lang="en-CA" sz="1600" dirty="0"/>
              <a:t> = 20)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Actual outcome matched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+mj-lt"/>
              <a:buAutoNum type="arabicPeriod"/>
            </a:pPr>
            <a:endParaRPr lang="en-CA" sz="16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22</a:t>
            </a:fld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AB01B9-0D16-F804-E498-3294FFC9E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191" y="2393114"/>
            <a:ext cx="4974305" cy="3421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016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96B8254AFCAF4D8F7A14A17E0A03F8" ma:contentTypeVersion="11" ma:contentTypeDescription="Create a new document." ma:contentTypeScope="" ma:versionID="a6baaaa90b230ae4ed45c1d21e243ef7">
  <xsd:schema xmlns:xsd="http://www.w3.org/2001/XMLSchema" xmlns:xs="http://www.w3.org/2001/XMLSchema" xmlns:p="http://schemas.microsoft.com/office/2006/metadata/properties" xmlns:ns2="481a7929-897a-47d8-86e4-295cbaac5427" targetNamespace="http://schemas.microsoft.com/office/2006/metadata/properties" ma:root="true" ma:fieldsID="52333de87c8e174db8e24be1e57c0d7d" ns2:_="">
    <xsd:import namespace="481a7929-897a-47d8-86e4-295cbaac54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1a7929-897a-47d8-86e4-295cbaac54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a073764d-e844-48d8-8cbc-d63b9d9528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81a7929-897a-47d8-86e4-295cbaac542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A942603-D7C4-4E1C-AC52-B6F9DB18C4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1a7929-897a-47d8-86e4-295cbaac54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763FA21-3E72-4AF7-8F76-37BE810674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CE77EAF-6DF2-41DC-937A-7E18CF9265EC}">
  <ds:schemaRefs>
    <ds:schemaRef ds:uri="481a7929-897a-47d8-86e4-295cbaac5427"/>
    <ds:schemaRef ds:uri="http://schemas.microsoft.com/office/2006/metadata/properties"/>
    <ds:schemaRef ds:uri="http://purl.org/dc/terms/"/>
    <ds:schemaRef ds:uri="http://www.w3.org/XML/1998/namespace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21582</TotalTime>
  <Words>1908</Words>
  <Application>Microsoft Office PowerPoint</Application>
  <PresentationFormat>Widescreen</PresentationFormat>
  <Paragraphs>300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Courier New</vt:lpstr>
      <vt:lpstr>Wingdings</vt:lpstr>
      <vt:lpstr>Office Theme</vt:lpstr>
      <vt:lpstr>PowerPoint Presentation</vt:lpstr>
      <vt:lpstr>PowerPoint Presentation</vt:lpstr>
      <vt:lpstr>Debugging Basics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Debugging Practice</vt:lpstr>
      <vt:lpstr>PowerPoint Presentation</vt:lpstr>
      <vt:lpstr>Debugging Report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6 - Debugging Basics</dc:title>
  <dc:creator>Shahrukh Athar</dc:creator>
  <cp:lastModifiedBy>Shahrukh Athar</cp:lastModifiedBy>
  <cp:revision>443</cp:revision>
  <dcterms:created xsi:type="dcterms:W3CDTF">2018-10-02T00:35:18Z</dcterms:created>
  <dcterms:modified xsi:type="dcterms:W3CDTF">2024-10-04T21:01:12Z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0x0101000B96B8254AFCAF4D8F7A14A17E0A03F8</vt:lpwstr>
  </property>
</Properties>
</file>